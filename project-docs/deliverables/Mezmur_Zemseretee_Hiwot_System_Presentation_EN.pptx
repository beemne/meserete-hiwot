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2.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a84276b-0403-5614-0dde-f6e567c89cdb}">
          <p14:sldIdLst>
            <p14:sldId id="256"/>
            <p14:sldId id="257"/>
            <p14:sldId id="258"/>
          </p14:sldIdLst>
        </p14:section>
        <p14:section name="Overview" id="{d76067be-4e36-6b2c-a9d4-c92620f0f784}">
          <p14:sldIdLst>
            <p14:sldId id="259"/>
            <p14:sldId id="260"/>
            <p14:sldId id="261"/>
          </p14:sldIdLst>
        </p14:section>
        <p14:section name="Mezmur" id="{b7f024ea-5f6e-bae6-d42e-0324c046baa5}">
          <p14:sldIdLst>
            <p14:sldId id="262"/>
            <p14:sldId id="263"/>
          </p14:sldIdLst>
        </p14:section>
        <p14:section name="Members &amp; Programs" id="{4b158619-46e8-e160-569a-5ec4d3124efe}">
          <p14:sldIdLst>
            <p14:sldId id="264"/>
            <p14:sldId id="265"/>
          </p14:sldIdLst>
        </p14:section>
        <p14:section name="Attendance" id="{dacf6f35-ce0a-809b-a604-b249479006b5}">
          <p14:sldIdLst>
            <p14:sldId id="266"/>
            <p14:sldId id="267"/>
          </p14:sldIdLst>
        </p14:section>
        <p14:section name="Education" id="{5b3d4f9f-bd8b-00e8-c887-1afaa6e4660e}">
          <p14:sldIdLst>
            <p14:sldId id="268"/>
            <p14:sldId id="269"/>
          </p14:sldIdLst>
        </p14:section>
        <p14:section name="Service Selection" id="{0f2bcf2b-b703-d878-f4c5-1014d60102d0}">
          <p14:sldIdLst>
            <p14:sldId id="270"/>
            <p14:sldId id="271"/>
          </p14:sldIdLst>
        </p14:section>
        <p14:section name="Finance &amp; Property" id="{6b2e9def-4bbb-86b6-4fad-fc8667d216bf}">
          <p14:sldIdLst>
            <p14:sldId id="272"/>
            <p14:sldId id="273"/>
          </p14:sldIdLst>
        </p14:section>
        <p14:section name="Collaboration &amp; Communication" id="{2e2a13ac-bee1-be52-44d4-b2fe929153f7}">
          <p14:sldIdLst>
            <p14:sldId id="274"/>
            <p14:sldId id="275"/>
          </p14:sldIdLst>
        </p14:section>
        <p14:section name="Administration &amp; Accountability" id="{802469aa-943c-70c1-1d4b-c98a3a74e78b}">
          <p14:sldIdLst>
            <p14:sldId id="276"/>
            <p14:sldId id="277"/>
          </p14:sldIdLst>
        </p14:section>
        <p14:section name="Technology &amp; Security" id="{9d6b3668-b4c1-5279-70bc-d4142760cb65}">
          <p14:sldIdLst>
            <p14:sldId id="278"/>
            <p14:sldId id="279"/>
            <p14:sldId id="280"/>
            <p14:sldId id="281"/>
          </p14:sldIdLst>
        </p14:section>
        <p14:section name="Status &amp; Next Steps" id="{c8bddfcd-ce45-dfcd-ebc8-bfa0eeca117e}">
          <p14:sldIdLst>
            <p14:sldId id="282"/>
            <p14:sldId id="283"/>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6E1423"/>
                </a:solidFill>
                <a:latin typeface="+mn-lt"/>
              </a:defRPr>
            </a:pPr>
            <a:r>
              <a:rPr sz="1500" b="0" i="0" u="none" strike="noStrike">
                <a:solidFill>
                  <a:srgbClr val="6E1423"/>
                </a:solidFill>
                <a:latin typeface="+mn-lt"/>
              </a:rPr>
              <a:t>Default weights (out of 100)</a:t>
            </a:r>
          </a:p>
        </c:rich>
      </c:tx>
      <c:layout/>
      <c:overlay val="0"/>
    </c:title>
    <c:autoTitleDeleted val="0"/>
    <c:plotArea>
      <c:layout/>
      <c:doughnutChart>
        <c:varyColors val="1"/>
        <c:ser>
          <c:idx val="0"/>
          <c:order val="0"/>
          <c:tx>
            <c:strRef>
              <c:f>Sheet1!$B$1</c:f>
              <c:strCache>
                <c:ptCount val="1"/>
                <c:pt idx="0">
                  <c:v>Default weight</c:v>
                </c:pt>
              </c:strCache>
            </c:strRef>
          </c:tx>
          <c:spPr>
            <a:solidFill>
              <a:schemeClr val="accent1"/>
            </a:solidFill>
            <a:ln w="9525" cap="flat">
              <a:solidFill>
                <a:srgbClr val="F9F9F9"/>
              </a:solidFill>
              <a:prstDash val="solid"/>
              <a:round/>
            </a:ln>
            <a:effectLst/>
          </c:spPr>
          <c:dPt>
            <c:idx val="0"/>
            <c:bubble3D val="0"/>
            <c:spPr>
              <a:solidFill>
                <a:srgbClr val="6E1423"/>
              </a:solidFill>
              <a:effectLst/>
            </c:spPr>
          </c:dPt>
          <c:dPt>
            <c:idx val="1"/>
            <c:bubble3D val="0"/>
            <c:spPr>
              <a:solidFill>
                <a:srgbClr val="C8961E"/>
              </a:solidFill>
              <a:effectLst/>
            </c:spPr>
          </c:dPt>
          <c:dPt>
            <c:idx val="2"/>
            <c:bubble3D val="0"/>
            <c:spPr>
              <a:solidFill>
                <a:srgbClr val="57101C"/>
              </a:solidFill>
              <a:effectLst/>
            </c:spPr>
          </c:dPt>
          <c:dPt>
            <c:idx val="3"/>
            <c:bubble3D val="0"/>
            <c:spPr>
              <a:solidFill>
                <a:srgbClr val="2E7D4F"/>
              </a:solidFill>
              <a:effectLst/>
            </c:spPr>
          </c:dPt>
          <c:dPt>
            <c:idx val="4"/>
            <c:bubble3D val="0"/>
            <c:spPr>
              <a:solidFill>
                <a:srgbClr val="8A7A7D"/>
              </a:solidFill>
              <a:effectLst/>
            </c:spPr>
          </c:dPt>
          <c:dLbls>
            <c:dLbl>
              <c:idx val="0"/>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3"/>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4"/>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Class attendance</c:v>
                </c:pt>
                <c:pt idx="1">
                  <c:v>Exams</c:v>
                </c:pt>
                <c:pt idx="2">
                  <c:v>Mezmur attendance</c:v>
                </c:pt>
                <c:pt idx="3">
                  <c:v>Monthly contribution</c:v>
                </c:pt>
                <c:pt idx="4">
                  <c:v>Department participation</c:v>
                </c:pt>
              </c:strCache>
            </c:strRef>
          </c:cat>
          <c:val>
            <c:numRef>
              <c:f>Sheet1!$B$2:$B$6</c:f>
              <c:numCache>
                <c:ptCount val="5"/>
                <c:pt idx="0">
                  <c:v>25</c:v>
                </c:pt>
                <c:pt idx="1">
                  <c:v>25</c:v>
                </c:pt>
                <c:pt idx="2">
                  <c:v>30</c:v>
                </c:pt>
                <c:pt idx="3">
                  <c:v>10</c:v>
                </c:pt>
                <c:pt idx="4">
                  <c:v>10</c:v>
                </c:pt>
              </c:numCache>
            </c:numRef>
          </c:val>
        </c:ser>
        <c:firstSliceAng val="0"/>
        <c:holeSize val="52"/>
      </c:doughnutChart>
      <c:spPr>
        <a:noFill/>
        <a:ln>
          <a:noFill/>
        </a:ln>
        <a:effectLst/>
      </c:spPr>
    </c:plotArea>
    <c:legend>
      <c:legendPos val="r"/>
      <c:overlay val="0"/>
      <c:txPr>
        <a:bodyPr/>
        <a:lstStyle/>
        <a:p>
          <a:pPr>
            <a:defRPr sz="1300">
              <a:solidFill>
                <a:srgbClr val="3D2E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6E1423"/>
                </a:solidFill>
                <a:latin typeface="+mn-lt"/>
              </a:defRPr>
            </a:pPr>
            <a:r>
              <a:rPr sz="1500" b="0" i="0" u="none" strike="noStrike">
                <a:solidFill>
                  <a:srgbClr val="6E1423"/>
                </a:solidFill>
                <a:latin typeface="+mn-lt"/>
              </a:rPr>
              <a:t>98 verified features by status</a:t>
            </a:r>
          </a:p>
        </c:rich>
      </c:tx>
      <c:layout/>
      <c:overlay val="0"/>
    </c:title>
    <c:autoTitleDeleted val="0"/>
    <c:plotArea>
      <c:layout/>
      <c:barChart>
        <c:barDir val="bar"/>
        <c:grouping val="clustered"/>
        <c:varyColors val="0"/>
        <c:ser>
          <c:idx val="0"/>
          <c:order val="0"/>
          <c:tx>
            <c:strRef>
              <c:f>Sheet1!$B$1</c:f>
              <c:strCache>
                <c:ptCount val="1"/>
                <c:pt idx="0">
                  <c:v>Number of features</c:v>
                </c:pt>
              </c:strCache>
            </c:strRef>
          </c:tx>
          <c:spPr>
            <a:solidFill>
              <a:srgbClr val="6E1423"/>
            </a:solidFill>
            <a:effectLst/>
          </c:spPr>
          <c:invertIfNegative val="0"/>
          <c:dLbls>
            <c:numFmt formatCode="#,##0" sourceLinked="0"/>
            <c:txPr>
              <a:bodyPr/>
              <a:lstStyle/>
              <a:p>
                <a:pPr>
                  <a:defRPr b="1" i="0" strike="noStrike" sz="1400" u="none">
                    <a:solidFill>
                      <a:srgbClr val="3D2E31"/>
                    </a:solidFill>
                    <a:latin typeface="+mn-lt"/>
                  </a:defRPr>
                </a:pPr>
              </a:p>
            </c:txPr>
            <c:showLegendKey val="0"/>
            <c:showVal val="1"/>
            <c:showCatName val="0"/>
            <c:showSerName val="0"/>
            <c:showPercent val="0"/>
            <c:showBubbleSize val="0"/>
            <c:showLeaderLines val="0"/>
          </c:dLbls>
          <c:dPt>
            <c:idx val="0"/>
            <c:invertIfNegative val="0"/>
            <c:bubble3D val="0"/>
            <c:spPr>
              <a:solidFill>
                <a:srgbClr val="6E1423"/>
              </a:solidFill>
              <a:effectLst/>
            </c:spPr>
          </c:dPt>
          <c:dPt>
            <c:idx val="1"/>
            <c:invertIfNegative val="0"/>
            <c:bubble3D val="0"/>
            <c:spPr>
              <a:solidFill>
                <a:srgbClr val="C8961E"/>
              </a:solidFill>
              <a:effectLst/>
            </c:spPr>
          </c:dPt>
          <c:dPt>
            <c:idx val="2"/>
            <c:invertIfNegative val="0"/>
            <c:bubble3D val="0"/>
            <c:spPr>
              <a:solidFill>
                <a:srgbClr val="B7791F"/>
              </a:solidFill>
              <a:effectLst/>
            </c:spPr>
          </c:dPt>
          <c:dPt>
            <c:idx val="3"/>
            <c:invertIfNegative val="0"/>
            <c:bubble3D val="0"/>
            <c:spPr>
              <a:solidFill>
                <a:srgbClr val="8A7A7D"/>
              </a:solidFill>
              <a:effectLst/>
            </c:spPr>
          </c:dPt>
          <c:dPt>
            <c:idx val="4"/>
            <c:invertIfNegative val="0"/>
            <c:bubble3D val="0"/>
            <c:spPr>
              <a:solidFill>
                <a:srgbClr val="3D2E31"/>
              </a:solidFill>
              <a:effectLst/>
            </c:spPr>
          </c:dPt>
          <c:dPt>
            <c:idx val="5"/>
            <c:invertIfNegative val="0"/>
            <c:bubble3D val="0"/>
            <c:spPr>
              <a:solidFill>
                <a:srgbClr val="8A7A7D"/>
              </a:solidFill>
              <a:effectLst/>
            </c:spPr>
          </c:dPt>
          <c:cat>
            <c:multiLvlStrRef>
              <c:f>Sheet1!$A$2:$A$7</c:f>
              <c:multiLvlStrCache>
                <c:ptCount val="6"/>
                <c:lvl>
                  <c:pt idx="0">
                    <c:v>Live (released)</c:v>
                  </c:pt>
                  <c:pt idx="1">
                    <c:v>Partially built</c:v>
                  </c:pt>
                  <c:pt idx="2">
                    <c:v>Built, not yet released</c:v>
                  </c:pt>
                  <c:pt idx="3">
                    <c:v>Planned (not built)</c:v>
                  </c:pt>
                  <c:pt idx="4">
                    <c:v>Withdrawn on request</c:v>
                  </c:pt>
                  <c:pt idx="5">
                    <c:v>Not verified</c:v>
                  </c:pt>
                </c:lvl>
              </c:multiLvlStrCache>
            </c:multiLvlStrRef>
          </c:cat>
          <c:val>
            <c:numRef>
              <c:f>Sheet1!$B$2:$B$7</c:f>
              <c:numCache>
                <c:formatCode>General</c:formatCode>
                <c:ptCount val="6"/>
                <c:pt idx="0">
                  <c:v>79</c:v>
                </c:pt>
                <c:pt idx="1">
                  <c:v>7</c:v>
                </c:pt>
                <c:pt idx="2">
                  <c:v>6</c:v>
                </c:pt>
                <c:pt idx="3">
                  <c:v>4</c:v>
                </c:pt>
                <c:pt idx="4">
                  <c:v>1</c:v>
                </c:pt>
                <c:pt idx="5">
                  <c:v>1</c:v>
                </c:pt>
              </c:numCache>
            </c:numRef>
          </c:val>
        </c:ser>
        <c:dLbls>
          <c:numFmt formatCode="#,##0" sourceLinked="0"/>
          <c:txPr>
            <a:bodyPr/>
            <a:lstStyle/>
            <a:p>
              <a:pPr>
                <a:defRPr b="1" i="0" strike="noStrike" sz="1400" u="none">
                  <a:solidFill>
                    <a:srgbClr val="3D2E3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D2E3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present the digital app of the Meserete Hiwot Sunday School. The app brings Mezmur, education, programs and attendance, holiday service selection, member services and administration together in one place. Everything in this presentation has been verified against the app's current code; items still in development are shown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four main goals: delivering Mezmur and lessons to every member, keeping records reliably, giving leaders clear information, and protecting members' personal data. It is a single app that runs on Android phones and in a web browser; its main language is Amharic, and it is also available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everyday problems the app solves. Paper attendance lists, scattered Mezmur collections, hand-calculated selection results and messages spread across many channels are left behind. In their place come attendance recorded by QR and signature, an organized Mezmur library, results calculated by clear rules, and one notification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signing in, members see three main sections on the home screen: Mezmur, Education and About Me. People with responsibilities also see the admin panel, and each person sees only what they are permitted to. Because all sections share one server and one database, attendance recorded once, for example, appears directly in reports and in selection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app's twelve main services at a glance. We will look at each of them in detail on the following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designed to be easy to use. Members sign in with their phone number and a short PIN; the church's colors and emblem appear on every screen; and light and dark themes are available. The question-mark icon on each screen offers help for that screen. The images on this slide were taken from the app with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Mezmur section is organized by category. Members can search for Mezmurs, read the lyrics at a comfortable font size and listen to the audio. For Mezmurs with timed lyrics, the lyrics are highlighted along with the audio. Downloaded Mezmurs work offline. Administrators add Mezmurs, upload audio and images, and can import them in bulk from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player includes all the controls you would expect from a modern music app: background playback, lock-screen controls, a queue, shuffle, repeat, speed control and a sleep timer. Changing the speed is especially helpful for those practicing a Mezmur.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registers with a phone number and PIN and receives a permanent member ID number and a digital ID card with a QR code. To change their name or phone number, members submit a request; once an administrator approves it, the change is recorded along with its history. For security, each member signs in on one trusted phone only, and repeated wrong attempts lock the account for a short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Programs can repeat once, weekly, monthly, twice a month, or on Ethiopian calendar days — which makes it possible to schedule monthly feast days. A program can be open to everyone or to invitees only. Members receive reminders before a program, and the phone alarm works even without an internet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Attendance recording is designed to be fair and accountable. For each program date, the Human Resources department assigns one attendance taker. The session opens 15 minutes before the program; the clock starts when the taker presses Start. Each member who is present is recorded by QR and signs. Once the session closes, changes are made only through correction requests and approval. Recording also works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former “Late” status has been removed, because there was no clear standard for deciding who was late. Instead, every record now stores the exact time of recording and the minutes elapsed since Start. A calculation that gives percentages by elapsed-minute intervals, using this data, is in development and has not yet been released. Members can submit excuse requests to be absent from a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Education module manages the Sunday School's teaching from enrolment to results. Students are registered and teachers are assigned. Marks pass through four stages: the teacher enters them as a draft and submits them for review, another officer approves them, and they are then published. Students see only published marks. This helps prevent errors and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learning platform lets members study on their phones. Lessons are organized into four categories: Holy Bible, Church History, Liturgy &amp; Order, and Hagiography. Each lesson can include text, references, documents and audio. Quizzes have time limits; a score linked to an official exam stays hidden from the student until the official mark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holiday Mezmur service selection is calculated from five criteria: class attendance, exams, Mezmur attendance, monthly contributions and department participation. The weights shown and the passing score of 43 are default values; administrators can change them for each selection. A criterion without data is not counted as zero — it is left out of the calculation. Note: the department-based criteria scheme was removed at the church's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selection has six stages. It is prepared as a draft; when it is open, each applicant's result is calculated automatically. In the review stage, the Mezmur, Education and Human Resources departments review the results; only after all of them approve can the selection be finalized, and the results are then locked. Mezmur administrators assign service categories, and finally the results are published and every applicant receives a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contributions are recorded by Ethiopian month. One payment can cover up to twelve months; the amount is calculated from the rate for the member's type, and children do not pay. A payment made after the month is recorded as “Paid after due month” for financial tracking, but the month still counts as paid. The app does not collect money; it only records what was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property module tracks the Sunday School's items by category, code and quantity. When an item is borrowed, the member signs; if it is not returned on time, a fine is calculated according to the policy. Digital books can be read only inside the app, while printed books are borrowed through a request and approval. Departments submit requests when they need property, and the Finance &amp; Property department reviews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departments manage their projects and tasks in the app. Each task can have several assignees, and reminders are sent as deadlines approach. Only the Finance &amp; Property department approves money, and spending over budget is not allowed. Each department has its own chat group, and the Task Bot posts task updates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Messages are delivered in four ways: the in-app notification center, push notifications, email and Telegram. Members can turn off topics they don't need, but essential messages always get through. Administrators can send a message to one person or to everyone and track its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Administration in the app is permission-based. Sixty-three detailed permissions are organized into fourteen roles. Each person sees and does only what they are permitted to; even though the app hides what is not allowed, the server checks independently. Permissions can also be granted to or revoked from an individual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 can export fifteen types of reports in PDF, Excel or CSV. Each report has its own permission; for example, only education administrators can export student marks. Because every admin action and exported report is kept in the audit log, it is always possible to know who did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places without an internet connection, the app keeps many tasks going. Downloaded Mezmurs, the member's own ID card and reminders work offline. Assigned takers can record attendance, and property staff can record borrowing, without a connection. When the connection returns, everything is sent automatically; any attendance record the server does not accept is not lost — it goes to the Human Resources department for review. Most administrative tasks, however, still need a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Protecting members' information is a priority. Each person sees only what their work requires. Sensitive personal data is stored encrypted in the database, and signatures and books are kept in private storage. Students see only their own published marks. For security reasons, technical details are not included in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a simple view of how the system works technically. Members use the Android app or the web. The app talks to the server over a secure connection. The server first checks identity and permissions, then performs the work and stores the data in the database and file storage. Notifications are sent through Firebase, email and Telegram. When there is no connection, the phone uses its own local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designed for the Ethiopian context. Dates are shown in the Ethiopian calendar, contributions are counted by Ethiopian month, programs can repeat on Ethiopian dates such as monthly feast days, and reports carry the Ethiopian date. The thirteenth month, Pagume, counts with Nehase for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benefits everyone. Leaders get timely reports and transparent results. Departments manage their projects, budgets and discussions in one place. Members carry Mezmur and lessons in their pocket and can see their own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Ninety-eight features have been verified from the app's code. Seventy-nine of them are working in the official release, version 1.5.3 build 16. Six are built and in testing, seven are partially built, and four are planned. The department-based selection criteria were removed at the church's request. An iPhone version has been set up, but its build has not been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work is organized in a plan. The first three stages are built and in testing; next come full offline work, the education results workflow, certificates and the library. Some stages require leadership decisions before they can begin — for example, the certificate wording and signatory.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proposals only; they have not been decided or built. Examples include an iPhone version, automatic backups, server monitoring, a scheduled job runner so reminders go out at the exact time, and an online payment option for discussion. Leadership will decide which ones get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Meserete Hiwot brings the Sunday School's main activities together in one app; attendance, marks and selection work transparently; and members' information is protected. The next steps are to test and release the pending updates, make the pending decisions, strengthen security, encourage members to install the app, and provide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We are now happy to take your questions and feedback. The app can be downloaded from the download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rtlCol="0"/>
          <a:lstStyle>
            <a:lvl1pPr algn="l" indent="0" marL="0">
              <a:buNone/>
              <a:defRPr lang="en-US" sz="3400" dirty="0">
                <a:solidFill>
                  <a:schemeClr val="accent1"/>
                </a:solidFill>
                <a:latin typeface="Nyala" pitchFamily="34" charset="0"/>
                <a:ea typeface="Nyala" pitchFamily="34" charset="-122"/>
                <a:cs typeface="Nyala" pitchFamily="34" charset="-120"/>
              </a:defRPr>
            </a:lvl1pPr>
          </a:lstStyle>
          <a:p>
            <a:pPr algn="l" indent="0" marL="0">
              <a:buNone/>
            </a:pPr>
            <a:endParaRPr lang="en-US" sz="3400" dirty="0"/>
          </a:p>
        </p:txBody>
      </p:sp>
      <p:pic>
        <p:nvPicPr>
          <p:cNvPr id="3" name="Image 0" descr="C:\Users\HP\Documents\MH-app-1.5.3\mobile\mobile\assets\images\logo.jpg">    </p:cNvPr>
          <p:cNvPicPr>
            <a:picLocks noChangeAspect="1"/>
          </p:cNvPicPr>
          <p:nvPr/>
        </p:nvPicPr>
        <p:blipFill>
          <a:blip r:embed="rId1"/>
          <a:stretch>
            <a:fillRect/>
          </a:stretch>
        </p:blipFill>
        <p:spPr>
          <a:xfrm>
            <a:off x="11137392" y="347472"/>
            <a:ext cx="566928" cy="566928"/>
          </a:xfrm>
          <a:prstGeom prst="rect">
            <a:avLst/>
          </a:prstGeom>
        </p:spPr>
      </p:pic>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latin typeface="Ebrima" pitchFamily="34" charset="0"/>
                <a:ea typeface="Ebrima" pitchFamily="34" charset="-122"/>
                <a:cs typeface="Ebrima" pitchFamily="34" charset="-120"/>
              </a:rPr>
              <a:t>Meserete Hiwot Sunday School · System Presentation</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2.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2.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2.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543800" y="960120"/>
            <a:ext cx="4023360" cy="4023360"/>
          </a:xfrm>
          <a:prstGeom prst="ellipse">
            <a:avLst/>
          </a:prstGeom>
          <a:solidFill>
            <a:schemeClr val="accent6"/>
          </a:solidFill>
          <a:ln w="25400">
            <a:solidFill>
              <a:schemeClr val="accent2"/>
            </a:solidFill>
            <a:prstDash val="solid"/>
          </a:ln>
        </p:spPr>
      </p:sp>
      <p:pic>
        <p:nvPicPr>
          <p:cNvPr id="3" name="Image 0" descr="C:\Users\HP\Documents\MH-app-1.5.3\mobile\mobile\assets\images\logo.jpg">    </p:cNvPr>
          <p:cNvPicPr>
            <a:picLocks noChangeAspect="1"/>
          </p:cNvPicPr>
          <p:nvPr/>
        </p:nvPicPr>
        <p:blipFill>
          <a:blip r:embed="rId1"/>
          <a:stretch>
            <a:fillRect/>
          </a:stretch>
        </p:blipFill>
        <p:spPr>
          <a:xfrm>
            <a:off x="7818120" y="1234440"/>
            <a:ext cx="3474720" cy="3474720"/>
          </a:xfrm>
          <a:prstGeom prst="ellipse">
            <a:avLst/>
          </a:prstGeom>
        </p:spPr>
      </p:pic>
      <p:sp>
        <p:nvSpPr>
          <p:cNvPr id="4" name="Text 1"/>
          <p:cNvSpPr txBox="1"/>
          <p:nvPr/>
        </p:nvSpPr>
        <p:spPr>
          <a:xfrm>
            <a:off x="731520" y="1188720"/>
            <a:ext cx="6583680" cy="1188720"/>
          </a:xfrm>
          <a:prstGeom prst="rect">
            <a:avLst/>
          </a:prstGeom>
          <a:noFill/>
          <a:ln/>
        </p:spPr>
        <p:txBody>
          <a:bodyPr wrap="square" lIns="0" tIns="0" rIns="0" bIns="0" rtlCol="0" anchor="t"/>
          <a:lstStyle/>
          <a:p>
            <a:pPr indent="0" marL="0">
              <a:buNone/>
            </a:pPr>
            <a:r>
              <a:rPr lang="en-US" sz="6000" dirty="0">
                <a:solidFill>
                  <a:schemeClr val="bg1"/>
                </a:solidFill>
                <a:latin typeface="Nyala" pitchFamily="34" charset="0"/>
                <a:ea typeface="Nyala" pitchFamily="34" charset="-122"/>
                <a:cs typeface="Nyala" pitchFamily="34" charset="-120"/>
              </a:rPr>
              <a:t>Meserete Hiwot</a:t>
            </a:r>
            <a:endParaRPr lang="en-US" sz="6000" dirty="0"/>
          </a:p>
        </p:txBody>
      </p:sp>
      <p:sp>
        <p:nvSpPr>
          <p:cNvPr id="5" name="Text 2"/>
          <p:cNvSpPr txBox="1"/>
          <p:nvPr/>
        </p:nvSpPr>
        <p:spPr>
          <a:xfrm>
            <a:off x="731520" y="2423160"/>
            <a:ext cx="6583680" cy="548640"/>
          </a:xfrm>
          <a:prstGeom prst="rect">
            <a:avLst/>
          </a:prstGeom>
          <a:noFill/>
          <a:ln/>
        </p:spPr>
        <p:txBody>
          <a:bodyPr wrap="square" lIns="0" tIns="0" rIns="0" bIns="0" rtlCol="0" anchor="t"/>
          <a:lstStyle/>
          <a:p>
            <a:pPr indent="0" marL="0">
              <a:buNone/>
            </a:pPr>
            <a:r>
              <a:rPr lang="en-US" sz="2200" b="1" dirty="0">
                <a:solidFill>
                  <a:schemeClr val="accent2"/>
                </a:solidFill>
                <a:latin typeface="Ebrima" pitchFamily="34" charset="0"/>
                <a:ea typeface="Ebrima" pitchFamily="34" charset="-122"/>
                <a:cs typeface="Ebrima" pitchFamily="34" charset="-120"/>
              </a:rPr>
              <a:t>The Sunday School's All-in-One Digital App</a:t>
            </a:r>
            <a:endParaRPr lang="en-US" sz="2200" dirty="0"/>
          </a:p>
        </p:txBody>
      </p:sp>
      <p:sp>
        <p:nvSpPr>
          <p:cNvPr id="6" name="Text 3"/>
          <p:cNvSpPr txBox="1"/>
          <p:nvPr/>
        </p:nvSpPr>
        <p:spPr>
          <a:xfrm>
            <a:off x="731520" y="3063240"/>
            <a:ext cx="6400800" cy="914400"/>
          </a:xfrm>
          <a:prstGeom prst="rect">
            <a:avLst/>
          </a:prstGeom>
          <a:noFill/>
          <a:ln/>
        </p:spPr>
        <p:txBody>
          <a:bodyPr wrap="square" lIns="0" tIns="0" rIns="0" bIns="0" rtlCol="0" anchor="t"/>
          <a:lstStyle/>
          <a:p>
            <a:pPr indent="0" marL="0">
              <a:buNone/>
            </a:pPr>
            <a:r>
              <a:rPr lang="en-US" sz="1600" dirty="0">
                <a:solidFill>
                  <a:schemeClr val="bg1"/>
                </a:solidFill>
                <a:latin typeface="Ebrima" pitchFamily="34" charset="0"/>
                <a:ea typeface="Ebrima" pitchFamily="34" charset="-122"/>
                <a:cs typeface="Ebrima" pitchFamily="34" charset="-120"/>
              </a:rPr>
              <a:t>System overview — Mezmur, education, programs and attendance, service selection, member services and administration</a:t>
            </a:r>
            <a:endParaRPr lang="en-US" sz="1600" dirty="0"/>
          </a:p>
        </p:txBody>
      </p:sp>
      <p:sp>
        <p:nvSpPr>
          <p:cNvPr id="7" name="Text 4"/>
          <p:cNvSpPr txBox="1"/>
          <p:nvPr/>
        </p:nvSpPr>
        <p:spPr>
          <a:xfrm>
            <a:off x="731520" y="4572000"/>
            <a:ext cx="6583680" cy="731520"/>
          </a:xfrm>
          <a:prstGeom prst="rect">
            <a:avLst/>
          </a:prstGeom>
          <a:noFill/>
          <a:ln/>
        </p:spPr>
        <p:txBody>
          <a:bodyPr wrap="square" lIns="0" tIns="0" rIns="0" bIns="0" rtlCol="0" anchor="t"/>
          <a:lstStyle/>
          <a:p>
            <a:pPr indent="0" marL="0">
              <a:buNone/>
            </a:pPr>
            <a:r>
              <a:rPr lang="en-US" sz="1400" dirty="0">
                <a:solidFill>
                  <a:schemeClr val="bg1"/>
                </a:solidFill>
                <a:latin typeface="Ebrima" pitchFamily="34" charset="0"/>
                <a:ea typeface="Ebrima" pitchFamily="34" charset="-122"/>
                <a:cs typeface="Ebrima" pitchFamily="34" charset="-120"/>
              </a:rPr>
              <a:t>Meserete Hiwot Sunday School</a:t>
            </a:r>
            <a:endParaRPr lang="en-US" sz="1400" dirty="0"/>
          </a:p>
          <a:p>
            <a:pPr indent="0" marL="0">
              <a:buNone/>
            </a:pPr>
            <a:r>
              <a:rPr lang="en-US" sz="1400" dirty="0">
                <a:solidFill>
                  <a:schemeClr val="bg1"/>
                </a:solidFill>
                <a:latin typeface="Ebrima" pitchFamily="34" charset="0"/>
                <a:ea typeface="Ebrima" pitchFamily="34" charset="-122"/>
                <a:cs typeface="Ebrima" pitchFamily="34" charset="-120"/>
              </a:rPr>
              <a:t>Debre Enqu St. Lideta Lemaryam Church</a:t>
            </a:r>
            <a:endParaRPr lang="en-US" sz="1400" dirty="0"/>
          </a:p>
        </p:txBody>
      </p:sp>
      <p:sp>
        <p:nvSpPr>
          <p:cNvPr id="8" name="Text 5"/>
          <p:cNvSpPr txBox="1"/>
          <p:nvPr/>
        </p:nvSpPr>
        <p:spPr>
          <a:xfrm>
            <a:off x="731520" y="5669280"/>
            <a:ext cx="6583680" cy="365760"/>
          </a:xfrm>
          <a:prstGeom prst="rect">
            <a:avLst/>
          </a:prstGeom>
          <a:noFill/>
          <a:ln/>
        </p:spPr>
        <p:txBody>
          <a:bodyPr wrap="square" lIns="0" tIns="0" rIns="0" bIns="0" rtlCol="0" anchor="t"/>
          <a:lstStyle/>
          <a:p>
            <a:pPr indent="0" marL="0">
              <a:buNone/>
            </a:pPr>
            <a:r>
              <a:rPr lang="en-US" sz="1300" dirty="0">
                <a:solidFill>
                  <a:schemeClr val="accent2"/>
                </a:solidFill>
                <a:latin typeface="Ebrima" pitchFamily="34" charset="0"/>
                <a:ea typeface="Ebrima" pitchFamily="34" charset="-122"/>
                <a:cs typeface="Ebrima" pitchFamily="34" charset="-120"/>
              </a:rPr>
              <a:t>16 October 2026 (Tikimt 6, 2019 E.C.)  ·  App version 1.5.3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Introduction and Purpose</a:t>
            </a:r>
            <a:endParaRPr lang="en-US" sz="3400" dirty="0"/>
          </a:p>
        </p:txBody>
      </p:sp>
      <p:sp>
        <p:nvSpPr>
          <p:cNvPr id="3" name="Text 1"/>
          <p:cNvSpPr txBox="1"/>
          <p:nvPr/>
        </p:nvSpPr>
        <p:spPr>
          <a:xfrm>
            <a:off x="548640" y="1325880"/>
            <a:ext cx="6675120" cy="822960"/>
          </a:xfrm>
          <a:prstGeom prst="rect">
            <a:avLst/>
          </a:prstGeom>
          <a:noFill/>
          <a:ln/>
        </p:spPr>
        <p:txBody>
          <a:bodyPr wrap="square" lIns="0" tIns="0" rIns="0" bIns="0" rtlCol="0" anchor="t"/>
          <a:lstStyle/>
          <a:p>
            <a:pPr indent="0" marL="0">
              <a:buNone/>
            </a:pPr>
            <a:r>
              <a:rPr lang="en-US" sz="1800" dirty="0">
                <a:solidFill>
                  <a:schemeClr val="tx1"/>
                </a:solidFill>
                <a:latin typeface="Ebrima" pitchFamily="34" charset="0"/>
                <a:ea typeface="Ebrima" pitchFamily="34" charset="-122"/>
                <a:cs typeface="Ebrima" pitchFamily="34" charset="-120"/>
              </a:rPr>
              <a:t>Meserete Hiwot is a digital app that brings the Sunday School's spiritual service, education and administration together on one platform.</a:t>
            </a:r>
            <a:endParaRPr lang="en-US" sz="1800" dirty="0"/>
          </a:p>
        </p:txBody>
      </p:sp>
      <p:sp>
        <p:nvSpPr>
          <p:cNvPr id="4" name="Shape 2"/>
          <p:cNvSpPr/>
          <p:nvPr/>
        </p:nvSpPr>
        <p:spPr>
          <a:xfrm>
            <a:off x="548640" y="2377440"/>
            <a:ext cx="640080" cy="6400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02259" y="2531059"/>
            <a:ext cx="332842" cy="332842"/>
          </a:xfrm>
          <a:prstGeom prst="rect">
            <a:avLst/>
          </a:prstGeom>
        </p:spPr>
      </p:pic>
      <p:sp>
        <p:nvSpPr>
          <p:cNvPr id="6" name="Text 3"/>
          <p:cNvSpPr txBox="1"/>
          <p:nvPr/>
        </p:nvSpPr>
        <p:spPr>
          <a:xfrm>
            <a:off x="1417320" y="2487168"/>
            <a:ext cx="5852160" cy="457200"/>
          </a:xfrm>
          <a:prstGeom prst="rect">
            <a:avLst/>
          </a:prstGeom>
          <a:noFill/>
          <a:ln/>
        </p:spPr>
        <p:txBody>
          <a:bodyPr wrap="square" lIns="0" tIns="0" rIns="0" bIns="0" rtlCol="0" anchor="ctr"/>
          <a:lstStyle/>
          <a:p>
            <a:pPr indent="0" marL="0">
              <a:buNone/>
            </a:pPr>
            <a:r>
              <a:rPr lang="en-US" sz="1700" dirty="0">
                <a:solidFill>
                  <a:schemeClr val="tx1"/>
                </a:solidFill>
                <a:latin typeface="Ebrima" pitchFamily="34" charset="0"/>
                <a:ea typeface="Ebrima" pitchFamily="34" charset="-122"/>
                <a:cs typeface="Ebrima" pitchFamily="34" charset="-120"/>
              </a:rPr>
              <a:t>Deliver Mezmur and lessons to every member's phone</a:t>
            </a:r>
            <a:endParaRPr lang="en-US" sz="1700" dirty="0"/>
          </a:p>
        </p:txBody>
      </p:sp>
      <p:sp>
        <p:nvSpPr>
          <p:cNvPr id="7" name="Shape 4"/>
          <p:cNvSpPr/>
          <p:nvPr/>
        </p:nvSpPr>
        <p:spPr>
          <a:xfrm>
            <a:off x="548640" y="3310128"/>
            <a:ext cx="640080" cy="64008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702259" y="3463747"/>
            <a:ext cx="332842" cy="332842"/>
          </a:xfrm>
          <a:prstGeom prst="rect">
            <a:avLst/>
          </a:prstGeom>
        </p:spPr>
      </p:pic>
      <p:sp>
        <p:nvSpPr>
          <p:cNvPr id="9" name="Text 5"/>
          <p:cNvSpPr txBox="1"/>
          <p:nvPr/>
        </p:nvSpPr>
        <p:spPr>
          <a:xfrm>
            <a:off x="1417320" y="3419856"/>
            <a:ext cx="5852160" cy="457200"/>
          </a:xfrm>
          <a:prstGeom prst="rect">
            <a:avLst/>
          </a:prstGeom>
          <a:noFill/>
          <a:ln/>
        </p:spPr>
        <p:txBody>
          <a:bodyPr wrap="square" lIns="0" tIns="0" rIns="0" bIns="0" rtlCol="0" anchor="ctr"/>
          <a:lstStyle/>
          <a:p>
            <a:pPr indent="0" marL="0">
              <a:buNone/>
            </a:pPr>
            <a:r>
              <a:rPr lang="en-US" sz="1700" dirty="0">
                <a:solidFill>
                  <a:schemeClr val="tx1"/>
                </a:solidFill>
                <a:latin typeface="Ebrima" pitchFamily="34" charset="0"/>
                <a:ea typeface="Ebrima" pitchFamily="34" charset="-122"/>
                <a:cs typeface="Ebrima" pitchFamily="34" charset="-120"/>
              </a:rPr>
              <a:t>Keep attendance, contribution and property records reliably</a:t>
            </a:r>
            <a:endParaRPr lang="en-US" sz="1700" dirty="0"/>
          </a:p>
        </p:txBody>
      </p:sp>
      <p:sp>
        <p:nvSpPr>
          <p:cNvPr id="10" name="Shape 6"/>
          <p:cNvSpPr/>
          <p:nvPr/>
        </p:nvSpPr>
        <p:spPr>
          <a:xfrm>
            <a:off x="548640" y="4242816"/>
            <a:ext cx="640080" cy="640080"/>
          </a:xfrm>
          <a:prstGeom prst="ellipse">
            <a:avLst/>
          </a:prstGeom>
          <a:solidFill>
            <a:schemeClr val="accent1"/>
          </a:solidFill>
          <a:ln/>
        </p:spPr>
      </p:sp>
      <p:pic>
        <p:nvPicPr>
          <p:cNvPr id="11" name="Image 2" descr="preencoded.png">    </p:cNvPr>
          <p:cNvPicPr>
            <a:picLocks noChangeAspect="1"/>
          </p:cNvPicPr>
          <p:nvPr/>
        </p:nvPicPr>
        <p:blipFill>
          <a:blip r:embed="rId3"/>
          <a:stretch>
            <a:fillRect/>
          </a:stretch>
        </p:blipFill>
        <p:spPr>
          <a:xfrm>
            <a:off x="702259" y="4396435"/>
            <a:ext cx="332842" cy="332842"/>
          </a:xfrm>
          <a:prstGeom prst="rect">
            <a:avLst/>
          </a:prstGeom>
        </p:spPr>
      </p:pic>
      <p:sp>
        <p:nvSpPr>
          <p:cNvPr id="12" name="Text 7"/>
          <p:cNvSpPr txBox="1"/>
          <p:nvPr/>
        </p:nvSpPr>
        <p:spPr>
          <a:xfrm>
            <a:off x="1417320" y="4352544"/>
            <a:ext cx="5852160" cy="457200"/>
          </a:xfrm>
          <a:prstGeom prst="rect">
            <a:avLst/>
          </a:prstGeom>
          <a:noFill/>
          <a:ln/>
        </p:spPr>
        <p:txBody>
          <a:bodyPr wrap="square" lIns="0" tIns="0" rIns="0" bIns="0" rtlCol="0" anchor="ctr"/>
          <a:lstStyle/>
          <a:p>
            <a:pPr indent="0" marL="0">
              <a:buNone/>
            </a:pPr>
            <a:r>
              <a:rPr lang="en-US" sz="1700" dirty="0">
                <a:solidFill>
                  <a:schemeClr val="tx1"/>
                </a:solidFill>
                <a:latin typeface="Ebrima" pitchFamily="34" charset="0"/>
                <a:ea typeface="Ebrima" pitchFamily="34" charset="-122"/>
                <a:cs typeface="Ebrima" pitchFamily="34" charset="-120"/>
              </a:rPr>
              <a:t>Give leaders clear reports and decision-making information</a:t>
            </a:r>
            <a:endParaRPr lang="en-US" sz="1700" dirty="0"/>
          </a:p>
        </p:txBody>
      </p:sp>
      <p:sp>
        <p:nvSpPr>
          <p:cNvPr id="13" name="Shape 8"/>
          <p:cNvSpPr/>
          <p:nvPr/>
        </p:nvSpPr>
        <p:spPr>
          <a:xfrm>
            <a:off x="548640" y="5175504"/>
            <a:ext cx="640080" cy="64008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702259" y="5329123"/>
            <a:ext cx="332842" cy="332842"/>
          </a:xfrm>
          <a:prstGeom prst="rect">
            <a:avLst/>
          </a:prstGeom>
        </p:spPr>
      </p:pic>
      <p:sp>
        <p:nvSpPr>
          <p:cNvPr id="15" name="Text 9"/>
          <p:cNvSpPr txBox="1"/>
          <p:nvPr/>
        </p:nvSpPr>
        <p:spPr>
          <a:xfrm>
            <a:off x="1417320" y="5285232"/>
            <a:ext cx="5852160" cy="457200"/>
          </a:xfrm>
          <a:prstGeom prst="rect">
            <a:avLst/>
          </a:prstGeom>
          <a:noFill/>
          <a:ln/>
        </p:spPr>
        <p:txBody>
          <a:bodyPr wrap="square" lIns="0" tIns="0" rIns="0" bIns="0" rtlCol="0" anchor="ctr"/>
          <a:lstStyle/>
          <a:p>
            <a:pPr indent="0" marL="0">
              <a:buNone/>
            </a:pPr>
            <a:r>
              <a:rPr lang="en-US" sz="1700" dirty="0">
                <a:solidFill>
                  <a:schemeClr val="tx1"/>
                </a:solidFill>
                <a:latin typeface="Ebrima" pitchFamily="34" charset="0"/>
                <a:ea typeface="Ebrima" pitchFamily="34" charset="-122"/>
                <a:cs typeface="Ebrima" pitchFamily="34" charset="-120"/>
              </a:rPr>
              <a:t>Protect members' personal information carefully</a:t>
            </a:r>
            <a:endParaRPr lang="en-US" sz="1700" dirty="0"/>
          </a:p>
        </p:txBody>
      </p:sp>
      <p:sp>
        <p:nvSpPr>
          <p:cNvPr id="16" name="Shape 10"/>
          <p:cNvSpPr/>
          <p:nvPr/>
        </p:nvSpPr>
        <p:spPr>
          <a:xfrm>
            <a:off x="7863840" y="1325880"/>
            <a:ext cx="3794760" cy="4800600"/>
          </a:xfrm>
          <a:prstGeom prst="roundRect">
            <a:avLst>
              <a:gd name="adj" fmla="val 2892"/>
            </a:avLst>
          </a:prstGeom>
          <a:solidFill>
            <a:schemeClr val="bg2">
              <a:alpha val="60000"/>
            </a:schemeClr>
          </a:solidFill>
          <a:ln/>
        </p:spPr>
      </p:sp>
      <p:sp>
        <p:nvSpPr>
          <p:cNvPr id="17" name="Text 11"/>
          <p:cNvSpPr txBox="1"/>
          <p:nvPr/>
        </p:nvSpPr>
        <p:spPr>
          <a:xfrm>
            <a:off x="8183880" y="1554480"/>
            <a:ext cx="3291840" cy="777240"/>
          </a:xfrm>
          <a:prstGeom prst="rect">
            <a:avLst/>
          </a:prstGeom>
          <a:noFill/>
          <a:ln/>
        </p:spPr>
        <p:txBody>
          <a:bodyPr wrap="square" lIns="0" tIns="0" rIns="0" bIns="0" rtlCol="0" anchor="t"/>
          <a:lstStyle/>
          <a:p>
            <a:pPr indent="0" marL="0">
              <a:buNone/>
            </a:pPr>
            <a:r>
              <a:rPr lang="en-US" sz="4000" b="1" dirty="0">
                <a:solidFill>
                  <a:schemeClr val="accent1"/>
                </a:solidFill>
                <a:latin typeface="Ebrima" pitchFamily="34" charset="0"/>
                <a:ea typeface="Ebrima" pitchFamily="34" charset="-122"/>
                <a:cs typeface="Ebrima" pitchFamily="34" charset="-120"/>
              </a:rPr>
              <a:t>1 app</a:t>
            </a:r>
            <a:endParaRPr lang="en-US" sz="4000" dirty="0"/>
          </a:p>
        </p:txBody>
      </p:sp>
      <p:sp>
        <p:nvSpPr>
          <p:cNvPr id="18" name="Text 12"/>
          <p:cNvSpPr txBox="1"/>
          <p:nvPr/>
        </p:nvSpPr>
        <p:spPr>
          <a:xfrm>
            <a:off x="8183880" y="2331720"/>
            <a:ext cx="3291840" cy="54864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For Android phones and the web (browser)</a:t>
            </a:r>
            <a:endParaRPr lang="en-US" sz="1300" dirty="0"/>
          </a:p>
        </p:txBody>
      </p:sp>
      <p:sp>
        <p:nvSpPr>
          <p:cNvPr id="19" name="Text 13"/>
          <p:cNvSpPr txBox="1"/>
          <p:nvPr/>
        </p:nvSpPr>
        <p:spPr>
          <a:xfrm>
            <a:off x="8183880" y="3063240"/>
            <a:ext cx="3291840" cy="777240"/>
          </a:xfrm>
          <a:prstGeom prst="rect">
            <a:avLst/>
          </a:prstGeom>
          <a:noFill/>
          <a:ln/>
        </p:spPr>
        <p:txBody>
          <a:bodyPr wrap="square" lIns="0" tIns="0" rIns="0" bIns="0" rtlCol="0" anchor="t"/>
          <a:lstStyle/>
          <a:p>
            <a:pPr indent="0" marL="0">
              <a:buNone/>
            </a:pPr>
            <a:r>
              <a:rPr lang="en-US" sz="4000" b="1" dirty="0">
                <a:solidFill>
                  <a:schemeClr val="accent1"/>
                </a:solidFill>
                <a:latin typeface="Ebrima" pitchFamily="34" charset="0"/>
                <a:ea typeface="Ebrima" pitchFamily="34" charset="-122"/>
                <a:cs typeface="Ebrima" pitchFamily="34" charset="-120"/>
              </a:rPr>
              <a:t>3 sections</a:t>
            </a:r>
            <a:endParaRPr lang="en-US" sz="4000" dirty="0"/>
          </a:p>
        </p:txBody>
      </p:sp>
      <p:sp>
        <p:nvSpPr>
          <p:cNvPr id="20" name="Text 14"/>
          <p:cNvSpPr txBox="1"/>
          <p:nvPr/>
        </p:nvSpPr>
        <p:spPr>
          <a:xfrm>
            <a:off x="8183880" y="3840480"/>
            <a:ext cx="3291840" cy="54864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Mezmur · Education · About Me</a:t>
            </a:r>
            <a:endParaRPr lang="en-US" sz="1300" dirty="0"/>
          </a:p>
        </p:txBody>
      </p:sp>
      <p:sp>
        <p:nvSpPr>
          <p:cNvPr id="21" name="Text 15"/>
          <p:cNvSpPr txBox="1"/>
          <p:nvPr/>
        </p:nvSpPr>
        <p:spPr>
          <a:xfrm>
            <a:off x="8183880" y="4572000"/>
            <a:ext cx="3291840" cy="777240"/>
          </a:xfrm>
          <a:prstGeom prst="rect">
            <a:avLst/>
          </a:prstGeom>
          <a:noFill/>
          <a:ln/>
        </p:spPr>
        <p:txBody>
          <a:bodyPr wrap="square" lIns="0" tIns="0" rIns="0" bIns="0" rtlCol="0" anchor="t"/>
          <a:lstStyle/>
          <a:p>
            <a:pPr indent="0" marL="0">
              <a:buNone/>
            </a:pPr>
            <a:r>
              <a:rPr lang="en-US" sz="4000" b="1" dirty="0">
                <a:solidFill>
                  <a:schemeClr val="accent1"/>
                </a:solidFill>
                <a:latin typeface="Ebrima" pitchFamily="34" charset="0"/>
                <a:ea typeface="Ebrima" pitchFamily="34" charset="-122"/>
                <a:cs typeface="Ebrima" pitchFamily="34" charset="-120"/>
              </a:rPr>
              <a:t>2 languages</a:t>
            </a:r>
            <a:endParaRPr lang="en-US" sz="4000" dirty="0"/>
          </a:p>
        </p:txBody>
      </p:sp>
      <p:sp>
        <p:nvSpPr>
          <p:cNvPr id="22" name="Text 16"/>
          <p:cNvSpPr txBox="1"/>
          <p:nvPr/>
        </p:nvSpPr>
        <p:spPr>
          <a:xfrm>
            <a:off x="8183880" y="5349240"/>
            <a:ext cx="3291840" cy="54864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Amharic (primary) and English</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Problems the App Solves</a:t>
            </a:r>
            <a:endParaRPr lang="en-US" sz="3400" dirty="0"/>
          </a:p>
        </p:txBody>
      </p:sp>
      <p:sp>
        <p:nvSpPr>
          <p:cNvPr id="3" name="Shape 1"/>
          <p:cNvSpPr/>
          <p:nvPr/>
        </p:nvSpPr>
        <p:spPr>
          <a:xfrm>
            <a:off x="548640" y="1325880"/>
            <a:ext cx="5257800" cy="4846320"/>
          </a:xfrm>
          <a:prstGeom prst="roundRect">
            <a:avLst>
              <a:gd name="adj" fmla="val 2264"/>
            </a:avLst>
          </a:prstGeom>
          <a:solidFill>
            <a:schemeClr val="bg2">
              <a:alpha val="45000"/>
            </a:schemeClr>
          </a:solidFill>
          <a:ln/>
        </p:spPr>
      </p:sp>
      <p:sp>
        <p:nvSpPr>
          <p:cNvPr id="4" name="Shape 2"/>
          <p:cNvSpPr/>
          <p:nvPr/>
        </p:nvSpPr>
        <p:spPr>
          <a:xfrm>
            <a:off x="6355080" y="1325880"/>
            <a:ext cx="5303520" cy="4846320"/>
          </a:xfrm>
          <a:prstGeom prst="roundRect">
            <a:avLst>
              <a:gd name="adj" fmla="val 2264"/>
            </a:avLst>
          </a:prstGeom>
          <a:solidFill>
            <a:schemeClr val="accent1"/>
          </a:solidFill>
          <a:ln/>
        </p:spPr>
      </p:sp>
      <p:sp>
        <p:nvSpPr>
          <p:cNvPr id="5" name="Text 3"/>
          <p:cNvSpPr txBox="1"/>
          <p:nvPr/>
        </p:nvSpPr>
        <p:spPr>
          <a:xfrm>
            <a:off x="868680" y="1508760"/>
            <a:ext cx="4572000" cy="457200"/>
          </a:xfrm>
          <a:prstGeom prst="rect">
            <a:avLst/>
          </a:prstGeom>
          <a:noFill/>
          <a:ln/>
        </p:spPr>
        <p:txBody>
          <a:bodyPr wrap="square" lIns="0" tIns="0" rIns="0" bIns="0" rtlCol="0" anchor="t"/>
          <a:lstStyle/>
          <a:p>
            <a:pPr indent="0" marL="0">
              <a:buNone/>
            </a:pPr>
            <a:r>
              <a:rPr lang="en-US" sz="2200" b="1" dirty="0">
                <a:solidFill>
                  <a:schemeClr val="accent4"/>
                </a:solidFill>
                <a:latin typeface="Ebrima" pitchFamily="34" charset="0"/>
                <a:ea typeface="Ebrima" pitchFamily="34" charset="-122"/>
                <a:cs typeface="Ebrima" pitchFamily="34" charset="-120"/>
              </a:rPr>
              <a:t>Before</a:t>
            </a:r>
            <a:endParaRPr lang="en-US" sz="2200" dirty="0"/>
          </a:p>
        </p:txBody>
      </p:sp>
      <p:sp>
        <p:nvSpPr>
          <p:cNvPr id="6" name="Text 4"/>
          <p:cNvSpPr txBox="1"/>
          <p:nvPr/>
        </p:nvSpPr>
        <p:spPr>
          <a:xfrm>
            <a:off x="6675120" y="1508760"/>
            <a:ext cx="4572000" cy="457200"/>
          </a:xfrm>
          <a:prstGeom prst="rect">
            <a:avLst/>
          </a:prstGeom>
          <a:noFill/>
          <a:ln/>
        </p:spPr>
        <p:txBody>
          <a:bodyPr wrap="square" lIns="0" tIns="0" rIns="0" bIns="0" rtlCol="0" anchor="t"/>
          <a:lstStyle/>
          <a:p>
            <a:pPr indent="0" marL="0">
              <a:buNone/>
            </a:pPr>
            <a:r>
              <a:rPr lang="en-US" sz="2200" b="1" dirty="0">
                <a:solidFill>
                  <a:schemeClr val="accent2"/>
                </a:solidFill>
                <a:latin typeface="Ebrima" pitchFamily="34" charset="0"/>
                <a:ea typeface="Ebrima" pitchFamily="34" charset="-122"/>
                <a:cs typeface="Ebrima" pitchFamily="34" charset="-120"/>
              </a:rPr>
              <a:t>Now with the app</a:t>
            </a:r>
            <a:endParaRPr lang="en-US" sz="2200" dirty="0"/>
          </a:p>
        </p:txBody>
      </p:sp>
      <p:pic>
        <p:nvPicPr>
          <p:cNvPr id="7" name="Image 0" descr="preencoded.png">    </p:cNvPr>
          <p:cNvPicPr>
            <a:picLocks noChangeAspect="1"/>
          </p:cNvPicPr>
          <p:nvPr/>
        </p:nvPicPr>
        <p:blipFill>
          <a:blip r:embed="rId1"/>
          <a:stretch>
            <a:fillRect/>
          </a:stretch>
        </p:blipFill>
        <p:spPr>
          <a:xfrm>
            <a:off x="868680" y="2286000"/>
            <a:ext cx="292608" cy="292608"/>
          </a:xfrm>
          <a:prstGeom prst="rect">
            <a:avLst/>
          </a:prstGeom>
        </p:spPr>
      </p:pic>
      <p:sp>
        <p:nvSpPr>
          <p:cNvPr id="8" name="Text 5"/>
          <p:cNvSpPr txBox="1"/>
          <p:nvPr/>
        </p:nvSpPr>
        <p:spPr>
          <a:xfrm>
            <a:off x="1325880" y="2240280"/>
            <a:ext cx="4297680" cy="548640"/>
          </a:xfrm>
          <a:prstGeom prst="rect">
            <a:avLst/>
          </a:prstGeom>
          <a:noFill/>
          <a:ln/>
        </p:spPr>
        <p:txBody>
          <a:bodyPr wrap="square" lIns="0" tIns="0" rIns="0" bIns="0" rtlCol="0" anchor="t"/>
          <a:lstStyle/>
          <a:p>
            <a:pPr indent="0" marL="0">
              <a:buNone/>
            </a:pPr>
            <a:r>
              <a:rPr lang="en-US" sz="1550" dirty="0">
                <a:solidFill>
                  <a:schemeClr val="tx1"/>
                </a:solidFill>
                <a:latin typeface="Ebrima" pitchFamily="34" charset="0"/>
                <a:ea typeface="Ebrima" pitchFamily="34" charset="-122"/>
                <a:cs typeface="Ebrima" pitchFamily="34" charset="-120"/>
              </a:rPr>
              <a:t>Attendance lists kept on paper</a:t>
            </a:r>
            <a:endParaRPr lang="en-US" sz="1550" dirty="0"/>
          </a:p>
        </p:txBody>
      </p:sp>
      <p:pic>
        <p:nvPicPr>
          <p:cNvPr id="9" name="Image 1" descr="preencoded.png">    </p:cNvPr>
          <p:cNvPicPr>
            <a:picLocks noChangeAspect="1"/>
          </p:cNvPicPr>
          <p:nvPr/>
        </p:nvPicPr>
        <p:blipFill>
          <a:blip r:embed="rId2"/>
          <a:stretch>
            <a:fillRect/>
          </a:stretch>
        </p:blipFill>
        <p:spPr>
          <a:xfrm>
            <a:off x="6675120" y="2286000"/>
            <a:ext cx="292608" cy="292608"/>
          </a:xfrm>
          <a:prstGeom prst="rect">
            <a:avLst/>
          </a:prstGeom>
        </p:spPr>
      </p:pic>
      <p:sp>
        <p:nvSpPr>
          <p:cNvPr id="10" name="Text 6"/>
          <p:cNvSpPr txBox="1"/>
          <p:nvPr/>
        </p:nvSpPr>
        <p:spPr>
          <a:xfrm>
            <a:off x="7132320" y="2240280"/>
            <a:ext cx="4343400" cy="548640"/>
          </a:xfrm>
          <a:prstGeom prst="rect">
            <a:avLst/>
          </a:prstGeom>
          <a:noFill/>
          <a:ln/>
        </p:spPr>
        <p:txBody>
          <a:bodyPr wrap="square" lIns="0" tIns="0" rIns="0" bIns="0" rtlCol="0" anchor="t"/>
          <a:lstStyle/>
          <a:p>
            <a:pPr indent="0" marL="0">
              <a:buNone/>
            </a:pPr>
            <a:r>
              <a:rPr lang="en-US" sz="1550" dirty="0">
                <a:solidFill>
                  <a:schemeClr val="bg1"/>
                </a:solidFill>
                <a:latin typeface="Ebrima" pitchFamily="34" charset="0"/>
                <a:ea typeface="Ebrima" pitchFamily="34" charset="-122"/>
                <a:cs typeface="Ebrima" pitchFamily="34" charset="-120"/>
              </a:rPr>
              <a:t>Attendance recorded by QR and signature — even offline</a:t>
            </a:r>
            <a:endParaRPr lang="en-US" sz="1550" dirty="0"/>
          </a:p>
        </p:txBody>
      </p:sp>
      <p:pic>
        <p:nvPicPr>
          <p:cNvPr id="11" name="Image 2" descr="preencoded.png">    </p:cNvPr>
          <p:cNvPicPr>
            <a:picLocks noChangeAspect="1"/>
          </p:cNvPicPr>
          <p:nvPr/>
        </p:nvPicPr>
        <p:blipFill>
          <a:blip r:embed="rId3"/>
          <a:stretch>
            <a:fillRect/>
          </a:stretch>
        </p:blipFill>
        <p:spPr>
          <a:xfrm>
            <a:off x="868680" y="3054096"/>
            <a:ext cx="292608" cy="292608"/>
          </a:xfrm>
          <a:prstGeom prst="rect">
            <a:avLst/>
          </a:prstGeom>
        </p:spPr>
      </p:pic>
      <p:sp>
        <p:nvSpPr>
          <p:cNvPr id="12" name="Text 7"/>
          <p:cNvSpPr txBox="1"/>
          <p:nvPr/>
        </p:nvSpPr>
        <p:spPr>
          <a:xfrm>
            <a:off x="1325880" y="3008376"/>
            <a:ext cx="4297680" cy="548640"/>
          </a:xfrm>
          <a:prstGeom prst="rect">
            <a:avLst/>
          </a:prstGeom>
          <a:noFill/>
          <a:ln/>
        </p:spPr>
        <p:txBody>
          <a:bodyPr wrap="square" lIns="0" tIns="0" rIns="0" bIns="0" rtlCol="0" anchor="t"/>
          <a:lstStyle/>
          <a:p>
            <a:pPr indent="0" marL="0">
              <a:buNone/>
            </a:pPr>
            <a:r>
              <a:rPr lang="en-US" sz="1550" dirty="0">
                <a:solidFill>
                  <a:schemeClr val="tx1"/>
                </a:solidFill>
                <a:latin typeface="Ebrima" pitchFamily="34" charset="0"/>
                <a:ea typeface="Ebrima" pitchFamily="34" charset="-122"/>
                <a:cs typeface="Ebrima" pitchFamily="34" charset="-120"/>
              </a:rPr>
              <a:t>Scattered Mezmur lyrics and audio</a:t>
            </a:r>
            <a:endParaRPr lang="en-US" sz="1550" dirty="0"/>
          </a:p>
        </p:txBody>
      </p:sp>
      <p:pic>
        <p:nvPicPr>
          <p:cNvPr id="13" name="Image 3" descr="preencoded.png">    </p:cNvPr>
          <p:cNvPicPr>
            <a:picLocks noChangeAspect="1"/>
          </p:cNvPicPr>
          <p:nvPr/>
        </p:nvPicPr>
        <p:blipFill>
          <a:blip r:embed="rId4"/>
          <a:stretch>
            <a:fillRect/>
          </a:stretch>
        </p:blipFill>
        <p:spPr>
          <a:xfrm>
            <a:off x="6675120" y="3054096"/>
            <a:ext cx="292608" cy="292608"/>
          </a:xfrm>
          <a:prstGeom prst="rect">
            <a:avLst/>
          </a:prstGeom>
        </p:spPr>
      </p:pic>
      <p:sp>
        <p:nvSpPr>
          <p:cNvPr id="14" name="Text 8"/>
          <p:cNvSpPr txBox="1"/>
          <p:nvPr/>
        </p:nvSpPr>
        <p:spPr>
          <a:xfrm>
            <a:off x="7132320" y="3008376"/>
            <a:ext cx="4343400" cy="548640"/>
          </a:xfrm>
          <a:prstGeom prst="rect">
            <a:avLst/>
          </a:prstGeom>
          <a:noFill/>
          <a:ln/>
        </p:spPr>
        <p:txBody>
          <a:bodyPr wrap="square" lIns="0" tIns="0" rIns="0" bIns="0" rtlCol="0" anchor="t"/>
          <a:lstStyle/>
          <a:p>
            <a:pPr indent="0" marL="0">
              <a:buNone/>
            </a:pPr>
            <a:r>
              <a:rPr lang="en-US" sz="1550" dirty="0">
                <a:solidFill>
                  <a:schemeClr val="bg1"/>
                </a:solidFill>
                <a:latin typeface="Ebrima" pitchFamily="34" charset="0"/>
                <a:ea typeface="Ebrima" pitchFamily="34" charset="-122"/>
                <a:cs typeface="Ebrima" pitchFamily="34" charset="-120"/>
              </a:rPr>
              <a:t>An organized Mezmur library and player</a:t>
            </a:r>
            <a:endParaRPr lang="en-US" sz="1550" dirty="0"/>
          </a:p>
        </p:txBody>
      </p:sp>
      <p:pic>
        <p:nvPicPr>
          <p:cNvPr id="15" name="Image 4" descr="preencoded.png">    </p:cNvPr>
          <p:cNvPicPr>
            <a:picLocks noChangeAspect="1"/>
          </p:cNvPicPr>
          <p:nvPr/>
        </p:nvPicPr>
        <p:blipFill>
          <a:blip r:embed="rId5"/>
          <a:stretch>
            <a:fillRect/>
          </a:stretch>
        </p:blipFill>
        <p:spPr>
          <a:xfrm>
            <a:off x="868680" y="3822192"/>
            <a:ext cx="292608" cy="292608"/>
          </a:xfrm>
          <a:prstGeom prst="rect">
            <a:avLst/>
          </a:prstGeom>
        </p:spPr>
      </p:pic>
      <p:sp>
        <p:nvSpPr>
          <p:cNvPr id="16" name="Text 9"/>
          <p:cNvSpPr txBox="1"/>
          <p:nvPr/>
        </p:nvSpPr>
        <p:spPr>
          <a:xfrm>
            <a:off x="1325880" y="3776472"/>
            <a:ext cx="4297680" cy="548640"/>
          </a:xfrm>
          <a:prstGeom prst="rect">
            <a:avLst/>
          </a:prstGeom>
          <a:noFill/>
          <a:ln/>
        </p:spPr>
        <p:txBody>
          <a:bodyPr wrap="square" lIns="0" tIns="0" rIns="0" bIns="0" rtlCol="0" anchor="t"/>
          <a:lstStyle/>
          <a:p>
            <a:pPr indent="0" marL="0">
              <a:buNone/>
            </a:pPr>
            <a:r>
              <a:rPr lang="en-US" sz="1550" dirty="0">
                <a:solidFill>
                  <a:schemeClr val="tx1"/>
                </a:solidFill>
                <a:latin typeface="Ebrima" pitchFamily="34" charset="0"/>
                <a:ea typeface="Ebrima" pitchFamily="34" charset="-122"/>
                <a:cs typeface="Ebrima" pitchFamily="34" charset="-120"/>
              </a:rPr>
              <a:t>Service selection results calculated by hand</a:t>
            </a:r>
            <a:endParaRPr lang="en-US" sz="1550" dirty="0"/>
          </a:p>
        </p:txBody>
      </p:sp>
      <p:pic>
        <p:nvPicPr>
          <p:cNvPr id="17" name="Image 5" descr="preencoded.png">    </p:cNvPr>
          <p:cNvPicPr>
            <a:picLocks noChangeAspect="1"/>
          </p:cNvPicPr>
          <p:nvPr/>
        </p:nvPicPr>
        <p:blipFill>
          <a:blip r:embed="rId6"/>
          <a:stretch>
            <a:fillRect/>
          </a:stretch>
        </p:blipFill>
        <p:spPr>
          <a:xfrm>
            <a:off x="6675120" y="3822192"/>
            <a:ext cx="292608" cy="292608"/>
          </a:xfrm>
          <a:prstGeom prst="rect">
            <a:avLst/>
          </a:prstGeom>
        </p:spPr>
      </p:pic>
      <p:sp>
        <p:nvSpPr>
          <p:cNvPr id="18" name="Text 10"/>
          <p:cNvSpPr txBox="1"/>
          <p:nvPr/>
        </p:nvSpPr>
        <p:spPr>
          <a:xfrm>
            <a:off x="7132320" y="3776472"/>
            <a:ext cx="4343400" cy="548640"/>
          </a:xfrm>
          <a:prstGeom prst="rect">
            <a:avLst/>
          </a:prstGeom>
          <a:noFill/>
          <a:ln/>
        </p:spPr>
        <p:txBody>
          <a:bodyPr wrap="square" lIns="0" tIns="0" rIns="0" bIns="0" rtlCol="0" anchor="t"/>
          <a:lstStyle/>
          <a:p>
            <a:pPr indent="0" marL="0">
              <a:buNone/>
            </a:pPr>
            <a:r>
              <a:rPr lang="en-US" sz="1550" dirty="0">
                <a:solidFill>
                  <a:schemeClr val="bg1"/>
                </a:solidFill>
                <a:latin typeface="Ebrima" pitchFamily="34" charset="0"/>
                <a:ea typeface="Ebrima" pitchFamily="34" charset="-122"/>
                <a:cs typeface="Ebrima" pitchFamily="34" charset="-120"/>
              </a:rPr>
              <a:t>Selection results calculated automatically by clear rules</a:t>
            </a:r>
            <a:endParaRPr lang="en-US" sz="1550" dirty="0"/>
          </a:p>
        </p:txBody>
      </p:sp>
      <p:pic>
        <p:nvPicPr>
          <p:cNvPr id="19" name="Image 6" descr="preencoded.png">    </p:cNvPr>
          <p:cNvPicPr>
            <a:picLocks noChangeAspect="1"/>
          </p:cNvPicPr>
          <p:nvPr/>
        </p:nvPicPr>
        <p:blipFill>
          <a:blip r:embed="rId7"/>
          <a:stretch>
            <a:fillRect/>
          </a:stretch>
        </p:blipFill>
        <p:spPr>
          <a:xfrm>
            <a:off x="868680" y="4590288"/>
            <a:ext cx="292608" cy="292608"/>
          </a:xfrm>
          <a:prstGeom prst="rect">
            <a:avLst/>
          </a:prstGeom>
        </p:spPr>
      </p:pic>
      <p:sp>
        <p:nvSpPr>
          <p:cNvPr id="20" name="Text 11"/>
          <p:cNvSpPr txBox="1"/>
          <p:nvPr/>
        </p:nvSpPr>
        <p:spPr>
          <a:xfrm>
            <a:off x="1325880" y="4544568"/>
            <a:ext cx="4297680" cy="548640"/>
          </a:xfrm>
          <a:prstGeom prst="rect">
            <a:avLst/>
          </a:prstGeom>
          <a:noFill/>
          <a:ln/>
        </p:spPr>
        <p:txBody>
          <a:bodyPr wrap="square" lIns="0" tIns="0" rIns="0" bIns="0" rtlCol="0" anchor="t"/>
          <a:lstStyle/>
          <a:p>
            <a:pPr indent="0" marL="0">
              <a:buNone/>
            </a:pPr>
            <a:r>
              <a:rPr lang="en-US" sz="1550" dirty="0">
                <a:solidFill>
                  <a:schemeClr val="tx1"/>
                </a:solidFill>
                <a:latin typeface="Ebrima" pitchFamily="34" charset="0"/>
                <a:ea typeface="Ebrima" pitchFamily="34" charset="-122"/>
                <a:cs typeface="Ebrima" pitchFamily="34" charset="-120"/>
              </a:rPr>
              <a:t>Contribution and property records hard to track</a:t>
            </a:r>
            <a:endParaRPr lang="en-US" sz="1550" dirty="0"/>
          </a:p>
        </p:txBody>
      </p:sp>
      <p:pic>
        <p:nvPicPr>
          <p:cNvPr id="21" name="Image 7" descr="preencoded.png">    </p:cNvPr>
          <p:cNvPicPr>
            <a:picLocks noChangeAspect="1"/>
          </p:cNvPicPr>
          <p:nvPr/>
        </p:nvPicPr>
        <p:blipFill>
          <a:blip r:embed="rId8"/>
          <a:stretch>
            <a:fillRect/>
          </a:stretch>
        </p:blipFill>
        <p:spPr>
          <a:xfrm>
            <a:off x="6675120" y="4590288"/>
            <a:ext cx="292608" cy="292608"/>
          </a:xfrm>
          <a:prstGeom prst="rect">
            <a:avLst/>
          </a:prstGeom>
        </p:spPr>
      </p:pic>
      <p:sp>
        <p:nvSpPr>
          <p:cNvPr id="22" name="Text 12"/>
          <p:cNvSpPr txBox="1"/>
          <p:nvPr/>
        </p:nvSpPr>
        <p:spPr>
          <a:xfrm>
            <a:off x="7132320" y="4544568"/>
            <a:ext cx="4343400" cy="548640"/>
          </a:xfrm>
          <a:prstGeom prst="rect">
            <a:avLst/>
          </a:prstGeom>
          <a:noFill/>
          <a:ln/>
        </p:spPr>
        <p:txBody>
          <a:bodyPr wrap="square" lIns="0" tIns="0" rIns="0" bIns="0" rtlCol="0" anchor="t"/>
          <a:lstStyle/>
          <a:p>
            <a:pPr indent="0" marL="0">
              <a:buNone/>
            </a:pPr>
            <a:r>
              <a:rPr lang="en-US" sz="1550" dirty="0">
                <a:solidFill>
                  <a:schemeClr val="bg1"/>
                </a:solidFill>
                <a:latin typeface="Ebrima" pitchFamily="34" charset="0"/>
                <a:ea typeface="Ebrima" pitchFamily="34" charset="-122"/>
                <a:cs typeface="Ebrima" pitchFamily="34" charset="-120"/>
              </a:rPr>
              <a:t>Contributions by Ethiopian month and tracked borrowing</a:t>
            </a:r>
            <a:endParaRPr lang="en-US" sz="1550" dirty="0"/>
          </a:p>
        </p:txBody>
      </p:sp>
      <p:pic>
        <p:nvPicPr>
          <p:cNvPr id="23" name="Image 8" descr="preencoded.png">    </p:cNvPr>
          <p:cNvPicPr>
            <a:picLocks noChangeAspect="1"/>
          </p:cNvPicPr>
          <p:nvPr/>
        </p:nvPicPr>
        <p:blipFill>
          <a:blip r:embed="rId9"/>
          <a:stretch>
            <a:fillRect/>
          </a:stretch>
        </p:blipFill>
        <p:spPr>
          <a:xfrm>
            <a:off x="868680" y="5358384"/>
            <a:ext cx="292608" cy="292608"/>
          </a:xfrm>
          <a:prstGeom prst="rect">
            <a:avLst/>
          </a:prstGeom>
        </p:spPr>
      </p:pic>
      <p:sp>
        <p:nvSpPr>
          <p:cNvPr id="24" name="Text 13"/>
          <p:cNvSpPr txBox="1"/>
          <p:nvPr/>
        </p:nvSpPr>
        <p:spPr>
          <a:xfrm>
            <a:off x="1325880" y="5312664"/>
            <a:ext cx="4297680" cy="548640"/>
          </a:xfrm>
          <a:prstGeom prst="rect">
            <a:avLst/>
          </a:prstGeom>
          <a:noFill/>
          <a:ln/>
        </p:spPr>
        <p:txBody>
          <a:bodyPr wrap="square" lIns="0" tIns="0" rIns="0" bIns="0" rtlCol="0" anchor="t"/>
          <a:lstStyle/>
          <a:p>
            <a:pPr indent="0" marL="0">
              <a:buNone/>
            </a:pPr>
            <a:r>
              <a:rPr lang="en-US" sz="1550" dirty="0">
                <a:solidFill>
                  <a:schemeClr val="tx1"/>
                </a:solidFill>
                <a:latin typeface="Ebrima" pitchFamily="34" charset="0"/>
                <a:ea typeface="Ebrima" pitchFamily="34" charset="-122"/>
                <a:cs typeface="Ebrima" pitchFamily="34" charset="-120"/>
              </a:rPr>
              <a:t>Messages scattered across many channels</a:t>
            </a:r>
            <a:endParaRPr lang="en-US" sz="1550" dirty="0"/>
          </a:p>
        </p:txBody>
      </p:sp>
      <p:pic>
        <p:nvPicPr>
          <p:cNvPr id="25" name="Image 9" descr="preencoded.png">    </p:cNvPr>
          <p:cNvPicPr>
            <a:picLocks noChangeAspect="1"/>
          </p:cNvPicPr>
          <p:nvPr/>
        </p:nvPicPr>
        <p:blipFill>
          <a:blip r:embed="rId10"/>
          <a:stretch>
            <a:fillRect/>
          </a:stretch>
        </p:blipFill>
        <p:spPr>
          <a:xfrm>
            <a:off x="6675120" y="5358384"/>
            <a:ext cx="292608" cy="292608"/>
          </a:xfrm>
          <a:prstGeom prst="rect">
            <a:avLst/>
          </a:prstGeom>
        </p:spPr>
      </p:pic>
      <p:sp>
        <p:nvSpPr>
          <p:cNvPr id="26" name="Text 14"/>
          <p:cNvSpPr txBox="1"/>
          <p:nvPr/>
        </p:nvSpPr>
        <p:spPr>
          <a:xfrm>
            <a:off x="7132320" y="5312664"/>
            <a:ext cx="4343400" cy="548640"/>
          </a:xfrm>
          <a:prstGeom prst="rect">
            <a:avLst/>
          </a:prstGeom>
          <a:noFill/>
          <a:ln/>
        </p:spPr>
        <p:txBody>
          <a:bodyPr wrap="square" lIns="0" tIns="0" rIns="0" bIns="0" rtlCol="0" anchor="t"/>
          <a:lstStyle/>
          <a:p>
            <a:pPr indent="0" marL="0">
              <a:buNone/>
            </a:pPr>
            <a:r>
              <a:rPr lang="en-US" sz="1550" dirty="0">
                <a:solidFill>
                  <a:schemeClr val="bg1"/>
                </a:solidFill>
                <a:latin typeface="Ebrima" pitchFamily="34" charset="0"/>
                <a:ea typeface="Ebrima" pitchFamily="34" charset="-122"/>
                <a:cs typeface="Ebrima" pitchFamily="34" charset="-120"/>
              </a:rPr>
              <a:t>Messages delivered through one notification center</a:t>
            </a:r>
            <a:endParaRPr lang="en-US" sz="15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System Overview</a:t>
            </a:r>
            <a:endParaRPr lang="en-US" sz="3400" dirty="0"/>
          </a:p>
        </p:txBody>
      </p:sp>
      <p:sp>
        <p:nvSpPr>
          <p:cNvPr id="3" name="Shape 1"/>
          <p:cNvSpPr/>
          <p:nvPr/>
        </p:nvSpPr>
        <p:spPr>
          <a:xfrm>
            <a:off x="4270248" y="1280160"/>
            <a:ext cx="3657600" cy="868680"/>
          </a:xfrm>
          <a:prstGeom prst="roundRect">
            <a:avLst>
              <a:gd name="adj" fmla="val 12632"/>
            </a:avLst>
          </a:prstGeom>
          <a:solidFill>
            <a:schemeClr val="accent1"/>
          </a:solidFill>
          <a:ln/>
        </p:spPr>
      </p:sp>
      <p:sp>
        <p:nvSpPr>
          <p:cNvPr id="4" name="Text 2"/>
          <p:cNvSpPr txBox="1"/>
          <p:nvPr/>
        </p:nvSpPr>
        <p:spPr>
          <a:xfrm>
            <a:off x="4270248" y="1325880"/>
            <a:ext cx="3657600" cy="411480"/>
          </a:xfrm>
          <a:prstGeom prst="rect">
            <a:avLst/>
          </a:prstGeom>
          <a:noFill/>
          <a:ln/>
        </p:spPr>
        <p:txBody>
          <a:bodyPr wrap="square" lIns="0" tIns="0" rIns="0" bIns="0" rtlCol="0" anchor="t"/>
          <a:lstStyle/>
          <a:p>
            <a:pPr algn="ctr" indent="0" marL="0">
              <a:buNone/>
            </a:pPr>
            <a:r>
              <a:rPr lang="en-US" sz="1800" b="1" dirty="0">
                <a:solidFill>
                  <a:schemeClr val="bg1"/>
                </a:solidFill>
                <a:latin typeface="Ebrima" pitchFamily="34" charset="0"/>
                <a:ea typeface="Ebrima" pitchFamily="34" charset="-122"/>
                <a:cs typeface="Ebrima" pitchFamily="34" charset="-120"/>
              </a:rPr>
              <a:t>Home (Hub)</a:t>
            </a:r>
            <a:endParaRPr lang="en-US" sz="1800" dirty="0"/>
          </a:p>
        </p:txBody>
      </p:sp>
      <p:sp>
        <p:nvSpPr>
          <p:cNvPr id="5" name="Text 3"/>
          <p:cNvSpPr txBox="1"/>
          <p:nvPr/>
        </p:nvSpPr>
        <p:spPr>
          <a:xfrm>
            <a:off x="4270248" y="1719072"/>
            <a:ext cx="3657600" cy="365760"/>
          </a:xfrm>
          <a:prstGeom prst="rect">
            <a:avLst/>
          </a:prstGeom>
          <a:noFill/>
          <a:ln/>
        </p:spPr>
        <p:txBody>
          <a:bodyPr wrap="square" lIns="0" tIns="0" rIns="0" bIns="0" rtlCol="0" anchor="t"/>
          <a:lstStyle/>
          <a:p>
            <a:pPr algn="ctr" indent="0" marL="0">
              <a:buNone/>
            </a:pPr>
            <a:r>
              <a:rPr lang="en-US" sz="1250" dirty="0">
                <a:solidFill>
                  <a:schemeClr val="bg1"/>
                </a:solidFill>
                <a:latin typeface="Ebrima" pitchFamily="34" charset="0"/>
                <a:ea typeface="Ebrima" pitchFamily="34" charset="-122"/>
                <a:cs typeface="Ebrima" pitchFamily="34" charset="-120"/>
              </a:rPr>
              <a:t>After sign-in, members choose a section</a:t>
            </a:r>
            <a:endParaRPr lang="en-US" sz="1250" dirty="0"/>
          </a:p>
        </p:txBody>
      </p:sp>
      <p:sp>
        <p:nvSpPr>
          <p:cNvPr id="6" name="Shape 4"/>
          <p:cNvSpPr/>
          <p:nvPr/>
        </p:nvSpPr>
        <p:spPr>
          <a:xfrm>
            <a:off x="548640" y="2606040"/>
            <a:ext cx="3520440" cy="1737360"/>
          </a:xfrm>
          <a:prstGeom prst="roundRect">
            <a:avLst>
              <a:gd name="adj" fmla="val 6316"/>
            </a:avLst>
          </a:prstGeom>
          <a:solidFill>
            <a:schemeClr val="bg2">
              <a:alpha val="65000"/>
            </a:schemeClr>
          </a:solidFill>
          <a:ln/>
        </p:spPr>
      </p:sp>
      <p:sp>
        <p:nvSpPr>
          <p:cNvPr id="7" name="Shape 5"/>
          <p:cNvSpPr/>
          <p:nvPr/>
        </p:nvSpPr>
        <p:spPr>
          <a:xfrm>
            <a:off x="777240" y="2834640"/>
            <a:ext cx="685800" cy="685800"/>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941832" y="2999232"/>
            <a:ext cx="356616" cy="356616"/>
          </a:xfrm>
          <a:prstGeom prst="rect">
            <a:avLst/>
          </a:prstGeom>
        </p:spPr>
      </p:pic>
      <p:sp>
        <p:nvSpPr>
          <p:cNvPr id="9" name="Text 6"/>
          <p:cNvSpPr txBox="1"/>
          <p:nvPr/>
        </p:nvSpPr>
        <p:spPr>
          <a:xfrm>
            <a:off x="1645920" y="2852928"/>
            <a:ext cx="2286000" cy="45720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Mezmur</a:t>
            </a:r>
            <a:endParaRPr lang="en-US" sz="2000" dirty="0"/>
          </a:p>
        </p:txBody>
      </p:sp>
      <p:sp>
        <p:nvSpPr>
          <p:cNvPr id="10" name="Text 7"/>
          <p:cNvSpPr txBox="1"/>
          <p:nvPr/>
        </p:nvSpPr>
        <p:spPr>
          <a:xfrm>
            <a:off x="1645920" y="3291840"/>
            <a:ext cx="2286000" cy="96012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Mezmurs, programs, library and notifications</a:t>
            </a:r>
            <a:endParaRPr lang="en-US" sz="1300" dirty="0"/>
          </a:p>
        </p:txBody>
      </p:sp>
      <p:sp>
        <p:nvSpPr>
          <p:cNvPr id="11" name="Shape 8"/>
          <p:cNvSpPr/>
          <p:nvPr/>
        </p:nvSpPr>
        <p:spPr>
          <a:xfrm>
            <a:off x="4297680" y="2606040"/>
            <a:ext cx="3520440" cy="1737360"/>
          </a:xfrm>
          <a:prstGeom prst="roundRect">
            <a:avLst>
              <a:gd name="adj" fmla="val 6316"/>
            </a:avLst>
          </a:prstGeom>
          <a:solidFill>
            <a:schemeClr val="bg2">
              <a:alpha val="65000"/>
            </a:schemeClr>
          </a:solidFill>
          <a:ln/>
        </p:spPr>
      </p:sp>
      <p:sp>
        <p:nvSpPr>
          <p:cNvPr id="12" name="Shape 9"/>
          <p:cNvSpPr/>
          <p:nvPr/>
        </p:nvSpPr>
        <p:spPr>
          <a:xfrm>
            <a:off x="4526280" y="2834640"/>
            <a:ext cx="685800" cy="68580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4690872" y="2999232"/>
            <a:ext cx="356616" cy="356616"/>
          </a:xfrm>
          <a:prstGeom prst="rect">
            <a:avLst/>
          </a:prstGeom>
        </p:spPr>
      </p:pic>
      <p:sp>
        <p:nvSpPr>
          <p:cNvPr id="14" name="Text 10"/>
          <p:cNvSpPr txBox="1"/>
          <p:nvPr/>
        </p:nvSpPr>
        <p:spPr>
          <a:xfrm>
            <a:off x="5394960" y="2852928"/>
            <a:ext cx="2286000" cy="45720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Education</a:t>
            </a:r>
            <a:endParaRPr lang="en-US" sz="2000" dirty="0"/>
          </a:p>
        </p:txBody>
      </p:sp>
      <p:sp>
        <p:nvSpPr>
          <p:cNvPr id="15" name="Text 11"/>
          <p:cNvSpPr txBox="1"/>
          <p:nvPr/>
        </p:nvSpPr>
        <p:spPr>
          <a:xfrm>
            <a:off x="5394960" y="3291840"/>
            <a:ext cx="2286000" cy="96012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Classes, learning platform, attendance, assignments and marks</a:t>
            </a:r>
            <a:endParaRPr lang="en-US" sz="1300" dirty="0"/>
          </a:p>
        </p:txBody>
      </p:sp>
      <p:sp>
        <p:nvSpPr>
          <p:cNvPr id="16" name="Shape 12"/>
          <p:cNvSpPr/>
          <p:nvPr/>
        </p:nvSpPr>
        <p:spPr>
          <a:xfrm>
            <a:off x="8046720" y="2606040"/>
            <a:ext cx="3520440" cy="1737360"/>
          </a:xfrm>
          <a:prstGeom prst="roundRect">
            <a:avLst>
              <a:gd name="adj" fmla="val 6316"/>
            </a:avLst>
          </a:prstGeom>
          <a:solidFill>
            <a:schemeClr val="bg2">
              <a:alpha val="65000"/>
            </a:schemeClr>
          </a:solidFill>
          <a:ln/>
        </p:spPr>
      </p:sp>
      <p:sp>
        <p:nvSpPr>
          <p:cNvPr id="17" name="Shape 13"/>
          <p:cNvSpPr/>
          <p:nvPr/>
        </p:nvSpPr>
        <p:spPr>
          <a:xfrm>
            <a:off x="8275320" y="2834640"/>
            <a:ext cx="685800" cy="68580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8439912" y="2999232"/>
            <a:ext cx="356616" cy="356616"/>
          </a:xfrm>
          <a:prstGeom prst="rect">
            <a:avLst/>
          </a:prstGeom>
        </p:spPr>
      </p:pic>
      <p:sp>
        <p:nvSpPr>
          <p:cNvPr id="19" name="Text 14"/>
          <p:cNvSpPr txBox="1"/>
          <p:nvPr/>
        </p:nvSpPr>
        <p:spPr>
          <a:xfrm>
            <a:off x="9144000" y="2852928"/>
            <a:ext cx="2286000" cy="45720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About Me</a:t>
            </a:r>
            <a:endParaRPr lang="en-US" sz="2000" dirty="0"/>
          </a:p>
        </p:txBody>
      </p:sp>
      <p:sp>
        <p:nvSpPr>
          <p:cNvPr id="20" name="Text 15"/>
          <p:cNvSpPr txBox="1"/>
          <p:nvPr/>
        </p:nvSpPr>
        <p:spPr>
          <a:xfrm>
            <a:off x="9144000" y="3291840"/>
            <a:ext cx="2286000" cy="96012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My ID card, departments, monthly contributions and attendance</a:t>
            </a:r>
            <a:endParaRPr lang="en-US" sz="1300" dirty="0"/>
          </a:p>
        </p:txBody>
      </p:sp>
      <p:sp>
        <p:nvSpPr>
          <p:cNvPr id="21" name="Shape 16"/>
          <p:cNvSpPr/>
          <p:nvPr/>
        </p:nvSpPr>
        <p:spPr>
          <a:xfrm>
            <a:off x="2304288" y="2377440"/>
            <a:ext cx="7589520" cy="0"/>
          </a:xfrm>
          <a:prstGeom prst="line">
            <a:avLst/>
          </a:prstGeom>
          <a:noFill/>
          <a:ln w="19050">
            <a:solidFill>
              <a:schemeClr val="accent2"/>
            </a:solidFill>
            <a:prstDash val="solid"/>
          </a:ln>
        </p:spPr>
      </p:sp>
      <p:sp>
        <p:nvSpPr>
          <p:cNvPr id="22" name="Shape 17"/>
          <p:cNvSpPr/>
          <p:nvPr/>
        </p:nvSpPr>
        <p:spPr>
          <a:xfrm>
            <a:off x="2304288" y="2377440"/>
            <a:ext cx="0" cy="219456"/>
          </a:xfrm>
          <a:prstGeom prst="line">
            <a:avLst/>
          </a:prstGeom>
          <a:noFill/>
          <a:ln w="25400">
            <a:solidFill>
              <a:schemeClr val="accent2"/>
            </a:solidFill>
            <a:prstDash val="solid"/>
            <a:tailEnd type="triangle"/>
          </a:ln>
        </p:spPr>
      </p:sp>
      <p:sp>
        <p:nvSpPr>
          <p:cNvPr id="23" name="Shape 18"/>
          <p:cNvSpPr/>
          <p:nvPr/>
        </p:nvSpPr>
        <p:spPr>
          <a:xfrm>
            <a:off x="6099048" y="2377440"/>
            <a:ext cx="0" cy="219456"/>
          </a:xfrm>
          <a:prstGeom prst="line">
            <a:avLst/>
          </a:prstGeom>
          <a:noFill/>
          <a:ln w="25400">
            <a:solidFill>
              <a:schemeClr val="accent2"/>
            </a:solidFill>
            <a:prstDash val="solid"/>
            <a:tailEnd type="triangle"/>
          </a:ln>
        </p:spPr>
      </p:sp>
      <p:sp>
        <p:nvSpPr>
          <p:cNvPr id="24" name="Shape 19"/>
          <p:cNvSpPr/>
          <p:nvPr/>
        </p:nvSpPr>
        <p:spPr>
          <a:xfrm>
            <a:off x="9893808" y="2377440"/>
            <a:ext cx="0" cy="219456"/>
          </a:xfrm>
          <a:prstGeom prst="line">
            <a:avLst/>
          </a:prstGeom>
          <a:noFill/>
          <a:ln w="25400">
            <a:solidFill>
              <a:schemeClr val="accent2"/>
            </a:solidFill>
            <a:prstDash val="solid"/>
            <a:tailEnd type="triangle"/>
          </a:ln>
        </p:spPr>
      </p:sp>
      <p:sp>
        <p:nvSpPr>
          <p:cNvPr id="25" name="Shape 20"/>
          <p:cNvSpPr/>
          <p:nvPr/>
        </p:nvSpPr>
        <p:spPr>
          <a:xfrm>
            <a:off x="6099048" y="2148840"/>
            <a:ext cx="0" cy="228600"/>
          </a:xfrm>
          <a:prstGeom prst="line">
            <a:avLst/>
          </a:prstGeom>
          <a:noFill/>
          <a:ln w="25400">
            <a:solidFill>
              <a:schemeClr val="accent2"/>
            </a:solidFill>
            <a:prstDash val="solid"/>
            <a:tailEnd type="triangle"/>
          </a:ln>
        </p:spPr>
      </p:sp>
      <p:sp>
        <p:nvSpPr>
          <p:cNvPr id="26" name="Shape 21"/>
          <p:cNvSpPr/>
          <p:nvPr/>
        </p:nvSpPr>
        <p:spPr>
          <a:xfrm>
            <a:off x="548640" y="4572000"/>
            <a:ext cx="11109960" cy="731520"/>
          </a:xfrm>
          <a:prstGeom prst="roundRect">
            <a:avLst>
              <a:gd name="adj" fmla="val 15000"/>
            </a:avLst>
          </a:prstGeom>
          <a:solidFill>
            <a:schemeClr val="accent2">
              <a:alpha val="25000"/>
            </a:schemeClr>
          </a:solidFill>
          <a:ln/>
        </p:spPr>
      </p:sp>
      <p:sp>
        <p:nvSpPr>
          <p:cNvPr id="27" name="Shape 22"/>
          <p:cNvSpPr/>
          <p:nvPr/>
        </p:nvSpPr>
        <p:spPr>
          <a:xfrm>
            <a:off x="731520" y="4645152"/>
            <a:ext cx="566928" cy="566928"/>
          </a:xfrm>
          <a:prstGeom prst="ellipse">
            <a:avLst/>
          </a:prstGeom>
          <a:solidFill>
            <a:schemeClr val="accent2"/>
          </a:solidFill>
          <a:ln/>
        </p:spPr>
      </p:sp>
      <p:pic>
        <p:nvPicPr>
          <p:cNvPr id="28" name="Image 3" descr="preencoded.png">    </p:cNvPr>
          <p:cNvPicPr>
            <a:picLocks noChangeAspect="1"/>
          </p:cNvPicPr>
          <p:nvPr/>
        </p:nvPicPr>
        <p:blipFill>
          <a:blip r:embed="rId4"/>
          <a:stretch>
            <a:fillRect/>
          </a:stretch>
        </p:blipFill>
        <p:spPr>
          <a:xfrm>
            <a:off x="867583" y="4781215"/>
            <a:ext cx="294803" cy="294803"/>
          </a:xfrm>
          <a:prstGeom prst="rect">
            <a:avLst/>
          </a:prstGeom>
        </p:spPr>
      </p:pic>
      <p:sp>
        <p:nvSpPr>
          <p:cNvPr id="29" name="Text 23"/>
          <p:cNvSpPr txBox="1"/>
          <p:nvPr/>
        </p:nvSpPr>
        <p:spPr>
          <a:xfrm>
            <a:off x="1463040" y="4681728"/>
            <a:ext cx="9966960" cy="502920"/>
          </a:xfrm>
          <a:prstGeom prst="rect">
            <a:avLst/>
          </a:prstGeom>
          <a:noFill/>
          <a:ln/>
        </p:spPr>
        <p:txBody>
          <a:bodyPr wrap="square" lIns="0" tIns="0" rIns="0" bIns="0" rtlCol="0" anchor="ctr"/>
          <a:lstStyle/>
          <a:p>
            <a:pPr indent="0" marL="0">
              <a:buNone/>
            </a:pPr>
            <a:r>
              <a:rPr lang="en-US" sz="1600" b="1" dirty="0">
                <a:solidFill>
                  <a:schemeClr val="tx1"/>
                </a:solidFill>
                <a:latin typeface="Ebrima" pitchFamily="34" charset="0"/>
                <a:ea typeface="Ebrima" pitchFamily="34" charset="-122"/>
                <a:cs typeface="Ebrima" pitchFamily="34" charset="-120"/>
              </a:rPr>
              <a:t>Admin panel — 10 admin groups, each visible only with the right permissions</a:t>
            </a:r>
            <a:endParaRPr lang="en-US" sz="1600" dirty="0"/>
          </a:p>
        </p:txBody>
      </p:sp>
      <p:sp>
        <p:nvSpPr>
          <p:cNvPr id="30" name="Shape 24"/>
          <p:cNvSpPr/>
          <p:nvPr/>
        </p:nvSpPr>
        <p:spPr>
          <a:xfrm>
            <a:off x="548640" y="5440680"/>
            <a:ext cx="11109960" cy="731520"/>
          </a:xfrm>
          <a:prstGeom prst="roundRect">
            <a:avLst>
              <a:gd name="adj" fmla="val 15000"/>
            </a:avLst>
          </a:prstGeom>
          <a:solidFill>
            <a:schemeClr val="accent6"/>
          </a:solidFill>
          <a:ln/>
        </p:spPr>
      </p:sp>
      <p:sp>
        <p:nvSpPr>
          <p:cNvPr id="31" name="Shape 25"/>
          <p:cNvSpPr/>
          <p:nvPr/>
        </p:nvSpPr>
        <p:spPr>
          <a:xfrm>
            <a:off x="731520" y="5513832"/>
            <a:ext cx="566928" cy="566928"/>
          </a:xfrm>
          <a:prstGeom prst="ellipse">
            <a:avLst/>
          </a:prstGeom>
          <a:solidFill>
            <a:schemeClr val="accent2"/>
          </a:solidFill>
          <a:ln/>
        </p:spPr>
      </p:sp>
      <p:pic>
        <p:nvPicPr>
          <p:cNvPr id="32" name="Image 4" descr="preencoded.png">    </p:cNvPr>
          <p:cNvPicPr>
            <a:picLocks noChangeAspect="1"/>
          </p:cNvPicPr>
          <p:nvPr/>
        </p:nvPicPr>
        <p:blipFill>
          <a:blip r:embed="rId5"/>
          <a:stretch>
            <a:fillRect/>
          </a:stretch>
        </p:blipFill>
        <p:spPr>
          <a:xfrm>
            <a:off x="867583" y="5649895"/>
            <a:ext cx="294803" cy="294803"/>
          </a:xfrm>
          <a:prstGeom prst="rect">
            <a:avLst/>
          </a:prstGeom>
        </p:spPr>
      </p:pic>
      <p:sp>
        <p:nvSpPr>
          <p:cNvPr id="33" name="Text 26"/>
          <p:cNvSpPr txBox="1"/>
          <p:nvPr/>
        </p:nvSpPr>
        <p:spPr>
          <a:xfrm>
            <a:off x="1463040" y="5550408"/>
            <a:ext cx="9966960" cy="502920"/>
          </a:xfrm>
          <a:prstGeom prst="rect">
            <a:avLst/>
          </a:prstGeom>
          <a:noFill/>
          <a:ln/>
        </p:spPr>
        <p:txBody>
          <a:bodyPr wrap="square" lIns="0" tIns="0" rIns="0" bIns="0" rtlCol="0" anchor="ctr"/>
          <a:lstStyle/>
          <a:p>
            <a:pPr indent="0" marL="0">
              <a:buNone/>
            </a:pPr>
            <a:r>
              <a:rPr lang="en-US" sz="1500" dirty="0">
                <a:solidFill>
                  <a:schemeClr val="bg1"/>
                </a:solidFill>
                <a:latin typeface="Ebrima" pitchFamily="34" charset="0"/>
                <a:ea typeface="Ebrima" pitchFamily="34" charset="-122"/>
                <a:cs typeface="Ebrima" pitchFamily="34" charset="-120"/>
              </a:rPr>
              <a:t>One shared server and database connect all sections — data entered once appears everywhere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Main Services at a Glance</a:t>
            </a:r>
            <a:endParaRPr lang="en-US" sz="3400" dirty="0"/>
          </a:p>
        </p:txBody>
      </p:sp>
      <p:sp>
        <p:nvSpPr>
          <p:cNvPr id="3" name="Shape 1"/>
          <p:cNvSpPr/>
          <p:nvPr/>
        </p:nvSpPr>
        <p:spPr>
          <a:xfrm>
            <a:off x="548640" y="1325880"/>
            <a:ext cx="2624328" cy="1444752"/>
          </a:xfrm>
          <a:prstGeom prst="roundRect">
            <a:avLst>
              <a:gd name="adj" fmla="val 7595"/>
            </a:avLst>
          </a:prstGeom>
          <a:solidFill>
            <a:schemeClr val="bg2">
              <a:alpha val="55000"/>
            </a:schemeClr>
          </a:solidFill>
          <a:ln/>
        </p:spPr>
      </p:sp>
      <p:sp>
        <p:nvSpPr>
          <p:cNvPr id="4" name="Shape 2"/>
          <p:cNvSpPr/>
          <p:nvPr/>
        </p:nvSpPr>
        <p:spPr>
          <a:xfrm>
            <a:off x="731520" y="1527048"/>
            <a:ext cx="566928" cy="56692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67583" y="1663111"/>
            <a:ext cx="294803" cy="294803"/>
          </a:xfrm>
          <a:prstGeom prst="rect">
            <a:avLst/>
          </a:prstGeom>
        </p:spPr>
      </p:pic>
      <p:sp>
        <p:nvSpPr>
          <p:cNvPr id="6" name="Text 3"/>
          <p:cNvSpPr txBox="1"/>
          <p:nvPr/>
        </p:nvSpPr>
        <p:spPr>
          <a:xfrm>
            <a:off x="1417320" y="1508760"/>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Mezmur</a:t>
            </a:r>
            <a:endParaRPr lang="en-US" sz="1500" dirty="0"/>
          </a:p>
        </p:txBody>
      </p:sp>
      <p:sp>
        <p:nvSpPr>
          <p:cNvPr id="7" name="Text 4"/>
          <p:cNvSpPr txBox="1"/>
          <p:nvPr/>
        </p:nvSpPr>
        <p:spPr>
          <a:xfrm>
            <a:off x="731520" y="2221992"/>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Lyrics, audio and downloads</a:t>
            </a:r>
            <a:endParaRPr lang="en-US" sz="1250" dirty="0"/>
          </a:p>
        </p:txBody>
      </p:sp>
      <p:sp>
        <p:nvSpPr>
          <p:cNvPr id="8" name="Shape 5"/>
          <p:cNvSpPr/>
          <p:nvPr/>
        </p:nvSpPr>
        <p:spPr>
          <a:xfrm>
            <a:off x="3355848" y="1325880"/>
            <a:ext cx="2624328" cy="1444752"/>
          </a:xfrm>
          <a:prstGeom prst="roundRect">
            <a:avLst>
              <a:gd name="adj" fmla="val 7595"/>
            </a:avLst>
          </a:prstGeom>
          <a:solidFill>
            <a:schemeClr val="bg2">
              <a:alpha val="55000"/>
            </a:schemeClr>
          </a:solidFill>
          <a:ln/>
        </p:spPr>
      </p:sp>
      <p:sp>
        <p:nvSpPr>
          <p:cNvPr id="9" name="Shape 6"/>
          <p:cNvSpPr/>
          <p:nvPr/>
        </p:nvSpPr>
        <p:spPr>
          <a:xfrm>
            <a:off x="3538728" y="1527048"/>
            <a:ext cx="566928" cy="566928"/>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674791" y="1663111"/>
            <a:ext cx="294803" cy="294803"/>
          </a:xfrm>
          <a:prstGeom prst="rect">
            <a:avLst/>
          </a:prstGeom>
        </p:spPr>
      </p:pic>
      <p:sp>
        <p:nvSpPr>
          <p:cNvPr id="11" name="Text 7"/>
          <p:cNvSpPr txBox="1"/>
          <p:nvPr/>
        </p:nvSpPr>
        <p:spPr>
          <a:xfrm>
            <a:off x="4224528" y="1508760"/>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Education</a:t>
            </a:r>
            <a:endParaRPr lang="en-US" sz="1500" dirty="0"/>
          </a:p>
        </p:txBody>
      </p:sp>
      <p:sp>
        <p:nvSpPr>
          <p:cNvPr id="12" name="Text 8"/>
          <p:cNvSpPr txBox="1"/>
          <p:nvPr/>
        </p:nvSpPr>
        <p:spPr>
          <a:xfrm>
            <a:off x="3538728" y="2221992"/>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Classes, marks and learning platform</a:t>
            </a:r>
            <a:endParaRPr lang="en-US" sz="1250" dirty="0"/>
          </a:p>
        </p:txBody>
      </p:sp>
      <p:sp>
        <p:nvSpPr>
          <p:cNvPr id="13" name="Shape 9"/>
          <p:cNvSpPr/>
          <p:nvPr/>
        </p:nvSpPr>
        <p:spPr>
          <a:xfrm>
            <a:off x="6163056" y="1325880"/>
            <a:ext cx="2624328" cy="1444752"/>
          </a:xfrm>
          <a:prstGeom prst="roundRect">
            <a:avLst>
              <a:gd name="adj" fmla="val 7595"/>
            </a:avLst>
          </a:prstGeom>
          <a:solidFill>
            <a:schemeClr val="bg2">
              <a:alpha val="55000"/>
            </a:schemeClr>
          </a:solidFill>
          <a:ln/>
        </p:spPr>
      </p:sp>
      <p:sp>
        <p:nvSpPr>
          <p:cNvPr id="14" name="Shape 10"/>
          <p:cNvSpPr/>
          <p:nvPr/>
        </p:nvSpPr>
        <p:spPr>
          <a:xfrm>
            <a:off x="6345936" y="1527048"/>
            <a:ext cx="566928" cy="566928"/>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481999" y="1663111"/>
            <a:ext cx="294803" cy="294803"/>
          </a:xfrm>
          <a:prstGeom prst="rect">
            <a:avLst/>
          </a:prstGeom>
        </p:spPr>
      </p:pic>
      <p:sp>
        <p:nvSpPr>
          <p:cNvPr id="16" name="Text 11"/>
          <p:cNvSpPr txBox="1"/>
          <p:nvPr/>
        </p:nvSpPr>
        <p:spPr>
          <a:xfrm>
            <a:off x="7031736" y="1508760"/>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Programs</a:t>
            </a:r>
            <a:endParaRPr lang="en-US" sz="1500" dirty="0"/>
          </a:p>
        </p:txBody>
      </p:sp>
      <p:sp>
        <p:nvSpPr>
          <p:cNvPr id="17" name="Text 12"/>
          <p:cNvSpPr txBox="1"/>
          <p:nvPr/>
        </p:nvSpPr>
        <p:spPr>
          <a:xfrm>
            <a:off x="6345936" y="2221992"/>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Schedules and reminders</a:t>
            </a:r>
            <a:endParaRPr lang="en-US" sz="1250" dirty="0"/>
          </a:p>
        </p:txBody>
      </p:sp>
      <p:sp>
        <p:nvSpPr>
          <p:cNvPr id="18" name="Shape 13"/>
          <p:cNvSpPr/>
          <p:nvPr/>
        </p:nvSpPr>
        <p:spPr>
          <a:xfrm>
            <a:off x="8970264" y="1325880"/>
            <a:ext cx="2624328" cy="1444752"/>
          </a:xfrm>
          <a:prstGeom prst="roundRect">
            <a:avLst>
              <a:gd name="adj" fmla="val 7595"/>
            </a:avLst>
          </a:prstGeom>
          <a:solidFill>
            <a:schemeClr val="bg2">
              <a:alpha val="55000"/>
            </a:schemeClr>
          </a:solidFill>
          <a:ln/>
        </p:spPr>
      </p:sp>
      <p:sp>
        <p:nvSpPr>
          <p:cNvPr id="19" name="Shape 14"/>
          <p:cNvSpPr/>
          <p:nvPr/>
        </p:nvSpPr>
        <p:spPr>
          <a:xfrm>
            <a:off x="9153144" y="1527048"/>
            <a:ext cx="566928" cy="566928"/>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9289207" y="1663111"/>
            <a:ext cx="294803" cy="294803"/>
          </a:xfrm>
          <a:prstGeom prst="rect">
            <a:avLst/>
          </a:prstGeom>
        </p:spPr>
      </p:pic>
      <p:sp>
        <p:nvSpPr>
          <p:cNvPr id="21" name="Text 15"/>
          <p:cNvSpPr txBox="1"/>
          <p:nvPr/>
        </p:nvSpPr>
        <p:spPr>
          <a:xfrm>
            <a:off x="9838944" y="1508760"/>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Attendance</a:t>
            </a:r>
            <a:endParaRPr lang="en-US" sz="1500" dirty="0"/>
          </a:p>
        </p:txBody>
      </p:sp>
      <p:sp>
        <p:nvSpPr>
          <p:cNvPr id="22" name="Text 16"/>
          <p:cNvSpPr txBox="1"/>
          <p:nvPr/>
        </p:nvSpPr>
        <p:spPr>
          <a:xfrm>
            <a:off x="9153144" y="2221992"/>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By QR, signature and offline</a:t>
            </a:r>
            <a:endParaRPr lang="en-US" sz="1250" dirty="0"/>
          </a:p>
        </p:txBody>
      </p:sp>
      <p:sp>
        <p:nvSpPr>
          <p:cNvPr id="23" name="Shape 17"/>
          <p:cNvSpPr/>
          <p:nvPr/>
        </p:nvSpPr>
        <p:spPr>
          <a:xfrm>
            <a:off x="548640" y="2953512"/>
            <a:ext cx="2624328" cy="1444752"/>
          </a:xfrm>
          <a:prstGeom prst="roundRect">
            <a:avLst>
              <a:gd name="adj" fmla="val 7595"/>
            </a:avLst>
          </a:prstGeom>
          <a:solidFill>
            <a:schemeClr val="bg2">
              <a:alpha val="55000"/>
            </a:schemeClr>
          </a:solidFill>
          <a:ln/>
        </p:spPr>
      </p:sp>
      <p:sp>
        <p:nvSpPr>
          <p:cNvPr id="24" name="Shape 18"/>
          <p:cNvSpPr/>
          <p:nvPr/>
        </p:nvSpPr>
        <p:spPr>
          <a:xfrm>
            <a:off x="731520" y="3154680"/>
            <a:ext cx="566928" cy="566928"/>
          </a:xfrm>
          <a:prstGeom prst="ellipse">
            <a:avLst/>
          </a:prstGeom>
          <a:solidFill>
            <a:schemeClr val="accent2"/>
          </a:solidFill>
          <a:ln/>
        </p:spPr>
      </p:sp>
      <p:pic>
        <p:nvPicPr>
          <p:cNvPr id="25" name="Image 4" descr="preencoded.png">    </p:cNvPr>
          <p:cNvPicPr>
            <a:picLocks noChangeAspect="1"/>
          </p:cNvPicPr>
          <p:nvPr/>
        </p:nvPicPr>
        <p:blipFill>
          <a:blip r:embed="rId5"/>
          <a:stretch>
            <a:fillRect/>
          </a:stretch>
        </p:blipFill>
        <p:spPr>
          <a:xfrm>
            <a:off x="867583" y="3290743"/>
            <a:ext cx="294803" cy="294803"/>
          </a:xfrm>
          <a:prstGeom prst="rect">
            <a:avLst/>
          </a:prstGeom>
        </p:spPr>
      </p:pic>
      <p:sp>
        <p:nvSpPr>
          <p:cNvPr id="26" name="Text 19"/>
          <p:cNvSpPr txBox="1"/>
          <p:nvPr/>
        </p:nvSpPr>
        <p:spPr>
          <a:xfrm>
            <a:off x="1417320" y="3136392"/>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Holiday service selection</a:t>
            </a:r>
            <a:endParaRPr lang="en-US" sz="1500" dirty="0"/>
          </a:p>
        </p:txBody>
      </p:sp>
      <p:sp>
        <p:nvSpPr>
          <p:cNvPr id="27" name="Text 20"/>
          <p:cNvSpPr txBox="1"/>
          <p:nvPr/>
        </p:nvSpPr>
        <p:spPr>
          <a:xfrm>
            <a:off x="731520" y="3849624"/>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Results by clear rules</a:t>
            </a:r>
            <a:endParaRPr lang="en-US" sz="1250" dirty="0"/>
          </a:p>
        </p:txBody>
      </p:sp>
      <p:sp>
        <p:nvSpPr>
          <p:cNvPr id="28" name="Shape 21"/>
          <p:cNvSpPr/>
          <p:nvPr/>
        </p:nvSpPr>
        <p:spPr>
          <a:xfrm>
            <a:off x="3355848" y="2953512"/>
            <a:ext cx="2624328" cy="1444752"/>
          </a:xfrm>
          <a:prstGeom prst="roundRect">
            <a:avLst>
              <a:gd name="adj" fmla="val 7595"/>
            </a:avLst>
          </a:prstGeom>
          <a:solidFill>
            <a:schemeClr val="bg2">
              <a:alpha val="55000"/>
            </a:schemeClr>
          </a:solidFill>
          <a:ln/>
        </p:spPr>
      </p:sp>
      <p:sp>
        <p:nvSpPr>
          <p:cNvPr id="29" name="Shape 22"/>
          <p:cNvSpPr/>
          <p:nvPr/>
        </p:nvSpPr>
        <p:spPr>
          <a:xfrm>
            <a:off x="3538728" y="3154680"/>
            <a:ext cx="566928" cy="566928"/>
          </a:xfrm>
          <a:prstGeom prst="ellipse">
            <a:avLst/>
          </a:prstGeom>
          <a:solidFill>
            <a:schemeClr val="accent2"/>
          </a:solidFill>
          <a:ln/>
        </p:spPr>
      </p:sp>
      <p:pic>
        <p:nvPicPr>
          <p:cNvPr id="30" name="Image 5" descr="preencoded.png">    </p:cNvPr>
          <p:cNvPicPr>
            <a:picLocks noChangeAspect="1"/>
          </p:cNvPicPr>
          <p:nvPr/>
        </p:nvPicPr>
        <p:blipFill>
          <a:blip r:embed="rId6"/>
          <a:stretch>
            <a:fillRect/>
          </a:stretch>
        </p:blipFill>
        <p:spPr>
          <a:xfrm>
            <a:off x="3674791" y="3290743"/>
            <a:ext cx="294803" cy="294803"/>
          </a:xfrm>
          <a:prstGeom prst="rect">
            <a:avLst/>
          </a:prstGeom>
        </p:spPr>
      </p:pic>
      <p:sp>
        <p:nvSpPr>
          <p:cNvPr id="31" name="Text 23"/>
          <p:cNvSpPr txBox="1"/>
          <p:nvPr/>
        </p:nvSpPr>
        <p:spPr>
          <a:xfrm>
            <a:off x="4224528" y="3136392"/>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Monthly contribution</a:t>
            </a:r>
            <a:endParaRPr lang="en-US" sz="1500" dirty="0"/>
          </a:p>
        </p:txBody>
      </p:sp>
      <p:sp>
        <p:nvSpPr>
          <p:cNvPr id="32" name="Text 24"/>
          <p:cNvSpPr txBox="1"/>
          <p:nvPr/>
        </p:nvSpPr>
        <p:spPr>
          <a:xfrm>
            <a:off x="3538728" y="3849624"/>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Recorded by Ethiopian month</a:t>
            </a:r>
            <a:endParaRPr lang="en-US" sz="1250" dirty="0"/>
          </a:p>
        </p:txBody>
      </p:sp>
      <p:sp>
        <p:nvSpPr>
          <p:cNvPr id="33" name="Shape 25"/>
          <p:cNvSpPr/>
          <p:nvPr/>
        </p:nvSpPr>
        <p:spPr>
          <a:xfrm>
            <a:off x="6163056" y="2953512"/>
            <a:ext cx="2624328" cy="1444752"/>
          </a:xfrm>
          <a:prstGeom prst="roundRect">
            <a:avLst>
              <a:gd name="adj" fmla="val 7595"/>
            </a:avLst>
          </a:prstGeom>
          <a:solidFill>
            <a:schemeClr val="bg2">
              <a:alpha val="55000"/>
            </a:schemeClr>
          </a:solidFill>
          <a:ln/>
        </p:spPr>
      </p:sp>
      <p:sp>
        <p:nvSpPr>
          <p:cNvPr id="34" name="Shape 26"/>
          <p:cNvSpPr/>
          <p:nvPr/>
        </p:nvSpPr>
        <p:spPr>
          <a:xfrm>
            <a:off x="6345936" y="3154680"/>
            <a:ext cx="566928" cy="566928"/>
          </a:xfrm>
          <a:prstGeom prst="ellipse">
            <a:avLst/>
          </a:prstGeom>
          <a:solidFill>
            <a:schemeClr val="accent2"/>
          </a:solidFill>
          <a:ln/>
        </p:spPr>
      </p:sp>
      <p:pic>
        <p:nvPicPr>
          <p:cNvPr id="35" name="Image 6" descr="preencoded.png">    </p:cNvPr>
          <p:cNvPicPr>
            <a:picLocks noChangeAspect="1"/>
          </p:cNvPicPr>
          <p:nvPr/>
        </p:nvPicPr>
        <p:blipFill>
          <a:blip r:embed="rId7"/>
          <a:stretch>
            <a:fillRect/>
          </a:stretch>
        </p:blipFill>
        <p:spPr>
          <a:xfrm>
            <a:off x="6481999" y="3290743"/>
            <a:ext cx="294803" cy="294803"/>
          </a:xfrm>
          <a:prstGeom prst="rect">
            <a:avLst/>
          </a:prstGeom>
        </p:spPr>
      </p:pic>
      <p:sp>
        <p:nvSpPr>
          <p:cNvPr id="36" name="Text 27"/>
          <p:cNvSpPr txBox="1"/>
          <p:nvPr/>
        </p:nvSpPr>
        <p:spPr>
          <a:xfrm>
            <a:off x="7031736" y="3136392"/>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Property and borrowing</a:t>
            </a:r>
            <a:endParaRPr lang="en-US" sz="1500" dirty="0"/>
          </a:p>
        </p:txBody>
      </p:sp>
      <p:sp>
        <p:nvSpPr>
          <p:cNvPr id="37" name="Text 28"/>
          <p:cNvSpPr txBox="1"/>
          <p:nvPr/>
        </p:nvSpPr>
        <p:spPr>
          <a:xfrm>
            <a:off x="6345936" y="3849624"/>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Including signatures and fines</a:t>
            </a:r>
            <a:endParaRPr lang="en-US" sz="1250" dirty="0"/>
          </a:p>
        </p:txBody>
      </p:sp>
      <p:sp>
        <p:nvSpPr>
          <p:cNvPr id="38" name="Shape 29"/>
          <p:cNvSpPr/>
          <p:nvPr/>
        </p:nvSpPr>
        <p:spPr>
          <a:xfrm>
            <a:off x="8970264" y="2953512"/>
            <a:ext cx="2624328" cy="1444752"/>
          </a:xfrm>
          <a:prstGeom prst="roundRect">
            <a:avLst>
              <a:gd name="adj" fmla="val 7595"/>
            </a:avLst>
          </a:prstGeom>
          <a:solidFill>
            <a:schemeClr val="bg2">
              <a:alpha val="55000"/>
            </a:schemeClr>
          </a:solidFill>
          <a:ln/>
        </p:spPr>
      </p:sp>
      <p:sp>
        <p:nvSpPr>
          <p:cNvPr id="39" name="Shape 30"/>
          <p:cNvSpPr/>
          <p:nvPr/>
        </p:nvSpPr>
        <p:spPr>
          <a:xfrm>
            <a:off x="9153144" y="3154680"/>
            <a:ext cx="566928" cy="566928"/>
          </a:xfrm>
          <a:prstGeom prst="ellipse">
            <a:avLst/>
          </a:prstGeom>
          <a:solidFill>
            <a:schemeClr val="accent2"/>
          </a:solidFill>
          <a:ln/>
        </p:spPr>
      </p:sp>
      <p:pic>
        <p:nvPicPr>
          <p:cNvPr id="40" name="Image 7" descr="preencoded.png">    </p:cNvPr>
          <p:cNvPicPr>
            <a:picLocks noChangeAspect="1"/>
          </p:cNvPicPr>
          <p:nvPr/>
        </p:nvPicPr>
        <p:blipFill>
          <a:blip r:embed="rId8"/>
          <a:stretch>
            <a:fillRect/>
          </a:stretch>
        </p:blipFill>
        <p:spPr>
          <a:xfrm>
            <a:off x="9289207" y="3290743"/>
            <a:ext cx="294803" cy="294803"/>
          </a:xfrm>
          <a:prstGeom prst="rect">
            <a:avLst/>
          </a:prstGeom>
        </p:spPr>
      </p:pic>
      <p:sp>
        <p:nvSpPr>
          <p:cNvPr id="41" name="Text 31"/>
          <p:cNvSpPr txBox="1"/>
          <p:nvPr/>
        </p:nvSpPr>
        <p:spPr>
          <a:xfrm>
            <a:off x="9838944" y="3136392"/>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Projects and tasks</a:t>
            </a:r>
            <a:endParaRPr lang="en-US" sz="1500" dirty="0"/>
          </a:p>
        </p:txBody>
      </p:sp>
      <p:sp>
        <p:nvSpPr>
          <p:cNvPr id="42" name="Text 32"/>
          <p:cNvSpPr txBox="1"/>
          <p:nvPr/>
        </p:nvSpPr>
        <p:spPr>
          <a:xfrm>
            <a:off x="9153144" y="3849624"/>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Budgets, expenses and reports</a:t>
            </a:r>
            <a:endParaRPr lang="en-US" sz="1250" dirty="0"/>
          </a:p>
        </p:txBody>
      </p:sp>
      <p:sp>
        <p:nvSpPr>
          <p:cNvPr id="43" name="Shape 33"/>
          <p:cNvSpPr/>
          <p:nvPr/>
        </p:nvSpPr>
        <p:spPr>
          <a:xfrm>
            <a:off x="548640" y="4581144"/>
            <a:ext cx="2624328" cy="1444752"/>
          </a:xfrm>
          <a:prstGeom prst="roundRect">
            <a:avLst>
              <a:gd name="adj" fmla="val 7595"/>
            </a:avLst>
          </a:prstGeom>
          <a:solidFill>
            <a:schemeClr val="bg2">
              <a:alpha val="55000"/>
            </a:schemeClr>
          </a:solidFill>
          <a:ln/>
        </p:spPr>
      </p:sp>
      <p:sp>
        <p:nvSpPr>
          <p:cNvPr id="44" name="Shape 34"/>
          <p:cNvSpPr/>
          <p:nvPr/>
        </p:nvSpPr>
        <p:spPr>
          <a:xfrm>
            <a:off x="731520" y="4782312"/>
            <a:ext cx="566928" cy="566928"/>
          </a:xfrm>
          <a:prstGeom prst="ellipse">
            <a:avLst/>
          </a:prstGeom>
          <a:solidFill>
            <a:schemeClr val="accent1"/>
          </a:solidFill>
          <a:ln/>
        </p:spPr>
      </p:sp>
      <p:pic>
        <p:nvPicPr>
          <p:cNvPr id="45" name="Image 8" descr="preencoded.png">    </p:cNvPr>
          <p:cNvPicPr>
            <a:picLocks noChangeAspect="1"/>
          </p:cNvPicPr>
          <p:nvPr/>
        </p:nvPicPr>
        <p:blipFill>
          <a:blip r:embed="rId9"/>
          <a:stretch>
            <a:fillRect/>
          </a:stretch>
        </p:blipFill>
        <p:spPr>
          <a:xfrm>
            <a:off x="867583" y="4918375"/>
            <a:ext cx="294803" cy="294803"/>
          </a:xfrm>
          <a:prstGeom prst="rect">
            <a:avLst/>
          </a:prstGeom>
        </p:spPr>
      </p:pic>
      <p:sp>
        <p:nvSpPr>
          <p:cNvPr id="46" name="Text 35"/>
          <p:cNvSpPr txBox="1"/>
          <p:nvPr/>
        </p:nvSpPr>
        <p:spPr>
          <a:xfrm>
            <a:off x="1417320" y="4764024"/>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Department chat</a:t>
            </a:r>
            <a:endParaRPr lang="en-US" sz="1500" dirty="0"/>
          </a:p>
        </p:txBody>
      </p:sp>
      <p:sp>
        <p:nvSpPr>
          <p:cNvPr id="47" name="Text 36"/>
          <p:cNvSpPr txBox="1"/>
          <p:nvPr/>
        </p:nvSpPr>
        <p:spPr>
          <a:xfrm>
            <a:off x="731520" y="5477256"/>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Group and private messages</a:t>
            </a:r>
            <a:endParaRPr lang="en-US" sz="1250" dirty="0"/>
          </a:p>
        </p:txBody>
      </p:sp>
      <p:sp>
        <p:nvSpPr>
          <p:cNvPr id="48" name="Shape 37"/>
          <p:cNvSpPr/>
          <p:nvPr/>
        </p:nvSpPr>
        <p:spPr>
          <a:xfrm>
            <a:off x="3355848" y="4581144"/>
            <a:ext cx="2624328" cy="1444752"/>
          </a:xfrm>
          <a:prstGeom prst="roundRect">
            <a:avLst>
              <a:gd name="adj" fmla="val 7595"/>
            </a:avLst>
          </a:prstGeom>
          <a:solidFill>
            <a:schemeClr val="bg2">
              <a:alpha val="55000"/>
            </a:schemeClr>
          </a:solidFill>
          <a:ln/>
        </p:spPr>
      </p:sp>
      <p:sp>
        <p:nvSpPr>
          <p:cNvPr id="49" name="Shape 38"/>
          <p:cNvSpPr/>
          <p:nvPr/>
        </p:nvSpPr>
        <p:spPr>
          <a:xfrm>
            <a:off x="3538728" y="4782312"/>
            <a:ext cx="566928" cy="566928"/>
          </a:xfrm>
          <a:prstGeom prst="ellipse">
            <a:avLst/>
          </a:prstGeom>
          <a:solidFill>
            <a:schemeClr val="accent1"/>
          </a:solidFill>
          <a:ln/>
        </p:spPr>
      </p:sp>
      <p:pic>
        <p:nvPicPr>
          <p:cNvPr id="50" name="Image 9" descr="preencoded.png">    </p:cNvPr>
          <p:cNvPicPr>
            <a:picLocks noChangeAspect="1"/>
          </p:cNvPicPr>
          <p:nvPr/>
        </p:nvPicPr>
        <p:blipFill>
          <a:blip r:embed="rId10"/>
          <a:stretch>
            <a:fillRect/>
          </a:stretch>
        </p:blipFill>
        <p:spPr>
          <a:xfrm>
            <a:off x="3674791" y="4918375"/>
            <a:ext cx="294803" cy="294803"/>
          </a:xfrm>
          <a:prstGeom prst="rect">
            <a:avLst/>
          </a:prstGeom>
        </p:spPr>
      </p:pic>
      <p:sp>
        <p:nvSpPr>
          <p:cNvPr id="51" name="Text 39"/>
          <p:cNvSpPr txBox="1"/>
          <p:nvPr/>
        </p:nvSpPr>
        <p:spPr>
          <a:xfrm>
            <a:off x="4224528" y="4764024"/>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Notifications</a:t>
            </a:r>
            <a:endParaRPr lang="en-US" sz="1500" dirty="0"/>
          </a:p>
        </p:txBody>
      </p:sp>
      <p:sp>
        <p:nvSpPr>
          <p:cNvPr id="52" name="Text 40"/>
          <p:cNvSpPr txBox="1"/>
          <p:nvPr/>
        </p:nvSpPr>
        <p:spPr>
          <a:xfrm>
            <a:off x="3538728" y="5477256"/>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In-app, push, email and Telegram</a:t>
            </a:r>
            <a:endParaRPr lang="en-US" sz="1250" dirty="0"/>
          </a:p>
        </p:txBody>
      </p:sp>
      <p:sp>
        <p:nvSpPr>
          <p:cNvPr id="53" name="Shape 41"/>
          <p:cNvSpPr/>
          <p:nvPr/>
        </p:nvSpPr>
        <p:spPr>
          <a:xfrm>
            <a:off x="6163056" y="4581144"/>
            <a:ext cx="2624328" cy="1444752"/>
          </a:xfrm>
          <a:prstGeom prst="roundRect">
            <a:avLst>
              <a:gd name="adj" fmla="val 7595"/>
            </a:avLst>
          </a:prstGeom>
          <a:solidFill>
            <a:schemeClr val="bg2">
              <a:alpha val="55000"/>
            </a:schemeClr>
          </a:solidFill>
          <a:ln/>
        </p:spPr>
      </p:sp>
      <p:sp>
        <p:nvSpPr>
          <p:cNvPr id="54" name="Shape 42"/>
          <p:cNvSpPr/>
          <p:nvPr/>
        </p:nvSpPr>
        <p:spPr>
          <a:xfrm>
            <a:off x="6345936" y="4782312"/>
            <a:ext cx="566928" cy="566928"/>
          </a:xfrm>
          <a:prstGeom prst="ellipse">
            <a:avLst/>
          </a:prstGeom>
          <a:solidFill>
            <a:schemeClr val="accent1"/>
          </a:solidFill>
          <a:ln/>
        </p:spPr>
      </p:sp>
      <p:pic>
        <p:nvPicPr>
          <p:cNvPr id="55" name="Image 10" descr="preencoded.png">    </p:cNvPr>
          <p:cNvPicPr>
            <a:picLocks noChangeAspect="1"/>
          </p:cNvPicPr>
          <p:nvPr/>
        </p:nvPicPr>
        <p:blipFill>
          <a:blip r:embed="rId11"/>
          <a:stretch>
            <a:fillRect/>
          </a:stretch>
        </p:blipFill>
        <p:spPr>
          <a:xfrm>
            <a:off x="6481999" y="4918375"/>
            <a:ext cx="294803" cy="294803"/>
          </a:xfrm>
          <a:prstGeom prst="rect">
            <a:avLst/>
          </a:prstGeom>
        </p:spPr>
      </p:pic>
      <p:sp>
        <p:nvSpPr>
          <p:cNvPr id="56" name="Text 43"/>
          <p:cNvSpPr txBox="1"/>
          <p:nvPr/>
        </p:nvSpPr>
        <p:spPr>
          <a:xfrm>
            <a:off x="7031736" y="4764024"/>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Reports and audit</a:t>
            </a:r>
            <a:endParaRPr lang="en-US" sz="1500" dirty="0"/>
          </a:p>
        </p:txBody>
      </p:sp>
      <p:sp>
        <p:nvSpPr>
          <p:cNvPr id="57" name="Text 44"/>
          <p:cNvSpPr txBox="1"/>
          <p:nvPr/>
        </p:nvSpPr>
        <p:spPr>
          <a:xfrm>
            <a:off x="6345936" y="5477256"/>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PDF, Excel and CSV</a:t>
            </a:r>
            <a:endParaRPr lang="en-US" sz="1250" dirty="0"/>
          </a:p>
        </p:txBody>
      </p:sp>
      <p:sp>
        <p:nvSpPr>
          <p:cNvPr id="58" name="Shape 45"/>
          <p:cNvSpPr/>
          <p:nvPr/>
        </p:nvSpPr>
        <p:spPr>
          <a:xfrm>
            <a:off x="8970264" y="4581144"/>
            <a:ext cx="2624328" cy="1444752"/>
          </a:xfrm>
          <a:prstGeom prst="roundRect">
            <a:avLst>
              <a:gd name="adj" fmla="val 7595"/>
            </a:avLst>
          </a:prstGeom>
          <a:solidFill>
            <a:schemeClr val="bg2">
              <a:alpha val="55000"/>
            </a:schemeClr>
          </a:solidFill>
          <a:ln/>
        </p:spPr>
      </p:sp>
      <p:sp>
        <p:nvSpPr>
          <p:cNvPr id="59" name="Shape 46"/>
          <p:cNvSpPr/>
          <p:nvPr/>
        </p:nvSpPr>
        <p:spPr>
          <a:xfrm>
            <a:off x="9153144" y="4782312"/>
            <a:ext cx="566928" cy="566928"/>
          </a:xfrm>
          <a:prstGeom prst="ellipse">
            <a:avLst/>
          </a:prstGeom>
          <a:solidFill>
            <a:schemeClr val="accent1"/>
          </a:solidFill>
          <a:ln/>
        </p:spPr>
      </p:sp>
      <p:pic>
        <p:nvPicPr>
          <p:cNvPr id="60" name="Image 11" descr="preencoded.png">    </p:cNvPr>
          <p:cNvPicPr>
            <a:picLocks noChangeAspect="1"/>
          </p:cNvPicPr>
          <p:nvPr/>
        </p:nvPicPr>
        <p:blipFill>
          <a:blip r:embed="rId12"/>
          <a:stretch>
            <a:fillRect/>
          </a:stretch>
        </p:blipFill>
        <p:spPr>
          <a:xfrm>
            <a:off x="9289207" y="4918375"/>
            <a:ext cx="294803" cy="294803"/>
          </a:xfrm>
          <a:prstGeom prst="rect">
            <a:avLst/>
          </a:prstGeom>
        </p:spPr>
      </p:pic>
      <p:sp>
        <p:nvSpPr>
          <p:cNvPr id="61" name="Text 47"/>
          <p:cNvSpPr txBox="1"/>
          <p:nvPr/>
        </p:nvSpPr>
        <p:spPr>
          <a:xfrm>
            <a:off x="9838944" y="4764024"/>
            <a:ext cx="1664208" cy="68580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Guidance and help</a:t>
            </a:r>
            <a:endParaRPr lang="en-US" sz="1500" dirty="0"/>
          </a:p>
        </p:txBody>
      </p:sp>
      <p:sp>
        <p:nvSpPr>
          <p:cNvPr id="62" name="Text 48"/>
          <p:cNvSpPr txBox="1"/>
          <p:nvPr/>
        </p:nvSpPr>
        <p:spPr>
          <a:xfrm>
            <a:off x="9153144" y="5477256"/>
            <a:ext cx="2286000"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56 help articles and guided tours</a:t>
            </a:r>
            <a:endParaRPr lang="en-US" sz="12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User Experience</a:t>
            </a:r>
            <a:endParaRPr lang="en-US" sz="3400" dirty="0"/>
          </a:p>
        </p:txBody>
      </p:sp>
      <p:sp>
        <p:nvSpPr>
          <p:cNvPr id="3" name="Shape 1"/>
          <p:cNvSpPr/>
          <p:nvPr/>
        </p:nvSpPr>
        <p:spPr>
          <a:xfrm>
            <a:off x="667512" y="1261872"/>
            <a:ext cx="2071299" cy="4334256"/>
          </a:xfrm>
          <a:prstGeom prst="roundRect">
            <a:avLst>
              <a:gd name="adj" fmla="val 7946"/>
            </a:avLst>
          </a:prstGeom>
          <a:solidFill>
            <a:schemeClr val="accent6"/>
          </a:solidFill>
          <a:ln/>
          <a:effectLst>
            <a:outerShdw sx="100000" sy="100000" kx="0" ky="0" algn="bl" rotWithShape="0" blurRad="101600" dist="38100" dir="5400000">
              <a:srgbClr val="3D2E31">
                <a:alpha val="30000"/>
              </a:srgbClr>
            </a:outerShdw>
          </a:effectLst>
        </p:spPr>
      </p:sp>
      <p:pic>
        <p:nvPicPr>
          <p:cNvPr id="4" name="Image 0" descr="C:\Users\HP\Documents\MH-app-1.5.3\mobile\mobile\build\screenshots\login.png">    </p:cNvPr>
          <p:cNvPicPr>
            <a:picLocks noChangeAspect="1"/>
          </p:cNvPicPr>
          <p:nvPr/>
        </p:nvPicPr>
        <p:blipFill>
          <a:blip r:embed="rId1"/>
          <a:stretch>
            <a:fillRect/>
          </a:stretch>
        </p:blipFill>
        <p:spPr>
          <a:xfrm>
            <a:off x="731520" y="1325880"/>
            <a:ext cx="1943283" cy="4206240"/>
          </a:xfrm>
          <a:prstGeom prst="rect">
            <a:avLst/>
          </a:prstGeom>
        </p:spPr>
      </p:pic>
      <p:sp>
        <p:nvSpPr>
          <p:cNvPr id="5" name="Text 2"/>
          <p:cNvSpPr txBox="1"/>
          <p:nvPr/>
        </p:nvSpPr>
        <p:spPr>
          <a:xfrm>
            <a:off x="548640" y="5641848"/>
            <a:ext cx="2309043"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Sign-in</a:t>
            </a:r>
            <a:endParaRPr lang="en-US" sz="1100" dirty="0"/>
          </a:p>
        </p:txBody>
      </p:sp>
      <p:sp>
        <p:nvSpPr>
          <p:cNvPr id="6" name="Shape 3"/>
          <p:cNvSpPr/>
          <p:nvPr/>
        </p:nvSpPr>
        <p:spPr>
          <a:xfrm>
            <a:off x="3136392" y="1261872"/>
            <a:ext cx="2071299" cy="4334256"/>
          </a:xfrm>
          <a:prstGeom prst="roundRect">
            <a:avLst>
              <a:gd name="adj" fmla="val 7946"/>
            </a:avLst>
          </a:prstGeom>
          <a:solidFill>
            <a:schemeClr val="accent6"/>
          </a:solidFill>
          <a:ln/>
          <a:effectLst>
            <a:outerShdw sx="100000" sy="100000" kx="0" ky="0" algn="bl" rotWithShape="0" blurRad="101600" dist="38100" dir="5400000">
              <a:srgbClr val="3D2E31">
                <a:alpha val="30000"/>
              </a:srgbClr>
            </a:outerShdw>
          </a:effectLst>
        </p:spPr>
      </p:sp>
      <p:pic>
        <p:nvPicPr>
          <p:cNvPr id="7" name="Image 1" descr="C:\Users\HP\Documents\MH-app-1.5.3\mobile\mobile\build\screenshots\01_home.png">    </p:cNvPr>
          <p:cNvPicPr>
            <a:picLocks noChangeAspect="1"/>
          </p:cNvPicPr>
          <p:nvPr/>
        </p:nvPicPr>
        <p:blipFill>
          <a:blip r:embed="rId2"/>
          <a:stretch>
            <a:fillRect/>
          </a:stretch>
        </p:blipFill>
        <p:spPr>
          <a:xfrm>
            <a:off x="3200400" y="1325880"/>
            <a:ext cx="1943283" cy="4206240"/>
          </a:xfrm>
          <a:prstGeom prst="rect">
            <a:avLst/>
          </a:prstGeom>
        </p:spPr>
      </p:pic>
      <p:sp>
        <p:nvSpPr>
          <p:cNvPr id="8" name="Text 4"/>
          <p:cNvSpPr txBox="1"/>
          <p:nvPr/>
        </p:nvSpPr>
        <p:spPr>
          <a:xfrm>
            <a:off x="3017520" y="5641848"/>
            <a:ext cx="2309043"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Mezmur home</a:t>
            </a:r>
            <a:endParaRPr lang="en-US" sz="1100" dirty="0"/>
          </a:p>
        </p:txBody>
      </p:sp>
      <p:sp>
        <p:nvSpPr>
          <p:cNvPr id="9" name="Shape 5"/>
          <p:cNvSpPr/>
          <p:nvPr/>
        </p:nvSpPr>
        <p:spPr>
          <a:xfrm>
            <a:off x="5605272" y="1261872"/>
            <a:ext cx="2071299" cy="4334256"/>
          </a:xfrm>
          <a:prstGeom prst="roundRect">
            <a:avLst>
              <a:gd name="adj" fmla="val 7946"/>
            </a:avLst>
          </a:prstGeom>
          <a:solidFill>
            <a:schemeClr val="accent6"/>
          </a:solidFill>
          <a:ln/>
          <a:effectLst>
            <a:outerShdw sx="100000" sy="100000" kx="0" ky="0" algn="bl" rotWithShape="0" blurRad="101600" dist="38100" dir="5400000">
              <a:srgbClr val="3D2E31">
                <a:alpha val="30000"/>
              </a:srgbClr>
            </a:outerShdw>
          </a:effectLst>
        </p:spPr>
      </p:sp>
      <p:pic>
        <p:nvPicPr>
          <p:cNvPr id="10" name="Image 2" descr="C:\Users\HP\Documents\MH-app-1.5.3\mobile\mobile\build\screenshots\05_settings.png">    </p:cNvPr>
          <p:cNvPicPr>
            <a:picLocks noChangeAspect="1"/>
          </p:cNvPicPr>
          <p:nvPr/>
        </p:nvPicPr>
        <p:blipFill>
          <a:blip r:embed="rId3"/>
          <a:stretch>
            <a:fillRect/>
          </a:stretch>
        </p:blipFill>
        <p:spPr>
          <a:xfrm>
            <a:off x="5669280" y="1325880"/>
            <a:ext cx="1943283" cy="4206240"/>
          </a:xfrm>
          <a:prstGeom prst="rect">
            <a:avLst/>
          </a:prstGeom>
        </p:spPr>
      </p:pic>
      <p:sp>
        <p:nvSpPr>
          <p:cNvPr id="11" name="Text 6"/>
          <p:cNvSpPr txBox="1"/>
          <p:nvPr/>
        </p:nvSpPr>
        <p:spPr>
          <a:xfrm>
            <a:off x="5486400" y="5641848"/>
            <a:ext cx="2309043"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Settings</a:t>
            </a:r>
            <a:endParaRPr lang="en-US" sz="1100" dirty="0"/>
          </a:p>
        </p:txBody>
      </p:sp>
      <p:sp>
        <p:nvSpPr>
          <p:cNvPr id="12" name="Shape 7"/>
          <p:cNvSpPr/>
          <p:nvPr/>
        </p:nvSpPr>
        <p:spPr>
          <a:xfrm>
            <a:off x="8229600" y="1417320"/>
            <a:ext cx="548640" cy="548640"/>
          </a:xfrm>
          <a:prstGeom prst="ellipse">
            <a:avLst/>
          </a:prstGeom>
          <a:solidFill>
            <a:schemeClr val="accent1"/>
          </a:solidFill>
          <a:ln/>
        </p:spPr>
      </p:sp>
      <p:pic>
        <p:nvPicPr>
          <p:cNvPr id="13" name="Image 3" descr="preencoded.png">    </p:cNvPr>
          <p:cNvPicPr>
            <a:picLocks noChangeAspect="1"/>
          </p:cNvPicPr>
          <p:nvPr/>
        </p:nvPicPr>
        <p:blipFill>
          <a:blip r:embed="rId4"/>
          <a:stretch>
            <a:fillRect/>
          </a:stretch>
        </p:blipFill>
        <p:spPr>
          <a:xfrm>
            <a:off x="8361274" y="1548994"/>
            <a:ext cx="285293" cy="285293"/>
          </a:xfrm>
          <a:prstGeom prst="rect">
            <a:avLst/>
          </a:prstGeom>
        </p:spPr>
      </p:pic>
      <p:sp>
        <p:nvSpPr>
          <p:cNvPr id="14" name="Text 8"/>
          <p:cNvSpPr txBox="1"/>
          <p:nvPr/>
        </p:nvSpPr>
        <p:spPr>
          <a:xfrm>
            <a:off x="8915400" y="1435608"/>
            <a:ext cx="2788920" cy="685800"/>
          </a:xfrm>
          <a:prstGeom prst="rect">
            <a:avLst/>
          </a:prstGeom>
          <a:noFill/>
          <a:ln/>
        </p:spPr>
        <p:txBody>
          <a:bodyPr wrap="square" lIns="0" tIns="0" rIns="0" bIns="0" rtlCol="0" anchor="ctr"/>
          <a:lstStyle/>
          <a:p>
            <a:pPr indent="0" marL="0">
              <a:buNone/>
            </a:pPr>
            <a:r>
              <a:rPr lang="en-US" sz="1350" dirty="0">
                <a:solidFill>
                  <a:schemeClr val="tx1"/>
                </a:solidFill>
                <a:latin typeface="Ebrima" pitchFamily="34" charset="0"/>
                <a:ea typeface="Ebrima" pitchFamily="34" charset="-122"/>
                <a:cs typeface="Ebrima" pitchFamily="34" charset="-120"/>
              </a:rPr>
              <a:t>Simple sign-in — phone number and a 4 or 6 digit PIN</a:t>
            </a:r>
            <a:endParaRPr lang="en-US" sz="1350" dirty="0"/>
          </a:p>
        </p:txBody>
      </p:sp>
      <p:sp>
        <p:nvSpPr>
          <p:cNvPr id="15" name="Shape 9"/>
          <p:cNvSpPr/>
          <p:nvPr/>
        </p:nvSpPr>
        <p:spPr>
          <a:xfrm>
            <a:off x="8229600" y="2313432"/>
            <a:ext cx="548640" cy="548640"/>
          </a:xfrm>
          <a:prstGeom prst="ellipse">
            <a:avLst/>
          </a:prstGeom>
          <a:solidFill>
            <a:schemeClr val="accent2"/>
          </a:solidFill>
          <a:ln/>
        </p:spPr>
      </p:sp>
      <p:pic>
        <p:nvPicPr>
          <p:cNvPr id="16" name="Image 4" descr="preencoded.png">    </p:cNvPr>
          <p:cNvPicPr>
            <a:picLocks noChangeAspect="1"/>
          </p:cNvPicPr>
          <p:nvPr/>
        </p:nvPicPr>
        <p:blipFill>
          <a:blip r:embed="rId5"/>
          <a:stretch>
            <a:fillRect/>
          </a:stretch>
        </p:blipFill>
        <p:spPr>
          <a:xfrm>
            <a:off x="8361274" y="2445106"/>
            <a:ext cx="285293" cy="285293"/>
          </a:xfrm>
          <a:prstGeom prst="rect">
            <a:avLst/>
          </a:prstGeom>
        </p:spPr>
      </p:pic>
      <p:sp>
        <p:nvSpPr>
          <p:cNvPr id="17" name="Text 10"/>
          <p:cNvSpPr txBox="1"/>
          <p:nvPr/>
        </p:nvSpPr>
        <p:spPr>
          <a:xfrm>
            <a:off x="8915400" y="2331720"/>
            <a:ext cx="2788920" cy="685800"/>
          </a:xfrm>
          <a:prstGeom prst="rect">
            <a:avLst/>
          </a:prstGeom>
          <a:noFill/>
          <a:ln/>
        </p:spPr>
        <p:txBody>
          <a:bodyPr wrap="square" lIns="0" tIns="0" rIns="0" bIns="0" rtlCol="0" anchor="ctr"/>
          <a:lstStyle/>
          <a:p>
            <a:pPr indent="0" marL="0">
              <a:buNone/>
            </a:pPr>
            <a:r>
              <a:rPr lang="en-US" sz="1350" dirty="0">
                <a:solidFill>
                  <a:schemeClr val="tx1"/>
                </a:solidFill>
                <a:latin typeface="Ebrima" pitchFamily="34" charset="0"/>
                <a:ea typeface="Ebrima" pitchFamily="34" charset="-122"/>
                <a:cs typeface="Ebrima" pitchFamily="34" charset="-120"/>
              </a:rPr>
              <a:t>Church colors and emblem; light and dark themes</a:t>
            </a:r>
            <a:endParaRPr lang="en-US" sz="1350" dirty="0"/>
          </a:p>
        </p:txBody>
      </p:sp>
      <p:sp>
        <p:nvSpPr>
          <p:cNvPr id="18" name="Shape 11"/>
          <p:cNvSpPr/>
          <p:nvPr/>
        </p:nvSpPr>
        <p:spPr>
          <a:xfrm>
            <a:off x="8229600" y="3209544"/>
            <a:ext cx="548640" cy="548640"/>
          </a:xfrm>
          <a:prstGeom prst="ellipse">
            <a:avLst/>
          </a:prstGeom>
          <a:solidFill>
            <a:schemeClr val="accent1"/>
          </a:solidFill>
          <a:ln/>
        </p:spPr>
      </p:sp>
      <p:pic>
        <p:nvPicPr>
          <p:cNvPr id="19" name="Image 5" descr="preencoded.png">    </p:cNvPr>
          <p:cNvPicPr>
            <a:picLocks noChangeAspect="1"/>
          </p:cNvPicPr>
          <p:nvPr/>
        </p:nvPicPr>
        <p:blipFill>
          <a:blip r:embed="rId6"/>
          <a:stretch>
            <a:fillRect/>
          </a:stretch>
        </p:blipFill>
        <p:spPr>
          <a:xfrm>
            <a:off x="8361274" y="3341218"/>
            <a:ext cx="285293" cy="285293"/>
          </a:xfrm>
          <a:prstGeom prst="rect">
            <a:avLst/>
          </a:prstGeom>
        </p:spPr>
      </p:pic>
      <p:sp>
        <p:nvSpPr>
          <p:cNvPr id="20" name="Text 12"/>
          <p:cNvSpPr txBox="1"/>
          <p:nvPr/>
        </p:nvSpPr>
        <p:spPr>
          <a:xfrm>
            <a:off x="8915400" y="3227832"/>
            <a:ext cx="2788920" cy="685800"/>
          </a:xfrm>
          <a:prstGeom prst="rect">
            <a:avLst/>
          </a:prstGeom>
          <a:noFill/>
          <a:ln/>
        </p:spPr>
        <p:txBody>
          <a:bodyPr wrap="square" lIns="0" tIns="0" rIns="0" bIns="0" rtlCol="0" anchor="ctr"/>
          <a:lstStyle/>
          <a:p>
            <a:pPr indent="0" marL="0">
              <a:buNone/>
            </a:pPr>
            <a:r>
              <a:rPr lang="en-US" sz="1350" dirty="0">
                <a:solidFill>
                  <a:schemeClr val="tx1"/>
                </a:solidFill>
                <a:latin typeface="Ebrima" pitchFamily="34" charset="0"/>
                <a:ea typeface="Ebrima" pitchFamily="34" charset="-122"/>
                <a:cs typeface="Ebrima" pitchFamily="34" charset="-120"/>
              </a:rPr>
              <a:t>Amharic as the main language; English also available</a:t>
            </a:r>
            <a:endParaRPr lang="en-US" sz="1350" dirty="0"/>
          </a:p>
        </p:txBody>
      </p:sp>
      <p:sp>
        <p:nvSpPr>
          <p:cNvPr id="21" name="Shape 13"/>
          <p:cNvSpPr/>
          <p:nvPr/>
        </p:nvSpPr>
        <p:spPr>
          <a:xfrm>
            <a:off x="8229600" y="4105656"/>
            <a:ext cx="548640" cy="548640"/>
          </a:xfrm>
          <a:prstGeom prst="ellipse">
            <a:avLst/>
          </a:prstGeom>
          <a:solidFill>
            <a:schemeClr val="accent2"/>
          </a:solidFill>
          <a:ln/>
        </p:spPr>
      </p:sp>
      <p:pic>
        <p:nvPicPr>
          <p:cNvPr id="22" name="Image 6" descr="preencoded.png">    </p:cNvPr>
          <p:cNvPicPr>
            <a:picLocks noChangeAspect="1"/>
          </p:cNvPicPr>
          <p:nvPr/>
        </p:nvPicPr>
        <p:blipFill>
          <a:blip r:embed="rId7"/>
          <a:stretch>
            <a:fillRect/>
          </a:stretch>
        </p:blipFill>
        <p:spPr>
          <a:xfrm>
            <a:off x="8361274" y="4237330"/>
            <a:ext cx="285293" cy="285293"/>
          </a:xfrm>
          <a:prstGeom prst="rect">
            <a:avLst/>
          </a:prstGeom>
        </p:spPr>
      </p:pic>
      <p:sp>
        <p:nvSpPr>
          <p:cNvPr id="23" name="Text 14"/>
          <p:cNvSpPr txBox="1"/>
          <p:nvPr/>
        </p:nvSpPr>
        <p:spPr>
          <a:xfrm>
            <a:off x="8915400" y="4123944"/>
            <a:ext cx="2788920" cy="685800"/>
          </a:xfrm>
          <a:prstGeom prst="rect">
            <a:avLst/>
          </a:prstGeom>
          <a:noFill/>
          <a:ln/>
        </p:spPr>
        <p:txBody>
          <a:bodyPr wrap="square" lIns="0" tIns="0" rIns="0" bIns="0" rtlCol="0" anchor="ctr"/>
          <a:lstStyle/>
          <a:p>
            <a:pPr indent="0" marL="0">
              <a:buNone/>
            </a:pPr>
            <a:r>
              <a:rPr lang="en-US" sz="1350" dirty="0">
                <a:solidFill>
                  <a:schemeClr val="tx1"/>
                </a:solidFill>
                <a:latin typeface="Ebrima" pitchFamily="34" charset="0"/>
                <a:ea typeface="Ebrima" pitchFamily="34" charset="-122"/>
                <a:cs typeface="Ebrima" pitchFamily="34" charset="-120"/>
              </a:rPr>
              <a:t>Contextual help and guided tours on every main screen</a:t>
            </a:r>
            <a:endParaRPr lang="en-US" sz="1350" dirty="0"/>
          </a:p>
        </p:txBody>
      </p:sp>
      <p:sp>
        <p:nvSpPr>
          <p:cNvPr id="24" name="Shape 15"/>
          <p:cNvSpPr/>
          <p:nvPr/>
        </p:nvSpPr>
        <p:spPr>
          <a:xfrm>
            <a:off x="8229600" y="5001768"/>
            <a:ext cx="548640" cy="548640"/>
          </a:xfrm>
          <a:prstGeom prst="ellipse">
            <a:avLst/>
          </a:prstGeom>
          <a:solidFill>
            <a:schemeClr val="accent1"/>
          </a:solidFill>
          <a:ln/>
        </p:spPr>
      </p:sp>
      <p:pic>
        <p:nvPicPr>
          <p:cNvPr id="25" name="Image 7" descr="preencoded.png">    </p:cNvPr>
          <p:cNvPicPr>
            <a:picLocks noChangeAspect="1"/>
          </p:cNvPicPr>
          <p:nvPr/>
        </p:nvPicPr>
        <p:blipFill>
          <a:blip r:embed="rId8"/>
          <a:stretch>
            <a:fillRect/>
          </a:stretch>
        </p:blipFill>
        <p:spPr>
          <a:xfrm>
            <a:off x="8361274" y="5133442"/>
            <a:ext cx="285293" cy="285293"/>
          </a:xfrm>
          <a:prstGeom prst="rect">
            <a:avLst/>
          </a:prstGeom>
        </p:spPr>
      </p:pic>
      <p:sp>
        <p:nvSpPr>
          <p:cNvPr id="26" name="Text 16"/>
          <p:cNvSpPr txBox="1"/>
          <p:nvPr/>
        </p:nvSpPr>
        <p:spPr>
          <a:xfrm>
            <a:off x="8915400" y="5020056"/>
            <a:ext cx="2788920" cy="685800"/>
          </a:xfrm>
          <a:prstGeom prst="rect">
            <a:avLst/>
          </a:prstGeom>
          <a:noFill/>
          <a:ln/>
        </p:spPr>
        <p:txBody>
          <a:bodyPr wrap="square" lIns="0" tIns="0" rIns="0" bIns="0" rtlCol="0" anchor="ctr"/>
          <a:lstStyle/>
          <a:p>
            <a:pPr indent="0" marL="0">
              <a:buNone/>
            </a:pPr>
            <a:r>
              <a:rPr lang="en-US" sz="1350" dirty="0">
                <a:solidFill>
                  <a:schemeClr val="tx1"/>
                </a:solidFill>
                <a:latin typeface="Ebrima" pitchFamily="34" charset="0"/>
                <a:ea typeface="Ebrima" pitchFamily="34" charset="-122"/>
                <a:cs typeface="Ebrima" pitchFamily="34" charset="-120"/>
              </a:rPr>
              <a:t>Fingerprint lock available</a:t>
            </a:r>
            <a:endParaRPr lang="en-US" sz="1350" dirty="0"/>
          </a:p>
        </p:txBody>
      </p:sp>
      <p:sp>
        <p:nvSpPr>
          <p:cNvPr id="27" name="Text 17"/>
          <p:cNvSpPr txBox="1"/>
          <p:nvPr/>
        </p:nvSpPr>
        <p:spPr>
          <a:xfrm>
            <a:off x="548640" y="6053328"/>
            <a:ext cx="7498080" cy="274320"/>
          </a:xfrm>
          <a:prstGeom prst="rect">
            <a:avLst/>
          </a:prstGeom>
          <a:noFill/>
          <a:ln/>
        </p:spPr>
        <p:txBody>
          <a:bodyPr wrap="square" lIns="0" tIns="0" rIns="0" bIns="0" rtlCol="0" anchor="t"/>
          <a:lstStyle/>
          <a:p>
            <a:pPr indent="0" marL="0">
              <a:buNone/>
            </a:pPr>
            <a:r>
              <a:rPr lang="en-US" sz="1050" i="1" dirty="0">
                <a:solidFill>
                  <a:schemeClr val="accent4"/>
                </a:solidFill>
                <a:latin typeface="Ebrima" pitchFamily="34" charset="0"/>
                <a:ea typeface="Ebrima" pitchFamily="34" charset="-122"/>
                <a:cs typeface="Ebrima" pitchFamily="34" charset="-120"/>
              </a:rPr>
              <a:t>Screens are taken from the app itself (Amharic interface) with sample data</a:t>
            </a:r>
            <a:endParaRPr lang="en-US" sz="10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The Mezmur Library</a:t>
            </a:r>
            <a:endParaRPr lang="en-US" sz="3400" dirty="0"/>
          </a:p>
        </p:txBody>
      </p:sp>
      <p:sp>
        <p:nvSpPr>
          <p:cNvPr id="3" name="Shape 1"/>
          <p:cNvSpPr/>
          <p:nvPr/>
        </p:nvSpPr>
        <p:spPr>
          <a:xfrm>
            <a:off x="667512" y="1261872"/>
            <a:ext cx="2134667" cy="4471416"/>
          </a:xfrm>
          <a:prstGeom prst="roundRect">
            <a:avLst>
              <a:gd name="adj" fmla="val 7710"/>
            </a:avLst>
          </a:prstGeom>
          <a:solidFill>
            <a:schemeClr val="accent6"/>
          </a:solidFill>
          <a:ln/>
          <a:effectLst>
            <a:outerShdw sx="100000" sy="100000" kx="0" ky="0" algn="bl" rotWithShape="0" blurRad="101600" dist="38100" dir="5400000">
              <a:srgbClr val="3D2E31">
                <a:alpha val="30000"/>
              </a:srgbClr>
            </a:outerShdw>
          </a:effectLst>
        </p:spPr>
      </p:sp>
      <p:pic>
        <p:nvPicPr>
          <p:cNvPr id="4" name="Image 0" descr="C:\Users\HP\Documents\MH-app-1.5.3\mobile\mobile\build\screenshots\02_category.png">    </p:cNvPr>
          <p:cNvPicPr>
            <a:picLocks noChangeAspect="1"/>
          </p:cNvPicPr>
          <p:nvPr/>
        </p:nvPicPr>
        <p:blipFill>
          <a:blip r:embed="rId1"/>
          <a:stretch>
            <a:fillRect/>
          </a:stretch>
        </p:blipFill>
        <p:spPr>
          <a:xfrm>
            <a:off x="731520" y="1325880"/>
            <a:ext cx="2006651" cy="4343400"/>
          </a:xfrm>
          <a:prstGeom prst="rect">
            <a:avLst/>
          </a:prstGeom>
        </p:spPr>
      </p:pic>
      <p:sp>
        <p:nvSpPr>
          <p:cNvPr id="5" name="Text 2"/>
          <p:cNvSpPr txBox="1"/>
          <p:nvPr/>
        </p:nvSpPr>
        <p:spPr>
          <a:xfrm>
            <a:off x="548640" y="5779008"/>
            <a:ext cx="2372411"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Category page</a:t>
            </a:r>
            <a:endParaRPr lang="en-US" sz="1100" dirty="0"/>
          </a:p>
        </p:txBody>
      </p:sp>
      <p:sp>
        <p:nvSpPr>
          <p:cNvPr id="6" name="Shape 3"/>
          <p:cNvSpPr/>
          <p:nvPr/>
        </p:nvSpPr>
        <p:spPr>
          <a:xfrm>
            <a:off x="3383280" y="1371600"/>
            <a:ext cx="603504" cy="603504"/>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3528121" y="1516441"/>
            <a:ext cx="313822" cy="313822"/>
          </a:xfrm>
          <a:prstGeom prst="rect">
            <a:avLst/>
          </a:prstGeom>
        </p:spPr>
      </p:pic>
      <p:sp>
        <p:nvSpPr>
          <p:cNvPr id="8" name="Text 4"/>
          <p:cNvSpPr txBox="1"/>
          <p:nvPr/>
        </p:nvSpPr>
        <p:spPr>
          <a:xfrm>
            <a:off x="4133088" y="1389888"/>
            <a:ext cx="3291840" cy="603504"/>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Tiered categories and the category of the day</a:t>
            </a:r>
            <a:endParaRPr lang="en-US" sz="1500" dirty="0"/>
          </a:p>
        </p:txBody>
      </p:sp>
      <p:sp>
        <p:nvSpPr>
          <p:cNvPr id="9" name="Shape 5"/>
          <p:cNvSpPr/>
          <p:nvPr/>
        </p:nvSpPr>
        <p:spPr>
          <a:xfrm>
            <a:off x="7589520" y="1371600"/>
            <a:ext cx="603504" cy="603504"/>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7734361" y="1516441"/>
            <a:ext cx="313822" cy="313822"/>
          </a:xfrm>
          <a:prstGeom prst="rect">
            <a:avLst/>
          </a:prstGeom>
        </p:spPr>
      </p:pic>
      <p:sp>
        <p:nvSpPr>
          <p:cNvPr id="11" name="Text 6"/>
          <p:cNvSpPr txBox="1"/>
          <p:nvPr/>
        </p:nvSpPr>
        <p:spPr>
          <a:xfrm>
            <a:off x="8339328" y="1389888"/>
            <a:ext cx="3291840" cy="603504"/>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Search, recent and popular Mezmurs</a:t>
            </a:r>
            <a:endParaRPr lang="en-US" sz="1500" dirty="0"/>
          </a:p>
        </p:txBody>
      </p:sp>
      <p:sp>
        <p:nvSpPr>
          <p:cNvPr id="12" name="Shape 7"/>
          <p:cNvSpPr/>
          <p:nvPr/>
        </p:nvSpPr>
        <p:spPr>
          <a:xfrm>
            <a:off x="3383280" y="2468880"/>
            <a:ext cx="603504" cy="603504"/>
          </a:xfrm>
          <a:prstGeom prst="ellipse">
            <a:avLst/>
          </a:prstGeom>
          <a:solidFill>
            <a:schemeClr val="accent1"/>
          </a:solidFill>
          <a:ln/>
        </p:spPr>
      </p:sp>
      <p:pic>
        <p:nvPicPr>
          <p:cNvPr id="13" name="Image 3" descr="preencoded.png">    </p:cNvPr>
          <p:cNvPicPr>
            <a:picLocks noChangeAspect="1"/>
          </p:cNvPicPr>
          <p:nvPr/>
        </p:nvPicPr>
        <p:blipFill>
          <a:blip r:embed="rId4"/>
          <a:stretch>
            <a:fillRect/>
          </a:stretch>
        </p:blipFill>
        <p:spPr>
          <a:xfrm>
            <a:off x="3528121" y="2613721"/>
            <a:ext cx="313822" cy="313822"/>
          </a:xfrm>
          <a:prstGeom prst="rect">
            <a:avLst/>
          </a:prstGeom>
        </p:spPr>
      </p:pic>
      <p:sp>
        <p:nvSpPr>
          <p:cNvPr id="14" name="Text 8"/>
          <p:cNvSpPr txBox="1"/>
          <p:nvPr/>
        </p:nvSpPr>
        <p:spPr>
          <a:xfrm>
            <a:off x="4133088" y="2487168"/>
            <a:ext cx="3291840" cy="603504"/>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Lyrics with adjustable font size</a:t>
            </a:r>
            <a:endParaRPr lang="en-US" sz="1500" dirty="0"/>
          </a:p>
        </p:txBody>
      </p:sp>
      <p:sp>
        <p:nvSpPr>
          <p:cNvPr id="15" name="Shape 9"/>
          <p:cNvSpPr/>
          <p:nvPr/>
        </p:nvSpPr>
        <p:spPr>
          <a:xfrm>
            <a:off x="7589520" y="2468880"/>
            <a:ext cx="603504" cy="603504"/>
          </a:xfrm>
          <a:prstGeom prst="ellipse">
            <a:avLst/>
          </a:prstGeom>
          <a:solidFill>
            <a:schemeClr val="accent1"/>
          </a:solidFill>
          <a:ln/>
        </p:spPr>
      </p:sp>
      <p:pic>
        <p:nvPicPr>
          <p:cNvPr id="16" name="Image 4" descr="preencoded.png">    </p:cNvPr>
          <p:cNvPicPr>
            <a:picLocks noChangeAspect="1"/>
          </p:cNvPicPr>
          <p:nvPr/>
        </p:nvPicPr>
        <p:blipFill>
          <a:blip r:embed="rId5"/>
          <a:stretch>
            <a:fillRect/>
          </a:stretch>
        </p:blipFill>
        <p:spPr>
          <a:xfrm>
            <a:off x="7734361" y="2613721"/>
            <a:ext cx="313822" cy="313822"/>
          </a:xfrm>
          <a:prstGeom prst="rect">
            <a:avLst/>
          </a:prstGeom>
        </p:spPr>
      </p:pic>
      <p:sp>
        <p:nvSpPr>
          <p:cNvPr id="17" name="Text 10"/>
          <p:cNvSpPr txBox="1"/>
          <p:nvPr/>
        </p:nvSpPr>
        <p:spPr>
          <a:xfrm>
            <a:off x="8339328" y="2487168"/>
            <a:ext cx="3291840" cy="603504"/>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Lyrics that follow the audio (LRC)</a:t>
            </a:r>
            <a:endParaRPr lang="en-US" sz="1500" dirty="0"/>
          </a:p>
        </p:txBody>
      </p:sp>
      <p:sp>
        <p:nvSpPr>
          <p:cNvPr id="18" name="Shape 11"/>
          <p:cNvSpPr/>
          <p:nvPr/>
        </p:nvSpPr>
        <p:spPr>
          <a:xfrm>
            <a:off x="3383280" y="3566160"/>
            <a:ext cx="603504" cy="603504"/>
          </a:xfrm>
          <a:prstGeom prst="ellipse">
            <a:avLst/>
          </a:prstGeom>
          <a:solidFill>
            <a:schemeClr val="accent1"/>
          </a:solidFill>
          <a:ln/>
        </p:spPr>
      </p:sp>
      <p:pic>
        <p:nvPicPr>
          <p:cNvPr id="19" name="Image 5" descr="preencoded.png">    </p:cNvPr>
          <p:cNvPicPr>
            <a:picLocks noChangeAspect="1"/>
          </p:cNvPicPr>
          <p:nvPr/>
        </p:nvPicPr>
        <p:blipFill>
          <a:blip r:embed="rId6"/>
          <a:stretch>
            <a:fillRect/>
          </a:stretch>
        </p:blipFill>
        <p:spPr>
          <a:xfrm>
            <a:off x="3528121" y="3711001"/>
            <a:ext cx="313822" cy="313822"/>
          </a:xfrm>
          <a:prstGeom prst="rect">
            <a:avLst/>
          </a:prstGeom>
        </p:spPr>
      </p:pic>
      <p:sp>
        <p:nvSpPr>
          <p:cNvPr id="20" name="Text 12"/>
          <p:cNvSpPr txBox="1"/>
          <p:nvPr/>
        </p:nvSpPr>
        <p:spPr>
          <a:xfrm>
            <a:off x="4133088" y="3584448"/>
            <a:ext cx="3291840" cy="603504"/>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Favorites and downloads for offline use</a:t>
            </a:r>
            <a:endParaRPr lang="en-US" sz="1500" dirty="0"/>
          </a:p>
        </p:txBody>
      </p:sp>
      <p:sp>
        <p:nvSpPr>
          <p:cNvPr id="21" name="Shape 13"/>
          <p:cNvSpPr/>
          <p:nvPr/>
        </p:nvSpPr>
        <p:spPr>
          <a:xfrm>
            <a:off x="7589520" y="3566160"/>
            <a:ext cx="603504" cy="603504"/>
          </a:xfrm>
          <a:prstGeom prst="ellipse">
            <a:avLst/>
          </a:prstGeom>
          <a:solidFill>
            <a:schemeClr val="accent1"/>
          </a:solidFill>
          <a:ln/>
        </p:spPr>
      </p:sp>
      <p:pic>
        <p:nvPicPr>
          <p:cNvPr id="22" name="Image 6" descr="preencoded.png">    </p:cNvPr>
          <p:cNvPicPr>
            <a:picLocks noChangeAspect="1"/>
          </p:cNvPicPr>
          <p:nvPr/>
        </p:nvPicPr>
        <p:blipFill>
          <a:blip r:embed="rId7"/>
          <a:stretch>
            <a:fillRect/>
          </a:stretch>
        </p:blipFill>
        <p:spPr>
          <a:xfrm>
            <a:off x="7734361" y="3711001"/>
            <a:ext cx="313822" cy="313822"/>
          </a:xfrm>
          <a:prstGeom prst="rect">
            <a:avLst/>
          </a:prstGeom>
        </p:spPr>
      </p:pic>
      <p:sp>
        <p:nvSpPr>
          <p:cNvPr id="23" name="Text 14"/>
          <p:cNvSpPr txBox="1"/>
          <p:nvPr/>
        </p:nvSpPr>
        <p:spPr>
          <a:xfrm>
            <a:off x="8339328" y="3584448"/>
            <a:ext cx="3291840" cy="603504"/>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YouTube links and sharing</a:t>
            </a:r>
            <a:endParaRPr lang="en-US" sz="1500" dirty="0"/>
          </a:p>
        </p:txBody>
      </p:sp>
      <p:sp>
        <p:nvSpPr>
          <p:cNvPr id="24" name="Shape 15"/>
          <p:cNvSpPr/>
          <p:nvPr/>
        </p:nvSpPr>
        <p:spPr>
          <a:xfrm>
            <a:off x="3383280" y="4800600"/>
            <a:ext cx="8275320" cy="1325880"/>
          </a:xfrm>
          <a:prstGeom prst="roundRect">
            <a:avLst>
              <a:gd name="adj" fmla="val 8276"/>
            </a:avLst>
          </a:prstGeom>
          <a:solidFill>
            <a:schemeClr val="accent2">
              <a:alpha val="22000"/>
            </a:schemeClr>
          </a:solidFill>
          <a:ln/>
        </p:spPr>
      </p:sp>
      <p:sp>
        <p:nvSpPr>
          <p:cNvPr id="25" name="Text 16"/>
          <p:cNvSpPr txBox="1"/>
          <p:nvPr/>
        </p:nvSpPr>
        <p:spPr>
          <a:xfrm>
            <a:off x="3611880" y="4919472"/>
            <a:ext cx="786384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For administrators</a:t>
            </a:r>
            <a:endParaRPr lang="en-US" sz="1500" dirty="0"/>
          </a:p>
        </p:txBody>
      </p:sp>
      <p:sp>
        <p:nvSpPr>
          <p:cNvPr id="26" name="Text 17"/>
          <p:cNvSpPr txBox="1"/>
          <p:nvPr/>
        </p:nvSpPr>
        <p:spPr>
          <a:xfrm>
            <a:off x="3611880" y="5303520"/>
            <a:ext cx="7863840" cy="731520"/>
          </a:xfrm>
          <a:prstGeom prst="rect">
            <a:avLst/>
          </a:prstGeom>
          <a:noFill/>
          <a:ln/>
        </p:spPr>
        <p:txBody>
          <a:bodyPr wrap="square" lIns="0" tIns="0" rIns="0" bIns="0" rtlCol="0" anchor="t"/>
          <a:lstStyle/>
          <a:p>
            <a:pPr indent="0" marL="0">
              <a:buNone/>
            </a:pPr>
            <a:r>
              <a:rPr lang="en-US" sz="1350" dirty="0">
                <a:solidFill>
                  <a:schemeClr val="tx1"/>
                </a:solidFill>
                <a:latin typeface="Ebrima" pitchFamily="34" charset="0"/>
                <a:ea typeface="Ebrima" pitchFamily="34" charset="-122"/>
                <a:cs typeface="Ebrima" pitchFamily="34" charset="-120"/>
              </a:rPr>
              <a:t>Add and publish Mezmurs, upload audio and cover images, lyric timing editor (LRC maker), bulk category assignment and bulk import from Excel</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Audio Player and Controls</a:t>
            </a:r>
            <a:endParaRPr lang="en-US" sz="3400" dirty="0"/>
          </a:p>
        </p:txBody>
      </p:sp>
      <p:sp>
        <p:nvSpPr>
          <p:cNvPr id="3" name="Shape 1"/>
          <p:cNvSpPr/>
          <p:nvPr/>
        </p:nvSpPr>
        <p:spPr>
          <a:xfrm>
            <a:off x="548640" y="1417320"/>
            <a:ext cx="2624328" cy="2148840"/>
          </a:xfrm>
          <a:prstGeom prst="roundRect">
            <a:avLst>
              <a:gd name="adj" fmla="val 5106"/>
            </a:avLst>
          </a:prstGeom>
          <a:solidFill>
            <a:schemeClr val="bg2">
              <a:alpha val="40000"/>
            </a:schemeClr>
          </a:solidFill>
          <a:ln/>
        </p:spPr>
      </p:sp>
      <p:sp>
        <p:nvSpPr>
          <p:cNvPr id="4" name="Shape 2"/>
          <p:cNvSpPr/>
          <p:nvPr/>
        </p:nvSpPr>
        <p:spPr>
          <a:xfrm>
            <a:off x="1481328" y="1645920"/>
            <a:ext cx="749808" cy="74980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661282" y="1825874"/>
            <a:ext cx="389900" cy="389900"/>
          </a:xfrm>
          <a:prstGeom prst="rect">
            <a:avLst/>
          </a:prstGeom>
        </p:spPr>
      </p:pic>
      <p:sp>
        <p:nvSpPr>
          <p:cNvPr id="6" name="Text 3"/>
          <p:cNvSpPr txBox="1"/>
          <p:nvPr/>
        </p:nvSpPr>
        <p:spPr>
          <a:xfrm>
            <a:off x="685800" y="253288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Background playback</a:t>
            </a:r>
            <a:endParaRPr lang="en-US" sz="1500" dirty="0"/>
          </a:p>
        </p:txBody>
      </p:sp>
      <p:sp>
        <p:nvSpPr>
          <p:cNvPr id="7" name="Text 4"/>
          <p:cNvSpPr txBox="1"/>
          <p:nvPr/>
        </p:nvSpPr>
        <p:spPr>
          <a:xfrm>
            <a:off x="685800" y="295351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Keeps playing while other apps are open</a:t>
            </a:r>
            <a:endParaRPr lang="en-US" sz="1250" dirty="0"/>
          </a:p>
        </p:txBody>
      </p:sp>
      <p:sp>
        <p:nvSpPr>
          <p:cNvPr id="8" name="Shape 5"/>
          <p:cNvSpPr/>
          <p:nvPr/>
        </p:nvSpPr>
        <p:spPr>
          <a:xfrm>
            <a:off x="3355848" y="1417320"/>
            <a:ext cx="2624328" cy="2148840"/>
          </a:xfrm>
          <a:prstGeom prst="roundRect">
            <a:avLst>
              <a:gd name="adj" fmla="val 5106"/>
            </a:avLst>
          </a:prstGeom>
          <a:solidFill>
            <a:schemeClr val="bg2">
              <a:alpha val="40000"/>
            </a:schemeClr>
          </a:solidFill>
          <a:ln/>
        </p:spPr>
      </p:sp>
      <p:sp>
        <p:nvSpPr>
          <p:cNvPr id="9" name="Shape 6"/>
          <p:cNvSpPr/>
          <p:nvPr/>
        </p:nvSpPr>
        <p:spPr>
          <a:xfrm>
            <a:off x="4288536" y="1645920"/>
            <a:ext cx="749808" cy="749808"/>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468490" y="1825874"/>
            <a:ext cx="389900" cy="389900"/>
          </a:xfrm>
          <a:prstGeom prst="rect">
            <a:avLst/>
          </a:prstGeom>
        </p:spPr>
      </p:pic>
      <p:sp>
        <p:nvSpPr>
          <p:cNvPr id="11" name="Text 7"/>
          <p:cNvSpPr txBox="1"/>
          <p:nvPr/>
        </p:nvSpPr>
        <p:spPr>
          <a:xfrm>
            <a:off x="3493008" y="253288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Lock-screen controls</a:t>
            </a:r>
            <a:endParaRPr lang="en-US" sz="1500" dirty="0"/>
          </a:p>
        </p:txBody>
      </p:sp>
      <p:sp>
        <p:nvSpPr>
          <p:cNvPr id="12" name="Text 8"/>
          <p:cNvSpPr txBox="1"/>
          <p:nvPr/>
        </p:nvSpPr>
        <p:spPr>
          <a:xfrm>
            <a:off x="3493008" y="295351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Control playback with the phone locked</a:t>
            </a:r>
            <a:endParaRPr lang="en-US" sz="1250" dirty="0"/>
          </a:p>
        </p:txBody>
      </p:sp>
      <p:sp>
        <p:nvSpPr>
          <p:cNvPr id="13" name="Shape 9"/>
          <p:cNvSpPr/>
          <p:nvPr/>
        </p:nvSpPr>
        <p:spPr>
          <a:xfrm>
            <a:off x="6163056" y="1417320"/>
            <a:ext cx="2624328" cy="2148840"/>
          </a:xfrm>
          <a:prstGeom prst="roundRect">
            <a:avLst>
              <a:gd name="adj" fmla="val 5106"/>
            </a:avLst>
          </a:prstGeom>
          <a:solidFill>
            <a:schemeClr val="bg2">
              <a:alpha val="40000"/>
            </a:schemeClr>
          </a:solidFill>
          <a:ln/>
        </p:spPr>
      </p:sp>
      <p:sp>
        <p:nvSpPr>
          <p:cNvPr id="14" name="Shape 10"/>
          <p:cNvSpPr/>
          <p:nvPr/>
        </p:nvSpPr>
        <p:spPr>
          <a:xfrm>
            <a:off x="7095744" y="1645920"/>
            <a:ext cx="749808" cy="749808"/>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7275698" y="1825874"/>
            <a:ext cx="389900" cy="389900"/>
          </a:xfrm>
          <a:prstGeom prst="rect">
            <a:avLst/>
          </a:prstGeom>
        </p:spPr>
      </p:pic>
      <p:sp>
        <p:nvSpPr>
          <p:cNvPr id="16" name="Text 11"/>
          <p:cNvSpPr txBox="1"/>
          <p:nvPr/>
        </p:nvSpPr>
        <p:spPr>
          <a:xfrm>
            <a:off x="6300216" y="253288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Mezmur queue</a:t>
            </a:r>
            <a:endParaRPr lang="en-US" sz="1500" dirty="0"/>
          </a:p>
        </p:txBody>
      </p:sp>
      <p:sp>
        <p:nvSpPr>
          <p:cNvPr id="17" name="Text 12"/>
          <p:cNvSpPr txBox="1"/>
          <p:nvPr/>
        </p:nvSpPr>
        <p:spPr>
          <a:xfrm>
            <a:off x="6300216" y="295351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Line up the next Mezmurs</a:t>
            </a:r>
            <a:endParaRPr lang="en-US" sz="1250" dirty="0"/>
          </a:p>
        </p:txBody>
      </p:sp>
      <p:sp>
        <p:nvSpPr>
          <p:cNvPr id="18" name="Shape 13"/>
          <p:cNvSpPr/>
          <p:nvPr/>
        </p:nvSpPr>
        <p:spPr>
          <a:xfrm>
            <a:off x="8970264" y="1417320"/>
            <a:ext cx="2624328" cy="2148840"/>
          </a:xfrm>
          <a:prstGeom prst="roundRect">
            <a:avLst>
              <a:gd name="adj" fmla="val 5106"/>
            </a:avLst>
          </a:prstGeom>
          <a:solidFill>
            <a:schemeClr val="bg2">
              <a:alpha val="40000"/>
            </a:schemeClr>
          </a:solidFill>
          <a:ln/>
        </p:spPr>
      </p:sp>
      <p:sp>
        <p:nvSpPr>
          <p:cNvPr id="19" name="Shape 14"/>
          <p:cNvSpPr/>
          <p:nvPr/>
        </p:nvSpPr>
        <p:spPr>
          <a:xfrm>
            <a:off x="9902952" y="1645920"/>
            <a:ext cx="749808" cy="749808"/>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10082906" y="1825874"/>
            <a:ext cx="389900" cy="389900"/>
          </a:xfrm>
          <a:prstGeom prst="rect">
            <a:avLst/>
          </a:prstGeom>
        </p:spPr>
      </p:pic>
      <p:sp>
        <p:nvSpPr>
          <p:cNvPr id="21" name="Text 15"/>
          <p:cNvSpPr txBox="1"/>
          <p:nvPr/>
        </p:nvSpPr>
        <p:spPr>
          <a:xfrm>
            <a:off x="9107424" y="253288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Shuffle</a:t>
            </a:r>
            <a:endParaRPr lang="en-US" sz="1500" dirty="0"/>
          </a:p>
        </p:txBody>
      </p:sp>
      <p:sp>
        <p:nvSpPr>
          <p:cNvPr id="22" name="Text 16"/>
          <p:cNvSpPr txBox="1"/>
          <p:nvPr/>
        </p:nvSpPr>
        <p:spPr>
          <a:xfrm>
            <a:off x="9107424" y="295351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Mix up the queue</a:t>
            </a:r>
            <a:endParaRPr lang="en-US" sz="1250" dirty="0"/>
          </a:p>
        </p:txBody>
      </p:sp>
      <p:sp>
        <p:nvSpPr>
          <p:cNvPr id="23" name="Shape 17"/>
          <p:cNvSpPr/>
          <p:nvPr/>
        </p:nvSpPr>
        <p:spPr>
          <a:xfrm>
            <a:off x="548640" y="3794760"/>
            <a:ext cx="2624328" cy="2148840"/>
          </a:xfrm>
          <a:prstGeom prst="roundRect">
            <a:avLst>
              <a:gd name="adj" fmla="val 5106"/>
            </a:avLst>
          </a:prstGeom>
          <a:solidFill>
            <a:schemeClr val="bg2">
              <a:alpha val="55000"/>
            </a:schemeClr>
          </a:solidFill>
          <a:ln/>
        </p:spPr>
      </p:sp>
      <p:sp>
        <p:nvSpPr>
          <p:cNvPr id="24" name="Shape 18"/>
          <p:cNvSpPr/>
          <p:nvPr/>
        </p:nvSpPr>
        <p:spPr>
          <a:xfrm>
            <a:off x="1481328" y="4023360"/>
            <a:ext cx="749808" cy="749808"/>
          </a:xfrm>
          <a:prstGeom prst="ellipse">
            <a:avLst/>
          </a:prstGeom>
          <a:solidFill>
            <a:schemeClr val="accent2"/>
          </a:solidFill>
          <a:ln/>
        </p:spPr>
      </p:sp>
      <p:pic>
        <p:nvPicPr>
          <p:cNvPr id="25" name="Image 4" descr="preencoded.png">    </p:cNvPr>
          <p:cNvPicPr>
            <a:picLocks noChangeAspect="1"/>
          </p:cNvPicPr>
          <p:nvPr/>
        </p:nvPicPr>
        <p:blipFill>
          <a:blip r:embed="rId5"/>
          <a:stretch>
            <a:fillRect/>
          </a:stretch>
        </p:blipFill>
        <p:spPr>
          <a:xfrm>
            <a:off x="1661282" y="4203314"/>
            <a:ext cx="389900" cy="389900"/>
          </a:xfrm>
          <a:prstGeom prst="rect">
            <a:avLst/>
          </a:prstGeom>
        </p:spPr>
      </p:pic>
      <p:sp>
        <p:nvSpPr>
          <p:cNvPr id="26" name="Text 19"/>
          <p:cNvSpPr txBox="1"/>
          <p:nvPr/>
        </p:nvSpPr>
        <p:spPr>
          <a:xfrm>
            <a:off x="685800" y="491032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Repeat</a:t>
            </a:r>
            <a:endParaRPr lang="en-US" sz="1500" dirty="0"/>
          </a:p>
        </p:txBody>
      </p:sp>
      <p:sp>
        <p:nvSpPr>
          <p:cNvPr id="27" name="Text 20"/>
          <p:cNvSpPr txBox="1"/>
          <p:nvPr/>
        </p:nvSpPr>
        <p:spPr>
          <a:xfrm>
            <a:off x="685800" y="533095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One Mezmur or all</a:t>
            </a:r>
            <a:endParaRPr lang="en-US" sz="1250" dirty="0"/>
          </a:p>
        </p:txBody>
      </p:sp>
      <p:sp>
        <p:nvSpPr>
          <p:cNvPr id="28" name="Shape 21"/>
          <p:cNvSpPr/>
          <p:nvPr/>
        </p:nvSpPr>
        <p:spPr>
          <a:xfrm>
            <a:off x="3355848" y="3794760"/>
            <a:ext cx="2624328" cy="2148840"/>
          </a:xfrm>
          <a:prstGeom prst="roundRect">
            <a:avLst>
              <a:gd name="adj" fmla="val 5106"/>
            </a:avLst>
          </a:prstGeom>
          <a:solidFill>
            <a:schemeClr val="bg2">
              <a:alpha val="55000"/>
            </a:schemeClr>
          </a:solidFill>
          <a:ln/>
        </p:spPr>
      </p:sp>
      <p:sp>
        <p:nvSpPr>
          <p:cNvPr id="29" name="Shape 22"/>
          <p:cNvSpPr/>
          <p:nvPr/>
        </p:nvSpPr>
        <p:spPr>
          <a:xfrm>
            <a:off x="4288536" y="4023360"/>
            <a:ext cx="749808" cy="749808"/>
          </a:xfrm>
          <a:prstGeom prst="ellipse">
            <a:avLst/>
          </a:prstGeom>
          <a:solidFill>
            <a:schemeClr val="accent2"/>
          </a:solidFill>
          <a:ln/>
        </p:spPr>
      </p:sp>
      <p:pic>
        <p:nvPicPr>
          <p:cNvPr id="30" name="Image 5" descr="preencoded.png">    </p:cNvPr>
          <p:cNvPicPr>
            <a:picLocks noChangeAspect="1"/>
          </p:cNvPicPr>
          <p:nvPr/>
        </p:nvPicPr>
        <p:blipFill>
          <a:blip r:embed="rId6"/>
          <a:stretch>
            <a:fillRect/>
          </a:stretch>
        </p:blipFill>
        <p:spPr>
          <a:xfrm>
            <a:off x="4468490" y="4203314"/>
            <a:ext cx="389900" cy="389900"/>
          </a:xfrm>
          <a:prstGeom prst="rect">
            <a:avLst/>
          </a:prstGeom>
        </p:spPr>
      </p:pic>
      <p:sp>
        <p:nvSpPr>
          <p:cNvPr id="31" name="Text 23"/>
          <p:cNvSpPr txBox="1"/>
          <p:nvPr/>
        </p:nvSpPr>
        <p:spPr>
          <a:xfrm>
            <a:off x="3493008" y="491032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Playback speed</a:t>
            </a:r>
            <a:endParaRPr lang="en-US" sz="1500" dirty="0"/>
          </a:p>
        </p:txBody>
      </p:sp>
      <p:sp>
        <p:nvSpPr>
          <p:cNvPr id="32" name="Text 24"/>
          <p:cNvSpPr txBox="1"/>
          <p:nvPr/>
        </p:nvSpPr>
        <p:spPr>
          <a:xfrm>
            <a:off x="3493008" y="533095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Listen slowly for practice</a:t>
            </a:r>
            <a:endParaRPr lang="en-US" sz="1250" dirty="0"/>
          </a:p>
        </p:txBody>
      </p:sp>
      <p:sp>
        <p:nvSpPr>
          <p:cNvPr id="33" name="Shape 25"/>
          <p:cNvSpPr/>
          <p:nvPr/>
        </p:nvSpPr>
        <p:spPr>
          <a:xfrm>
            <a:off x="6163056" y="3794760"/>
            <a:ext cx="2624328" cy="2148840"/>
          </a:xfrm>
          <a:prstGeom prst="roundRect">
            <a:avLst>
              <a:gd name="adj" fmla="val 5106"/>
            </a:avLst>
          </a:prstGeom>
          <a:solidFill>
            <a:schemeClr val="bg2">
              <a:alpha val="55000"/>
            </a:schemeClr>
          </a:solidFill>
          <a:ln/>
        </p:spPr>
      </p:sp>
      <p:sp>
        <p:nvSpPr>
          <p:cNvPr id="34" name="Shape 26"/>
          <p:cNvSpPr/>
          <p:nvPr/>
        </p:nvSpPr>
        <p:spPr>
          <a:xfrm>
            <a:off x="7095744" y="4023360"/>
            <a:ext cx="749808" cy="749808"/>
          </a:xfrm>
          <a:prstGeom prst="ellipse">
            <a:avLst/>
          </a:prstGeom>
          <a:solidFill>
            <a:schemeClr val="accent2"/>
          </a:solidFill>
          <a:ln/>
        </p:spPr>
      </p:sp>
      <p:pic>
        <p:nvPicPr>
          <p:cNvPr id="35" name="Image 6" descr="preencoded.png">    </p:cNvPr>
          <p:cNvPicPr>
            <a:picLocks noChangeAspect="1"/>
          </p:cNvPicPr>
          <p:nvPr/>
        </p:nvPicPr>
        <p:blipFill>
          <a:blip r:embed="rId7"/>
          <a:stretch>
            <a:fillRect/>
          </a:stretch>
        </p:blipFill>
        <p:spPr>
          <a:xfrm>
            <a:off x="7275698" y="4203314"/>
            <a:ext cx="389900" cy="389900"/>
          </a:xfrm>
          <a:prstGeom prst="rect">
            <a:avLst/>
          </a:prstGeom>
        </p:spPr>
      </p:pic>
      <p:sp>
        <p:nvSpPr>
          <p:cNvPr id="36" name="Text 27"/>
          <p:cNvSpPr txBox="1"/>
          <p:nvPr/>
        </p:nvSpPr>
        <p:spPr>
          <a:xfrm>
            <a:off x="6300216" y="491032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Sleep timer</a:t>
            </a:r>
            <a:endParaRPr lang="en-US" sz="1500" dirty="0"/>
          </a:p>
        </p:txBody>
      </p:sp>
      <p:sp>
        <p:nvSpPr>
          <p:cNvPr id="37" name="Text 28"/>
          <p:cNvSpPr txBox="1"/>
          <p:nvPr/>
        </p:nvSpPr>
        <p:spPr>
          <a:xfrm>
            <a:off x="6300216" y="533095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At a set time or when the Mezmur ends</a:t>
            </a:r>
            <a:endParaRPr lang="en-US" sz="1250" dirty="0"/>
          </a:p>
        </p:txBody>
      </p:sp>
      <p:sp>
        <p:nvSpPr>
          <p:cNvPr id="38" name="Shape 29"/>
          <p:cNvSpPr/>
          <p:nvPr/>
        </p:nvSpPr>
        <p:spPr>
          <a:xfrm>
            <a:off x="8970264" y="3794760"/>
            <a:ext cx="2624328" cy="2148840"/>
          </a:xfrm>
          <a:prstGeom prst="roundRect">
            <a:avLst>
              <a:gd name="adj" fmla="val 5106"/>
            </a:avLst>
          </a:prstGeom>
          <a:solidFill>
            <a:schemeClr val="bg2">
              <a:alpha val="55000"/>
            </a:schemeClr>
          </a:solidFill>
          <a:ln/>
        </p:spPr>
      </p:sp>
      <p:sp>
        <p:nvSpPr>
          <p:cNvPr id="39" name="Shape 30"/>
          <p:cNvSpPr/>
          <p:nvPr/>
        </p:nvSpPr>
        <p:spPr>
          <a:xfrm>
            <a:off x="9902952" y="4023360"/>
            <a:ext cx="749808" cy="749808"/>
          </a:xfrm>
          <a:prstGeom prst="ellipse">
            <a:avLst/>
          </a:prstGeom>
          <a:solidFill>
            <a:schemeClr val="accent2"/>
          </a:solidFill>
          <a:ln/>
        </p:spPr>
      </p:sp>
      <p:pic>
        <p:nvPicPr>
          <p:cNvPr id="40" name="Image 7" descr="preencoded.png">    </p:cNvPr>
          <p:cNvPicPr>
            <a:picLocks noChangeAspect="1"/>
          </p:cNvPicPr>
          <p:nvPr/>
        </p:nvPicPr>
        <p:blipFill>
          <a:blip r:embed="rId8"/>
          <a:stretch>
            <a:fillRect/>
          </a:stretch>
        </p:blipFill>
        <p:spPr>
          <a:xfrm>
            <a:off x="10082906" y="4203314"/>
            <a:ext cx="389900" cy="389900"/>
          </a:xfrm>
          <a:prstGeom prst="rect">
            <a:avLst/>
          </a:prstGeom>
        </p:spPr>
      </p:pic>
      <p:sp>
        <p:nvSpPr>
          <p:cNvPr id="41" name="Text 31"/>
          <p:cNvSpPr txBox="1"/>
          <p:nvPr/>
        </p:nvSpPr>
        <p:spPr>
          <a:xfrm>
            <a:off x="9107424" y="4910328"/>
            <a:ext cx="2350008"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Mini player</a:t>
            </a:r>
            <a:endParaRPr lang="en-US" sz="1500" dirty="0"/>
          </a:p>
        </p:txBody>
      </p:sp>
      <p:sp>
        <p:nvSpPr>
          <p:cNvPr id="42" name="Text 32"/>
          <p:cNvSpPr txBox="1"/>
          <p:nvPr/>
        </p:nvSpPr>
        <p:spPr>
          <a:xfrm>
            <a:off x="9107424" y="5330952"/>
            <a:ext cx="2350008" cy="54864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Visible on every screen</a:t>
            </a:r>
            <a:endParaRPr lang="en-US" sz="12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User Accounts, Profiles, Groups and Security</a:t>
            </a:r>
            <a:endParaRPr lang="en-US" sz="3400" dirty="0"/>
          </a:p>
        </p:txBody>
      </p:sp>
      <p:sp>
        <p:nvSpPr>
          <p:cNvPr id="3" name="Shape 1"/>
          <p:cNvSpPr/>
          <p:nvPr/>
        </p:nvSpPr>
        <p:spPr>
          <a:xfrm>
            <a:off x="548640" y="1325880"/>
            <a:ext cx="5486400" cy="4846320"/>
          </a:xfrm>
          <a:prstGeom prst="roundRect">
            <a:avLst>
              <a:gd name="adj" fmla="val 2264"/>
            </a:avLst>
          </a:prstGeom>
          <a:solidFill>
            <a:schemeClr val="bg2">
              <a:alpha val="55000"/>
            </a:schemeClr>
          </a:solidFill>
          <a:ln/>
        </p:spPr>
      </p:sp>
      <p:sp>
        <p:nvSpPr>
          <p:cNvPr id="4" name="Text 2"/>
          <p:cNvSpPr txBox="1"/>
          <p:nvPr/>
        </p:nvSpPr>
        <p:spPr>
          <a:xfrm>
            <a:off x="822960" y="1481328"/>
            <a:ext cx="4937760" cy="411480"/>
          </a:xfrm>
          <a:prstGeom prst="rect">
            <a:avLst/>
          </a:prstGeom>
          <a:noFill/>
          <a:ln/>
        </p:spPr>
        <p:txBody>
          <a:bodyPr wrap="square" lIns="0" tIns="0" rIns="0" bIns="0" rtlCol="0" anchor="t"/>
          <a:lstStyle/>
          <a:p>
            <a:pPr indent="0" marL="0">
              <a:buNone/>
            </a:pPr>
            <a:r>
              <a:rPr lang="en-US" sz="1800" b="1" dirty="0">
                <a:solidFill>
                  <a:schemeClr val="accent1"/>
                </a:solidFill>
                <a:latin typeface="Ebrima" pitchFamily="34" charset="0"/>
                <a:ea typeface="Ebrima" pitchFamily="34" charset="-122"/>
                <a:cs typeface="Ebrima" pitchFamily="34" charset="-120"/>
              </a:rPr>
              <a:t>Account and profile</a:t>
            </a:r>
            <a:endParaRPr lang="en-US" sz="1800" dirty="0"/>
          </a:p>
        </p:txBody>
      </p:sp>
      <p:sp>
        <p:nvSpPr>
          <p:cNvPr id="5" name="Text 3"/>
          <p:cNvSpPr txBox="1"/>
          <p:nvPr/>
        </p:nvSpPr>
        <p:spPr>
          <a:xfrm>
            <a:off x="822960" y="1965960"/>
            <a:ext cx="5029200" cy="26517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1"/>
                </a:solidFill>
                <a:latin typeface="Ebrima" pitchFamily="34" charset="0"/>
                <a:ea typeface="Ebrima" pitchFamily="34" charset="-122"/>
                <a:cs typeface="Ebrima" pitchFamily="34" charset="-120"/>
              </a:rPr>
              <a:t>Registration by phone number and PIN; member type and membership form</a:t>
            </a:r>
            <a:endParaRPr lang="en-US" sz="1450" dirty="0"/>
          </a:p>
          <a:p>
            <a:pPr marL="342900" indent="-342900">
              <a:spcAft>
                <a:spcPts val="600"/>
              </a:spcAft>
              <a:buSzPct val="100000"/>
              <a:buChar char="●"/>
            </a:pPr>
            <a:r>
              <a:rPr lang="en-US" sz="1450" dirty="0">
                <a:solidFill>
                  <a:schemeClr val="tx1"/>
                </a:solidFill>
                <a:latin typeface="Ebrima" pitchFamily="34" charset="0"/>
                <a:ea typeface="Ebrima" pitchFamily="34" charset="-122"/>
                <a:cs typeface="Ebrima" pitchFamily="34" charset="-120"/>
              </a:rPr>
              <a:t>Permanent member ID number and a digital ID card with QR (available offline)</a:t>
            </a:r>
            <a:endParaRPr lang="en-US" sz="1450" dirty="0"/>
          </a:p>
          <a:p>
            <a:pPr marL="342900" indent="-342900">
              <a:spcAft>
                <a:spcPts val="600"/>
              </a:spcAft>
              <a:buSzPct val="100000"/>
              <a:buChar char="●"/>
            </a:pPr>
            <a:r>
              <a:rPr lang="en-US" sz="1450" dirty="0">
                <a:solidFill>
                  <a:schemeClr val="tx1"/>
                </a:solidFill>
                <a:latin typeface="Ebrima" pitchFamily="34" charset="0"/>
                <a:ea typeface="Ebrima" pitchFamily="34" charset="-122"/>
                <a:cs typeface="Ebrima" pitchFamily="34" charset="-120"/>
              </a:rPr>
              <a:t>Profile changes are approved by an administrator; the change history is kept</a:t>
            </a:r>
            <a:endParaRPr lang="en-US" sz="1450" dirty="0"/>
          </a:p>
          <a:p>
            <a:pPr marL="342900" indent="-342900">
              <a:spcAft>
                <a:spcPts val="600"/>
              </a:spcAft>
              <a:buSzPct val="100000"/>
              <a:buChar char="●"/>
            </a:pPr>
            <a:r>
              <a:rPr lang="en-US" sz="1450" dirty="0">
                <a:solidFill>
                  <a:schemeClr val="tx1"/>
                </a:solidFill>
                <a:latin typeface="Ebrima" pitchFamily="34" charset="0"/>
                <a:ea typeface="Ebrima" pitchFamily="34" charset="-122"/>
                <a:cs typeface="Ebrima" pitchFamily="34" charset="-120"/>
              </a:rPr>
              <a:t>Administrators can register and manage members</a:t>
            </a:r>
            <a:endParaRPr lang="en-US" sz="1450" dirty="0"/>
          </a:p>
        </p:txBody>
      </p:sp>
      <p:sp>
        <p:nvSpPr>
          <p:cNvPr id="6" name="Text 4"/>
          <p:cNvSpPr txBox="1"/>
          <p:nvPr/>
        </p:nvSpPr>
        <p:spPr>
          <a:xfrm>
            <a:off x="822960" y="4709160"/>
            <a:ext cx="493776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Member types</a:t>
            </a:r>
            <a:endParaRPr lang="en-US" sz="1500" dirty="0"/>
          </a:p>
        </p:txBody>
      </p:sp>
      <p:sp>
        <p:nvSpPr>
          <p:cNvPr id="7" name="Shape 5"/>
          <p:cNvSpPr/>
          <p:nvPr/>
        </p:nvSpPr>
        <p:spPr>
          <a:xfrm>
            <a:off x="822960" y="5166360"/>
            <a:ext cx="914400" cy="438912"/>
          </a:xfrm>
          <a:prstGeom prst="roundRect">
            <a:avLst>
              <a:gd name="adj" fmla="val 41667"/>
            </a:avLst>
          </a:prstGeom>
          <a:solidFill>
            <a:schemeClr val="accent1"/>
          </a:solidFill>
          <a:ln/>
        </p:spPr>
      </p:sp>
      <p:sp>
        <p:nvSpPr>
          <p:cNvPr id="8" name="Text 6"/>
          <p:cNvSpPr txBox="1"/>
          <p:nvPr/>
        </p:nvSpPr>
        <p:spPr>
          <a:xfrm>
            <a:off x="822960" y="5166360"/>
            <a:ext cx="914400" cy="438912"/>
          </a:xfrm>
          <a:prstGeom prst="rect">
            <a:avLst/>
          </a:prstGeom>
          <a:noFill/>
          <a:ln/>
        </p:spPr>
        <p:txBody>
          <a:bodyPr wrap="square" lIns="0" tIns="0" rIns="0" bIns="0" rtlCol="0" anchor="ctr"/>
          <a:lstStyle/>
          <a:p>
            <a:pPr algn="ctr" indent="0" marL="0">
              <a:buNone/>
            </a:pPr>
            <a:r>
              <a:rPr lang="en-US" sz="1200" dirty="0">
                <a:solidFill>
                  <a:schemeClr val="bg1"/>
                </a:solidFill>
                <a:latin typeface="Ebrima" pitchFamily="34" charset="0"/>
                <a:ea typeface="Ebrima" pitchFamily="34" charset="-122"/>
                <a:cs typeface="Ebrima" pitchFamily="34" charset="-120"/>
              </a:rPr>
              <a:t>Children</a:t>
            </a:r>
            <a:endParaRPr lang="en-US" sz="1200" dirty="0"/>
          </a:p>
        </p:txBody>
      </p:sp>
      <p:sp>
        <p:nvSpPr>
          <p:cNvPr id="9" name="Shape 7"/>
          <p:cNvSpPr/>
          <p:nvPr/>
        </p:nvSpPr>
        <p:spPr>
          <a:xfrm>
            <a:off x="1828800" y="5166360"/>
            <a:ext cx="1828800" cy="438912"/>
          </a:xfrm>
          <a:prstGeom prst="roundRect">
            <a:avLst>
              <a:gd name="adj" fmla="val 41667"/>
            </a:avLst>
          </a:prstGeom>
          <a:solidFill>
            <a:schemeClr val="accent1"/>
          </a:solidFill>
          <a:ln/>
        </p:spPr>
      </p:sp>
      <p:sp>
        <p:nvSpPr>
          <p:cNvPr id="10" name="Text 8"/>
          <p:cNvSpPr txBox="1"/>
          <p:nvPr/>
        </p:nvSpPr>
        <p:spPr>
          <a:xfrm>
            <a:off x="1828800" y="5166360"/>
            <a:ext cx="1828800" cy="438912"/>
          </a:xfrm>
          <a:prstGeom prst="rect">
            <a:avLst/>
          </a:prstGeom>
          <a:noFill/>
          <a:ln/>
        </p:spPr>
        <p:txBody>
          <a:bodyPr wrap="square" lIns="0" tIns="0" rIns="0" bIns="0" rtlCol="0" anchor="ctr"/>
          <a:lstStyle/>
          <a:p>
            <a:pPr algn="ctr" indent="0" marL="0">
              <a:buNone/>
            </a:pPr>
            <a:r>
              <a:rPr lang="en-US" sz="1200" dirty="0">
                <a:solidFill>
                  <a:schemeClr val="bg1"/>
                </a:solidFill>
                <a:latin typeface="Ebrima" pitchFamily="34" charset="0"/>
                <a:ea typeface="Ebrima" pitchFamily="34" charset="-122"/>
                <a:cs typeface="Ebrima" pitchFamily="34" charset="-120"/>
              </a:rPr>
              <a:t>Youth &amp; Adults</a:t>
            </a:r>
            <a:endParaRPr lang="en-US" sz="1200" dirty="0"/>
          </a:p>
        </p:txBody>
      </p:sp>
      <p:sp>
        <p:nvSpPr>
          <p:cNvPr id="11" name="Shape 9"/>
          <p:cNvSpPr/>
          <p:nvPr/>
        </p:nvSpPr>
        <p:spPr>
          <a:xfrm>
            <a:off x="3749040" y="5166360"/>
            <a:ext cx="1143000" cy="438912"/>
          </a:xfrm>
          <a:prstGeom prst="roundRect">
            <a:avLst>
              <a:gd name="adj" fmla="val 41667"/>
            </a:avLst>
          </a:prstGeom>
          <a:solidFill>
            <a:schemeClr val="accent1"/>
          </a:solidFill>
          <a:ln/>
        </p:spPr>
      </p:sp>
      <p:sp>
        <p:nvSpPr>
          <p:cNvPr id="12" name="Text 10"/>
          <p:cNvSpPr txBox="1"/>
          <p:nvPr/>
        </p:nvSpPr>
        <p:spPr>
          <a:xfrm>
            <a:off x="3749040" y="5166360"/>
            <a:ext cx="1143000" cy="438912"/>
          </a:xfrm>
          <a:prstGeom prst="rect">
            <a:avLst/>
          </a:prstGeom>
          <a:noFill/>
          <a:ln/>
        </p:spPr>
        <p:txBody>
          <a:bodyPr wrap="square" lIns="0" tIns="0" rIns="0" bIns="0" rtlCol="0" anchor="ctr"/>
          <a:lstStyle/>
          <a:p>
            <a:pPr algn="ctr" indent="0" marL="0">
              <a:buNone/>
            </a:pPr>
            <a:r>
              <a:rPr lang="en-US" sz="1200" dirty="0">
                <a:solidFill>
                  <a:schemeClr val="bg1"/>
                </a:solidFill>
                <a:latin typeface="Ebrima" pitchFamily="34" charset="0"/>
                <a:ea typeface="Ebrima" pitchFamily="34" charset="-122"/>
                <a:cs typeface="Ebrima" pitchFamily="34" charset="-120"/>
              </a:rPr>
              <a:t>Married</a:t>
            </a:r>
            <a:endParaRPr lang="en-US" sz="1200" dirty="0"/>
          </a:p>
        </p:txBody>
      </p:sp>
      <p:sp>
        <p:nvSpPr>
          <p:cNvPr id="13" name="Shape 11"/>
          <p:cNvSpPr/>
          <p:nvPr/>
        </p:nvSpPr>
        <p:spPr>
          <a:xfrm>
            <a:off x="4983480" y="5166360"/>
            <a:ext cx="914400" cy="438912"/>
          </a:xfrm>
          <a:prstGeom prst="roundRect">
            <a:avLst>
              <a:gd name="adj" fmla="val 41667"/>
            </a:avLst>
          </a:prstGeom>
          <a:solidFill>
            <a:schemeClr val="accent1"/>
          </a:solidFill>
          <a:ln/>
        </p:spPr>
      </p:sp>
      <p:sp>
        <p:nvSpPr>
          <p:cNvPr id="14" name="Text 12"/>
          <p:cNvSpPr txBox="1"/>
          <p:nvPr/>
        </p:nvSpPr>
        <p:spPr>
          <a:xfrm>
            <a:off x="4983480" y="5166360"/>
            <a:ext cx="914400" cy="438912"/>
          </a:xfrm>
          <a:prstGeom prst="rect">
            <a:avLst/>
          </a:prstGeom>
          <a:noFill/>
          <a:ln/>
        </p:spPr>
        <p:txBody>
          <a:bodyPr wrap="square" lIns="0" tIns="0" rIns="0" bIns="0" rtlCol="0" anchor="ctr"/>
          <a:lstStyle/>
          <a:p>
            <a:pPr algn="ctr" indent="0" marL="0">
              <a:buNone/>
            </a:pPr>
            <a:r>
              <a:rPr lang="en-US" sz="1200" dirty="0">
                <a:solidFill>
                  <a:schemeClr val="bg1"/>
                </a:solidFill>
                <a:latin typeface="Ebrima" pitchFamily="34" charset="0"/>
                <a:ea typeface="Ebrima" pitchFamily="34" charset="-122"/>
                <a:cs typeface="Ebrima" pitchFamily="34" charset="-120"/>
              </a:rPr>
              <a:t>Distance</a:t>
            </a:r>
            <a:endParaRPr lang="en-US" sz="1200" dirty="0"/>
          </a:p>
        </p:txBody>
      </p:sp>
      <p:sp>
        <p:nvSpPr>
          <p:cNvPr id="15" name="Text 13"/>
          <p:cNvSpPr txBox="1"/>
          <p:nvPr/>
        </p:nvSpPr>
        <p:spPr>
          <a:xfrm>
            <a:off x="6400800" y="1481328"/>
            <a:ext cx="5120640" cy="411480"/>
          </a:xfrm>
          <a:prstGeom prst="rect">
            <a:avLst/>
          </a:prstGeom>
          <a:noFill/>
          <a:ln/>
        </p:spPr>
        <p:txBody>
          <a:bodyPr wrap="square" lIns="0" tIns="0" rIns="0" bIns="0" rtlCol="0" anchor="t"/>
          <a:lstStyle/>
          <a:p>
            <a:pPr indent="0" marL="0">
              <a:buNone/>
            </a:pPr>
            <a:r>
              <a:rPr lang="en-US" sz="1800" b="1" dirty="0">
                <a:solidFill>
                  <a:schemeClr val="accent1"/>
                </a:solidFill>
                <a:latin typeface="Ebrima" pitchFamily="34" charset="0"/>
                <a:ea typeface="Ebrima" pitchFamily="34" charset="-122"/>
                <a:cs typeface="Ebrima" pitchFamily="34" charset="-120"/>
              </a:rPr>
              <a:t>Account security</a:t>
            </a:r>
            <a:endParaRPr lang="en-US" sz="1800" dirty="0"/>
          </a:p>
        </p:txBody>
      </p:sp>
      <p:sp>
        <p:nvSpPr>
          <p:cNvPr id="16" name="Shape 14"/>
          <p:cNvSpPr/>
          <p:nvPr/>
        </p:nvSpPr>
        <p:spPr>
          <a:xfrm>
            <a:off x="6400800" y="2011680"/>
            <a:ext cx="548640" cy="548640"/>
          </a:xfrm>
          <a:prstGeom prst="ellipse">
            <a:avLst/>
          </a:prstGeom>
          <a:solidFill>
            <a:schemeClr val="accent2"/>
          </a:solidFill>
          <a:ln/>
        </p:spPr>
      </p:sp>
      <p:pic>
        <p:nvPicPr>
          <p:cNvPr id="17" name="Image 0" descr="preencoded.png">    </p:cNvPr>
          <p:cNvPicPr>
            <a:picLocks noChangeAspect="1"/>
          </p:cNvPicPr>
          <p:nvPr/>
        </p:nvPicPr>
        <p:blipFill>
          <a:blip r:embed="rId1"/>
          <a:stretch>
            <a:fillRect/>
          </a:stretch>
        </p:blipFill>
        <p:spPr>
          <a:xfrm>
            <a:off x="6532474" y="2143354"/>
            <a:ext cx="285293" cy="285293"/>
          </a:xfrm>
          <a:prstGeom prst="rect">
            <a:avLst/>
          </a:prstGeom>
        </p:spPr>
      </p:pic>
      <p:sp>
        <p:nvSpPr>
          <p:cNvPr id="18" name="Text 15"/>
          <p:cNvSpPr txBox="1"/>
          <p:nvPr/>
        </p:nvSpPr>
        <p:spPr>
          <a:xfrm>
            <a:off x="7132320" y="2029968"/>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One member — one trusted phone</a:t>
            </a:r>
            <a:endParaRPr lang="en-US" sz="1500" dirty="0"/>
          </a:p>
        </p:txBody>
      </p:sp>
      <p:sp>
        <p:nvSpPr>
          <p:cNvPr id="19" name="Shape 16"/>
          <p:cNvSpPr/>
          <p:nvPr/>
        </p:nvSpPr>
        <p:spPr>
          <a:xfrm>
            <a:off x="6400800" y="2834640"/>
            <a:ext cx="548640" cy="548640"/>
          </a:xfrm>
          <a:prstGeom prst="ellipse">
            <a:avLst/>
          </a:prstGeom>
          <a:solidFill>
            <a:schemeClr val="accent2"/>
          </a:solidFill>
          <a:ln/>
        </p:spPr>
      </p:sp>
      <p:pic>
        <p:nvPicPr>
          <p:cNvPr id="20" name="Image 1" descr="preencoded.png">    </p:cNvPr>
          <p:cNvPicPr>
            <a:picLocks noChangeAspect="1"/>
          </p:cNvPicPr>
          <p:nvPr/>
        </p:nvPicPr>
        <p:blipFill>
          <a:blip r:embed="rId2"/>
          <a:stretch>
            <a:fillRect/>
          </a:stretch>
        </p:blipFill>
        <p:spPr>
          <a:xfrm>
            <a:off x="6532474" y="2966314"/>
            <a:ext cx="285293" cy="285293"/>
          </a:xfrm>
          <a:prstGeom prst="rect">
            <a:avLst/>
          </a:prstGeom>
        </p:spPr>
      </p:pic>
      <p:sp>
        <p:nvSpPr>
          <p:cNvPr id="21" name="Text 17"/>
          <p:cNvSpPr txBox="1"/>
          <p:nvPr/>
        </p:nvSpPr>
        <p:spPr>
          <a:xfrm>
            <a:off x="7132320" y="2852928"/>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5 wrong attempts → locked for 15 minutes</a:t>
            </a:r>
            <a:endParaRPr lang="en-US" sz="1500" dirty="0"/>
          </a:p>
        </p:txBody>
      </p:sp>
      <p:sp>
        <p:nvSpPr>
          <p:cNvPr id="22" name="Shape 18"/>
          <p:cNvSpPr/>
          <p:nvPr/>
        </p:nvSpPr>
        <p:spPr>
          <a:xfrm>
            <a:off x="6400800" y="3657600"/>
            <a:ext cx="548640" cy="548640"/>
          </a:xfrm>
          <a:prstGeom prst="ellipse">
            <a:avLst/>
          </a:prstGeom>
          <a:solidFill>
            <a:schemeClr val="accent2"/>
          </a:solidFill>
          <a:ln/>
        </p:spPr>
      </p:sp>
      <p:pic>
        <p:nvPicPr>
          <p:cNvPr id="23" name="Image 2" descr="preencoded.png">    </p:cNvPr>
          <p:cNvPicPr>
            <a:picLocks noChangeAspect="1"/>
          </p:cNvPicPr>
          <p:nvPr/>
        </p:nvPicPr>
        <p:blipFill>
          <a:blip r:embed="rId3"/>
          <a:stretch>
            <a:fillRect/>
          </a:stretch>
        </p:blipFill>
        <p:spPr>
          <a:xfrm>
            <a:off x="6532474" y="3789274"/>
            <a:ext cx="285293" cy="285293"/>
          </a:xfrm>
          <a:prstGeom prst="rect">
            <a:avLst/>
          </a:prstGeom>
        </p:spPr>
      </p:pic>
      <p:sp>
        <p:nvSpPr>
          <p:cNvPr id="24" name="Text 19"/>
          <p:cNvSpPr txBox="1"/>
          <p:nvPr/>
        </p:nvSpPr>
        <p:spPr>
          <a:xfrm>
            <a:off x="7132320" y="3675888"/>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Forgotten PIN: code via Telegram or email</a:t>
            </a:r>
            <a:endParaRPr lang="en-US" sz="1500" dirty="0"/>
          </a:p>
        </p:txBody>
      </p:sp>
      <p:sp>
        <p:nvSpPr>
          <p:cNvPr id="25" name="Shape 20"/>
          <p:cNvSpPr/>
          <p:nvPr/>
        </p:nvSpPr>
        <p:spPr>
          <a:xfrm>
            <a:off x="6400800" y="4480560"/>
            <a:ext cx="548640" cy="548640"/>
          </a:xfrm>
          <a:prstGeom prst="ellipse">
            <a:avLst/>
          </a:prstGeom>
          <a:solidFill>
            <a:schemeClr val="accent2"/>
          </a:solidFill>
          <a:ln/>
        </p:spPr>
      </p:sp>
      <p:pic>
        <p:nvPicPr>
          <p:cNvPr id="26" name="Image 3" descr="preencoded.png">    </p:cNvPr>
          <p:cNvPicPr>
            <a:picLocks noChangeAspect="1"/>
          </p:cNvPicPr>
          <p:nvPr/>
        </p:nvPicPr>
        <p:blipFill>
          <a:blip r:embed="rId4"/>
          <a:stretch>
            <a:fillRect/>
          </a:stretch>
        </p:blipFill>
        <p:spPr>
          <a:xfrm>
            <a:off x="6532474" y="4612234"/>
            <a:ext cx="285293" cy="285293"/>
          </a:xfrm>
          <a:prstGeom prst="rect">
            <a:avLst/>
          </a:prstGeom>
        </p:spPr>
      </p:pic>
      <p:sp>
        <p:nvSpPr>
          <p:cNvPr id="27" name="Text 21"/>
          <p:cNvSpPr txBox="1"/>
          <p:nvPr/>
        </p:nvSpPr>
        <p:spPr>
          <a:xfrm>
            <a:off x="7132320" y="4498848"/>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Screenshots of personal screens are blocked</a:t>
            </a:r>
            <a:endParaRPr lang="en-US" sz="1500" dirty="0"/>
          </a:p>
        </p:txBody>
      </p:sp>
      <p:sp>
        <p:nvSpPr>
          <p:cNvPr id="28" name="Shape 22"/>
          <p:cNvSpPr/>
          <p:nvPr/>
        </p:nvSpPr>
        <p:spPr>
          <a:xfrm>
            <a:off x="6400800" y="5303520"/>
            <a:ext cx="548640" cy="548640"/>
          </a:xfrm>
          <a:prstGeom prst="ellipse">
            <a:avLst/>
          </a:prstGeom>
          <a:solidFill>
            <a:schemeClr val="accent2"/>
          </a:solidFill>
          <a:ln/>
        </p:spPr>
      </p:sp>
      <p:pic>
        <p:nvPicPr>
          <p:cNvPr id="29" name="Image 4" descr="preencoded.png">    </p:cNvPr>
          <p:cNvPicPr>
            <a:picLocks noChangeAspect="1"/>
          </p:cNvPicPr>
          <p:nvPr/>
        </p:nvPicPr>
        <p:blipFill>
          <a:blip r:embed="rId5"/>
          <a:stretch>
            <a:fillRect/>
          </a:stretch>
        </p:blipFill>
        <p:spPr>
          <a:xfrm>
            <a:off x="6532474" y="5435194"/>
            <a:ext cx="285293" cy="285293"/>
          </a:xfrm>
          <a:prstGeom prst="rect">
            <a:avLst/>
          </a:prstGeom>
        </p:spPr>
      </p:pic>
      <p:sp>
        <p:nvSpPr>
          <p:cNvPr id="30" name="Text 23"/>
          <p:cNvSpPr txBox="1"/>
          <p:nvPr/>
        </p:nvSpPr>
        <p:spPr>
          <a:xfrm>
            <a:off x="7132320" y="5321808"/>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See and end signed-in devices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Programs and Events</a:t>
            </a:r>
            <a:endParaRPr lang="en-US" sz="3400" dirty="0"/>
          </a:p>
        </p:txBody>
      </p:sp>
      <p:sp>
        <p:nvSpPr>
          <p:cNvPr id="3" name="Text 1"/>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Recurrence types</a:t>
            </a:r>
            <a:endParaRPr lang="en-US" sz="1600" dirty="0"/>
          </a:p>
        </p:txBody>
      </p:sp>
      <p:sp>
        <p:nvSpPr>
          <p:cNvPr id="4" name="Shape 2"/>
          <p:cNvSpPr/>
          <p:nvPr/>
        </p:nvSpPr>
        <p:spPr>
          <a:xfrm>
            <a:off x="548640" y="1783080"/>
            <a:ext cx="2057400" cy="1051560"/>
          </a:xfrm>
          <a:prstGeom prst="roundRect">
            <a:avLst>
              <a:gd name="adj" fmla="val 10435"/>
            </a:avLst>
          </a:prstGeom>
          <a:solidFill>
            <a:schemeClr val="bg2">
              <a:alpha val="60000"/>
            </a:schemeClr>
          </a:solidFill>
          <a:ln/>
        </p:spPr>
      </p:sp>
      <p:sp>
        <p:nvSpPr>
          <p:cNvPr id="5" name="Text 3"/>
          <p:cNvSpPr txBox="1"/>
          <p:nvPr/>
        </p:nvSpPr>
        <p:spPr>
          <a:xfrm>
            <a:off x="685800" y="1874520"/>
            <a:ext cx="178308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Ebrima" pitchFamily="34" charset="0"/>
                <a:ea typeface="Ebrima" pitchFamily="34" charset="-122"/>
                <a:cs typeface="Ebrima" pitchFamily="34" charset="-120"/>
              </a:rPr>
              <a:t>One-time</a:t>
            </a:r>
            <a:endParaRPr lang="en-US" sz="1600" dirty="0"/>
          </a:p>
        </p:txBody>
      </p:sp>
      <p:sp>
        <p:nvSpPr>
          <p:cNvPr id="6" name="Text 4"/>
          <p:cNvSpPr txBox="1"/>
          <p:nvPr/>
        </p:nvSpPr>
        <p:spPr>
          <a:xfrm>
            <a:off x="685800" y="2304288"/>
            <a:ext cx="1783080" cy="41148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Special event</a:t>
            </a:r>
            <a:endParaRPr lang="en-US" sz="1250" dirty="0"/>
          </a:p>
        </p:txBody>
      </p:sp>
      <p:sp>
        <p:nvSpPr>
          <p:cNvPr id="7" name="Shape 5"/>
          <p:cNvSpPr/>
          <p:nvPr/>
        </p:nvSpPr>
        <p:spPr>
          <a:xfrm>
            <a:off x="2788920" y="1783080"/>
            <a:ext cx="2057400" cy="1051560"/>
          </a:xfrm>
          <a:prstGeom prst="roundRect">
            <a:avLst>
              <a:gd name="adj" fmla="val 10435"/>
            </a:avLst>
          </a:prstGeom>
          <a:solidFill>
            <a:schemeClr val="bg2">
              <a:alpha val="60000"/>
            </a:schemeClr>
          </a:solidFill>
          <a:ln/>
        </p:spPr>
      </p:sp>
      <p:sp>
        <p:nvSpPr>
          <p:cNvPr id="8" name="Text 6"/>
          <p:cNvSpPr txBox="1"/>
          <p:nvPr/>
        </p:nvSpPr>
        <p:spPr>
          <a:xfrm>
            <a:off x="2926080" y="1874520"/>
            <a:ext cx="178308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Ebrima" pitchFamily="34" charset="0"/>
                <a:ea typeface="Ebrima" pitchFamily="34" charset="-122"/>
                <a:cs typeface="Ebrima" pitchFamily="34" charset="-120"/>
              </a:rPr>
              <a:t>Weekly</a:t>
            </a:r>
            <a:endParaRPr lang="en-US" sz="1600" dirty="0"/>
          </a:p>
        </p:txBody>
      </p:sp>
      <p:sp>
        <p:nvSpPr>
          <p:cNvPr id="9" name="Text 7"/>
          <p:cNvSpPr txBox="1"/>
          <p:nvPr/>
        </p:nvSpPr>
        <p:spPr>
          <a:xfrm>
            <a:off x="2926080" y="2304288"/>
            <a:ext cx="1783080" cy="41148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e.g. Sunday classes</a:t>
            </a:r>
            <a:endParaRPr lang="en-US" sz="1250" dirty="0"/>
          </a:p>
        </p:txBody>
      </p:sp>
      <p:sp>
        <p:nvSpPr>
          <p:cNvPr id="10" name="Shape 8"/>
          <p:cNvSpPr/>
          <p:nvPr/>
        </p:nvSpPr>
        <p:spPr>
          <a:xfrm>
            <a:off x="5029200" y="1783080"/>
            <a:ext cx="2057400" cy="1051560"/>
          </a:xfrm>
          <a:prstGeom prst="roundRect">
            <a:avLst>
              <a:gd name="adj" fmla="val 10435"/>
            </a:avLst>
          </a:prstGeom>
          <a:solidFill>
            <a:schemeClr val="bg2">
              <a:alpha val="60000"/>
            </a:schemeClr>
          </a:solidFill>
          <a:ln/>
        </p:spPr>
      </p:sp>
      <p:sp>
        <p:nvSpPr>
          <p:cNvPr id="11" name="Text 9"/>
          <p:cNvSpPr txBox="1"/>
          <p:nvPr/>
        </p:nvSpPr>
        <p:spPr>
          <a:xfrm>
            <a:off x="5166360" y="1874520"/>
            <a:ext cx="178308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Ebrima" pitchFamily="34" charset="0"/>
                <a:ea typeface="Ebrima" pitchFamily="34" charset="-122"/>
                <a:cs typeface="Ebrima" pitchFamily="34" charset="-120"/>
              </a:rPr>
              <a:t>Monthly</a:t>
            </a:r>
            <a:endParaRPr lang="en-US" sz="1600" dirty="0"/>
          </a:p>
        </p:txBody>
      </p:sp>
      <p:sp>
        <p:nvSpPr>
          <p:cNvPr id="12" name="Text 10"/>
          <p:cNvSpPr txBox="1"/>
          <p:nvPr/>
        </p:nvSpPr>
        <p:spPr>
          <a:xfrm>
            <a:off x="5166360" y="2304288"/>
            <a:ext cx="1783080" cy="41148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By date or weekday</a:t>
            </a:r>
            <a:endParaRPr lang="en-US" sz="1250" dirty="0"/>
          </a:p>
        </p:txBody>
      </p:sp>
      <p:sp>
        <p:nvSpPr>
          <p:cNvPr id="13" name="Shape 11"/>
          <p:cNvSpPr/>
          <p:nvPr/>
        </p:nvSpPr>
        <p:spPr>
          <a:xfrm>
            <a:off x="7269480" y="1783080"/>
            <a:ext cx="2057400" cy="1051560"/>
          </a:xfrm>
          <a:prstGeom prst="roundRect">
            <a:avLst>
              <a:gd name="adj" fmla="val 10435"/>
            </a:avLst>
          </a:prstGeom>
          <a:solidFill>
            <a:schemeClr val="bg2">
              <a:alpha val="60000"/>
            </a:schemeClr>
          </a:solidFill>
          <a:ln/>
        </p:spPr>
      </p:sp>
      <p:sp>
        <p:nvSpPr>
          <p:cNvPr id="14" name="Text 12"/>
          <p:cNvSpPr txBox="1"/>
          <p:nvPr/>
        </p:nvSpPr>
        <p:spPr>
          <a:xfrm>
            <a:off x="7406640" y="1874520"/>
            <a:ext cx="178308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Ebrima" pitchFamily="34" charset="0"/>
                <a:ea typeface="Ebrima" pitchFamily="34" charset="-122"/>
                <a:cs typeface="Ebrima" pitchFamily="34" charset="-120"/>
              </a:rPr>
              <a:t>Twice a month</a:t>
            </a:r>
            <a:endParaRPr lang="en-US" sz="1600" dirty="0"/>
          </a:p>
        </p:txBody>
      </p:sp>
      <p:sp>
        <p:nvSpPr>
          <p:cNvPr id="15" name="Text 13"/>
          <p:cNvSpPr txBox="1"/>
          <p:nvPr/>
        </p:nvSpPr>
        <p:spPr>
          <a:xfrm>
            <a:off x="7406640" y="2304288"/>
            <a:ext cx="1783080" cy="41148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Every 2 weeks</a:t>
            </a:r>
            <a:endParaRPr lang="en-US" sz="1250" dirty="0"/>
          </a:p>
        </p:txBody>
      </p:sp>
      <p:sp>
        <p:nvSpPr>
          <p:cNvPr id="16" name="Shape 14"/>
          <p:cNvSpPr/>
          <p:nvPr/>
        </p:nvSpPr>
        <p:spPr>
          <a:xfrm>
            <a:off x="9509760" y="1783080"/>
            <a:ext cx="2057400" cy="1051560"/>
          </a:xfrm>
          <a:prstGeom prst="roundRect">
            <a:avLst>
              <a:gd name="adj" fmla="val 10435"/>
            </a:avLst>
          </a:prstGeom>
          <a:solidFill>
            <a:schemeClr val="accent1"/>
          </a:solidFill>
          <a:ln/>
        </p:spPr>
      </p:sp>
      <p:sp>
        <p:nvSpPr>
          <p:cNvPr id="17" name="Text 15"/>
          <p:cNvSpPr txBox="1"/>
          <p:nvPr/>
        </p:nvSpPr>
        <p:spPr>
          <a:xfrm>
            <a:off x="9646920" y="1874520"/>
            <a:ext cx="1783080" cy="411480"/>
          </a:xfrm>
          <a:prstGeom prst="rect">
            <a:avLst/>
          </a:prstGeom>
          <a:noFill/>
          <a:ln/>
        </p:spPr>
        <p:txBody>
          <a:bodyPr wrap="square" lIns="0" tIns="0" rIns="0" bIns="0" rtlCol="0" anchor="t"/>
          <a:lstStyle/>
          <a:p>
            <a:pPr algn="ctr" indent="0" marL="0">
              <a:buNone/>
            </a:pPr>
            <a:r>
              <a:rPr lang="en-US" sz="1600" b="1" dirty="0">
                <a:solidFill>
                  <a:schemeClr val="accent2"/>
                </a:solidFill>
                <a:latin typeface="Ebrima" pitchFamily="34" charset="0"/>
                <a:ea typeface="Ebrima" pitchFamily="34" charset="-122"/>
                <a:cs typeface="Ebrima" pitchFamily="34" charset="-120"/>
              </a:rPr>
              <a:t>Ethiopian dates</a:t>
            </a:r>
            <a:endParaRPr lang="en-US" sz="1600" dirty="0"/>
          </a:p>
        </p:txBody>
      </p:sp>
      <p:sp>
        <p:nvSpPr>
          <p:cNvPr id="18" name="Text 16"/>
          <p:cNvSpPr txBox="1"/>
          <p:nvPr/>
        </p:nvSpPr>
        <p:spPr>
          <a:xfrm>
            <a:off x="9646920" y="2304288"/>
            <a:ext cx="1783080" cy="411480"/>
          </a:xfrm>
          <a:prstGeom prst="rect">
            <a:avLst/>
          </a:prstGeom>
          <a:noFill/>
          <a:ln/>
        </p:spPr>
        <p:txBody>
          <a:bodyPr wrap="square" lIns="0" tIns="0" rIns="0" bIns="0" rtlCol="0" anchor="t"/>
          <a:lstStyle/>
          <a:p>
            <a:pPr algn="ctr" indent="0" marL="0">
              <a:buNone/>
            </a:pPr>
            <a:r>
              <a:rPr lang="en-US" sz="1250" dirty="0">
                <a:solidFill>
                  <a:schemeClr val="bg1"/>
                </a:solidFill>
                <a:latin typeface="Ebrima" pitchFamily="34" charset="0"/>
                <a:ea typeface="Ebrima" pitchFamily="34" charset="-122"/>
                <a:cs typeface="Ebrima" pitchFamily="34" charset="-120"/>
              </a:rPr>
              <a:t>e.g. monthly feast days</a:t>
            </a:r>
            <a:endParaRPr lang="en-US" sz="1250" dirty="0"/>
          </a:p>
        </p:txBody>
      </p:sp>
      <p:sp>
        <p:nvSpPr>
          <p:cNvPr id="19" name="Shape 17"/>
          <p:cNvSpPr/>
          <p:nvPr/>
        </p:nvSpPr>
        <p:spPr>
          <a:xfrm>
            <a:off x="548640" y="3200400"/>
            <a:ext cx="566928" cy="566928"/>
          </a:xfrm>
          <a:prstGeom prst="ellipse">
            <a:avLst/>
          </a:prstGeom>
          <a:solidFill>
            <a:schemeClr val="accent1"/>
          </a:solidFill>
          <a:ln/>
        </p:spPr>
      </p:sp>
      <p:pic>
        <p:nvPicPr>
          <p:cNvPr id="20" name="Image 0" descr="preencoded.png">    </p:cNvPr>
          <p:cNvPicPr>
            <a:picLocks noChangeAspect="1"/>
          </p:cNvPicPr>
          <p:nvPr/>
        </p:nvPicPr>
        <p:blipFill>
          <a:blip r:embed="rId1"/>
          <a:stretch>
            <a:fillRect/>
          </a:stretch>
        </p:blipFill>
        <p:spPr>
          <a:xfrm>
            <a:off x="684703" y="3336463"/>
            <a:ext cx="294803" cy="294803"/>
          </a:xfrm>
          <a:prstGeom prst="rect">
            <a:avLst/>
          </a:prstGeom>
        </p:spPr>
      </p:pic>
      <p:sp>
        <p:nvSpPr>
          <p:cNvPr id="21" name="Text 18"/>
          <p:cNvSpPr txBox="1"/>
          <p:nvPr/>
        </p:nvSpPr>
        <p:spPr>
          <a:xfrm>
            <a:off x="1280160" y="3200400"/>
            <a:ext cx="4754880" cy="60350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For all members or invitees only; registration and capacity limits</a:t>
            </a:r>
            <a:endParaRPr lang="en-US" sz="1450" dirty="0"/>
          </a:p>
        </p:txBody>
      </p:sp>
      <p:sp>
        <p:nvSpPr>
          <p:cNvPr id="22" name="Shape 19"/>
          <p:cNvSpPr/>
          <p:nvPr/>
        </p:nvSpPr>
        <p:spPr>
          <a:xfrm>
            <a:off x="6172200" y="3200400"/>
            <a:ext cx="566928" cy="566928"/>
          </a:xfrm>
          <a:prstGeom prst="ellipse">
            <a:avLst/>
          </a:prstGeom>
          <a:solidFill>
            <a:schemeClr val="accent2"/>
          </a:solidFill>
          <a:ln/>
        </p:spPr>
      </p:sp>
      <p:pic>
        <p:nvPicPr>
          <p:cNvPr id="23" name="Image 1" descr="preencoded.png">    </p:cNvPr>
          <p:cNvPicPr>
            <a:picLocks noChangeAspect="1"/>
          </p:cNvPicPr>
          <p:nvPr/>
        </p:nvPicPr>
        <p:blipFill>
          <a:blip r:embed="rId2"/>
          <a:stretch>
            <a:fillRect/>
          </a:stretch>
        </p:blipFill>
        <p:spPr>
          <a:xfrm>
            <a:off x="6308263" y="3336463"/>
            <a:ext cx="294803" cy="294803"/>
          </a:xfrm>
          <a:prstGeom prst="rect">
            <a:avLst/>
          </a:prstGeom>
        </p:spPr>
      </p:pic>
      <p:sp>
        <p:nvSpPr>
          <p:cNvPr id="24" name="Text 20"/>
          <p:cNvSpPr txBox="1"/>
          <p:nvPr/>
        </p:nvSpPr>
        <p:spPr>
          <a:xfrm>
            <a:off x="6903720" y="3200400"/>
            <a:ext cx="4754880" cy="60350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Reminders 2 days, 1 day, 6 hours or 1 hour before</a:t>
            </a:r>
            <a:endParaRPr lang="en-US" sz="1450" dirty="0"/>
          </a:p>
        </p:txBody>
      </p:sp>
      <p:sp>
        <p:nvSpPr>
          <p:cNvPr id="25" name="Shape 21"/>
          <p:cNvSpPr/>
          <p:nvPr/>
        </p:nvSpPr>
        <p:spPr>
          <a:xfrm>
            <a:off x="548640" y="4187952"/>
            <a:ext cx="566928" cy="566928"/>
          </a:xfrm>
          <a:prstGeom prst="ellipse">
            <a:avLst/>
          </a:prstGeom>
          <a:solidFill>
            <a:schemeClr val="accent1"/>
          </a:solidFill>
          <a:ln/>
        </p:spPr>
      </p:sp>
      <p:pic>
        <p:nvPicPr>
          <p:cNvPr id="26" name="Image 2" descr="preencoded.png">    </p:cNvPr>
          <p:cNvPicPr>
            <a:picLocks noChangeAspect="1"/>
          </p:cNvPicPr>
          <p:nvPr/>
        </p:nvPicPr>
        <p:blipFill>
          <a:blip r:embed="rId3"/>
          <a:stretch>
            <a:fillRect/>
          </a:stretch>
        </p:blipFill>
        <p:spPr>
          <a:xfrm>
            <a:off x="684703" y="4324015"/>
            <a:ext cx="294803" cy="294803"/>
          </a:xfrm>
          <a:prstGeom prst="rect">
            <a:avLst/>
          </a:prstGeom>
        </p:spPr>
      </p:pic>
      <p:sp>
        <p:nvSpPr>
          <p:cNvPr id="27" name="Text 22"/>
          <p:cNvSpPr txBox="1"/>
          <p:nvPr/>
        </p:nvSpPr>
        <p:spPr>
          <a:xfrm>
            <a:off x="1280160" y="4187952"/>
            <a:ext cx="4754880" cy="60350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Reminders repeating every 15 days; mandatory reminders</a:t>
            </a:r>
            <a:endParaRPr lang="en-US" sz="1450" dirty="0"/>
          </a:p>
        </p:txBody>
      </p:sp>
      <p:sp>
        <p:nvSpPr>
          <p:cNvPr id="28" name="Shape 23"/>
          <p:cNvSpPr/>
          <p:nvPr/>
        </p:nvSpPr>
        <p:spPr>
          <a:xfrm>
            <a:off x="6172200" y="4187952"/>
            <a:ext cx="566928" cy="566928"/>
          </a:xfrm>
          <a:prstGeom prst="ellipse">
            <a:avLst/>
          </a:prstGeom>
          <a:solidFill>
            <a:schemeClr val="accent2"/>
          </a:solidFill>
          <a:ln/>
        </p:spPr>
      </p:sp>
      <p:pic>
        <p:nvPicPr>
          <p:cNvPr id="29" name="Image 3" descr="preencoded.png">    </p:cNvPr>
          <p:cNvPicPr>
            <a:picLocks noChangeAspect="1"/>
          </p:cNvPicPr>
          <p:nvPr/>
        </p:nvPicPr>
        <p:blipFill>
          <a:blip r:embed="rId4"/>
          <a:stretch>
            <a:fillRect/>
          </a:stretch>
        </p:blipFill>
        <p:spPr>
          <a:xfrm>
            <a:off x="6308263" y="4324015"/>
            <a:ext cx="294803" cy="294803"/>
          </a:xfrm>
          <a:prstGeom prst="rect">
            <a:avLst/>
          </a:prstGeom>
        </p:spPr>
      </p:pic>
      <p:sp>
        <p:nvSpPr>
          <p:cNvPr id="30" name="Text 24"/>
          <p:cNvSpPr txBox="1"/>
          <p:nvPr/>
        </p:nvSpPr>
        <p:spPr>
          <a:xfrm>
            <a:off x="6903720" y="4187952"/>
            <a:ext cx="4754880" cy="60350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Phone alarms that work offline (including snooze)</a:t>
            </a:r>
            <a:endParaRPr lang="en-US" sz="1450" dirty="0"/>
          </a:p>
        </p:txBody>
      </p:sp>
      <p:sp>
        <p:nvSpPr>
          <p:cNvPr id="31" name="Shape 25"/>
          <p:cNvSpPr/>
          <p:nvPr/>
        </p:nvSpPr>
        <p:spPr>
          <a:xfrm>
            <a:off x="548640" y="5175504"/>
            <a:ext cx="566928" cy="566928"/>
          </a:xfrm>
          <a:prstGeom prst="ellipse">
            <a:avLst/>
          </a:prstGeom>
          <a:solidFill>
            <a:schemeClr val="accent1"/>
          </a:solidFill>
          <a:ln/>
        </p:spPr>
      </p:sp>
      <p:pic>
        <p:nvPicPr>
          <p:cNvPr id="32" name="Image 4" descr="preencoded.png">    </p:cNvPr>
          <p:cNvPicPr>
            <a:picLocks noChangeAspect="1"/>
          </p:cNvPicPr>
          <p:nvPr/>
        </p:nvPicPr>
        <p:blipFill>
          <a:blip r:embed="rId5"/>
          <a:stretch>
            <a:fillRect/>
          </a:stretch>
        </p:blipFill>
        <p:spPr>
          <a:xfrm>
            <a:off x="684703" y="5311567"/>
            <a:ext cx="294803" cy="294803"/>
          </a:xfrm>
          <a:prstGeom prst="rect">
            <a:avLst/>
          </a:prstGeom>
        </p:spPr>
      </p:pic>
      <p:sp>
        <p:nvSpPr>
          <p:cNvPr id="33" name="Text 26"/>
          <p:cNvSpPr txBox="1"/>
          <p:nvPr/>
        </p:nvSpPr>
        <p:spPr>
          <a:xfrm>
            <a:off x="1280160" y="5175504"/>
            <a:ext cx="4754880" cy="60350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A single date can be cancelled or rescheduled</a:t>
            </a:r>
            <a:endParaRPr lang="en-US" sz="1450" dirty="0"/>
          </a:p>
        </p:txBody>
      </p:sp>
      <p:sp>
        <p:nvSpPr>
          <p:cNvPr id="34" name="Shape 27"/>
          <p:cNvSpPr/>
          <p:nvPr/>
        </p:nvSpPr>
        <p:spPr>
          <a:xfrm>
            <a:off x="6172200" y="5175504"/>
            <a:ext cx="566928" cy="566928"/>
          </a:xfrm>
          <a:prstGeom prst="ellipse">
            <a:avLst/>
          </a:prstGeom>
          <a:solidFill>
            <a:schemeClr val="accent2"/>
          </a:solidFill>
          <a:ln/>
        </p:spPr>
      </p:sp>
      <p:pic>
        <p:nvPicPr>
          <p:cNvPr id="35" name="Image 5" descr="preencoded.png">    </p:cNvPr>
          <p:cNvPicPr>
            <a:picLocks noChangeAspect="1"/>
          </p:cNvPicPr>
          <p:nvPr/>
        </p:nvPicPr>
        <p:blipFill>
          <a:blip r:embed="rId6"/>
          <a:stretch>
            <a:fillRect/>
          </a:stretch>
        </p:blipFill>
        <p:spPr>
          <a:xfrm>
            <a:off x="6308263" y="5311567"/>
            <a:ext cx="294803" cy="294803"/>
          </a:xfrm>
          <a:prstGeom prst="rect">
            <a:avLst/>
          </a:prstGeom>
        </p:spPr>
      </p:pic>
      <p:sp>
        <p:nvSpPr>
          <p:cNvPr id="36" name="Text 28"/>
          <p:cNvSpPr txBox="1"/>
          <p:nvPr/>
        </p:nvSpPr>
        <p:spPr>
          <a:xfrm>
            <a:off x="6903720" y="5175504"/>
            <a:ext cx="4754880" cy="60350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Categories: General · Education &amp; Training · Hymns &amp; Arts · Programs &amp; Conferences</a:t>
            </a:r>
            <a:endParaRPr lang="en-US" sz="14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How Attendance Is Recorded</a:t>
            </a:r>
            <a:endParaRPr lang="en-US" sz="3400" dirty="0"/>
          </a:p>
        </p:txBody>
      </p:sp>
      <p:sp>
        <p:nvSpPr>
          <p:cNvPr id="3" name="Shape 1"/>
          <p:cNvSpPr/>
          <p:nvPr/>
        </p:nvSpPr>
        <p:spPr>
          <a:xfrm>
            <a:off x="548640" y="1417320"/>
            <a:ext cx="1987906" cy="2514600"/>
          </a:xfrm>
          <a:prstGeom prst="roundRect">
            <a:avLst>
              <a:gd name="adj" fmla="val 4600"/>
            </a:avLst>
          </a:prstGeom>
          <a:solidFill>
            <a:schemeClr val="accent1"/>
          </a:solidFill>
          <a:ln/>
        </p:spPr>
      </p:sp>
      <p:sp>
        <p:nvSpPr>
          <p:cNvPr id="4" name="Text 2"/>
          <p:cNvSpPr txBox="1"/>
          <p:nvPr/>
        </p:nvSpPr>
        <p:spPr>
          <a:xfrm>
            <a:off x="685800" y="1527048"/>
            <a:ext cx="457200" cy="365760"/>
          </a:xfrm>
          <a:prstGeom prst="rect">
            <a:avLst/>
          </a:prstGeom>
          <a:noFill/>
          <a:ln/>
        </p:spPr>
        <p:txBody>
          <a:bodyPr wrap="square" lIns="0" tIns="0" rIns="0" bIns="0" rtlCol="0" anchor="t"/>
          <a:lstStyle/>
          <a:p>
            <a:pPr indent="0" marL="0">
              <a:buNone/>
            </a:pPr>
            <a:r>
              <a:rPr lang="en-US" sz="2000" b="1" dirty="0">
                <a:solidFill>
                  <a:schemeClr val="accent2"/>
                </a:solidFill>
                <a:latin typeface="Ebrima" pitchFamily="34" charset="0"/>
                <a:ea typeface="Ebrima" pitchFamily="34" charset="-122"/>
                <a:cs typeface="Ebrima" pitchFamily="34" charset="-120"/>
              </a:rPr>
              <a:t>1</a:t>
            </a:r>
            <a:endParaRPr lang="en-US" sz="2000" dirty="0"/>
          </a:p>
        </p:txBody>
      </p:sp>
      <p:sp>
        <p:nvSpPr>
          <p:cNvPr id="5" name="Text 3"/>
          <p:cNvSpPr txBox="1"/>
          <p:nvPr/>
        </p:nvSpPr>
        <p:spPr>
          <a:xfrm>
            <a:off x="685800" y="1874520"/>
            <a:ext cx="1713586" cy="731520"/>
          </a:xfrm>
          <a:prstGeom prst="rect">
            <a:avLst/>
          </a:prstGeom>
          <a:noFill/>
          <a:ln/>
        </p:spPr>
        <p:txBody>
          <a:bodyPr wrap="square" lIns="0" tIns="0" rIns="0" bIns="0" rtlCol="0" anchor="t"/>
          <a:lstStyle/>
          <a:p>
            <a:pPr indent="0" marL="0">
              <a:buNone/>
            </a:pPr>
            <a:r>
              <a:rPr lang="en-US" sz="1600" b="1" dirty="0">
                <a:solidFill>
                  <a:schemeClr val="bg1"/>
                </a:solidFill>
                <a:latin typeface="Ebrima" pitchFamily="34" charset="0"/>
                <a:ea typeface="Ebrima" pitchFamily="34" charset="-122"/>
                <a:cs typeface="Ebrima" pitchFamily="34" charset="-120"/>
              </a:rPr>
              <a:t>Taker assigned</a:t>
            </a:r>
            <a:endParaRPr lang="en-US" sz="1600" dirty="0"/>
          </a:p>
        </p:txBody>
      </p:sp>
      <p:sp>
        <p:nvSpPr>
          <p:cNvPr id="6" name="Text 4"/>
          <p:cNvSpPr txBox="1"/>
          <p:nvPr/>
        </p:nvSpPr>
        <p:spPr>
          <a:xfrm>
            <a:off x="685800" y="2606040"/>
            <a:ext cx="1713586" cy="1234440"/>
          </a:xfrm>
          <a:prstGeom prst="rect">
            <a:avLst/>
          </a:prstGeom>
          <a:noFill/>
          <a:ln/>
        </p:spPr>
        <p:txBody>
          <a:bodyPr wrap="square" lIns="0" tIns="0" rIns="0" bIns="0" rtlCol="0" anchor="t"/>
          <a:lstStyle/>
          <a:p>
            <a:pPr indent="0" marL="0">
              <a:buNone/>
            </a:pPr>
            <a:r>
              <a:rPr lang="en-US" sz="1350" dirty="0">
                <a:solidFill>
                  <a:schemeClr val="bg1"/>
                </a:solidFill>
                <a:latin typeface="Ebrima" pitchFamily="34" charset="0"/>
                <a:ea typeface="Ebrima" pitchFamily="34" charset="-122"/>
                <a:cs typeface="Ebrima" pitchFamily="34" charset="-120"/>
              </a:rPr>
              <a:t>Human Resources (HR) assigns one attendance taker for each program date</a:t>
            </a:r>
            <a:endParaRPr lang="en-US" sz="1350" dirty="0"/>
          </a:p>
        </p:txBody>
      </p:sp>
      <p:sp>
        <p:nvSpPr>
          <p:cNvPr id="7" name="Shape 5"/>
          <p:cNvSpPr/>
          <p:nvPr/>
        </p:nvSpPr>
        <p:spPr>
          <a:xfrm rot="5400000">
            <a:off x="2563978" y="2610246"/>
            <a:ext cx="237744" cy="128748"/>
          </a:xfrm>
          <a:prstGeom prst="triangle">
            <a:avLst/>
          </a:prstGeom>
          <a:solidFill>
            <a:schemeClr val="accent2"/>
          </a:solidFill>
          <a:ln/>
        </p:spPr>
      </p:sp>
      <p:sp>
        <p:nvSpPr>
          <p:cNvPr id="8" name="Shape 6"/>
          <p:cNvSpPr/>
          <p:nvPr/>
        </p:nvSpPr>
        <p:spPr>
          <a:xfrm>
            <a:off x="2829154" y="1417320"/>
            <a:ext cx="1987906" cy="2514600"/>
          </a:xfrm>
          <a:prstGeom prst="roundRect">
            <a:avLst>
              <a:gd name="adj" fmla="val 4600"/>
            </a:avLst>
          </a:prstGeom>
          <a:solidFill>
            <a:schemeClr val="bg2">
              <a:alpha val="80000"/>
            </a:schemeClr>
          </a:solidFill>
          <a:ln/>
        </p:spPr>
      </p:sp>
      <p:sp>
        <p:nvSpPr>
          <p:cNvPr id="9" name="Text 7"/>
          <p:cNvSpPr txBox="1"/>
          <p:nvPr/>
        </p:nvSpPr>
        <p:spPr>
          <a:xfrm>
            <a:off x="2966314" y="152704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2</a:t>
            </a:r>
            <a:endParaRPr lang="en-US" sz="2000" dirty="0"/>
          </a:p>
        </p:txBody>
      </p:sp>
      <p:sp>
        <p:nvSpPr>
          <p:cNvPr id="10" name="Text 8"/>
          <p:cNvSpPr txBox="1"/>
          <p:nvPr/>
        </p:nvSpPr>
        <p:spPr>
          <a:xfrm>
            <a:off x="2966314" y="1874520"/>
            <a:ext cx="1713586"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Opens</a:t>
            </a:r>
            <a:endParaRPr lang="en-US" sz="1600" dirty="0"/>
          </a:p>
        </p:txBody>
      </p:sp>
      <p:sp>
        <p:nvSpPr>
          <p:cNvPr id="11" name="Text 9"/>
          <p:cNvSpPr txBox="1"/>
          <p:nvPr/>
        </p:nvSpPr>
        <p:spPr>
          <a:xfrm>
            <a:off x="2966314" y="2606040"/>
            <a:ext cx="1713586" cy="1234440"/>
          </a:xfrm>
          <a:prstGeom prst="rect">
            <a:avLst/>
          </a:prstGeom>
          <a:noFill/>
          <a:ln/>
        </p:spPr>
        <p:txBody>
          <a:bodyPr wrap="square" lIns="0" tIns="0" rIns="0" bIns="0" rtlCol="0" anchor="t"/>
          <a:lstStyle/>
          <a:p>
            <a:pPr indent="0" marL="0">
              <a:buNone/>
            </a:pPr>
            <a:r>
              <a:rPr lang="en-US" sz="1350" dirty="0">
                <a:solidFill>
                  <a:schemeClr val="tx1"/>
                </a:solidFill>
                <a:latin typeface="Ebrima" pitchFamily="34" charset="0"/>
                <a:ea typeface="Ebrima" pitchFamily="34" charset="-122"/>
                <a:cs typeface="Ebrima" pitchFamily="34" charset="-120"/>
              </a:rPr>
              <a:t>The session opens 15 minutes before the program starts</a:t>
            </a:r>
            <a:endParaRPr lang="en-US" sz="1350" dirty="0"/>
          </a:p>
        </p:txBody>
      </p:sp>
      <p:sp>
        <p:nvSpPr>
          <p:cNvPr id="12" name="Shape 10"/>
          <p:cNvSpPr/>
          <p:nvPr/>
        </p:nvSpPr>
        <p:spPr>
          <a:xfrm rot="5400000">
            <a:off x="4844491" y="2610246"/>
            <a:ext cx="237744" cy="128748"/>
          </a:xfrm>
          <a:prstGeom prst="triangle">
            <a:avLst/>
          </a:prstGeom>
          <a:solidFill>
            <a:schemeClr val="accent2"/>
          </a:solidFill>
          <a:ln/>
        </p:spPr>
      </p:sp>
      <p:sp>
        <p:nvSpPr>
          <p:cNvPr id="13" name="Shape 11"/>
          <p:cNvSpPr/>
          <p:nvPr/>
        </p:nvSpPr>
        <p:spPr>
          <a:xfrm>
            <a:off x="5109667" y="1417320"/>
            <a:ext cx="1987906" cy="2514600"/>
          </a:xfrm>
          <a:prstGeom prst="roundRect">
            <a:avLst>
              <a:gd name="adj" fmla="val 4600"/>
            </a:avLst>
          </a:prstGeom>
          <a:solidFill>
            <a:schemeClr val="bg2">
              <a:alpha val="80000"/>
            </a:schemeClr>
          </a:solidFill>
          <a:ln/>
        </p:spPr>
      </p:sp>
      <p:sp>
        <p:nvSpPr>
          <p:cNvPr id="14" name="Text 12"/>
          <p:cNvSpPr txBox="1"/>
          <p:nvPr/>
        </p:nvSpPr>
        <p:spPr>
          <a:xfrm>
            <a:off x="5246827" y="152704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3</a:t>
            </a:r>
            <a:endParaRPr lang="en-US" sz="2000" dirty="0"/>
          </a:p>
        </p:txBody>
      </p:sp>
      <p:sp>
        <p:nvSpPr>
          <p:cNvPr id="15" name="Text 13"/>
          <p:cNvSpPr txBox="1"/>
          <p:nvPr/>
        </p:nvSpPr>
        <p:spPr>
          <a:xfrm>
            <a:off x="5246827" y="1874520"/>
            <a:ext cx="1713586"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“Start”</a:t>
            </a:r>
            <a:endParaRPr lang="en-US" sz="1600" dirty="0"/>
          </a:p>
        </p:txBody>
      </p:sp>
      <p:sp>
        <p:nvSpPr>
          <p:cNvPr id="16" name="Text 14"/>
          <p:cNvSpPr txBox="1"/>
          <p:nvPr/>
        </p:nvSpPr>
        <p:spPr>
          <a:xfrm>
            <a:off x="5246827" y="2606040"/>
            <a:ext cx="1713586" cy="1234440"/>
          </a:xfrm>
          <a:prstGeom prst="rect">
            <a:avLst/>
          </a:prstGeom>
          <a:noFill/>
          <a:ln/>
        </p:spPr>
        <p:txBody>
          <a:bodyPr wrap="square" lIns="0" tIns="0" rIns="0" bIns="0" rtlCol="0" anchor="t"/>
          <a:lstStyle/>
          <a:p>
            <a:pPr indent="0" marL="0">
              <a:buNone/>
            </a:pPr>
            <a:r>
              <a:rPr lang="en-US" sz="1350" dirty="0">
                <a:solidFill>
                  <a:schemeClr val="tx1"/>
                </a:solidFill>
                <a:latin typeface="Ebrima" pitchFamily="34" charset="0"/>
                <a:ea typeface="Ebrima" pitchFamily="34" charset="-122"/>
                <a:cs typeface="Ebrima" pitchFamily="34" charset="-120"/>
              </a:rPr>
              <a:t>The clock starts when the taker presses Start</a:t>
            </a:r>
            <a:endParaRPr lang="en-US" sz="1350" dirty="0"/>
          </a:p>
        </p:txBody>
      </p:sp>
      <p:sp>
        <p:nvSpPr>
          <p:cNvPr id="17" name="Shape 15"/>
          <p:cNvSpPr/>
          <p:nvPr/>
        </p:nvSpPr>
        <p:spPr>
          <a:xfrm rot="5400000">
            <a:off x="7125005" y="2610246"/>
            <a:ext cx="237744" cy="128748"/>
          </a:xfrm>
          <a:prstGeom prst="triangle">
            <a:avLst/>
          </a:prstGeom>
          <a:solidFill>
            <a:schemeClr val="accent2"/>
          </a:solidFill>
          <a:ln/>
        </p:spPr>
      </p:sp>
      <p:sp>
        <p:nvSpPr>
          <p:cNvPr id="18" name="Shape 16"/>
          <p:cNvSpPr/>
          <p:nvPr/>
        </p:nvSpPr>
        <p:spPr>
          <a:xfrm>
            <a:off x="7390181" y="1417320"/>
            <a:ext cx="1987906" cy="2514600"/>
          </a:xfrm>
          <a:prstGeom prst="roundRect">
            <a:avLst>
              <a:gd name="adj" fmla="val 4600"/>
            </a:avLst>
          </a:prstGeom>
          <a:solidFill>
            <a:schemeClr val="bg2">
              <a:alpha val="80000"/>
            </a:schemeClr>
          </a:solidFill>
          <a:ln/>
        </p:spPr>
      </p:sp>
      <p:sp>
        <p:nvSpPr>
          <p:cNvPr id="19" name="Text 17"/>
          <p:cNvSpPr txBox="1"/>
          <p:nvPr/>
        </p:nvSpPr>
        <p:spPr>
          <a:xfrm>
            <a:off x="7527341" y="152704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4</a:t>
            </a:r>
            <a:endParaRPr lang="en-US" sz="2000" dirty="0"/>
          </a:p>
        </p:txBody>
      </p:sp>
      <p:sp>
        <p:nvSpPr>
          <p:cNvPr id="20" name="Text 18"/>
          <p:cNvSpPr txBox="1"/>
          <p:nvPr/>
        </p:nvSpPr>
        <p:spPr>
          <a:xfrm>
            <a:off x="7527341" y="1874520"/>
            <a:ext cx="1713586"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Recording</a:t>
            </a:r>
            <a:endParaRPr lang="en-US" sz="1600" dirty="0"/>
          </a:p>
        </p:txBody>
      </p:sp>
      <p:sp>
        <p:nvSpPr>
          <p:cNvPr id="21" name="Text 19"/>
          <p:cNvSpPr txBox="1"/>
          <p:nvPr/>
        </p:nvSpPr>
        <p:spPr>
          <a:xfrm>
            <a:off x="7527341" y="2606040"/>
            <a:ext cx="1713586" cy="1234440"/>
          </a:xfrm>
          <a:prstGeom prst="rect">
            <a:avLst/>
          </a:prstGeom>
          <a:noFill/>
          <a:ln/>
        </p:spPr>
        <p:txBody>
          <a:bodyPr wrap="square" lIns="0" tIns="0" rIns="0" bIns="0" rtlCol="0" anchor="t"/>
          <a:lstStyle/>
          <a:p>
            <a:pPr indent="0" marL="0">
              <a:buNone/>
            </a:pPr>
            <a:r>
              <a:rPr lang="en-US" sz="1350" dirty="0">
                <a:solidFill>
                  <a:schemeClr val="tx1"/>
                </a:solidFill>
                <a:latin typeface="Ebrima" pitchFamily="34" charset="0"/>
                <a:ea typeface="Ebrima" pitchFamily="34" charset="-122"/>
                <a:cs typeface="Ebrima" pitchFamily="34" charset="-120"/>
              </a:rPr>
              <a:t>By QR or by name; “Present” needs the member's signature; “Excused” needs a reason</a:t>
            </a:r>
            <a:endParaRPr lang="en-US" sz="1350" dirty="0"/>
          </a:p>
        </p:txBody>
      </p:sp>
      <p:sp>
        <p:nvSpPr>
          <p:cNvPr id="22" name="Shape 20"/>
          <p:cNvSpPr/>
          <p:nvPr/>
        </p:nvSpPr>
        <p:spPr>
          <a:xfrm rot="5400000">
            <a:off x="9405518" y="2610246"/>
            <a:ext cx="237744" cy="128748"/>
          </a:xfrm>
          <a:prstGeom prst="triangle">
            <a:avLst/>
          </a:prstGeom>
          <a:solidFill>
            <a:schemeClr val="accent2"/>
          </a:solidFill>
          <a:ln/>
        </p:spPr>
      </p:sp>
      <p:sp>
        <p:nvSpPr>
          <p:cNvPr id="23" name="Shape 21"/>
          <p:cNvSpPr/>
          <p:nvPr/>
        </p:nvSpPr>
        <p:spPr>
          <a:xfrm>
            <a:off x="9670694" y="1417320"/>
            <a:ext cx="1987906" cy="2514600"/>
          </a:xfrm>
          <a:prstGeom prst="roundRect">
            <a:avLst>
              <a:gd name="adj" fmla="val 4600"/>
            </a:avLst>
          </a:prstGeom>
          <a:solidFill>
            <a:schemeClr val="accent3"/>
          </a:solidFill>
          <a:ln/>
        </p:spPr>
      </p:sp>
      <p:sp>
        <p:nvSpPr>
          <p:cNvPr id="24" name="Text 22"/>
          <p:cNvSpPr txBox="1"/>
          <p:nvPr/>
        </p:nvSpPr>
        <p:spPr>
          <a:xfrm>
            <a:off x="9807854" y="1527048"/>
            <a:ext cx="457200" cy="365760"/>
          </a:xfrm>
          <a:prstGeom prst="rect">
            <a:avLst/>
          </a:prstGeom>
          <a:noFill/>
          <a:ln/>
        </p:spPr>
        <p:txBody>
          <a:bodyPr wrap="square" lIns="0" tIns="0" rIns="0" bIns="0" rtlCol="0" anchor="t"/>
          <a:lstStyle/>
          <a:p>
            <a:pPr indent="0" marL="0">
              <a:buNone/>
            </a:pPr>
            <a:r>
              <a:rPr lang="en-US" sz="2000" b="1" dirty="0">
                <a:solidFill>
                  <a:schemeClr val="accent2"/>
                </a:solidFill>
                <a:latin typeface="Ebrima" pitchFamily="34" charset="0"/>
                <a:ea typeface="Ebrima" pitchFamily="34" charset="-122"/>
                <a:cs typeface="Ebrima" pitchFamily="34" charset="-120"/>
              </a:rPr>
              <a:t>5</a:t>
            </a:r>
            <a:endParaRPr lang="en-US" sz="2000" dirty="0"/>
          </a:p>
        </p:txBody>
      </p:sp>
      <p:sp>
        <p:nvSpPr>
          <p:cNvPr id="25" name="Text 23"/>
          <p:cNvSpPr txBox="1"/>
          <p:nvPr/>
        </p:nvSpPr>
        <p:spPr>
          <a:xfrm>
            <a:off x="9807854" y="1874520"/>
            <a:ext cx="1713586" cy="731520"/>
          </a:xfrm>
          <a:prstGeom prst="rect">
            <a:avLst/>
          </a:prstGeom>
          <a:noFill/>
          <a:ln/>
        </p:spPr>
        <p:txBody>
          <a:bodyPr wrap="square" lIns="0" tIns="0" rIns="0" bIns="0" rtlCol="0" anchor="t"/>
          <a:lstStyle/>
          <a:p>
            <a:pPr indent="0" marL="0">
              <a:buNone/>
            </a:pPr>
            <a:r>
              <a:rPr lang="en-US" sz="1600" b="1" dirty="0">
                <a:solidFill>
                  <a:schemeClr val="bg1"/>
                </a:solidFill>
                <a:latin typeface="Ebrima" pitchFamily="34" charset="0"/>
                <a:ea typeface="Ebrima" pitchFamily="34" charset="-122"/>
                <a:cs typeface="Ebrima" pitchFamily="34" charset="-120"/>
              </a:rPr>
              <a:t>Closes</a:t>
            </a:r>
            <a:endParaRPr lang="en-US" sz="1600" dirty="0"/>
          </a:p>
        </p:txBody>
      </p:sp>
      <p:sp>
        <p:nvSpPr>
          <p:cNvPr id="26" name="Text 24"/>
          <p:cNvSpPr txBox="1"/>
          <p:nvPr/>
        </p:nvSpPr>
        <p:spPr>
          <a:xfrm>
            <a:off x="9807854" y="2606040"/>
            <a:ext cx="1713586" cy="1234440"/>
          </a:xfrm>
          <a:prstGeom prst="rect">
            <a:avLst/>
          </a:prstGeom>
          <a:noFill/>
          <a:ln/>
        </p:spPr>
        <p:txBody>
          <a:bodyPr wrap="square" lIns="0" tIns="0" rIns="0" bIns="0" rtlCol="0" anchor="t"/>
          <a:lstStyle/>
          <a:p>
            <a:pPr indent="0" marL="0">
              <a:buNone/>
            </a:pPr>
            <a:r>
              <a:rPr lang="en-US" sz="1350" dirty="0">
                <a:solidFill>
                  <a:schemeClr val="bg1"/>
                </a:solidFill>
                <a:latin typeface="Ebrima" pitchFamily="34" charset="0"/>
                <a:ea typeface="Ebrima" pitchFamily="34" charset="-122"/>
                <a:cs typeface="Ebrima" pitchFamily="34" charset="-120"/>
              </a:rPr>
              <a:t>When the taker presses “End” or the program's scheduled time ends</a:t>
            </a:r>
            <a:endParaRPr lang="en-US" sz="1350" dirty="0"/>
          </a:p>
        </p:txBody>
      </p:sp>
      <p:sp>
        <p:nvSpPr>
          <p:cNvPr id="27" name="Shape 25"/>
          <p:cNvSpPr/>
          <p:nvPr/>
        </p:nvSpPr>
        <p:spPr>
          <a:xfrm>
            <a:off x="548640" y="4297680"/>
            <a:ext cx="548640" cy="548640"/>
          </a:xfrm>
          <a:prstGeom prst="ellipse">
            <a:avLst/>
          </a:prstGeom>
          <a:solidFill>
            <a:schemeClr val="accent2"/>
          </a:solidFill>
          <a:ln/>
        </p:spPr>
      </p:sp>
      <p:pic>
        <p:nvPicPr>
          <p:cNvPr id="28" name="Image 0" descr="preencoded.png">    </p:cNvPr>
          <p:cNvPicPr>
            <a:picLocks noChangeAspect="1"/>
          </p:cNvPicPr>
          <p:nvPr/>
        </p:nvPicPr>
        <p:blipFill>
          <a:blip r:embed="rId1"/>
          <a:stretch>
            <a:fillRect/>
          </a:stretch>
        </p:blipFill>
        <p:spPr>
          <a:xfrm>
            <a:off x="680314" y="4429354"/>
            <a:ext cx="285293" cy="285293"/>
          </a:xfrm>
          <a:prstGeom prst="rect">
            <a:avLst/>
          </a:prstGeom>
        </p:spPr>
      </p:pic>
      <p:sp>
        <p:nvSpPr>
          <p:cNvPr id="29" name="Text 26"/>
          <p:cNvSpPr txBox="1"/>
          <p:nvPr/>
        </p:nvSpPr>
        <p:spPr>
          <a:xfrm>
            <a:off x="1261872" y="4297680"/>
            <a:ext cx="4800600" cy="566928"/>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Expected members who were not recorded are marked “Absent” automatically</a:t>
            </a:r>
            <a:endParaRPr lang="en-US" sz="1450" dirty="0"/>
          </a:p>
        </p:txBody>
      </p:sp>
      <p:sp>
        <p:nvSpPr>
          <p:cNvPr id="30" name="Shape 27"/>
          <p:cNvSpPr/>
          <p:nvPr/>
        </p:nvSpPr>
        <p:spPr>
          <a:xfrm>
            <a:off x="6172200" y="4297680"/>
            <a:ext cx="548640" cy="548640"/>
          </a:xfrm>
          <a:prstGeom prst="ellipse">
            <a:avLst/>
          </a:prstGeom>
          <a:solidFill>
            <a:schemeClr val="accent2"/>
          </a:solidFill>
          <a:ln/>
        </p:spPr>
      </p:sp>
      <p:pic>
        <p:nvPicPr>
          <p:cNvPr id="31" name="Image 1" descr="preencoded.png">    </p:cNvPr>
          <p:cNvPicPr>
            <a:picLocks noChangeAspect="1"/>
          </p:cNvPicPr>
          <p:nvPr/>
        </p:nvPicPr>
        <p:blipFill>
          <a:blip r:embed="rId2"/>
          <a:stretch>
            <a:fillRect/>
          </a:stretch>
        </p:blipFill>
        <p:spPr>
          <a:xfrm>
            <a:off x="6303874" y="4429354"/>
            <a:ext cx="285293" cy="285293"/>
          </a:xfrm>
          <a:prstGeom prst="rect">
            <a:avLst/>
          </a:prstGeom>
        </p:spPr>
      </p:pic>
      <p:sp>
        <p:nvSpPr>
          <p:cNvPr id="32" name="Text 28"/>
          <p:cNvSpPr txBox="1"/>
          <p:nvPr/>
        </p:nvSpPr>
        <p:spPr>
          <a:xfrm>
            <a:off x="6885432" y="4297680"/>
            <a:ext cx="4800600" cy="566928"/>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After closing, changes are made only through correction requests and approval</a:t>
            </a:r>
            <a:endParaRPr lang="en-US" sz="1450" dirty="0"/>
          </a:p>
        </p:txBody>
      </p:sp>
      <p:sp>
        <p:nvSpPr>
          <p:cNvPr id="33" name="Shape 29"/>
          <p:cNvSpPr/>
          <p:nvPr/>
        </p:nvSpPr>
        <p:spPr>
          <a:xfrm>
            <a:off x="548640" y="5212080"/>
            <a:ext cx="548640" cy="548640"/>
          </a:xfrm>
          <a:prstGeom prst="ellipse">
            <a:avLst/>
          </a:prstGeom>
          <a:solidFill>
            <a:schemeClr val="accent2"/>
          </a:solidFill>
          <a:ln/>
        </p:spPr>
      </p:sp>
      <p:pic>
        <p:nvPicPr>
          <p:cNvPr id="34" name="Image 2" descr="preencoded.png">    </p:cNvPr>
          <p:cNvPicPr>
            <a:picLocks noChangeAspect="1"/>
          </p:cNvPicPr>
          <p:nvPr/>
        </p:nvPicPr>
        <p:blipFill>
          <a:blip r:embed="rId3"/>
          <a:stretch>
            <a:fillRect/>
          </a:stretch>
        </p:blipFill>
        <p:spPr>
          <a:xfrm>
            <a:off x="680314" y="5343754"/>
            <a:ext cx="285293" cy="285293"/>
          </a:xfrm>
          <a:prstGeom prst="rect">
            <a:avLst/>
          </a:prstGeom>
        </p:spPr>
      </p:pic>
      <p:sp>
        <p:nvSpPr>
          <p:cNvPr id="35" name="Text 30"/>
          <p:cNvSpPr txBox="1"/>
          <p:nvPr/>
        </p:nvSpPr>
        <p:spPr>
          <a:xfrm>
            <a:off x="1261872" y="5212080"/>
            <a:ext cx="4800600" cy="566928"/>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Works offline too; records are sent automatically when the connection returns</a:t>
            </a:r>
            <a:endParaRPr lang="en-US" sz="1450" dirty="0"/>
          </a:p>
        </p:txBody>
      </p:sp>
      <p:sp>
        <p:nvSpPr>
          <p:cNvPr id="36" name="Shape 31"/>
          <p:cNvSpPr/>
          <p:nvPr/>
        </p:nvSpPr>
        <p:spPr>
          <a:xfrm>
            <a:off x="6172200" y="5212080"/>
            <a:ext cx="548640" cy="548640"/>
          </a:xfrm>
          <a:prstGeom prst="ellipse">
            <a:avLst/>
          </a:prstGeom>
          <a:solidFill>
            <a:schemeClr val="accent2"/>
          </a:solidFill>
          <a:ln/>
        </p:spPr>
      </p:sp>
      <p:pic>
        <p:nvPicPr>
          <p:cNvPr id="37" name="Image 3" descr="preencoded.png">    </p:cNvPr>
          <p:cNvPicPr>
            <a:picLocks noChangeAspect="1"/>
          </p:cNvPicPr>
          <p:nvPr/>
        </p:nvPicPr>
        <p:blipFill>
          <a:blip r:embed="rId4"/>
          <a:stretch>
            <a:fillRect/>
          </a:stretch>
        </p:blipFill>
        <p:spPr>
          <a:xfrm>
            <a:off x="6303874" y="5343754"/>
            <a:ext cx="285293" cy="285293"/>
          </a:xfrm>
          <a:prstGeom prst="rect">
            <a:avLst/>
          </a:prstGeom>
        </p:spPr>
      </p:pic>
      <p:sp>
        <p:nvSpPr>
          <p:cNvPr id="38" name="Text 32"/>
          <p:cNvSpPr txBox="1"/>
          <p:nvPr/>
        </p:nvSpPr>
        <p:spPr>
          <a:xfrm>
            <a:off x="6885432" y="5212080"/>
            <a:ext cx="4800600" cy="566928"/>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A member cannot be recorded twice</a:t>
            </a:r>
            <a:endParaRPr lang="en-US" sz="14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Attendance Rules, Punctuality, Scoring and Reports</a:t>
            </a:r>
            <a:endParaRPr lang="en-US" sz="3400" dirty="0"/>
          </a:p>
        </p:txBody>
      </p:sp>
      <p:sp>
        <p:nvSpPr>
          <p:cNvPr id="3" name="Shape 1"/>
          <p:cNvSpPr/>
          <p:nvPr/>
        </p:nvSpPr>
        <p:spPr>
          <a:xfrm>
            <a:off x="548640" y="1325880"/>
            <a:ext cx="3383280" cy="4846320"/>
          </a:xfrm>
          <a:prstGeom prst="roundRect">
            <a:avLst>
              <a:gd name="adj" fmla="val 3243"/>
            </a:avLst>
          </a:prstGeom>
          <a:solidFill>
            <a:schemeClr val="accent1"/>
          </a:solidFill>
          <a:ln/>
        </p:spPr>
      </p:sp>
      <p:sp>
        <p:nvSpPr>
          <p:cNvPr id="4" name="Text 2"/>
          <p:cNvSpPr txBox="1"/>
          <p:nvPr/>
        </p:nvSpPr>
        <p:spPr>
          <a:xfrm>
            <a:off x="822960" y="1508760"/>
            <a:ext cx="2926080" cy="777240"/>
          </a:xfrm>
          <a:prstGeom prst="rect">
            <a:avLst/>
          </a:prstGeom>
          <a:noFill/>
          <a:ln/>
        </p:spPr>
        <p:txBody>
          <a:bodyPr wrap="square" lIns="0" tIns="0" rIns="0" bIns="0" rtlCol="0" anchor="t"/>
          <a:lstStyle/>
          <a:p>
            <a:pPr indent="0" marL="0">
              <a:buNone/>
            </a:pPr>
            <a:r>
              <a:rPr lang="en-US" sz="4000" b="1" dirty="0">
                <a:solidFill>
                  <a:schemeClr val="accent2"/>
                </a:solidFill>
                <a:latin typeface="Ebrima" pitchFamily="34" charset="0"/>
                <a:ea typeface="Ebrima" pitchFamily="34" charset="-122"/>
                <a:cs typeface="Ebrima" pitchFamily="34" charset="-120"/>
              </a:rPr>
              <a:t>15 min</a:t>
            </a:r>
            <a:endParaRPr lang="en-US" sz="4000" dirty="0"/>
          </a:p>
        </p:txBody>
      </p:sp>
      <p:sp>
        <p:nvSpPr>
          <p:cNvPr id="5" name="Text 3"/>
          <p:cNvSpPr txBox="1"/>
          <p:nvPr/>
        </p:nvSpPr>
        <p:spPr>
          <a:xfrm>
            <a:off x="822960" y="2286000"/>
            <a:ext cx="2926080" cy="548640"/>
          </a:xfrm>
          <a:prstGeom prst="rect">
            <a:avLst/>
          </a:prstGeom>
          <a:noFill/>
          <a:ln/>
        </p:spPr>
        <p:txBody>
          <a:bodyPr wrap="square" lIns="0" tIns="0" rIns="0" bIns="0" rtlCol="0" anchor="t"/>
          <a:lstStyle/>
          <a:p>
            <a:pPr indent="0" marL="0">
              <a:buNone/>
            </a:pPr>
            <a:endParaRPr lang="en-US" sz="1300" dirty="0"/>
          </a:p>
        </p:txBody>
      </p:sp>
      <p:sp>
        <p:nvSpPr>
          <p:cNvPr id="6" name="Text 4"/>
          <p:cNvSpPr txBox="1"/>
          <p:nvPr/>
        </p:nvSpPr>
        <p:spPr>
          <a:xfrm>
            <a:off x="822960" y="2286000"/>
            <a:ext cx="2926080" cy="548640"/>
          </a:xfrm>
          <a:prstGeom prst="rect">
            <a:avLst/>
          </a:prstGeom>
          <a:noFill/>
          <a:ln/>
        </p:spPr>
        <p:txBody>
          <a:bodyPr wrap="square" lIns="0" tIns="0" rIns="0" bIns="0" rtlCol="0" anchor="t"/>
          <a:lstStyle/>
          <a:p>
            <a:pPr indent="0" marL="0">
              <a:buNone/>
            </a:pPr>
            <a:r>
              <a:rPr lang="en-US" sz="1300" dirty="0">
                <a:solidFill>
                  <a:schemeClr val="bg1"/>
                </a:solidFill>
                <a:latin typeface="Ebrima" pitchFamily="34" charset="0"/>
                <a:ea typeface="Ebrima" pitchFamily="34" charset="-122"/>
                <a:cs typeface="Ebrima" pitchFamily="34" charset="-120"/>
              </a:rPr>
              <a:t>How early the session opens before the program</a:t>
            </a:r>
            <a:endParaRPr lang="en-US" sz="1300" dirty="0"/>
          </a:p>
        </p:txBody>
      </p:sp>
      <p:sp>
        <p:nvSpPr>
          <p:cNvPr id="7" name="Text 5"/>
          <p:cNvSpPr txBox="1"/>
          <p:nvPr/>
        </p:nvSpPr>
        <p:spPr>
          <a:xfrm>
            <a:off x="822960" y="3017520"/>
            <a:ext cx="2926080" cy="777240"/>
          </a:xfrm>
          <a:prstGeom prst="rect">
            <a:avLst/>
          </a:prstGeom>
          <a:noFill/>
          <a:ln/>
        </p:spPr>
        <p:txBody>
          <a:bodyPr wrap="square" lIns="0" tIns="0" rIns="0" bIns="0" rtlCol="0" anchor="t"/>
          <a:lstStyle/>
          <a:p>
            <a:pPr indent="0" marL="0">
              <a:buNone/>
            </a:pPr>
            <a:r>
              <a:rPr lang="en-US" sz="4000" b="1" dirty="0">
                <a:solidFill>
                  <a:schemeClr val="accent2"/>
                </a:solidFill>
                <a:latin typeface="Ebrima" pitchFamily="34" charset="0"/>
                <a:ea typeface="Ebrima" pitchFamily="34" charset="-122"/>
                <a:cs typeface="Ebrima" pitchFamily="34" charset="-120"/>
              </a:rPr>
              <a:t>1 taker</a:t>
            </a:r>
            <a:endParaRPr lang="en-US" sz="4000" dirty="0"/>
          </a:p>
        </p:txBody>
      </p:sp>
      <p:sp>
        <p:nvSpPr>
          <p:cNvPr id="8" name="Text 6"/>
          <p:cNvSpPr txBox="1"/>
          <p:nvPr/>
        </p:nvSpPr>
        <p:spPr>
          <a:xfrm>
            <a:off x="822960" y="3794760"/>
            <a:ext cx="2926080" cy="548640"/>
          </a:xfrm>
          <a:prstGeom prst="rect">
            <a:avLst/>
          </a:prstGeom>
          <a:noFill/>
          <a:ln/>
        </p:spPr>
        <p:txBody>
          <a:bodyPr wrap="square" lIns="0" tIns="0" rIns="0" bIns="0" rtlCol="0" anchor="t"/>
          <a:lstStyle/>
          <a:p>
            <a:pPr indent="0" marL="0">
              <a:buNone/>
            </a:pPr>
            <a:endParaRPr lang="en-US" sz="1300" dirty="0"/>
          </a:p>
        </p:txBody>
      </p:sp>
      <p:sp>
        <p:nvSpPr>
          <p:cNvPr id="9" name="Text 7"/>
          <p:cNvSpPr txBox="1"/>
          <p:nvPr/>
        </p:nvSpPr>
        <p:spPr>
          <a:xfrm>
            <a:off x="822960" y="3794760"/>
            <a:ext cx="2926080" cy="365760"/>
          </a:xfrm>
          <a:prstGeom prst="rect">
            <a:avLst/>
          </a:prstGeom>
          <a:noFill/>
          <a:ln/>
        </p:spPr>
        <p:txBody>
          <a:bodyPr wrap="square" lIns="0" tIns="0" rIns="0" bIns="0" rtlCol="0" anchor="t"/>
          <a:lstStyle/>
          <a:p>
            <a:pPr indent="0" marL="0">
              <a:buNone/>
            </a:pPr>
            <a:r>
              <a:rPr lang="en-US" sz="1300" dirty="0">
                <a:solidFill>
                  <a:schemeClr val="bg1"/>
                </a:solidFill>
                <a:latin typeface="Ebrima" pitchFamily="34" charset="0"/>
                <a:ea typeface="Ebrima" pitchFamily="34" charset="-122"/>
                <a:cs typeface="Ebrima" pitchFamily="34" charset="-120"/>
              </a:rPr>
              <a:t>For each program date</a:t>
            </a:r>
            <a:endParaRPr lang="en-US" sz="1300" dirty="0"/>
          </a:p>
        </p:txBody>
      </p:sp>
      <p:sp>
        <p:nvSpPr>
          <p:cNvPr id="10" name="Text 8"/>
          <p:cNvSpPr txBox="1"/>
          <p:nvPr/>
        </p:nvSpPr>
        <p:spPr>
          <a:xfrm>
            <a:off x="822960" y="4389120"/>
            <a:ext cx="2926080" cy="777240"/>
          </a:xfrm>
          <a:prstGeom prst="rect">
            <a:avLst/>
          </a:prstGeom>
          <a:noFill/>
          <a:ln/>
        </p:spPr>
        <p:txBody>
          <a:bodyPr wrap="square" lIns="0" tIns="0" rIns="0" bIns="0" rtlCol="0" anchor="t"/>
          <a:lstStyle/>
          <a:p>
            <a:pPr indent="0" marL="0">
              <a:buNone/>
            </a:pPr>
            <a:r>
              <a:rPr lang="en-US" sz="4000" b="1" dirty="0">
                <a:solidFill>
                  <a:schemeClr val="accent2"/>
                </a:solidFill>
                <a:latin typeface="Ebrima" pitchFamily="34" charset="0"/>
                <a:ea typeface="Ebrima" pitchFamily="34" charset="-122"/>
                <a:cs typeface="Ebrima" pitchFamily="34" charset="-120"/>
              </a:rPr>
              <a:t>Signature</a:t>
            </a:r>
            <a:endParaRPr lang="en-US" sz="4000" dirty="0"/>
          </a:p>
        </p:txBody>
      </p:sp>
      <p:sp>
        <p:nvSpPr>
          <p:cNvPr id="11" name="Text 9"/>
          <p:cNvSpPr txBox="1"/>
          <p:nvPr/>
        </p:nvSpPr>
        <p:spPr>
          <a:xfrm>
            <a:off x="822960" y="5166360"/>
            <a:ext cx="2926080" cy="548640"/>
          </a:xfrm>
          <a:prstGeom prst="rect">
            <a:avLst/>
          </a:prstGeom>
          <a:noFill/>
          <a:ln/>
        </p:spPr>
        <p:txBody>
          <a:bodyPr wrap="square" lIns="0" tIns="0" rIns="0" bIns="0" rtlCol="0" anchor="t"/>
          <a:lstStyle/>
          <a:p>
            <a:pPr indent="0" marL="0">
              <a:buNone/>
            </a:pPr>
            <a:endParaRPr lang="en-US" sz="1300" dirty="0"/>
          </a:p>
        </p:txBody>
      </p:sp>
      <p:sp>
        <p:nvSpPr>
          <p:cNvPr id="12" name="Text 10"/>
          <p:cNvSpPr txBox="1"/>
          <p:nvPr/>
        </p:nvSpPr>
        <p:spPr>
          <a:xfrm>
            <a:off x="822960" y="5166360"/>
            <a:ext cx="2926080" cy="822960"/>
          </a:xfrm>
          <a:prstGeom prst="rect">
            <a:avLst/>
          </a:prstGeom>
          <a:noFill/>
          <a:ln/>
        </p:spPr>
        <p:txBody>
          <a:bodyPr wrap="square" lIns="0" tIns="0" rIns="0" bIns="0" rtlCol="0" anchor="t"/>
          <a:lstStyle/>
          <a:p>
            <a:pPr indent="0" marL="0">
              <a:buNone/>
            </a:pPr>
            <a:r>
              <a:rPr lang="en-US" sz="1300" dirty="0">
                <a:solidFill>
                  <a:schemeClr val="bg1"/>
                </a:solidFill>
                <a:latin typeface="Ebrima" pitchFamily="34" charset="0"/>
                <a:ea typeface="Ebrima" pitchFamily="34" charset="-122"/>
                <a:cs typeface="Ebrima" pitchFamily="34" charset="-120"/>
              </a:rPr>
              <a:t>For every “Present” record (groups can be exempted)</a:t>
            </a:r>
            <a:endParaRPr lang="en-US" sz="1300" dirty="0"/>
          </a:p>
        </p:txBody>
      </p:sp>
      <p:sp>
        <p:nvSpPr>
          <p:cNvPr id="13" name="Text 11"/>
          <p:cNvSpPr txBox="1"/>
          <p:nvPr/>
        </p:nvSpPr>
        <p:spPr>
          <a:xfrm>
            <a:off x="4343400" y="1417320"/>
            <a:ext cx="7315200" cy="4754880"/>
          </a:xfrm>
          <a:prstGeom prst="rect">
            <a:avLst/>
          </a:prstGeom>
          <a:noFill/>
          <a:ln/>
        </p:spPr>
        <p:txBody>
          <a:bodyPr wrap="square" lIns="0" tIns="0" rIns="0" bIns="0" rtlCol="0" anchor="t"/>
          <a:lstStyle/>
          <a:p>
            <a:pPr marL="342900" indent="-342900">
              <a:spcAft>
                <a:spcPts val="1000"/>
              </a:spcAft>
              <a:buSzPct val="100000"/>
              <a:buChar char="●"/>
            </a:pPr>
            <a:r>
              <a:rPr lang="en-US" sz="1500" b="1" dirty="0">
                <a:solidFill>
                  <a:schemeClr val="accent1"/>
                </a:solidFill>
                <a:latin typeface="Ebrima" pitchFamily="34" charset="0"/>
                <a:ea typeface="Ebrima" pitchFamily="34" charset="-122"/>
                <a:cs typeface="Ebrima" pitchFamily="34" charset="-120"/>
              </a:rPr>
              <a:t>Punctuality: </a:t>
            </a:r>
            <a:pPr indent="0" marL="0">
              <a:spcAft>
                <a:spcPts val="1000"/>
              </a:spcAft>
              <a:buNone/>
            </a:pPr>
            <a:r>
              <a:rPr lang="en-US" sz="1500" dirty="0">
                <a:solidFill>
                  <a:schemeClr val="tx1"/>
                </a:solidFill>
                <a:latin typeface="Ebrima" pitchFamily="34" charset="0"/>
                <a:ea typeface="Ebrima" pitchFamily="34" charset="-122"/>
                <a:cs typeface="Ebrima" pitchFamily="34" charset="-120"/>
              </a:rPr>
              <a:t>The “Late” status has been removed; instead, the exact time of recording and the minutes elapsed since “Start” are stored</a:t>
            </a:r>
            <a:endParaRPr lang="en-US" sz="1500" dirty="0"/>
          </a:p>
          <a:p>
            <a:pPr marL="342900" indent="-342900">
              <a:spcAft>
                <a:spcPts val="1000"/>
              </a:spcAft>
              <a:buSzPct val="100000"/>
              <a:buChar char="●"/>
            </a:pPr>
            <a:r>
              <a:rPr lang="en-US" sz="1500" b="1" dirty="0">
                <a:solidFill>
                  <a:schemeClr val="accent1"/>
                </a:solidFill>
                <a:latin typeface="Ebrima" pitchFamily="34" charset="0"/>
                <a:ea typeface="Ebrima" pitchFamily="34" charset="-122"/>
                <a:cs typeface="Ebrima" pitchFamily="34" charset="-120"/>
              </a:rPr>
              <a:t>Excuse requests: </a:t>
            </a:r>
            <a:pPr indent="0" marL="0">
              <a:spcAft>
                <a:spcPts val="1000"/>
              </a:spcAft>
              <a:buNone/>
            </a:pPr>
            <a:r>
              <a:rPr lang="en-US" sz="1500" dirty="0">
                <a:solidFill>
                  <a:schemeClr val="tx1"/>
                </a:solidFill>
                <a:latin typeface="Ebrima" pitchFamily="34" charset="0"/>
                <a:ea typeface="Ebrima" pitchFamily="34" charset="-122"/>
                <a:cs typeface="Ebrima" pitchFamily="34" charset="-120"/>
              </a:rPr>
              <a:t>Before a deadline, with monthly and quarterly limits; an excuse approved by mistake can be cancelled with a reason</a:t>
            </a:r>
            <a:endParaRPr lang="en-US" sz="1500" dirty="0"/>
          </a:p>
          <a:p>
            <a:pPr marL="342900" indent="-342900">
              <a:spcAft>
                <a:spcPts val="1000"/>
              </a:spcAft>
              <a:buSzPct val="100000"/>
              <a:buChar char="●"/>
            </a:pPr>
            <a:r>
              <a:rPr lang="en-US" sz="1500" b="1" dirty="0">
                <a:solidFill>
                  <a:schemeClr val="accent1"/>
                </a:solidFill>
                <a:latin typeface="Ebrima" pitchFamily="34" charset="0"/>
                <a:ea typeface="Ebrima" pitchFamily="34" charset="-122"/>
                <a:cs typeface="Ebrima" pitchFamily="34" charset="-120"/>
              </a:rPr>
              <a:t>Corrections: </a:t>
            </a:r>
            <a:pPr indent="0" marL="0">
              <a:spcAft>
                <a:spcPts val="1000"/>
              </a:spcAft>
              <a:buNone/>
            </a:pPr>
            <a:r>
              <a:rPr lang="en-US" sz="1500" dirty="0">
                <a:solidFill>
                  <a:schemeClr val="tx1"/>
                </a:solidFill>
                <a:latin typeface="Ebrima" pitchFamily="34" charset="0"/>
                <a:ea typeface="Ebrima" pitchFamily="34" charset="-122"/>
                <a:cs typeface="Ebrima" pitchFamily="34" charset="-120"/>
              </a:rPr>
              <a:t>After closing, by request, review and audit trail</a:t>
            </a:r>
            <a:endParaRPr lang="en-US" sz="1500" dirty="0"/>
          </a:p>
          <a:p>
            <a:pPr marL="342900" indent="-342900">
              <a:spcAft>
                <a:spcPts val="1000"/>
              </a:spcAft>
              <a:buSzPct val="100000"/>
              <a:buChar char="●"/>
            </a:pPr>
            <a:r>
              <a:rPr lang="en-US" sz="1500" b="1" dirty="0">
                <a:solidFill>
                  <a:schemeClr val="accent1"/>
                </a:solidFill>
                <a:latin typeface="Ebrima" pitchFamily="34" charset="0"/>
                <a:ea typeface="Ebrima" pitchFamily="34" charset="-122"/>
                <a:cs typeface="Ebrima" pitchFamily="34" charset="-120"/>
              </a:rPr>
              <a:t>For members: </a:t>
            </a:r>
            <a:pPr indent="0" marL="0">
              <a:spcAft>
                <a:spcPts val="1000"/>
              </a:spcAft>
              <a:buNone/>
            </a:pPr>
            <a:r>
              <a:rPr lang="en-US" sz="1500" dirty="0">
                <a:solidFill>
                  <a:schemeClr val="tx1"/>
                </a:solidFill>
                <a:latin typeface="Ebrima" pitchFamily="34" charset="0"/>
                <a:ea typeface="Ebrima" pitchFamily="34" charset="-122"/>
                <a:cs typeface="Ebrima" pitchFamily="34" charset="-120"/>
              </a:rPr>
              <a:t>Their own attendance calendar and statistics</a:t>
            </a:r>
            <a:endParaRPr lang="en-US" sz="1500" dirty="0"/>
          </a:p>
          <a:p>
            <a:pPr marL="342900" indent="-342900">
              <a:spcAft>
                <a:spcPts val="1000"/>
              </a:spcAft>
              <a:buSzPct val="100000"/>
              <a:buChar char="●"/>
            </a:pPr>
            <a:r>
              <a:rPr lang="en-US" sz="1500" b="1" dirty="0">
                <a:solidFill>
                  <a:schemeClr val="accent1"/>
                </a:solidFill>
                <a:latin typeface="Ebrima" pitchFamily="34" charset="0"/>
                <a:ea typeface="Ebrima" pitchFamily="34" charset="-122"/>
                <a:cs typeface="Ebrima" pitchFamily="34" charset="-120"/>
              </a:rPr>
              <a:t>Reports: </a:t>
            </a:r>
            <a:pPr indent="0" marL="0">
              <a:spcAft>
                <a:spcPts val="1000"/>
              </a:spcAft>
              <a:buNone/>
            </a:pPr>
            <a:r>
              <a:rPr lang="en-US" sz="1500" dirty="0">
                <a:solidFill>
                  <a:schemeClr val="tx1"/>
                </a:solidFill>
                <a:latin typeface="Ebrima" pitchFamily="34" charset="0"/>
                <a:ea typeface="Ebrima" pitchFamily="34" charset="-122"/>
                <a:cs typeface="Ebrima" pitchFamily="34" charset="-120"/>
              </a:rPr>
              <a:t>For each program date in PDF, Excel or CSV — Ethiopian date, taker, time, signature</a:t>
            </a:r>
            <a:endParaRPr lang="en-US" sz="1500" dirty="0"/>
          </a:p>
          <a:p>
            <a:pPr marL="342900" indent="-342900">
              <a:spcAft>
                <a:spcPts val="1000"/>
              </a:spcAft>
              <a:buSzPct val="100000"/>
              <a:buChar char="●"/>
            </a:pPr>
            <a:r>
              <a:rPr lang="en-US" sz="1500" b="1" dirty="0">
                <a:solidFill>
                  <a:schemeClr val="accent4"/>
                </a:solidFill>
                <a:latin typeface="Ebrima" pitchFamily="34" charset="0"/>
                <a:ea typeface="Ebrima" pitchFamily="34" charset="-122"/>
                <a:cs typeface="Ebrima" pitchFamily="34" charset="-120"/>
              </a:rPr>
              <a:t>In development: </a:t>
            </a:r>
            <a:pPr indent="0" marL="0">
              <a:spcAft>
                <a:spcPts val="1000"/>
              </a:spcAft>
              <a:buNone/>
            </a:pPr>
            <a:r>
              <a:rPr lang="en-US" sz="1500" dirty="0">
                <a:solidFill>
                  <a:schemeClr val="accent4"/>
                </a:solidFill>
                <a:latin typeface="Ebrima" pitchFamily="34" charset="0"/>
                <a:ea typeface="Ebrima" pitchFamily="34" charset="-122"/>
                <a:cs typeface="Ebrima" pitchFamily="34" charset="-120"/>
              </a:rPr>
              <a:t>Attendance percentages by elapsed-minute intervals for selection (not yet released)</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Education and Training Management</a:t>
            </a:r>
            <a:endParaRPr lang="en-US" sz="3400" dirty="0"/>
          </a:p>
        </p:txBody>
      </p:sp>
      <p:sp>
        <p:nvSpPr>
          <p:cNvPr id="3" name="Text 1"/>
          <p:cNvSpPr txBox="1"/>
          <p:nvPr/>
        </p:nvSpPr>
        <p:spPr>
          <a:xfrm>
            <a:off x="548640" y="1371600"/>
            <a:ext cx="5760720" cy="36576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Classes, courses, schedules, regular and distance learning</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Student registration, transfers and promotion to the next class</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Teacher assignments with history — only active teachers enter marks</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Assignments (individual and group), submission and grading</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Student requests (class change, add/drop a course) and complaints</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The Education module can be switched off for selected members</a:t>
            </a:r>
            <a:endParaRPr lang="en-US" sz="1500" dirty="0"/>
          </a:p>
        </p:txBody>
      </p:sp>
      <p:pic>
        <p:nvPicPr>
          <p:cNvPr id="4" name="Image 0" descr="C:\Users\HP\Documents\MH-app-1.5.3\mobile\mobile\assets\images\edu_icon.png">    </p:cNvPr>
          <p:cNvPicPr>
            <a:picLocks noChangeAspect="1"/>
          </p:cNvPicPr>
          <p:nvPr/>
        </p:nvPicPr>
        <p:blipFill>
          <a:blip r:embed="rId1"/>
          <a:stretch>
            <a:fillRect/>
          </a:stretch>
        </p:blipFill>
        <p:spPr>
          <a:xfrm>
            <a:off x="9692640" y="1143000"/>
            <a:ext cx="1737360" cy="1737360"/>
          </a:xfrm>
          <a:prstGeom prst="rect">
            <a:avLst/>
          </a:prstGeom>
        </p:spPr>
      </p:pic>
      <p:sp>
        <p:nvSpPr>
          <p:cNvPr id="5" name="Text 2"/>
          <p:cNvSpPr txBox="1"/>
          <p:nvPr/>
        </p:nvSpPr>
        <p:spPr>
          <a:xfrm>
            <a:off x="548640" y="4572000"/>
            <a:ext cx="5486400" cy="36576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Marks workflow</a:t>
            </a:r>
            <a:endParaRPr lang="en-US" sz="1600" dirty="0"/>
          </a:p>
        </p:txBody>
      </p:sp>
      <p:sp>
        <p:nvSpPr>
          <p:cNvPr id="6" name="Shape 3"/>
          <p:cNvSpPr/>
          <p:nvPr/>
        </p:nvSpPr>
        <p:spPr>
          <a:xfrm>
            <a:off x="548640" y="4983480"/>
            <a:ext cx="2558034" cy="1234440"/>
          </a:xfrm>
          <a:prstGeom prst="roundRect">
            <a:avLst>
              <a:gd name="adj" fmla="val 7407"/>
            </a:avLst>
          </a:prstGeom>
          <a:solidFill>
            <a:schemeClr val="accent1"/>
          </a:solidFill>
          <a:ln/>
        </p:spPr>
      </p:sp>
      <p:sp>
        <p:nvSpPr>
          <p:cNvPr id="7" name="Text 4"/>
          <p:cNvSpPr txBox="1"/>
          <p:nvPr/>
        </p:nvSpPr>
        <p:spPr>
          <a:xfrm>
            <a:off x="685800" y="5148072"/>
            <a:ext cx="2283714" cy="502920"/>
          </a:xfrm>
          <a:prstGeom prst="rect">
            <a:avLst/>
          </a:prstGeom>
          <a:noFill/>
          <a:ln/>
        </p:spPr>
        <p:txBody>
          <a:bodyPr wrap="square" lIns="0" tIns="0" rIns="0" bIns="0" rtlCol="0" anchor="t"/>
          <a:lstStyle/>
          <a:p>
            <a:pPr indent="0" marL="0">
              <a:buNone/>
            </a:pPr>
            <a:r>
              <a:rPr lang="en-US" sz="1600" b="1" dirty="0">
                <a:solidFill>
                  <a:schemeClr val="bg1"/>
                </a:solidFill>
                <a:latin typeface="Ebrima" pitchFamily="34" charset="0"/>
                <a:ea typeface="Ebrima" pitchFamily="34" charset="-122"/>
                <a:cs typeface="Ebrima" pitchFamily="34" charset="-120"/>
              </a:rPr>
              <a:t>Draft</a:t>
            </a:r>
            <a:endParaRPr lang="en-US" sz="1600" dirty="0"/>
          </a:p>
        </p:txBody>
      </p:sp>
      <p:sp>
        <p:nvSpPr>
          <p:cNvPr id="8" name="Text 5"/>
          <p:cNvSpPr txBox="1"/>
          <p:nvPr/>
        </p:nvSpPr>
        <p:spPr>
          <a:xfrm>
            <a:off x="685800" y="5669280"/>
            <a:ext cx="2283714" cy="457200"/>
          </a:xfrm>
          <a:prstGeom prst="rect">
            <a:avLst/>
          </a:prstGeom>
          <a:noFill/>
          <a:ln/>
        </p:spPr>
        <p:txBody>
          <a:bodyPr wrap="square" lIns="0" tIns="0" rIns="0" bIns="0" rtlCol="0" anchor="t"/>
          <a:lstStyle/>
          <a:p>
            <a:pPr indent="0" marL="0">
              <a:buNone/>
            </a:pPr>
            <a:r>
              <a:rPr lang="en-US" sz="1250" dirty="0">
                <a:solidFill>
                  <a:schemeClr val="bg1"/>
                </a:solidFill>
                <a:latin typeface="Ebrima" pitchFamily="34" charset="0"/>
                <a:ea typeface="Ebrima" pitchFamily="34" charset="-122"/>
                <a:cs typeface="Ebrima" pitchFamily="34" charset="-120"/>
              </a:rPr>
              <a:t>Entered by the teacher</a:t>
            </a:r>
            <a:endParaRPr lang="en-US" sz="1250" dirty="0"/>
          </a:p>
        </p:txBody>
      </p:sp>
      <p:sp>
        <p:nvSpPr>
          <p:cNvPr id="9" name="Shape 6"/>
          <p:cNvSpPr/>
          <p:nvPr/>
        </p:nvSpPr>
        <p:spPr>
          <a:xfrm rot="5400000">
            <a:off x="3134106" y="5536326"/>
            <a:ext cx="237744" cy="128748"/>
          </a:xfrm>
          <a:prstGeom prst="triangle">
            <a:avLst/>
          </a:prstGeom>
          <a:solidFill>
            <a:schemeClr val="accent2"/>
          </a:solidFill>
          <a:ln/>
        </p:spPr>
      </p:sp>
      <p:sp>
        <p:nvSpPr>
          <p:cNvPr id="10" name="Shape 7"/>
          <p:cNvSpPr/>
          <p:nvPr/>
        </p:nvSpPr>
        <p:spPr>
          <a:xfrm>
            <a:off x="3399282" y="4983480"/>
            <a:ext cx="2558034" cy="1234440"/>
          </a:xfrm>
          <a:prstGeom prst="roundRect">
            <a:avLst>
              <a:gd name="adj" fmla="val 7407"/>
            </a:avLst>
          </a:prstGeom>
          <a:solidFill>
            <a:schemeClr val="bg2">
              <a:alpha val="80000"/>
            </a:schemeClr>
          </a:solidFill>
          <a:ln/>
        </p:spPr>
      </p:sp>
      <p:sp>
        <p:nvSpPr>
          <p:cNvPr id="11" name="Text 8"/>
          <p:cNvSpPr txBox="1"/>
          <p:nvPr/>
        </p:nvSpPr>
        <p:spPr>
          <a:xfrm>
            <a:off x="3536442" y="5148072"/>
            <a:ext cx="2283714" cy="5029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Submitted</a:t>
            </a:r>
            <a:endParaRPr lang="en-US" sz="1600" dirty="0"/>
          </a:p>
        </p:txBody>
      </p:sp>
      <p:sp>
        <p:nvSpPr>
          <p:cNvPr id="12" name="Text 9"/>
          <p:cNvSpPr txBox="1"/>
          <p:nvPr/>
        </p:nvSpPr>
        <p:spPr>
          <a:xfrm>
            <a:off x="3536442" y="5669280"/>
            <a:ext cx="2283714"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Sent for review</a:t>
            </a:r>
            <a:endParaRPr lang="en-US" sz="1250" dirty="0"/>
          </a:p>
        </p:txBody>
      </p:sp>
      <p:sp>
        <p:nvSpPr>
          <p:cNvPr id="13" name="Shape 10"/>
          <p:cNvSpPr/>
          <p:nvPr/>
        </p:nvSpPr>
        <p:spPr>
          <a:xfrm rot="5400000">
            <a:off x="5984748" y="5536326"/>
            <a:ext cx="237744" cy="128748"/>
          </a:xfrm>
          <a:prstGeom prst="triangle">
            <a:avLst/>
          </a:prstGeom>
          <a:solidFill>
            <a:schemeClr val="accent2"/>
          </a:solidFill>
          <a:ln/>
        </p:spPr>
      </p:sp>
      <p:sp>
        <p:nvSpPr>
          <p:cNvPr id="14" name="Shape 11"/>
          <p:cNvSpPr/>
          <p:nvPr/>
        </p:nvSpPr>
        <p:spPr>
          <a:xfrm>
            <a:off x="6249924" y="4983480"/>
            <a:ext cx="2558034" cy="1234440"/>
          </a:xfrm>
          <a:prstGeom prst="roundRect">
            <a:avLst>
              <a:gd name="adj" fmla="val 7407"/>
            </a:avLst>
          </a:prstGeom>
          <a:solidFill>
            <a:schemeClr val="bg2">
              <a:alpha val="80000"/>
            </a:schemeClr>
          </a:solidFill>
          <a:ln/>
        </p:spPr>
      </p:sp>
      <p:sp>
        <p:nvSpPr>
          <p:cNvPr id="15" name="Text 12"/>
          <p:cNvSpPr txBox="1"/>
          <p:nvPr/>
        </p:nvSpPr>
        <p:spPr>
          <a:xfrm>
            <a:off x="6387084" y="5148072"/>
            <a:ext cx="2283714" cy="5029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Approved</a:t>
            </a:r>
            <a:endParaRPr lang="en-US" sz="1600" dirty="0"/>
          </a:p>
        </p:txBody>
      </p:sp>
      <p:sp>
        <p:nvSpPr>
          <p:cNvPr id="16" name="Text 13"/>
          <p:cNvSpPr txBox="1"/>
          <p:nvPr/>
        </p:nvSpPr>
        <p:spPr>
          <a:xfrm>
            <a:off x="6387084" y="5669280"/>
            <a:ext cx="2283714" cy="45720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By another officer (no self-approval)</a:t>
            </a:r>
            <a:endParaRPr lang="en-US" sz="1250" dirty="0"/>
          </a:p>
        </p:txBody>
      </p:sp>
      <p:sp>
        <p:nvSpPr>
          <p:cNvPr id="17" name="Shape 14"/>
          <p:cNvSpPr/>
          <p:nvPr/>
        </p:nvSpPr>
        <p:spPr>
          <a:xfrm rot="5400000">
            <a:off x="8835390" y="5536326"/>
            <a:ext cx="237744" cy="128748"/>
          </a:xfrm>
          <a:prstGeom prst="triangle">
            <a:avLst/>
          </a:prstGeom>
          <a:solidFill>
            <a:schemeClr val="accent2"/>
          </a:solidFill>
          <a:ln/>
        </p:spPr>
      </p:sp>
      <p:sp>
        <p:nvSpPr>
          <p:cNvPr id="18" name="Shape 15"/>
          <p:cNvSpPr/>
          <p:nvPr/>
        </p:nvSpPr>
        <p:spPr>
          <a:xfrm>
            <a:off x="9100566" y="4983480"/>
            <a:ext cx="2558034" cy="1234440"/>
          </a:xfrm>
          <a:prstGeom prst="roundRect">
            <a:avLst>
              <a:gd name="adj" fmla="val 7407"/>
            </a:avLst>
          </a:prstGeom>
          <a:solidFill>
            <a:schemeClr val="accent3"/>
          </a:solidFill>
          <a:ln/>
        </p:spPr>
      </p:sp>
      <p:sp>
        <p:nvSpPr>
          <p:cNvPr id="19" name="Text 16"/>
          <p:cNvSpPr txBox="1"/>
          <p:nvPr/>
        </p:nvSpPr>
        <p:spPr>
          <a:xfrm>
            <a:off x="9237726" y="5148072"/>
            <a:ext cx="2283714" cy="502920"/>
          </a:xfrm>
          <a:prstGeom prst="rect">
            <a:avLst/>
          </a:prstGeom>
          <a:noFill/>
          <a:ln/>
        </p:spPr>
        <p:txBody>
          <a:bodyPr wrap="square" lIns="0" tIns="0" rIns="0" bIns="0" rtlCol="0" anchor="t"/>
          <a:lstStyle/>
          <a:p>
            <a:pPr indent="0" marL="0">
              <a:buNone/>
            </a:pPr>
            <a:r>
              <a:rPr lang="en-US" sz="1600" b="1" dirty="0">
                <a:solidFill>
                  <a:schemeClr val="bg1"/>
                </a:solidFill>
                <a:latin typeface="Ebrima" pitchFamily="34" charset="0"/>
                <a:ea typeface="Ebrima" pitchFamily="34" charset="-122"/>
                <a:cs typeface="Ebrima" pitchFamily="34" charset="-120"/>
              </a:rPr>
              <a:t>Published</a:t>
            </a:r>
            <a:endParaRPr lang="en-US" sz="1600" dirty="0"/>
          </a:p>
        </p:txBody>
      </p:sp>
      <p:sp>
        <p:nvSpPr>
          <p:cNvPr id="20" name="Text 17"/>
          <p:cNvSpPr txBox="1"/>
          <p:nvPr/>
        </p:nvSpPr>
        <p:spPr>
          <a:xfrm>
            <a:off x="9237726" y="5669280"/>
            <a:ext cx="2283714" cy="457200"/>
          </a:xfrm>
          <a:prstGeom prst="rect">
            <a:avLst/>
          </a:prstGeom>
          <a:noFill/>
          <a:ln/>
        </p:spPr>
        <p:txBody>
          <a:bodyPr wrap="square" lIns="0" tIns="0" rIns="0" bIns="0" rtlCol="0" anchor="t"/>
          <a:lstStyle/>
          <a:p>
            <a:pPr indent="0" marL="0">
              <a:buNone/>
            </a:pPr>
            <a:r>
              <a:rPr lang="en-US" sz="1250" dirty="0">
                <a:solidFill>
                  <a:schemeClr val="bg1"/>
                </a:solidFill>
                <a:latin typeface="Ebrima" pitchFamily="34" charset="0"/>
                <a:ea typeface="Ebrima" pitchFamily="34" charset="-122"/>
                <a:cs typeface="Ebrima" pitchFamily="34" charset="-120"/>
              </a:rPr>
              <a:t>Now visible to the student</a:t>
            </a:r>
            <a:endParaRPr lang="en-US" sz="1250" dirty="0"/>
          </a:p>
        </p:txBody>
      </p:sp>
      <p:sp>
        <p:nvSpPr>
          <p:cNvPr id="21" name="Shape 18"/>
          <p:cNvSpPr/>
          <p:nvPr/>
        </p:nvSpPr>
        <p:spPr>
          <a:xfrm>
            <a:off x="6675120" y="1371600"/>
            <a:ext cx="2834640" cy="3017520"/>
          </a:xfrm>
          <a:prstGeom prst="roundRect">
            <a:avLst>
              <a:gd name="adj" fmla="val 3871"/>
            </a:avLst>
          </a:prstGeom>
          <a:solidFill>
            <a:schemeClr val="bg2">
              <a:alpha val="60000"/>
            </a:schemeClr>
          </a:solidFill>
          <a:ln/>
        </p:spPr>
      </p:sp>
      <p:sp>
        <p:nvSpPr>
          <p:cNvPr id="22" name="Text 19"/>
          <p:cNvSpPr txBox="1"/>
          <p:nvPr/>
        </p:nvSpPr>
        <p:spPr>
          <a:xfrm>
            <a:off x="6858000" y="1508760"/>
            <a:ext cx="256032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Changing marks</a:t>
            </a:r>
            <a:endParaRPr lang="en-US" sz="1500" dirty="0"/>
          </a:p>
        </p:txBody>
      </p:sp>
      <p:sp>
        <p:nvSpPr>
          <p:cNvPr id="23" name="Text 20"/>
          <p:cNvSpPr txBox="1"/>
          <p:nvPr/>
        </p:nvSpPr>
        <p:spPr>
          <a:xfrm>
            <a:off x="6858000" y="1920240"/>
            <a:ext cx="2514600" cy="237744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After publication, marks change only with a written reason, and every change is kept in the history. Classes or exams with marks cannot be deleted — they are archived.</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Learning Platform (Online Learning)</a:t>
            </a:r>
            <a:endParaRPr lang="en-US" sz="3400" dirty="0"/>
          </a:p>
        </p:txBody>
      </p:sp>
      <p:sp>
        <p:nvSpPr>
          <p:cNvPr id="3" name="Shape 1"/>
          <p:cNvSpPr/>
          <p:nvPr/>
        </p:nvSpPr>
        <p:spPr>
          <a:xfrm>
            <a:off x="667512" y="1261872"/>
            <a:ext cx="2134667" cy="4471416"/>
          </a:xfrm>
          <a:prstGeom prst="roundRect">
            <a:avLst>
              <a:gd name="adj" fmla="val 7710"/>
            </a:avLst>
          </a:prstGeom>
          <a:solidFill>
            <a:schemeClr val="accent6"/>
          </a:solidFill>
          <a:ln/>
          <a:effectLst>
            <a:outerShdw sx="100000" sy="100000" kx="0" ky="0" algn="bl" rotWithShape="0" blurRad="101600" dist="38100" dir="5400000">
              <a:srgbClr val="3D2E31">
                <a:alpha val="30000"/>
              </a:srgbClr>
            </a:outerShdw>
          </a:effectLst>
        </p:spPr>
      </p:sp>
      <p:pic>
        <p:nvPicPr>
          <p:cNvPr id="4" name="Image 0" descr="C:\Users\HP\Documents\MH-app-1.5.3\mobile\mobile\build\screenshots\edu_home.png">    </p:cNvPr>
          <p:cNvPicPr>
            <a:picLocks noChangeAspect="1"/>
          </p:cNvPicPr>
          <p:nvPr/>
        </p:nvPicPr>
        <p:blipFill>
          <a:blip r:embed="rId1"/>
          <a:stretch>
            <a:fillRect/>
          </a:stretch>
        </p:blipFill>
        <p:spPr>
          <a:xfrm>
            <a:off x="731520" y="1325880"/>
            <a:ext cx="2006651" cy="4343400"/>
          </a:xfrm>
          <a:prstGeom prst="rect">
            <a:avLst/>
          </a:prstGeom>
        </p:spPr>
      </p:pic>
      <p:sp>
        <p:nvSpPr>
          <p:cNvPr id="5" name="Text 2"/>
          <p:cNvSpPr txBox="1"/>
          <p:nvPr/>
        </p:nvSpPr>
        <p:spPr>
          <a:xfrm>
            <a:off x="548640" y="5779008"/>
            <a:ext cx="2372411"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Education home</a:t>
            </a:r>
            <a:endParaRPr lang="en-US" sz="1100" dirty="0"/>
          </a:p>
        </p:txBody>
      </p:sp>
      <p:sp>
        <p:nvSpPr>
          <p:cNvPr id="6" name="Shape 3"/>
          <p:cNvSpPr/>
          <p:nvPr/>
        </p:nvSpPr>
        <p:spPr>
          <a:xfrm>
            <a:off x="2953512" y="1261872"/>
            <a:ext cx="2134667" cy="4471416"/>
          </a:xfrm>
          <a:prstGeom prst="roundRect">
            <a:avLst>
              <a:gd name="adj" fmla="val 7710"/>
            </a:avLst>
          </a:prstGeom>
          <a:solidFill>
            <a:schemeClr val="accent6"/>
          </a:solidFill>
          <a:ln/>
          <a:effectLst>
            <a:outerShdw sx="100000" sy="100000" kx="0" ky="0" algn="bl" rotWithShape="0" blurRad="101600" dist="38100" dir="5400000">
              <a:srgbClr val="3D2E31">
                <a:alpha val="30000"/>
              </a:srgbClr>
            </a:outerShdw>
          </a:effectLst>
        </p:spPr>
      </p:sp>
      <p:pic>
        <p:nvPicPr>
          <p:cNvPr id="7" name="Image 1" descr="C:\Users\HP\Documents\MH-app-1.5.3\mobile\mobile\build\screenshots\edu_lesson.png">    </p:cNvPr>
          <p:cNvPicPr>
            <a:picLocks noChangeAspect="1"/>
          </p:cNvPicPr>
          <p:nvPr/>
        </p:nvPicPr>
        <p:blipFill>
          <a:blip r:embed="rId2"/>
          <a:stretch>
            <a:fillRect/>
          </a:stretch>
        </p:blipFill>
        <p:spPr>
          <a:xfrm>
            <a:off x="3017520" y="1325880"/>
            <a:ext cx="2006651" cy="4343400"/>
          </a:xfrm>
          <a:prstGeom prst="rect">
            <a:avLst/>
          </a:prstGeom>
        </p:spPr>
      </p:pic>
      <p:sp>
        <p:nvSpPr>
          <p:cNvPr id="8" name="Text 4"/>
          <p:cNvSpPr txBox="1"/>
          <p:nvPr/>
        </p:nvSpPr>
        <p:spPr>
          <a:xfrm>
            <a:off x="2834640" y="5779008"/>
            <a:ext cx="2372411"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Lesson</a:t>
            </a:r>
            <a:endParaRPr lang="en-US" sz="1100" dirty="0"/>
          </a:p>
        </p:txBody>
      </p:sp>
      <p:sp>
        <p:nvSpPr>
          <p:cNvPr id="9" name="Shape 5"/>
          <p:cNvSpPr/>
          <p:nvPr/>
        </p:nvSpPr>
        <p:spPr>
          <a:xfrm>
            <a:off x="5239512" y="1261872"/>
            <a:ext cx="2134667" cy="4471416"/>
          </a:xfrm>
          <a:prstGeom prst="roundRect">
            <a:avLst>
              <a:gd name="adj" fmla="val 7710"/>
            </a:avLst>
          </a:prstGeom>
          <a:solidFill>
            <a:schemeClr val="accent6"/>
          </a:solidFill>
          <a:ln/>
          <a:effectLst>
            <a:outerShdw sx="100000" sy="100000" kx="0" ky="0" algn="bl" rotWithShape="0" blurRad="101600" dist="38100" dir="5400000">
              <a:srgbClr val="3D2E31">
                <a:alpha val="30000"/>
              </a:srgbClr>
            </a:outerShdw>
          </a:effectLst>
        </p:spPr>
      </p:sp>
      <p:pic>
        <p:nvPicPr>
          <p:cNvPr id="10" name="Image 2" descr="C:\Users\HP\Documents\MH-app-1.5.3\mobile\mobile\build\screenshots\edu_quiz.png">    </p:cNvPr>
          <p:cNvPicPr>
            <a:picLocks noChangeAspect="1"/>
          </p:cNvPicPr>
          <p:nvPr/>
        </p:nvPicPr>
        <p:blipFill>
          <a:blip r:embed="rId3"/>
          <a:stretch>
            <a:fillRect/>
          </a:stretch>
        </p:blipFill>
        <p:spPr>
          <a:xfrm>
            <a:off x="5303520" y="1325880"/>
            <a:ext cx="2006651" cy="4343400"/>
          </a:xfrm>
          <a:prstGeom prst="rect">
            <a:avLst/>
          </a:prstGeom>
        </p:spPr>
      </p:pic>
      <p:sp>
        <p:nvSpPr>
          <p:cNvPr id="11" name="Text 6"/>
          <p:cNvSpPr txBox="1"/>
          <p:nvPr/>
        </p:nvSpPr>
        <p:spPr>
          <a:xfrm>
            <a:off x="5120640" y="5779008"/>
            <a:ext cx="2372411"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Quiz</a:t>
            </a:r>
            <a:endParaRPr lang="en-US" sz="1100" dirty="0"/>
          </a:p>
        </p:txBody>
      </p:sp>
      <p:sp>
        <p:nvSpPr>
          <p:cNvPr id="12" name="Text 7"/>
          <p:cNvSpPr txBox="1"/>
          <p:nvPr/>
        </p:nvSpPr>
        <p:spPr>
          <a:xfrm>
            <a:off x="7818120" y="1325880"/>
            <a:ext cx="3840480" cy="36576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Categories</a:t>
            </a:r>
            <a:endParaRPr lang="en-US" sz="1600" dirty="0"/>
          </a:p>
        </p:txBody>
      </p:sp>
      <p:sp>
        <p:nvSpPr>
          <p:cNvPr id="13" name="Shape 8"/>
          <p:cNvSpPr/>
          <p:nvPr/>
        </p:nvSpPr>
        <p:spPr>
          <a:xfrm>
            <a:off x="7818120" y="1783080"/>
            <a:ext cx="1828800" cy="457200"/>
          </a:xfrm>
          <a:prstGeom prst="roundRect">
            <a:avLst>
              <a:gd name="adj" fmla="val 40000"/>
            </a:avLst>
          </a:prstGeom>
          <a:solidFill>
            <a:schemeClr val="accent1"/>
          </a:solidFill>
          <a:ln/>
        </p:spPr>
      </p:sp>
      <p:sp>
        <p:nvSpPr>
          <p:cNvPr id="14" name="Text 9"/>
          <p:cNvSpPr txBox="1"/>
          <p:nvPr/>
        </p:nvSpPr>
        <p:spPr>
          <a:xfrm>
            <a:off x="7818120" y="1783080"/>
            <a:ext cx="1828800" cy="457200"/>
          </a:xfrm>
          <a:prstGeom prst="rect">
            <a:avLst/>
          </a:prstGeom>
          <a:noFill/>
          <a:ln/>
        </p:spPr>
        <p:txBody>
          <a:bodyPr wrap="square" lIns="0" tIns="0" rIns="0" bIns="0" rtlCol="0" anchor="ctr"/>
          <a:lstStyle/>
          <a:p>
            <a:pPr algn="ctr" indent="0" marL="0">
              <a:buNone/>
            </a:pPr>
            <a:r>
              <a:rPr lang="en-US" sz="1250" dirty="0">
                <a:solidFill>
                  <a:schemeClr val="bg1"/>
                </a:solidFill>
                <a:latin typeface="Ebrima" pitchFamily="34" charset="0"/>
                <a:ea typeface="Ebrima" pitchFamily="34" charset="-122"/>
                <a:cs typeface="Ebrima" pitchFamily="34" charset="-120"/>
              </a:rPr>
              <a:t>Holy Bible</a:t>
            </a:r>
            <a:endParaRPr lang="en-US" sz="1250" dirty="0"/>
          </a:p>
        </p:txBody>
      </p:sp>
      <p:sp>
        <p:nvSpPr>
          <p:cNvPr id="15" name="Shape 10"/>
          <p:cNvSpPr/>
          <p:nvPr/>
        </p:nvSpPr>
        <p:spPr>
          <a:xfrm>
            <a:off x="9756648" y="1783080"/>
            <a:ext cx="1828800" cy="457200"/>
          </a:xfrm>
          <a:prstGeom prst="roundRect">
            <a:avLst>
              <a:gd name="adj" fmla="val 40000"/>
            </a:avLst>
          </a:prstGeom>
          <a:solidFill>
            <a:schemeClr val="accent1"/>
          </a:solidFill>
          <a:ln/>
        </p:spPr>
      </p:sp>
      <p:sp>
        <p:nvSpPr>
          <p:cNvPr id="16" name="Text 11"/>
          <p:cNvSpPr txBox="1"/>
          <p:nvPr/>
        </p:nvSpPr>
        <p:spPr>
          <a:xfrm>
            <a:off x="9756648" y="1783080"/>
            <a:ext cx="1828800" cy="457200"/>
          </a:xfrm>
          <a:prstGeom prst="rect">
            <a:avLst/>
          </a:prstGeom>
          <a:noFill/>
          <a:ln/>
        </p:spPr>
        <p:txBody>
          <a:bodyPr wrap="square" lIns="0" tIns="0" rIns="0" bIns="0" rtlCol="0" anchor="ctr"/>
          <a:lstStyle/>
          <a:p>
            <a:pPr algn="ctr" indent="0" marL="0">
              <a:buNone/>
            </a:pPr>
            <a:r>
              <a:rPr lang="en-US" sz="1250" dirty="0">
                <a:solidFill>
                  <a:schemeClr val="bg1"/>
                </a:solidFill>
                <a:latin typeface="Ebrima" pitchFamily="34" charset="0"/>
                <a:ea typeface="Ebrima" pitchFamily="34" charset="-122"/>
                <a:cs typeface="Ebrima" pitchFamily="34" charset="-120"/>
              </a:rPr>
              <a:t>Church History</a:t>
            </a:r>
            <a:endParaRPr lang="en-US" sz="1250" dirty="0"/>
          </a:p>
        </p:txBody>
      </p:sp>
      <p:sp>
        <p:nvSpPr>
          <p:cNvPr id="17" name="Shape 12"/>
          <p:cNvSpPr/>
          <p:nvPr/>
        </p:nvSpPr>
        <p:spPr>
          <a:xfrm>
            <a:off x="7818120" y="2350008"/>
            <a:ext cx="1828800" cy="457200"/>
          </a:xfrm>
          <a:prstGeom prst="roundRect">
            <a:avLst>
              <a:gd name="adj" fmla="val 40000"/>
            </a:avLst>
          </a:prstGeom>
          <a:solidFill>
            <a:schemeClr val="accent1"/>
          </a:solidFill>
          <a:ln/>
        </p:spPr>
      </p:sp>
      <p:sp>
        <p:nvSpPr>
          <p:cNvPr id="18" name="Text 13"/>
          <p:cNvSpPr txBox="1"/>
          <p:nvPr/>
        </p:nvSpPr>
        <p:spPr>
          <a:xfrm>
            <a:off x="7818120" y="2350008"/>
            <a:ext cx="1828800" cy="457200"/>
          </a:xfrm>
          <a:prstGeom prst="rect">
            <a:avLst/>
          </a:prstGeom>
          <a:noFill/>
          <a:ln/>
        </p:spPr>
        <p:txBody>
          <a:bodyPr wrap="square" lIns="0" tIns="0" rIns="0" bIns="0" rtlCol="0" anchor="ctr"/>
          <a:lstStyle/>
          <a:p>
            <a:pPr algn="ctr" indent="0" marL="0">
              <a:buNone/>
            </a:pPr>
            <a:r>
              <a:rPr lang="en-US" sz="1250" dirty="0">
                <a:solidFill>
                  <a:schemeClr val="bg1"/>
                </a:solidFill>
                <a:latin typeface="Ebrima" pitchFamily="34" charset="0"/>
                <a:ea typeface="Ebrima" pitchFamily="34" charset="-122"/>
                <a:cs typeface="Ebrima" pitchFamily="34" charset="-120"/>
              </a:rPr>
              <a:t>Liturgy &amp; Order</a:t>
            </a:r>
            <a:endParaRPr lang="en-US" sz="1250" dirty="0"/>
          </a:p>
        </p:txBody>
      </p:sp>
      <p:sp>
        <p:nvSpPr>
          <p:cNvPr id="19" name="Shape 14"/>
          <p:cNvSpPr/>
          <p:nvPr/>
        </p:nvSpPr>
        <p:spPr>
          <a:xfrm>
            <a:off x="9756648" y="2350008"/>
            <a:ext cx="1828800" cy="457200"/>
          </a:xfrm>
          <a:prstGeom prst="roundRect">
            <a:avLst>
              <a:gd name="adj" fmla="val 40000"/>
            </a:avLst>
          </a:prstGeom>
          <a:solidFill>
            <a:schemeClr val="accent1"/>
          </a:solidFill>
          <a:ln/>
        </p:spPr>
      </p:sp>
      <p:sp>
        <p:nvSpPr>
          <p:cNvPr id="20" name="Text 15"/>
          <p:cNvSpPr txBox="1"/>
          <p:nvPr/>
        </p:nvSpPr>
        <p:spPr>
          <a:xfrm>
            <a:off x="9756648" y="2350008"/>
            <a:ext cx="1828800" cy="457200"/>
          </a:xfrm>
          <a:prstGeom prst="rect">
            <a:avLst/>
          </a:prstGeom>
          <a:noFill/>
          <a:ln/>
        </p:spPr>
        <p:txBody>
          <a:bodyPr wrap="square" lIns="0" tIns="0" rIns="0" bIns="0" rtlCol="0" anchor="ctr"/>
          <a:lstStyle/>
          <a:p>
            <a:pPr algn="ctr" indent="0" marL="0">
              <a:buNone/>
            </a:pPr>
            <a:r>
              <a:rPr lang="en-US" sz="1250" dirty="0">
                <a:solidFill>
                  <a:schemeClr val="bg1"/>
                </a:solidFill>
                <a:latin typeface="Ebrima" pitchFamily="34" charset="0"/>
                <a:ea typeface="Ebrima" pitchFamily="34" charset="-122"/>
                <a:cs typeface="Ebrima" pitchFamily="34" charset="-120"/>
              </a:rPr>
              <a:t>Hagiography</a:t>
            </a:r>
            <a:endParaRPr lang="en-US" sz="1250" dirty="0"/>
          </a:p>
        </p:txBody>
      </p:sp>
      <p:sp>
        <p:nvSpPr>
          <p:cNvPr id="21" name="Text 16"/>
          <p:cNvSpPr txBox="1"/>
          <p:nvPr/>
        </p:nvSpPr>
        <p:spPr>
          <a:xfrm>
            <a:off x="7818120" y="3108960"/>
            <a:ext cx="3840480" cy="310896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chemeClr val="tx1"/>
                </a:solidFill>
                <a:latin typeface="Ebrima" pitchFamily="34" charset="0"/>
                <a:ea typeface="Ebrima" pitchFamily="34" charset="-122"/>
                <a:cs typeface="Ebrima" pitchFamily="34" charset="-120"/>
              </a:rPr>
              <a:t>Category → Subject → Unit → Lesson</a:t>
            </a:r>
            <a:endParaRPr lang="en-US" sz="1350" dirty="0"/>
          </a:p>
          <a:p>
            <a:pPr marL="342900" indent="-342900">
              <a:spcAft>
                <a:spcPts val="700"/>
              </a:spcAft>
              <a:buSzPct val="100000"/>
              <a:buChar char="●"/>
            </a:pPr>
            <a:r>
              <a:rPr lang="en-US" sz="1350" dirty="0">
                <a:solidFill>
                  <a:schemeClr val="tx1"/>
                </a:solidFill>
                <a:latin typeface="Ebrima" pitchFamily="34" charset="0"/>
                <a:ea typeface="Ebrima" pitchFamily="34" charset="-122"/>
                <a:cs typeface="Ebrima" pitchFamily="34" charset="-120"/>
              </a:rPr>
              <a:t>Text, Bible references, documents, audio and video links</a:t>
            </a:r>
            <a:endParaRPr lang="en-US" sz="1350" dirty="0"/>
          </a:p>
          <a:p>
            <a:pPr marL="342900" indent="-342900">
              <a:spcAft>
                <a:spcPts val="700"/>
              </a:spcAft>
              <a:buSzPct val="100000"/>
              <a:buChar char="●"/>
            </a:pPr>
            <a:r>
              <a:rPr lang="en-US" sz="1350" dirty="0">
                <a:solidFill>
                  <a:schemeClr val="tx1"/>
                </a:solidFill>
                <a:latin typeface="Ebrima" pitchFamily="34" charset="0"/>
                <a:ea typeface="Ebrima" pitchFamily="34" charset="-122"/>
                <a:cs typeface="Ebrima" pitchFamily="34" charset="-120"/>
              </a:rPr>
              <a:t>Progress tracking, bookmarks and “continue where you left off”</a:t>
            </a:r>
            <a:endParaRPr lang="en-US" sz="1350" dirty="0"/>
          </a:p>
          <a:p>
            <a:pPr marL="342900" indent="-342900">
              <a:spcAft>
                <a:spcPts val="700"/>
              </a:spcAft>
              <a:buSzPct val="100000"/>
              <a:buChar char="●"/>
            </a:pPr>
            <a:r>
              <a:rPr lang="en-US" sz="1350" dirty="0">
                <a:solidFill>
                  <a:schemeClr val="tx1"/>
                </a:solidFill>
                <a:latin typeface="Ebrima" pitchFamily="34" charset="0"/>
                <a:ea typeface="Ebrima" pitchFamily="34" charset="-122"/>
                <a:cs typeface="Ebrima" pitchFamily="34" charset="-120"/>
              </a:rPr>
              <a:t>Quizzes: time limits, number of attempts, manual grading</a:t>
            </a:r>
            <a:endParaRPr lang="en-US" sz="1350" dirty="0"/>
          </a:p>
          <a:p>
            <a:pPr marL="342900" indent="-342900">
              <a:spcAft>
                <a:spcPts val="700"/>
              </a:spcAft>
              <a:buSzPct val="100000"/>
              <a:buChar char="●"/>
            </a:pPr>
            <a:r>
              <a:rPr lang="en-US" sz="1350" dirty="0">
                <a:solidFill>
                  <a:schemeClr val="tx1"/>
                </a:solidFill>
                <a:latin typeface="Ebrima" pitchFamily="34" charset="0"/>
                <a:ea typeface="Ebrima" pitchFamily="34" charset="-122"/>
                <a:cs typeface="Ebrima" pitchFamily="34" charset="-120"/>
              </a:rPr>
              <a:t>Quiz results feed into the official marks workflow</a:t>
            </a:r>
            <a:endParaRPr lang="en-US" sz="1350" dirty="0"/>
          </a:p>
          <a:p>
            <a:pPr marL="342900" indent="-342900">
              <a:spcAft>
                <a:spcPts val="700"/>
              </a:spcAft>
              <a:buSzPct val="100000"/>
              <a:buChar char="●"/>
            </a:pPr>
            <a:r>
              <a:rPr lang="en-US" sz="1350" dirty="0">
                <a:solidFill>
                  <a:schemeClr val="tx1"/>
                </a:solidFill>
                <a:latin typeface="Ebrima" pitchFamily="34" charset="0"/>
                <a:ea typeface="Ebrima" pitchFamily="34" charset="-122"/>
                <a:cs typeface="Ebrima" pitchFamily="34" charset="-120"/>
              </a:rPr>
              <a:t>Active teachers prepare content for the subjects they teach</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Holiday Mezmur Service Selection — Scoring</a:t>
            </a:r>
            <a:endParaRPr lang="en-US" sz="3400" dirty="0"/>
          </a:p>
        </p:txBody>
      </p:sp>
      <p:graphicFrame>
        <p:nvGraphicFramePr>
          <p:cNvPr id="3" name="Chart 0" descr=""/>
          <p:cNvGraphicFramePr/>
          <p:nvPr/>
        </p:nvGraphicFramePr>
        <p:xfrm>
          <a:off x="457200" y="1280160"/>
          <a:ext cx="5669280" cy="48920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492240" y="1325880"/>
            <a:ext cx="5166360" cy="1280160"/>
          </a:xfrm>
          <a:prstGeom prst="roundRect">
            <a:avLst>
              <a:gd name="adj" fmla="val 8571"/>
            </a:avLst>
          </a:prstGeom>
          <a:solidFill>
            <a:schemeClr val="accent1"/>
          </a:solidFill>
          <a:ln/>
        </p:spPr>
      </p:sp>
      <p:sp>
        <p:nvSpPr>
          <p:cNvPr id="5" name="Text 2"/>
          <p:cNvSpPr txBox="1"/>
          <p:nvPr/>
        </p:nvSpPr>
        <p:spPr>
          <a:xfrm>
            <a:off x="6720840" y="1417320"/>
            <a:ext cx="1371600" cy="1097280"/>
          </a:xfrm>
          <a:prstGeom prst="rect">
            <a:avLst/>
          </a:prstGeom>
          <a:noFill/>
          <a:ln/>
        </p:spPr>
        <p:txBody>
          <a:bodyPr wrap="square" lIns="0" tIns="0" rIns="0" bIns="0" rtlCol="0" anchor="ctr"/>
          <a:lstStyle/>
          <a:p>
            <a:pPr indent="0" marL="0">
              <a:buNone/>
            </a:pPr>
            <a:r>
              <a:rPr lang="en-US" sz="4800" b="1" dirty="0">
                <a:solidFill>
                  <a:schemeClr val="accent2"/>
                </a:solidFill>
                <a:latin typeface="Ebrima" pitchFamily="34" charset="0"/>
                <a:ea typeface="Ebrima" pitchFamily="34" charset="-122"/>
                <a:cs typeface="Ebrima" pitchFamily="34" charset="-120"/>
              </a:rPr>
              <a:t>43</a:t>
            </a:r>
            <a:endParaRPr lang="en-US" sz="4800" dirty="0"/>
          </a:p>
        </p:txBody>
      </p:sp>
      <p:sp>
        <p:nvSpPr>
          <p:cNvPr id="6" name="Text 3"/>
          <p:cNvSpPr txBox="1"/>
          <p:nvPr/>
        </p:nvSpPr>
        <p:spPr>
          <a:xfrm>
            <a:off x="8138160" y="1463040"/>
            <a:ext cx="3383280" cy="1005840"/>
          </a:xfrm>
          <a:prstGeom prst="rect">
            <a:avLst/>
          </a:prstGeom>
          <a:noFill/>
          <a:ln/>
        </p:spPr>
        <p:txBody>
          <a:bodyPr wrap="square" lIns="0" tIns="0" rIns="0" bIns="0" rtlCol="0" anchor="ctr"/>
          <a:lstStyle/>
          <a:p>
            <a:pPr indent="0" marL="0">
              <a:buNone/>
            </a:pPr>
            <a:r>
              <a:rPr lang="en-US" sz="1500" dirty="0">
                <a:solidFill>
                  <a:schemeClr val="bg1"/>
                </a:solidFill>
                <a:latin typeface="Ebrima" pitchFamily="34" charset="0"/>
                <a:ea typeface="Ebrima" pitchFamily="34" charset="-122"/>
                <a:cs typeface="Ebrima" pitchFamily="34" charset="-120"/>
              </a:rPr>
              <a:t>Default passing score — adjustable by administrators</a:t>
            </a:r>
            <a:endParaRPr lang="en-US" sz="1500" dirty="0"/>
          </a:p>
        </p:txBody>
      </p:sp>
      <p:sp>
        <p:nvSpPr>
          <p:cNvPr id="7" name="Text 4"/>
          <p:cNvSpPr txBox="1"/>
          <p:nvPr/>
        </p:nvSpPr>
        <p:spPr>
          <a:xfrm>
            <a:off x="6492240" y="2880360"/>
            <a:ext cx="516636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latin typeface="Ebrima" pitchFamily="34" charset="0"/>
                <a:ea typeface="Ebrima" pitchFamily="34" charset="-122"/>
                <a:cs typeface="Ebrima" pitchFamily="34" charset="-120"/>
              </a:rPr>
              <a:t>Each component has a minimum; all must be met to qualify</a:t>
            </a:r>
            <a:endParaRPr lang="en-US" sz="1500" dirty="0"/>
          </a:p>
          <a:p>
            <a:pPr marL="342900" indent="-342900">
              <a:spcAft>
                <a:spcPts val="1000"/>
              </a:spcAft>
              <a:buSzPct val="100000"/>
              <a:buChar char="●"/>
            </a:pPr>
            <a:r>
              <a:rPr lang="en-US" sz="1500" dirty="0">
                <a:solidFill>
                  <a:schemeClr val="tx1"/>
                </a:solidFill>
                <a:latin typeface="Ebrima" pitchFamily="34" charset="0"/>
                <a:ea typeface="Ebrima" pitchFamily="34" charset="-122"/>
                <a:cs typeface="Ebrima" pitchFamily="34" charset="-120"/>
              </a:rPr>
              <a:t>A component without data is not counted — the rest are weighted proportionally</a:t>
            </a:r>
            <a:endParaRPr lang="en-US" sz="1500" dirty="0"/>
          </a:p>
          <a:p>
            <a:pPr marL="342900" indent="-342900">
              <a:spcAft>
                <a:spcPts val="1000"/>
              </a:spcAft>
              <a:buSzPct val="100000"/>
              <a:buChar char="●"/>
            </a:pPr>
            <a:r>
              <a:rPr lang="en-US" sz="1500" dirty="0">
                <a:solidFill>
                  <a:schemeClr val="tx1"/>
                </a:solidFill>
                <a:latin typeface="Ebrima" pitchFamily="34" charset="0"/>
                <a:ea typeface="Ebrima" pitchFamily="34" charset="-122"/>
                <a:cs typeface="Ebrima" pitchFamily="34" charset="-120"/>
              </a:rPr>
              <a:t>Weights, minimums and counted programs are set by administrators</a:t>
            </a:r>
            <a:endParaRPr lang="en-US" sz="1500" dirty="0"/>
          </a:p>
          <a:p>
            <a:pPr marL="342900" indent="-342900">
              <a:spcAft>
                <a:spcPts val="1000"/>
              </a:spcAft>
              <a:buSzPct val="100000"/>
              <a:buChar char="●"/>
            </a:pPr>
            <a:r>
              <a:rPr lang="en-US" sz="1500" dirty="0">
                <a:solidFill>
                  <a:schemeClr val="tx1"/>
                </a:solidFill>
                <a:latin typeface="Ebrima" pitchFamily="34" charset="0"/>
                <a:ea typeface="Ebrima" pitchFamily="34" charset="-122"/>
                <a:cs typeface="Ebrima" pitchFamily="34" charset="-120"/>
              </a:rPr>
              <a:t>Each member sees their own detailed calculation and any shortfall</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Selection Workflow — From Draft to Publication</a:t>
            </a:r>
            <a:endParaRPr lang="en-US" sz="3400" dirty="0"/>
          </a:p>
        </p:txBody>
      </p:sp>
      <p:sp>
        <p:nvSpPr>
          <p:cNvPr id="3" name="Shape 1"/>
          <p:cNvSpPr/>
          <p:nvPr/>
        </p:nvSpPr>
        <p:spPr>
          <a:xfrm>
            <a:off x="548640" y="1371600"/>
            <a:ext cx="1638300" cy="2560320"/>
          </a:xfrm>
          <a:prstGeom prst="roundRect">
            <a:avLst>
              <a:gd name="adj" fmla="val 5581"/>
            </a:avLst>
          </a:prstGeom>
          <a:solidFill>
            <a:schemeClr val="accent1"/>
          </a:solidFill>
          <a:ln/>
        </p:spPr>
      </p:sp>
      <p:sp>
        <p:nvSpPr>
          <p:cNvPr id="4" name="Text 2"/>
          <p:cNvSpPr txBox="1"/>
          <p:nvPr/>
        </p:nvSpPr>
        <p:spPr>
          <a:xfrm>
            <a:off x="685800" y="1481328"/>
            <a:ext cx="457200" cy="365760"/>
          </a:xfrm>
          <a:prstGeom prst="rect">
            <a:avLst/>
          </a:prstGeom>
          <a:noFill/>
          <a:ln/>
        </p:spPr>
        <p:txBody>
          <a:bodyPr wrap="square" lIns="0" tIns="0" rIns="0" bIns="0" rtlCol="0" anchor="t"/>
          <a:lstStyle/>
          <a:p>
            <a:pPr indent="0" marL="0">
              <a:buNone/>
            </a:pPr>
            <a:r>
              <a:rPr lang="en-US" sz="2000" b="1" dirty="0">
                <a:solidFill>
                  <a:schemeClr val="accent2"/>
                </a:solidFill>
                <a:latin typeface="Ebrima" pitchFamily="34" charset="0"/>
                <a:ea typeface="Ebrima" pitchFamily="34" charset="-122"/>
                <a:cs typeface="Ebrima" pitchFamily="34" charset="-120"/>
              </a:rPr>
              <a:t>1</a:t>
            </a:r>
            <a:endParaRPr lang="en-US" sz="2000" dirty="0"/>
          </a:p>
        </p:txBody>
      </p:sp>
      <p:sp>
        <p:nvSpPr>
          <p:cNvPr id="5" name="Text 3"/>
          <p:cNvSpPr txBox="1"/>
          <p:nvPr/>
        </p:nvSpPr>
        <p:spPr>
          <a:xfrm>
            <a:off x="685800" y="1828800"/>
            <a:ext cx="1363980" cy="731520"/>
          </a:xfrm>
          <a:prstGeom prst="rect">
            <a:avLst/>
          </a:prstGeom>
          <a:noFill/>
          <a:ln/>
        </p:spPr>
        <p:txBody>
          <a:bodyPr wrap="square" lIns="0" tIns="0" rIns="0" bIns="0" rtlCol="0" anchor="t"/>
          <a:lstStyle/>
          <a:p>
            <a:pPr indent="0" marL="0">
              <a:buNone/>
            </a:pPr>
            <a:r>
              <a:rPr lang="en-US" sz="1600" b="1" dirty="0">
                <a:solidFill>
                  <a:schemeClr val="bg1"/>
                </a:solidFill>
                <a:latin typeface="Ebrima" pitchFamily="34" charset="0"/>
                <a:ea typeface="Ebrima" pitchFamily="34" charset="-122"/>
                <a:cs typeface="Ebrima" pitchFamily="34" charset="-120"/>
              </a:rPr>
              <a:t>Draft</a:t>
            </a:r>
            <a:endParaRPr lang="en-US" sz="1600" dirty="0"/>
          </a:p>
        </p:txBody>
      </p:sp>
      <p:sp>
        <p:nvSpPr>
          <p:cNvPr id="6" name="Text 4"/>
          <p:cNvSpPr txBox="1"/>
          <p:nvPr/>
        </p:nvSpPr>
        <p:spPr>
          <a:xfrm>
            <a:off x="685800" y="2560320"/>
            <a:ext cx="1363980" cy="1280160"/>
          </a:xfrm>
          <a:prstGeom prst="rect">
            <a:avLst/>
          </a:prstGeom>
          <a:noFill/>
          <a:ln/>
        </p:spPr>
        <p:txBody>
          <a:bodyPr wrap="square" lIns="0" tIns="0" rIns="0" bIns="0" rtlCol="0" anchor="t"/>
          <a:lstStyle/>
          <a:p>
            <a:pPr indent="0" marL="0">
              <a:buNone/>
            </a:pPr>
            <a:r>
              <a:rPr lang="en-US" sz="1250" dirty="0">
                <a:solidFill>
                  <a:schemeClr val="bg1"/>
                </a:solidFill>
                <a:latin typeface="Ebrima" pitchFamily="34" charset="0"/>
                <a:ea typeface="Ebrima" pitchFamily="34" charset="-122"/>
                <a:cs typeface="Ebrima" pitchFamily="34" charset="-120"/>
              </a:rPr>
              <a:t>The selection is created and configured</a:t>
            </a:r>
            <a:endParaRPr lang="en-US" sz="1250" dirty="0"/>
          </a:p>
        </p:txBody>
      </p:sp>
      <p:sp>
        <p:nvSpPr>
          <p:cNvPr id="7" name="Shape 5"/>
          <p:cNvSpPr/>
          <p:nvPr/>
        </p:nvSpPr>
        <p:spPr>
          <a:xfrm rot="5400000">
            <a:off x="2196084" y="2595433"/>
            <a:ext cx="237744" cy="112654"/>
          </a:xfrm>
          <a:prstGeom prst="triangle">
            <a:avLst/>
          </a:prstGeom>
          <a:solidFill>
            <a:schemeClr val="accent2"/>
          </a:solidFill>
          <a:ln/>
        </p:spPr>
      </p:sp>
      <p:sp>
        <p:nvSpPr>
          <p:cNvPr id="8" name="Shape 6"/>
          <p:cNvSpPr/>
          <p:nvPr/>
        </p:nvSpPr>
        <p:spPr>
          <a:xfrm>
            <a:off x="2442972" y="1371600"/>
            <a:ext cx="1638300" cy="2560320"/>
          </a:xfrm>
          <a:prstGeom prst="roundRect">
            <a:avLst>
              <a:gd name="adj" fmla="val 5581"/>
            </a:avLst>
          </a:prstGeom>
          <a:solidFill>
            <a:schemeClr val="bg2">
              <a:alpha val="80000"/>
            </a:schemeClr>
          </a:solidFill>
          <a:ln/>
        </p:spPr>
      </p:sp>
      <p:sp>
        <p:nvSpPr>
          <p:cNvPr id="9" name="Text 7"/>
          <p:cNvSpPr txBox="1"/>
          <p:nvPr/>
        </p:nvSpPr>
        <p:spPr>
          <a:xfrm>
            <a:off x="2580132" y="148132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2</a:t>
            </a:r>
            <a:endParaRPr lang="en-US" sz="2000" dirty="0"/>
          </a:p>
        </p:txBody>
      </p:sp>
      <p:sp>
        <p:nvSpPr>
          <p:cNvPr id="10" name="Text 8"/>
          <p:cNvSpPr txBox="1"/>
          <p:nvPr/>
        </p:nvSpPr>
        <p:spPr>
          <a:xfrm>
            <a:off x="2580132" y="1828800"/>
            <a:ext cx="1363980"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Open</a:t>
            </a:r>
            <a:endParaRPr lang="en-US" sz="1600" dirty="0"/>
          </a:p>
        </p:txBody>
      </p:sp>
      <p:sp>
        <p:nvSpPr>
          <p:cNvPr id="11" name="Text 9"/>
          <p:cNvSpPr txBox="1"/>
          <p:nvPr/>
        </p:nvSpPr>
        <p:spPr>
          <a:xfrm>
            <a:off x="2580132" y="2560320"/>
            <a:ext cx="1363980" cy="12801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Results are calculated automatically and refreshed as new data arrives</a:t>
            </a:r>
            <a:endParaRPr lang="en-US" sz="1250" dirty="0"/>
          </a:p>
        </p:txBody>
      </p:sp>
      <p:sp>
        <p:nvSpPr>
          <p:cNvPr id="12" name="Shape 10"/>
          <p:cNvSpPr/>
          <p:nvPr/>
        </p:nvSpPr>
        <p:spPr>
          <a:xfrm rot="5400000">
            <a:off x="4090416" y="2595433"/>
            <a:ext cx="237744" cy="112654"/>
          </a:xfrm>
          <a:prstGeom prst="triangle">
            <a:avLst/>
          </a:prstGeom>
          <a:solidFill>
            <a:schemeClr val="accent2"/>
          </a:solidFill>
          <a:ln/>
        </p:spPr>
      </p:sp>
      <p:sp>
        <p:nvSpPr>
          <p:cNvPr id="13" name="Shape 11"/>
          <p:cNvSpPr/>
          <p:nvPr/>
        </p:nvSpPr>
        <p:spPr>
          <a:xfrm>
            <a:off x="4337304" y="1371600"/>
            <a:ext cx="1638300" cy="2560320"/>
          </a:xfrm>
          <a:prstGeom prst="roundRect">
            <a:avLst>
              <a:gd name="adj" fmla="val 5581"/>
            </a:avLst>
          </a:prstGeom>
          <a:solidFill>
            <a:schemeClr val="bg2">
              <a:alpha val="80000"/>
            </a:schemeClr>
          </a:solidFill>
          <a:ln/>
        </p:spPr>
      </p:sp>
      <p:sp>
        <p:nvSpPr>
          <p:cNvPr id="14" name="Text 12"/>
          <p:cNvSpPr txBox="1"/>
          <p:nvPr/>
        </p:nvSpPr>
        <p:spPr>
          <a:xfrm>
            <a:off x="4474464" y="148132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3</a:t>
            </a:r>
            <a:endParaRPr lang="en-US" sz="2000" dirty="0"/>
          </a:p>
        </p:txBody>
      </p:sp>
      <p:sp>
        <p:nvSpPr>
          <p:cNvPr id="15" name="Text 13"/>
          <p:cNvSpPr txBox="1"/>
          <p:nvPr/>
        </p:nvSpPr>
        <p:spPr>
          <a:xfrm>
            <a:off x="4474464" y="1828800"/>
            <a:ext cx="1363980"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Review</a:t>
            </a:r>
            <a:endParaRPr lang="en-US" sz="1600" dirty="0"/>
          </a:p>
        </p:txBody>
      </p:sp>
      <p:sp>
        <p:nvSpPr>
          <p:cNvPr id="16" name="Text 14"/>
          <p:cNvSpPr txBox="1"/>
          <p:nvPr/>
        </p:nvSpPr>
        <p:spPr>
          <a:xfrm>
            <a:off x="4474464" y="2560320"/>
            <a:ext cx="1363980" cy="12801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The relevant departments approve or reject</a:t>
            </a:r>
            <a:endParaRPr lang="en-US" sz="1250" dirty="0"/>
          </a:p>
        </p:txBody>
      </p:sp>
      <p:sp>
        <p:nvSpPr>
          <p:cNvPr id="17" name="Shape 15"/>
          <p:cNvSpPr/>
          <p:nvPr/>
        </p:nvSpPr>
        <p:spPr>
          <a:xfrm rot="5400000">
            <a:off x="5984748" y="2595433"/>
            <a:ext cx="237744" cy="112654"/>
          </a:xfrm>
          <a:prstGeom prst="triangle">
            <a:avLst/>
          </a:prstGeom>
          <a:solidFill>
            <a:schemeClr val="accent2"/>
          </a:solidFill>
          <a:ln/>
        </p:spPr>
      </p:sp>
      <p:sp>
        <p:nvSpPr>
          <p:cNvPr id="18" name="Shape 16"/>
          <p:cNvSpPr/>
          <p:nvPr/>
        </p:nvSpPr>
        <p:spPr>
          <a:xfrm>
            <a:off x="6231636" y="1371600"/>
            <a:ext cx="1638300" cy="2560320"/>
          </a:xfrm>
          <a:prstGeom prst="roundRect">
            <a:avLst>
              <a:gd name="adj" fmla="val 5581"/>
            </a:avLst>
          </a:prstGeom>
          <a:solidFill>
            <a:schemeClr val="bg2">
              <a:alpha val="80000"/>
            </a:schemeClr>
          </a:solidFill>
          <a:ln/>
        </p:spPr>
      </p:sp>
      <p:sp>
        <p:nvSpPr>
          <p:cNvPr id="19" name="Text 17"/>
          <p:cNvSpPr txBox="1"/>
          <p:nvPr/>
        </p:nvSpPr>
        <p:spPr>
          <a:xfrm>
            <a:off x="6368796" y="148132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4</a:t>
            </a:r>
            <a:endParaRPr lang="en-US" sz="2000" dirty="0"/>
          </a:p>
        </p:txBody>
      </p:sp>
      <p:sp>
        <p:nvSpPr>
          <p:cNvPr id="20" name="Text 18"/>
          <p:cNvSpPr txBox="1"/>
          <p:nvPr/>
        </p:nvSpPr>
        <p:spPr>
          <a:xfrm>
            <a:off x="6368796" y="1828800"/>
            <a:ext cx="1363980"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Finalized</a:t>
            </a:r>
            <a:endParaRPr lang="en-US" sz="1600" dirty="0"/>
          </a:p>
        </p:txBody>
      </p:sp>
      <p:sp>
        <p:nvSpPr>
          <p:cNvPr id="21" name="Text 19"/>
          <p:cNvSpPr txBox="1"/>
          <p:nvPr/>
        </p:nvSpPr>
        <p:spPr>
          <a:xfrm>
            <a:off x="6368796" y="2560320"/>
            <a:ext cx="1363980" cy="12801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After all departments approve; results are locked</a:t>
            </a:r>
            <a:endParaRPr lang="en-US" sz="1250" dirty="0"/>
          </a:p>
        </p:txBody>
      </p:sp>
      <p:sp>
        <p:nvSpPr>
          <p:cNvPr id="22" name="Shape 20"/>
          <p:cNvSpPr/>
          <p:nvPr/>
        </p:nvSpPr>
        <p:spPr>
          <a:xfrm rot="5400000">
            <a:off x="7879080" y="2595433"/>
            <a:ext cx="237744" cy="112654"/>
          </a:xfrm>
          <a:prstGeom prst="triangle">
            <a:avLst/>
          </a:prstGeom>
          <a:solidFill>
            <a:schemeClr val="accent2"/>
          </a:solidFill>
          <a:ln/>
        </p:spPr>
      </p:sp>
      <p:sp>
        <p:nvSpPr>
          <p:cNvPr id="23" name="Shape 21"/>
          <p:cNvSpPr/>
          <p:nvPr/>
        </p:nvSpPr>
        <p:spPr>
          <a:xfrm>
            <a:off x="8125968" y="1371600"/>
            <a:ext cx="1638300" cy="2560320"/>
          </a:xfrm>
          <a:prstGeom prst="roundRect">
            <a:avLst>
              <a:gd name="adj" fmla="val 5581"/>
            </a:avLst>
          </a:prstGeom>
          <a:solidFill>
            <a:schemeClr val="bg2">
              <a:alpha val="80000"/>
            </a:schemeClr>
          </a:solidFill>
          <a:ln/>
        </p:spPr>
      </p:sp>
      <p:sp>
        <p:nvSpPr>
          <p:cNvPr id="24" name="Text 22"/>
          <p:cNvSpPr txBox="1"/>
          <p:nvPr/>
        </p:nvSpPr>
        <p:spPr>
          <a:xfrm>
            <a:off x="8263128" y="148132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Ebrima" pitchFamily="34" charset="0"/>
                <a:ea typeface="Ebrima" pitchFamily="34" charset="-122"/>
                <a:cs typeface="Ebrima" pitchFamily="34" charset="-120"/>
              </a:rPr>
              <a:t>5</a:t>
            </a:r>
            <a:endParaRPr lang="en-US" sz="2000" dirty="0"/>
          </a:p>
        </p:txBody>
      </p:sp>
      <p:sp>
        <p:nvSpPr>
          <p:cNvPr id="25" name="Text 23"/>
          <p:cNvSpPr txBox="1"/>
          <p:nvPr/>
        </p:nvSpPr>
        <p:spPr>
          <a:xfrm>
            <a:off x="8263128" y="1828800"/>
            <a:ext cx="1363980" cy="73152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Service category</a:t>
            </a:r>
            <a:endParaRPr lang="en-US" sz="1600" dirty="0"/>
          </a:p>
        </p:txBody>
      </p:sp>
      <p:sp>
        <p:nvSpPr>
          <p:cNvPr id="26" name="Text 24"/>
          <p:cNvSpPr txBox="1"/>
          <p:nvPr/>
        </p:nvSpPr>
        <p:spPr>
          <a:xfrm>
            <a:off x="8263128" y="2560320"/>
            <a:ext cx="1363980" cy="12801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Assignment to Wereb or Mezmur service</a:t>
            </a:r>
            <a:endParaRPr lang="en-US" sz="1250" dirty="0"/>
          </a:p>
        </p:txBody>
      </p:sp>
      <p:sp>
        <p:nvSpPr>
          <p:cNvPr id="27" name="Shape 25"/>
          <p:cNvSpPr/>
          <p:nvPr/>
        </p:nvSpPr>
        <p:spPr>
          <a:xfrm rot="5400000">
            <a:off x="9773412" y="2595433"/>
            <a:ext cx="237744" cy="112654"/>
          </a:xfrm>
          <a:prstGeom prst="triangle">
            <a:avLst/>
          </a:prstGeom>
          <a:solidFill>
            <a:schemeClr val="accent2"/>
          </a:solidFill>
          <a:ln/>
        </p:spPr>
      </p:sp>
      <p:sp>
        <p:nvSpPr>
          <p:cNvPr id="28" name="Shape 26"/>
          <p:cNvSpPr/>
          <p:nvPr/>
        </p:nvSpPr>
        <p:spPr>
          <a:xfrm>
            <a:off x="10020300" y="1371600"/>
            <a:ext cx="1638300" cy="2560320"/>
          </a:xfrm>
          <a:prstGeom prst="roundRect">
            <a:avLst>
              <a:gd name="adj" fmla="val 5581"/>
            </a:avLst>
          </a:prstGeom>
          <a:solidFill>
            <a:schemeClr val="accent3"/>
          </a:solidFill>
          <a:ln/>
        </p:spPr>
      </p:sp>
      <p:sp>
        <p:nvSpPr>
          <p:cNvPr id="29" name="Text 27"/>
          <p:cNvSpPr txBox="1"/>
          <p:nvPr/>
        </p:nvSpPr>
        <p:spPr>
          <a:xfrm>
            <a:off x="10157460" y="1481328"/>
            <a:ext cx="457200" cy="365760"/>
          </a:xfrm>
          <a:prstGeom prst="rect">
            <a:avLst/>
          </a:prstGeom>
          <a:noFill/>
          <a:ln/>
        </p:spPr>
        <p:txBody>
          <a:bodyPr wrap="square" lIns="0" tIns="0" rIns="0" bIns="0" rtlCol="0" anchor="t"/>
          <a:lstStyle/>
          <a:p>
            <a:pPr indent="0" marL="0">
              <a:buNone/>
            </a:pPr>
            <a:r>
              <a:rPr lang="en-US" sz="2000" b="1" dirty="0">
                <a:solidFill>
                  <a:schemeClr val="accent2"/>
                </a:solidFill>
                <a:latin typeface="Ebrima" pitchFamily="34" charset="0"/>
                <a:ea typeface="Ebrima" pitchFamily="34" charset="-122"/>
                <a:cs typeface="Ebrima" pitchFamily="34" charset="-120"/>
              </a:rPr>
              <a:t>6</a:t>
            </a:r>
            <a:endParaRPr lang="en-US" sz="2000" dirty="0"/>
          </a:p>
        </p:txBody>
      </p:sp>
      <p:sp>
        <p:nvSpPr>
          <p:cNvPr id="30" name="Text 28"/>
          <p:cNvSpPr txBox="1"/>
          <p:nvPr/>
        </p:nvSpPr>
        <p:spPr>
          <a:xfrm>
            <a:off x="10157460" y="1828800"/>
            <a:ext cx="1363980" cy="731520"/>
          </a:xfrm>
          <a:prstGeom prst="rect">
            <a:avLst/>
          </a:prstGeom>
          <a:noFill/>
          <a:ln/>
        </p:spPr>
        <p:txBody>
          <a:bodyPr wrap="square" lIns="0" tIns="0" rIns="0" bIns="0" rtlCol="0" anchor="t"/>
          <a:lstStyle/>
          <a:p>
            <a:pPr indent="0" marL="0">
              <a:buNone/>
            </a:pPr>
            <a:r>
              <a:rPr lang="en-US" sz="1600" b="1" dirty="0">
                <a:solidFill>
                  <a:schemeClr val="bg1"/>
                </a:solidFill>
                <a:latin typeface="Ebrima" pitchFamily="34" charset="0"/>
                <a:ea typeface="Ebrima" pitchFamily="34" charset="-122"/>
                <a:cs typeface="Ebrima" pitchFamily="34" charset="-120"/>
              </a:rPr>
              <a:t>Published</a:t>
            </a:r>
            <a:endParaRPr lang="en-US" sz="1600" dirty="0"/>
          </a:p>
        </p:txBody>
      </p:sp>
      <p:sp>
        <p:nvSpPr>
          <p:cNvPr id="31" name="Text 29"/>
          <p:cNvSpPr txBox="1"/>
          <p:nvPr/>
        </p:nvSpPr>
        <p:spPr>
          <a:xfrm>
            <a:off x="10157460" y="2560320"/>
            <a:ext cx="1363980" cy="1280160"/>
          </a:xfrm>
          <a:prstGeom prst="rect">
            <a:avLst/>
          </a:prstGeom>
          <a:noFill/>
          <a:ln/>
        </p:spPr>
        <p:txBody>
          <a:bodyPr wrap="square" lIns="0" tIns="0" rIns="0" bIns="0" rtlCol="0" anchor="t"/>
          <a:lstStyle/>
          <a:p>
            <a:pPr indent="0" marL="0">
              <a:buNone/>
            </a:pPr>
            <a:r>
              <a:rPr lang="en-US" sz="1250" dirty="0">
                <a:solidFill>
                  <a:schemeClr val="bg1"/>
                </a:solidFill>
                <a:latin typeface="Ebrima" pitchFamily="34" charset="0"/>
                <a:ea typeface="Ebrima" pitchFamily="34" charset="-122"/>
                <a:cs typeface="Ebrima" pitchFamily="34" charset="-120"/>
              </a:rPr>
              <a:t>All applicants are notified and can give feedback</a:t>
            </a:r>
            <a:endParaRPr lang="en-US" sz="1250" dirty="0"/>
          </a:p>
        </p:txBody>
      </p:sp>
      <p:sp>
        <p:nvSpPr>
          <p:cNvPr id="32" name="Shape 30"/>
          <p:cNvSpPr/>
          <p:nvPr/>
        </p:nvSpPr>
        <p:spPr>
          <a:xfrm>
            <a:off x="548640" y="4251960"/>
            <a:ext cx="3566160" cy="1920240"/>
          </a:xfrm>
          <a:prstGeom prst="roundRect">
            <a:avLst>
              <a:gd name="adj" fmla="val 5714"/>
            </a:avLst>
          </a:prstGeom>
          <a:solidFill>
            <a:schemeClr val="bg2">
              <a:alpha val="60000"/>
            </a:schemeClr>
          </a:solidFill>
          <a:ln/>
        </p:spPr>
      </p:sp>
      <p:sp>
        <p:nvSpPr>
          <p:cNvPr id="33" name="Text 31"/>
          <p:cNvSpPr txBox="1"/>
          <p:nvPr/>
        </p:nvSpPr>
        <p:spPr>
          <a:xfrm>
            <a:off x="777240" y="4389120"/>
            <a:ext cx="3200400" cy="365760"/>
          </a:xfrm>
          <a:prstGeom prst="rect">
            <a:avLst/>
          </a:prstGeom>
          <a:noFill/>
          <a:ln/>
        </p:spPr>
        <p:txBody>
          <a:bodyPr wrap="square" lIns="0" tIns="0" rIns="0" bIns="0" rtlCol="0" anchor="t"/>
          <a:lstStyle/>
          <a:p>
            <a:pPr indent="0" marL="0">
              <a:buNone/>
            </a:pPr>
            <a:r>
              <a:rPr lang="en-US" sz="1450" b="1" dirty="0">
                <a:solidFill>
                  <a:schemeClr val="accent1"/>
                </a:solidFill>
                <a:latin typeface="Ebrima" pitchFamily="34" charset="0"/>
                <a:ea typeface="Ebrima" pitchFamily="34" charset="-122"/>
                <a:cs typeface="Ebrima" pitchFamily="34" charset="-120"/>
              </a:rPr>
              <a:t>Reviewing departments (default)</a:t>
            </a:r>
            <a:endParaRPr lang="en-US" sz="1450" dirty="0"/>
          </a:p>
        </p:txBody>
      </p:sp>
      <p:sp>
        <p:nvSpPr>
          <p:cNvPr id="34" name="Text 32"/>
          <p:cNvSpPr txBox="1"/>
          <p:nvPr/>
        </p:nvSpPr>
        <p:spPr>
          <a:xfrm>
            <a:off x="777240" y="4800600"/>
            <a:ext cx="3200400" cy="128016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latin typeface="Ebrima" pitchFamily="34" charset="0"/>
                <a:ea typeface="Ebrima" pitchFamily="34" charset="-122"/>
                <a:cs typeface="Ebrima" pitchFamily="34" charset="-120"/>
              </a:rPr>
              <a:t>Hymns &amp; Arts</a:t>
            </a:r>
            <a:endParaRPr lang="en-US" sz="1350" dirty="0"/>
          </a:p>
          <a:p>
            <a:pPr marL="342900" indent="-342900">
              <a:spcAft>
                <a:spcPts val="400"/>
              </a:spcAft>
              <a:buSzPct val="100000"/>
              <a:buChar char="●"/>
            </a:pPr>
            <a:r>
              <a:rPr lang="en-US" sz="1350" dirty="0">
                <a:solidFill>
                  <a:schemeClr val="tx1"/>
                </a:solidFill>
                <a:latin typeface="Ebrima" pitchFamily="34" charset="0"/>
                <a:ea typeface="Ebrima" pitchFamily="34" charset="-122"/>
                <a:cs typeface="Ebrima" pitchFamily="34" charset="-120"/>
              </a:rPr>
              <a:t>Education &amp; Training</a:t>
            </a:r>
            <a:endParaRPr lang="en-US" sz="1350" dirty="0"/>
          </a:p>
          <a:p>
            <a:pPr marL="342900" indent="-342900">
              <a:spcAft>
                <a:spcPts val="400"/>
              </a:spcAft>
              <a:buSzPct val="100000"/>
              <a:buChar char="●"/>
            </a:pPr>
            <a:r>
              <a:rPr lang="en-US" sz="1350" dirty="0">
                <a:solidFill>
                  <a:schemeClr val="tx1"/>
                </a:solidFill>
                <a:latin typeface="Ebrima" pitchFamily="34" charset="0"/>
                <a:ea typeface="Ebrima" pitchFamily="34" charset="-122"/>
                <a:cs typeface="Ebrima" pitchFamily="34" charset="-120"/>
              </a:rPr>
              <a:t>Human Resources Management</a:t>
            </a:r>
            <a:endParaRPr lang="en-US" sz="1350" dirty="0"/>
          </a:p>
        </p:txBody>
      </p:sp>
      <p:sp>
        <p:nvSpPr>
          <p:cNvPr id="35" name="Shape 33"/>
          <p:cNvSpPr/>
          <p:nvPr/>
        </p:nvSpPr>
        <p:spPr>
          <a:xfrm>
            <a:off x="4315968" y="4251960"/>
            <a:ext cx="3566160" cy="1920240"/>
          </a:xfrm>
          <a:prstGeom prst="roundRect">
            <a:avLst>
              <a:gd name="adj" fmla="val 5714"/>
            </a:avLst>
          </a:prstGeom>
          <a:solidFill>
            <a:schemeClr val="bg2">
              <a:alpha val="60000"/>
            </a:schemeClr>
          </a:solidFill>
          <a:ln/>
        </p:spPr>
      </p:sp>
      <p:sp>
        <p:nvSpPr>
          <p:cNvPr id="36" name="Text 34"/>
          <p:cNvSpPr txBox="1"/>
          <p:nvPr/>
        </p:nvSpPr>
        <p:spPr>
          <a:xfrm>
            <a:off x="4544568" y="4389120"/>
            <a:ext cx="3200400" cy="365760"/>
          </a:xfrm>
          <a:prstGeom prst="rect">
            <a:avLst/>
          </a:prstGeom>
          <a:noFill/>
          <a:ln/>
        </p:spPr>
        <p:txBody>
          <a:bodyPr wrap="square" lIns="0" tIns="0" rIns="0" bIns="0" rtlCol="0" anchor="t"/>
          <a:lstStyle/>
          <a:p>
            <a:pPr indent="0" marL="0">
              <a:buNone/>
            </a:pPr>
            <a:r>
              <a:rPr lang="en-US" sz="1450" b="1" dirty="0">
                <a:solidFill>
                  <a:schemeClr val="accent1"/>
                </a:solidFill>
                <a:latin typeface="Ebrima" pitchFamily="34" charset="0"/>
                <a:ea typeface="Ebrima" pitchFamily="34" charset="-122"/>
                <a:cs typeface="Ebrima" pitchFamily="34" charset="-120"/>
              </a:rPr>
              <a:t>Override</a:t>
            </a:r>
            <a:endParaRPr lang="en-US" sz="1450" dirty="0"/>
          </a:p>
        </p:txBody>
      </p:sp>
      <p:sp>
        <p:nvSpPr>
          <p:cNvPr id="37" name="Text 35"/>
          <p:cNvSpPr txBox="1"/>
          <p:nvPr/>
        </p:nvSpPr>
        <p:spPr>
          <a:xfrm>
            <a:off x="4544568" y="4800600"/>
            <a:ext cx="3154680" cy="12801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Only during review, with a written reason; the calculated result is kept alongside it and recorded in the audit log</a:t>
            </a:r>
            <a:endParaRPr lang="en-US" sz="1300" dirty="0"/>
          </a:p>
        </p:txBody>
      </p:sp>
      <p:sp>
        <p:nvSpPr>
          <p:cNvPr id="38" name="Shape 36"/>
          <p:cNvSpPr/>
          <p:nvPr/>
        </p:nvSpPr>
        <p:spPr>
          <a:xfrm>
            <a:off x="8092440" y="4251960"/>
            <a:ext cx="3566160" cy="1920240"/>
          </a:xfrm>
          <a:prstGeom prst="roundRect">
            <a:avLst>
              <a:gd name="adj" fmla="val 5714"/>
            </a:avLst>
          </a:prstGeom>
          <a:solidFill>
            <a:schemeClr val="bg2">
              <a:alpha val="60000"/>
            </a:schemeClr>
          </a:solidFill>
          <a:ln/>
        </p:spPr>
      </p:sp>
      <p:sp>
        <p:nvSpPr>
          <p:cNvPr id="39" name="Text 37"/>
          <p:cNvSpPr txBox="1"/>
          <p:nvPr/>
        </p:nvSpPr>
        <p:spPr>
          <a:xfrm>
            <a:off x="8321040" y="4389120"/>
            <a:ext cx="3200400" cy="365760"/>
          </a:xfrm>
          <a:prstGeom prst="rect">
            <a:avLst/>
          </a:prstGeom>
          <a:noFill/>
          <a:ln/>
        </p:spPr>
        <p:txBody>
          <a:bodyPr wrap="square" lIns="0" tIns="0" rIns="0" bIns="0" rtlCol="0" anchor="t"/>
          <a:lstStyle/>
          <a:p>
            <a:pPr indent="0" marL="0">
              <a:buNone/>
            </a:pPr>
            <a:r>
              <a:rPr lang="en-US" sz="1450" b="1" dirty="0">
                <a:solidFill>
                  <a:schemeClr val="accent1"/>
                </a:solidFill>
                <a:latin typeface="Ebrima" pitchFamily="34" charset="0"/>
                <a:ea typeface="Ebrima" pitchFamily="34" charset="-122"/>
                <a:cs typeface="Ebrima" pitchFamily="34" charset="-120"/>
              </a:rPr>
              <a:t>Other Mezmur services</a:t>
            </a:r>
            <a:endParaRPr lang="en-US" sz="1450" dirty="0"/>
          </a:p>
        </p:txBody>
      </p:sp>
      <p:sp>
        <p:nvSpPr>
          <p:cNvPr id="40" name="Text 38"/>
          <p:cNvSpPr txBox="1"/>
          <p:nvPr/>
        </p:nvSpPr>
        <p:spPr>
          <a:xfrm>
            <a:off x="8321040" y="4800600"/>
            <a:ext cx="3154680" cy="12801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Participants for wedding services are selected manually by an authorized administrator</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Monthly Contributions</a:t>
            </a:r>
            <a:endParaRPr lang="en-US" sz="3400" dirty="0"/>
          </a:p>
        </p:txBody>
      </p:sp>
      <p:sp>
        <p:nvSpPr>
          <p:cNvPr id="3" name="Shape 1"/>
          <p:cNvSpPr/>
          <p:nvPr/>
        </p:nvSpPr>
        <p:spPr>
          <a:xfrm>
            <a:off x="548640" y="1371600"/>
            <a:ext cx="548640" cy="54864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80314" y="1503274"/>
            <a:ext cx="285293" cy="285293"/>
          </a:xfrm>
          <a:prstGeom prst="rect">
            <a:avLst/>
          </a:prstGeom>
        </p:spPr>
      </p:pic>
      <p:sp>
        <p:nvSpPr>
          <p:cNvPr id="5" name="Text 2"/>
          <p:cNvSpPr txBox="1"/>
          <p:nvPr/>
        </p:nvSpPr>
        <p:spPr>
          <a:xfrm>
            <a:off x="1280160" y="1380744"/>
            <a:ext cx="603504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Recorded by Ethiopian month (Pagume counts with Nehase)</a:t>
            </a:r>
            <a:endParaRPr lang="en-US" sz="1500" dirty="0"/>
          </a:p>
        </p:txBody>
      </p:sp>
      <p:sp>
        <p:nvSpPr>
          <p:cNvPr id="6" name="Shape 3"/>
          <p:cNvSpPr/>
          <p:nvPr/>
        </p:nvSpPr>
        <p:spPr>
          <a:xfrm>
            <a:off x="548640" y="2176272"/>
            <a:ext cx="548640" cy="548640"/>
          </a:xfrm>
          <a:prstGeom prst="ellipse">
            <a:avLst/>
          </a:prstGeom>
          <a:solidFill>
            <a:schemeClr val="accent2"/>
          </a:solidFill>
          <a:ln/>
        </p:spPr>
      </p:sp>
      <p:pic>
        <p:nvPicPr>
          <p:cNvPr id="7" name="Image 1" descr="preencoded.png">    </p:cNvPr>
          <p:cNvPicPr>
            <a:picLocks noChangeAspect="1"/>
          </p:cNvPicPr>
          <p:nvPr/>
        </p:nvPicPr>
        <p:blipFill>
          <a:blip r:embed="rId2"/>
          <a:stretch>
            <a:fillRect/>
          </a:stretch>
        </p:blipFill>
        <p:spPr>
          <a:xfrm>
            <a:off x="680314" y="2307946"/>
            <a:ext cx="285293" cy="285293"/>
          </a:xfrm>
          <a:prstGeom prst="rect">
            <a:avLst/>
          </a:prstGeom>
        </p:spPr>
      </p:pic>
      <p:sp>
        <p:nvSpPr>
          <p:cNvPr id="8" name="Text 4"/>
          <p:cNvSpPr txBox="1"/>
          <p:nvPr/>
        </p:nvSpPr>
        <p:spPr>
          <a:xfrm>
            <a:off x="1280160" y="2185416"/>
            <a:ext cx="603504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One payment can cover 1 to 12 consecutive months</a:t>
            </a:r>
            <a:endParaRPr lang="en-US" sz="1500" dirty="0"/>
          </a:p>
        </p:txBody>
      </p:sp>
      <p:sp>
        <p:nvSpPr>
          <p:cNvPr id="9" name="Shape 5"/>
          <p:cNvSpPr/>
          <p:nvPr/>
        </p:nvSpPr>
        <p:spPr>
          <a:xfrm>
            <a:off x="548640" y="2980944"/>
            <a:ext cx="548640" cy="548640"/>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680314" y="3112618"/>
            <a:ext cx="285293" cy="285293"/>
          </a:xfrm>
          <a:prstGeom prst="rect">
            <a:avLst/>
          </a:prstGeom>
        </p:spPr>
      </p:pic>
      <p:sp>
        <p:nvSpPr>
          <p:cNvPr id="11" name="Text 6"/>
          <p:cNvSpPr txBox="1"/>
          <p:nvPr/>
        </p:nvSpPr>
        <p:spPr>
          <a:xfrm>
            <a:off x="1280160" y="2990088"/>
            <a:ext cx="603504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Rates by member type (student / worker); children do not pay</a:t>
            </a:r>
            <a:endParaRPr lang="en-US" sz="1500" dirty="0"/>
          </a:p>
        </p:txBody>
      </p:sp>
      <p:sp>
        <p:nvSpPr>
          <p:cNvPr id="12" name="Shape 7"/>
          <p:cNvSpPr/>
          <p:nvPr/>
        </p:nvSpPr>
        <p:spPr>
          <a:xfrm>
            <a:off x="548640" y="3785616"/>
            <a:ext cx="548640" cy="548640"/>
          </a:xfrm>
          <a:prstGeom prst="ellipse">
            <a:avLst/>
          </a:prstGeom>
          <a:solidFill>
            <a:schemeClr val="accent2"/>
          </a:solidFill>
          <a:ln/>
        </p:spPr>
      </p:sp>
      <p:pic>
        <p:nvPicPr>
          <p:cNvPr id="13" name="Image 3" descr="preencoded.png">    </p:cNvPr>
          <p:cNvPicPr>
            <a:picLocks noChangeAspect="1"/>
          </p:cNvPicPr>
          <p:nvPr/>
        </p:nvPicPr>
        <p:blipFill>
          <a:blip r:embed="rId4"/>
          <a:stretch>
            <a:fillRect/>
          </a:stretch>
        </p:blipFill>
        <p:spPr>
          <a:xfrm>
            <a:off x="680314" y="3917290"/>
            <a:ext cx="285293" cy="285293"/>
          </a:xfrm>
          <a:prstGeom prst="rect">
            <a:avLst/>
          </a:prstGeom>
        </p:spPr>
      </p:pic>
      <p:sp>
        <p:nvSpPr>
          <p:cNvPr id="14" name="Text 8"/>
          <p:cNvSpPr txBox="1"/>
          <p:nvPr/>
        </p:nvSpPr>
        <p:spPr>
          <a:xfrm>
            <a:off x="1280160" y="3794760"/>
            <a:ext cx="603504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Receipt attachment and verification by another administrator</a:t>
            </a:r>
            <a:endParaRPr lang="en-US" sz="1500" dirty="0"/>
          </a:p>
        </p:txBody>
      </p:sp>
      <p:sp>
        <p:nvSpPr>
          <p:cNvPr id="15" name="Shape 9"/>
          <p:cNvSpPr/>
          <p:nvPr/>
        </p:nvSpPr>
        <p:spPr>
          <a:xfrm>
            <a:off x="548640" y="4590288"/>
            <a:ext cx="548640" cy="548640"/>
          </a:xfrm>
          <a:prstGeom prst="ellipse">
            <a:avLst/>
          </a:prstGeom>
          <a:solidFill>
            <a:schemeClr val="accent1"/>
          </a:solidFill>
          <a:ln/>
        </p:spPr>
      </p:sp>
      <p:pic>
        <p:nvPicPr>
          <p:cNvPr id="16" name="Image 4" descr="preencoded.png">    </p:cNvPr>
          <p:cNvPicPr>
            <a:picLocks noChangeAspect="1"/>
          </p:cNvPicPr>
          <p:nvPr/>
        </p:nvPicPr>
        <p:blipFill>
          <a:blip r:embed="rId5"/>
          <a:stretch>
            <a:fillRect/>
          </a:stretch>
        </p:blipFill>
        <p:spPr>
          <a:xfrm>
            <a:off x="680314" y="4721962"/>
            <a:ext cx="285293" cy="285293"/>
          </a:xfrm>
          <a:prstGeom prst="rect">
            <a:avLst/>
          </a:prstGeom>
        </p:spPr>
      </p:pic>
      <p:sp>
        <p:nvSpPr>
          <p:cNvPr id="17" name="Text 10"/>
          <p:cNvSpPr txBox="1"/>
          <p:nvPr/>
        </p:nvSpPr>
        <p:spPr>
          <a:xfrm>
            <a:off x="1280160" y="4599432"/>
            <a:ext cx="603504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Payments made after the month are recorded as “Paid after due month” — the month still counts as paid</a:t>
            </a:r>
            <a:endParaRPr lang="en-US" sz="1500" dirty="0"/>
          </a:p>
        </p:txBody>
      </p:sp>
      <p:sp>
        <p:nvSpPr>
          <p:cNvPr id="18" name="Shape 11"/>
          <p:cNvSpPr/>
          <p:nvPr/>
        </p:nvSpPr>
        <p:spPr>
          <a:xfrm>
            <a:off x="548640" y="5394960"/>
            <a:ext cx="548640" cy="548640"/>
          </a:xfrm>
          <a:prstGeom prst="ellipse">
            <a:avLst/>
          </a:prstGeom>
          <a:solidFill>
            <a:schemeClr val="accent2"/>
          </a:solidFill>
          <a:ln/>
        </p:spPr>
      </p:sp>
      <p:pic>
        <p:nvPicPr>
          <p:cNvPr id="19" name="Image 5" descr="preencoded.png">    </p:cNvPr>
          <p:cNvPicPr>
            <a:picLocks noChangeAspect="1"/>
          </p:cNvPicPr>
          <p:nvPr/>
        </p:nvPicPr>
        <p:blipFill>
          <a:blip r:embed="rId6"/>
          <a:stretch>
            <a:fillRect/>
          </a:stretch>
        </p:blipFill>
        <p:spPr>
          <a:xfrm>
            <a:off x="680314" y="5526634"/>
            <a:ext cx="285293" cy="285293"/>
          </a:xfrm>
          <a:prstGeom prst="rect">
            <a:avLst/>
          </a:prstGeom>
        </p:spPr>
      </p:pic>
      <p:sp>
        <p:nvSpPr>
          <p:cNvPr id="20" name="Text 12"/>
          <p:cNvSpPr txBox="1"/>
          <p:nvPr/>
        </p:nvSpPr>
        <p:spPr>
          <a:xfrm>
            <a:off x="1280160" y="5404104"/>
            <a:ext cx="603504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Members see their own history and percentage; reports in PDF, Excel, CSV</a:t>
            </a:r>
            <a:endParaRPr lang="en-US" sz="1500" dirty="0"/>
          </a:p>
        </p:txBody>
      </p:sp>
      <p:sp>
        <p:nvSpPr>
          <p:cNvPr id="21" name="Shape 13"/>
          <p:cNvSpPr/>
          <p:nvPr/>
        </p:nvSpPr>
        <p:spPr>
          <a:xfrm>
            <a:off x="7772400" y="1371600"/>
            <a:ext cx="3886200" cy="3154680"/>
          </a:xfrm>
          <a:prstGeom prst="roundRect">
            <a:avLst>
              <a:gd name="adj" fmla="val 3478"/>
            </a:avLst>
          </a:prstGeom>
          <a:solidFill>
            <a:schemeClr val="accent1"/>
          </a:solidFill>
          <a:ln/>
        </p:spPr>
      </p:sp>
      <p:sp>
        <p:nvSpPr>
          <p:cNvPr id="22" name="Text 14"/>
          <p:cNvSpPr txBox="1"/>
          <p:nvPr/>
        </p:nvSpPr>
        <p:spPr>
          <a:xfrm>
            <a:off x="8046720" y="1508760"/>
            <a:ext cx="3383280" cy="365760"/>
          </a:xfrm>
          <a:prstGeom prst="rect">
            <a:avLst/>
          </a:prstGeom>
          <a:noFill/>
          <a:ln/>
        </p:spPr>
        <p:txBody>
          <a:bodyPr wrap="square" lIns="0" tIns="0" rIns="0" bIns="0" rtlCol="0" anchor="t"/>
          <a:lstStyle/>
          <a:p>
            <a:pPr indent="0" marL="0">
              <a:buNone/>
            </a:pPr>
            <a:r>
              <a:rPr lang="en-US" sz="1500" b="1" dirty="0">
                <a:solidFill>
                  <a:schemeClr val="accent2"/>
                </a:solidFill>
                <a:latin typeface="Ebrima" pitchFamily="34" charset="0"/>
                <a:ea typeface="Ebrima" pitchFamily="34" charset="-122"/>
                <a:cs typeface="Ebrima" pitchFamily="34" charset="-120"/>
              </a:rPr>
              <a:t>Example</a:t>
            </a:r>
            <a:endParaRPr lang="en-US" sz="1500" dirty="0"/>
          </a:p>
        </p:txBody>
      </p:sp>
      <p:sp>
        <p:nvSpPr>
          <p:cNvPr id="23" name="Text 15"/>
          <p:cNvSpPr txBox="1"/>
          <p:nvPr/>
        </p:nvSpPr>
        <p:spPr>
          <a:xfrm>
            <a:off x="8046720" y="1920240"/>
            <a:ext cx="3429000" cy="2514600"/>
          </a:xfrm>
          <a:prstGeom prst="rect">
            <a:avLst/>
          </a:prstGeom>
          <a:noFill/>
          <a:ln/>
        </p:spPr>
        <p:txBody>
          <a:bodyPr wrap="square" lIns="0" tIns="0" rIns="0" bIns="0" rtlCol="0" anchor="t"/>
          <a:lstStyle/>
          <a:p>
            <a:pPr indent="0" marL="0">
              <a:buNone/>
            </a:pPr>
            <a:r>
              <a:rPr lang="en-US" sz="1400" dirty="0">
                <a:solidFill>
                  <a:schemeClr val="bg1"/>
                </a:solidFill>
                <a:latin typeface="Ebrima" pitchFamily="34" charset="0"/>
                <a:ea typeface="Ebrima" pitchFamily="34" charset="-122"/>
                <a:cs typeface="Ebrima" pitchFamily="34" charset="-120"/>
              </a:rPr>
              <a:t>A student member pays the contributions for Meskerem, Tikimt and Hidar at once.</a:t>
            </a:r>
            <a:endParaRPr lang="en-US" sz="1400" dirty="0"/>
          </a:p>
          <a:p>
            <a:pPr indent="0" marL="0">
              <a:buNone/>
            </a:pPr>
            <a:endParaRPr lang="en-US" sz="1400" dirty="0"/>
          </a:p>
          <a:p>
            <a:pPr indent="0" marL="0">
              <a:buNone/>
            </a:pPr>
            <a:r>
              <a:rPr lang="en-US" sz="1400" dirty="0">
                <a:solidFill>
                  <a:schemeClr val="bg1"/>
                </a:solidFill>
                <a:latin typeface="Ebrima" pitchFamily="34" charset="0"/>
                <a:ea typeface="Ebrima" pitchFamily="34" charset="-122"/>
                <a:cs typeface="Ebrima" pitchFamily="34" charset="-120"/>
              </a:rPr>
              <a:t>Amount = monthly rate × 3 months</a:t>
            </a:r>
            <a:endParaRPr lang="en-US" sz="1400" dirty="0"/>
          </a:p>
          <a:p>
            <a:pPr indent="0" marL="0">
              <a:buNone/>
            </a:pPr>
            <a:endParaRPr lang="en-US" sz="1400" dirty="0"/>
          </a:p>
          <a:p>
            <a:pPr indent="0" marL="0">
              <a:buNone/>
            </a:pPr>
            <a:r>
              <a:rPr lang="en-US" sz="1400" dirty="0">
                <a:solidFill>
                  <a:schemeClr val="bg1"/>
                </a:solidFill>
                <a:latin typeface="Ebrima" pitchFamily="34" charset="0"/>
                <a:ea typeface="Ebrima" pitchFamily="34" charset="-122"/>
                <a:cs typeface="Ebrima" pitchFamily="34" charset="-120"/>
              </a:rPr>
              <a:t>All three months show as “Paid”.</a:t>
            </a:r>
            <a:endParaRPr lang="en-US" sz="1400" dirty="0"/>
          </a:p>
        </p:txBody>
      </p:sp>
      <p:sp>
        <p:nvSpPr>
          <p:cNvPr id="24" name="Shape 16"/>
          <p:cNvSpPr/>
          <p:nvPr/>
        </p:nvSpPr>
        <p:spPr>
          <a:xfrm>
            <a:off x="7772400" y="4709160"/>
            <a:ext cx="3886200" cy="1463040"/>
          </a:xfrm>
          <a:prstGeom prst="roundRect">
            <a:avLst>
              <a:gd name="adj" fmla="val 7500"/>
            </a:avLst>
          </a:prstGeom>
          <a:solidFill>
            <a:schemeClr val="accent2">
              <a:alpha val="22000"/>
            </a:schemeClr>
          </a:solidFill>
          <a:ln/>
        </p:spPr>
      </p:sp>
      <p:sp>
        <p:nvSpPr>
          <p:cNvPr id="25" name="Text 17"/>
          <p:cNvSpPr txBox="1"/>
          <p:nvPr/>
        </p:nvSpPr>
        <p:spPr>
          <a:xfrm>
            <a:off x="8001000" y="4846320"/>
            <a:ext cx="3474720" cy="123444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Note: the app records contributions but does not collect money (there is no online payment).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Property, Borrowing and Library</a:t>
            </a:r>
            <a:endParaRPr lang="en-US" sz="3400" dirty="0"/>
          </a:p>
        </p:txBody>
      </p:sp>
      <p:sp>
        <p:nvSpPr>
          <p:cNvPr id="3" name="Shape 1"/>
          <p:cNvSpPr/>
          <p:nvPr/>
        </p:nvSpPr>
        <p:spPr>
          <a:xfrm>
            <a:off x="548640" y="1325880"/>
            <a:ext cx="3520440" cy="3200400"/>
          </a:xfrm>
          <a:prstGeom prst="roundRect">
            <a:avLst>
              <a:gd name="adj" fmla="val 3429"/>
            </a:avLst>
          </a:prstGeom>
          <a:solidFill>
            <a:schemeClr val="bg2">
              <a:alpha val="55000"/>
            </a:schemeClr>
          </a:solidFill>
          <a:ln/>
        </p:spPr>
      </p:sp>
      <p:sp>
        <p:nvSpPr>
          <p:cNvPr id="4" name="Shape 2"/>
          <p:cNvSpPr/>
          <p:nvPr/>
        </p:nvSpPr>
        <p:spPr>
          <a:xfrm>
            <a:off x="777240" y="1508760"/>
            <a:ext cx="594360" cy="59436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9886" y="1651406"/>
            <a:ext cx="309067" cy="309067"/>
          </a:xfrm>
          <a:prstGeom prst="rect">
            <a:avLst/>
          </a:prstGeom>
        </p:spPr>
      </p:pic>
      <p:sp>
        <p:nvSpPr>
          <p:cNvPr id="6" name="Text 3"/>
          <p:cNvSpPr txBox="1"/>
          <p:nvPr/>
        </p:nvSpPr>
        <p:spPr>
          <a:xfrm>
            <a:off x="1508760" y="1600200"/>
            <a:ext cx="2468880" cy="457200"/>
          </a:xfrm>
          <a:prstGeom prst="rect">
            <a:avLst/>
          </a:prstGeom>
          <a:noFill/>
          <a:ln/>
        </p:spPr>
        <p:txBody>
          <a:bodyPr wrap="square" lIns="0" tIns="0" rIns="0" bIns="0" rtlCol="0" anchor="t"/>
          <a:lstStyle/>
          <a:p>
            <a:pPr indent="0" marL="0">
              <a:buNone/>
            </a:pPr>
            <a:r>
              <a:rPr lang="en-US" sz="1700" b="1" dirty="0">
                <a:solidFill>
                  <a:schemeClr val="accent1"/>
                </a:solidFill>
                <a:latin typeface="Ebrima" pitchFamily="34" charset="0"/>
                <a:ea typeface="Ebrima" pitchFamily="34" charset="-122"/>
                <a:cs typeface="Ebrima" pitchFamily="34" charset="-120"/>
              </a:rPr>
              <a:t>Property and items</a:t>
            </a:r>
            <a:endParaRPr lang="en-US" sz="1700" dirty="0"/>
          </a:p>
        </p:txBody>
      </p:sp>
      <p:sp>
        <p:nvSpPr>
          <p:cNvPr id="7" name="Text 4"/>
          <p:cNvSpPr txBox="1"/>
          <p:nvPr/>
        </p:nvSpPr>
        <p:spPr>
          <a:xfrm>
            <a:off x="822960" y="2286000"/>
            <a:ext cx="306324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Categories: books, musical instruments, electronics, office items…</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Code, quantity, condition and location</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Change history</a:t>
            </a:r>
            <a:endParaRPr lang="en-US" sz="1300" dirty="0"/>
          </a:p>
        </p:txBody>
      </p:sp>
      <p:sp>
        <p:nvSpPr>
          <p:cNvPr id="8" name="Shape 5"/>
          <p:cNvSpPr/>
          <p:nvPr/>
        </p:nvSpPr>
        <p:spPr>
          <a:xfrm>
            <a:off x="4297680" y="1325880"/>
            <a:ext cx="3520440" cy="3200400"/>
          </a:xfrm>
          <a:prstGeom prst="roundRect">
            <a:avLst>
              <a:gd name="adj" fmla="val 3429"/>
            </a:avLst>
          </a:prstGeom>
          <a:solidFill>
            <a:schemeClr val="bg2">
              <a:alpha val="55000"/>
            </a:schemeClr>
          </a:solidFill>
          <a:ln/>
        </p:spPr>
      </p:sp>
      <p:sp>
        <p:nvSpPr>
          <p:cNvPr id="9" name="Shape 6"/>
          <p:cNvSpPr/>
          <p:nvPr/>
        </p:nvSpPr>
        <p:spPr>
          <a:xfrm>
            <a:off x="4526280" y="1508760"/>
            <a:ext cx="594360" cy="59436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668926" y="1651406"/>
            <a:ext cx="309067" cy="309067"/>
          </a:xfrm>
          <a:prstGeom prst="rect">
            <a:avLst/>
          </a:prstGeom>
        </p:spPr>
      </p:pic>
      <p:sp>
        <p:nvSpPr>
          <p:cNvPr id="11" name="Text 7"/>
          <p:cNvSpPr txBox="1"/>
          <p:nvPr/>
        </p:nvSpPr>
        <p:spPr>
          <a:xfrm>
            <a:off x="5257800" y="1600200"/>
            <a:ext cx="2468880" cy="457200"/>
          </a:xfrm>
          <a:prstGeom prst="rect">
            <a:avLst/>
          </a:prstGeom>
          <a:noFill/>
          <a:ln/>
        </p:spPr>
        <p:txBody>
          <a:bodyPr wrap="square" lIns="0" tIns="0" rIns="0" bIns="0" rtlCol="0" anchor="t"/>
          <a:lstStyle/>
          <a:p>
            <a:pPr indent="0" marL="0">
              <a:buNone/>
            </a:pPr>
            <a:r>
              <a:rPr lang="en-US" sz="1700" b="1" dirty="0">
                <a:solidFill>
                  <a:schemeClr val="accent1"/>
                </a:solidFill>
                <a:latin typeface="Ebrima" pitchFamily="34" charset="0"/>
                <a:ea typeface="Ebrima" pitchFamily="34" charset="-122"/>
                <a:cs typeface="Ebrima" pitchFamily="34" charset="-120"/>
              </a:rPr>
              <a:t>Borrowing</a:t>
            </a:r>
            <a:endParaRPr lang="en-US" sz="1700" dirty="0"/>
          </a:p>
        </p:txBody>
      </p:sp>
      <p:sp>
        <p:nvSpPr>
          <p:cNvPr id="12" name="Text 8"/>
          <p:cNvSpPr txBox="1"/>
          <p:nvPr/>
        </p:nvSpPr>
        <p:spPr>
          <a:xfrm>
            <a:off x="4572000" y="2286000"/>
            <a:ext cx="306324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Direct or with approval; bulk issue</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Member's signature on hand-over</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Renewal; condition recorded on return</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Fines per day or week (can be waived with a reason)</a:t>
            </a:r>
            <a:endParaRPr lang="en-US" sz="1300" dirty="0"/>
          </a:p>
        </p:txBody>
      </p:sp>
      <p:sp>
        <p:nvSpPr>
          <p:cNvPr id="13" name="Shape 9"/>
          <p:cNvSpPr/>
          <p:nvPr/>
        </p:nvSpPr>
        <p:spPr>
          <a:xfrm>
            <a:off x="8046720" y="1325880"/>
            <a:ext cx="3520440" cy="3200400"/>
          </a:xfrm>
          <a:prstGeom prst="roundRect">
            <a:avLst>
              <a:gd name="adj" fmla="val 3429"/>
            </a:avLst>
          </a:prstGeom>
          <a:solidFill>
            <a:schemeClr val="bg2">
              <a:alpha val="55000"/>
            </a:schemeClr>
          </a:solidFill>
          <a:ln/>
        </p:spPr>
      </p:sp>
      <p:sp>
        <p:nvSpPr>
          <p:cNvPr id="14" name="Shape 10"/>
          <p:cNvSpPr/>
          <p:nvPr/>
        </p:nvSpPr>
        <p:spPr>
          <a:xfrm>
            <a:off x="8275320" y="1508760"/>
            <a:ext cx="594360" cy="59436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417966" y="1651406"/>
            <a:ext cx="309067" cy="309067"/>
          </a:xfrm>
          <a:prstGeom prst="rect">
            <a:avLst/>
          </a:prstGeom>
        </p:spPr>
      </p:pic>
      <p:sp>
        <p:nvSpPr>
          <p:cNvPr id="16" name="Text 11"/>
          <p:cNvSpPr txBox="1"/>
          <p:nvPr/>
        </p:nvSpPr>
        <p:spPr>
          <a:xfrm>
            <a:off x="9006840" y="1600200"/>
            <a:ext cx="2468880" cy="457200"/>
          </a:xfrm>
          <a:prstGeom prst="rect">
            <a:avLst/>
          </a:prstGeom>
          <a:noFill/>
          <a:ln/>
        </p:spPr>
        <p:txBody>
          <a:bodyPr wrap="square" lIns="0" tIns="0" rIns="0" bIns="0" rtlCol="0" anchor="t"/>
          <a:lstStyle/>
          <a:p>
            <a:pPr indent="0" marL="0">
              <a:buNone/>
            </a:pPr>
            <a:r>
              <a:rPr lang="en-US" sz="1700" b="1" dirty="0">
                <a:solidFill>
                  <a:schemeClr val="accent1"/>
                </a:solidFill>
                <a:latin typeface="Ebrima" pitchFamily="34" charset="0"/>
                <a:ea typeface="Ebrima" pitchFamily="34" charset="-122"/>
                <a:cs typeface="Ebrima" pitchFamily="34" charset="-120"/>
              </a:rPr>
              <a:t>Library</a:t>
            </a:r>
            <a:endParaRPr lang="en-US" sz="1700" dirty="0"/>
          </a:p>
        </p:txBody>
      </p:sp>
      <p:sp>
        <p:nvSpPr>
          <p:cNvPr id="17" name="Text 12"/>
          <p:cNvSpPr txBox="1"/>
          <p:nvPr/>
        </p:nvSpPr>
        <p:spPr>
          <a:xfrm>
            <a:off x="8321040" y="2286000"/>
            <a:ext cx="306324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Digital books (PDF) readable only inside the app</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Printed books: request → approval → hand-over with signature</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Due-date reminders</a:t>
            </a:r>
            <a:endParaRPr lang="en-US" sz="1300" dirty="0"/>
          </a:p>
        </p:txBody>
      </p:sp>
      <p:sp>
        <p:nvSpPr>
          <p:cNvPr id="18" name="Text 13"/>
          <p:cNvSpPr txBox="1"/>
          <p:nvPr/>
        </p:nvSpPr>
        <p:spPr>
          <a:xfrm>
            <a:off x="548640" y="4709160"/>
            <a:ext cx="548640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Department property request</a:t>
            </a:r>
            <a:endParaRPr lang="en-US" sz="1500" dirty="0"/>
          </a:p>
        </p:txBody>
      </p:sp>
      <p:sp>
        <p:nvSpPr>
          <p:cNvPr id="19" name="Shape 14"/>
          <p:cNvSpPr/>
          <p:nvPr/>
        </p:nvSpPr>
        <p:spPr>
          <a:xfrm>
            <a:off x="548640" y="5120640"/>
            <a:ext cx="1623060" cy="731520"/>
          </a:xfrm>
          <a:prstGeom prst="roundRect">
            <a:avLst>
              <a:gd name="adj" fmla="val 12500"/>
            </a:avLst>
          </a:prstGeom>
          <a:solidFill>
            <a:schemeClr val="accent1"/>
          </a:solidFill>
          <a:ln/>
        </p:spPr>
      </p:sp>
      <p:sp>
        <p:nvSpPr>
          <p:cNvPr id="20" name="Text 15"/>
          <p:cNvSpPr txBox="1"/>
          <p:nvPr/>
        </p:nvSpPr>
        <p:spPr>
          <a:xfrm>
            <a:off x="685800" y="5285232"/>
            <a:ext cx="1348740" cy="502920"/>
          </a:xfrm>
          <a:prstGeom prst="rect">
            <a:avLst/>
          </a:prstGeom>
          <a:noFill/>
          <a:ln/>
        </p:spPr>
        <p:txBody>
          <a:bodyPr wrap="square" lIns="0" tIns="0" rIns="0" bIns="0" rtlCol="0" anchor="t"/>
          <a:lstStyle/>
          <a:p>
            <a:pPr indent="0" marL="0">
              <a:buNone/>
            </a:pPr>
            <a:r>
              <a:rPr lang="en-US" sz="1500" b="1" dirty="0">
                <a:solidFill>
                  <a:schemeClr val="bg1"/>
                </a:solidFill>
                <a:latin typeface="Ebrima" pitchFamily="34" charset="0"/>
                <a:ea typeface="Ebrima" pitchFamily="34" charset="-122"/>
                <a:cs typeface="Ebrima" pitchFamily="34" charset="-120"/>
              </a:rPr>
              <a:t>Draft</a:t>
            </a:r>
            <a:endParaRPr lang="en-US" sz="1500" dirty="0"/>
          </a:p>
        </p:txBody>
      </p:sp>
      <p:sp>
        <p:nvSpPr>
          <p:cNvPr id="21" name="Shape 16"/>
          <p:cNvSpPr/>
          <p:nvPr/>
        </p:nvSpPr>
        <p:spPr>
          <a:xfrm rot="5400000">
            <a:off x="2189988" y="5426050"/>
            <a:ext cx="237744" cy="120701"/>
          </a:xfrm>
          <a:prstGeom prst="triangle">
            <a:avLst/>
          </a:prstGeom>
          <a:solidFill>
            <a:schemeClr val="accent2"/>
          </a:solidFill>
          <a:ln/>
        </p:spPr>
      </p:sp>
      <p:sp>
        <p:nvSpPr>
          <p:cNvPr id="22" name="Shape 17"/>
          <p:cNvSpPr/>
          <p:nvPr/>
        </p:nvSpPr>
        <p:spPr>
          <a:xfrm>
            <a:off x="2446020" y="5120640"/>
            <a:ext cx="1623060" cy="731520"/>
          </a:xfrm>
          <a:prstGeom prst="roundRect">
            <a:avLst>
              <a:gd name="adj" fmla="val 12500"/>
            </a:avLst>
          </a:prstGeom>
          <a:solidFill>
            <a:schemeClr val="bg2">
              <a:alpha val="80000"/>
            </a:schemeClr>
          </a:solidFill>
          <a:ln/>
        </p:spPr>
      </p:sp>
      <p:sp>
        <p:nvSpPr>
          <p:cNvPr id="23" name="Text 18"/>
          <p:cNvSpPr txBox="1"/>
          <p:nvPr/>
        </p:nvSpPr>
        <p:spPr>
          <a:xfrm>
            <a:off x="2583180" y="5285232"/>
            <a:ext cx="1348740" cy="50292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Submitted</a:t>
            </a:r>
            <a:endParaRPr lang="en-US" sz="1500" dirty="0"/>
          </a:p>
        </p:txBody>
      </p:sp>
      <p:sp>
        <p:nvSpPr>
          <p:cNvPr id="24" name="Shape 19"/>
          <p:cNvSpPr/>
          <p:nvPr/>
        </p:nvSpPr>
        <p:spPr>
          <a:xfrm rot="5400000">
            <a:off x="4087368" y="5426050"/>
            <a:ext cx="237744" cy="120701"/>
          </a:xfrm>
          <a:prstGeom prst="triangle">
            <a:avLst/>
          </a:prstGeom>
          <a:solidFill>
            <a:schemeClr val="accent2"/>
          </a:solidFill>
          <a:ln/>
        </p:spPr>
      </p:sp>
      <p:sp>
        <p:nvSpPr>
          <p:cNvPr id="25" name="Shape 20"/>
          <p:cNvSpPr/>
          <p:nvPr/>
        </p:nvSpPr>
        <p:spPr>
          <a:xfrm>
            <a:off x="4343400" y="5120640"/>
            <a:ext cx="1623060" cy="731520"/>
          </a:xfrm>
          <a:prstGeom prst="roundRect">
            <a:avLst>
              <a:gd name="adj" fmla="val 12500"/>
            </a:avLst>
          </a:prstGeom>
          <a:solidFill>
            <a:schemeClr val="bg2">
              <a:alpha val="80000"/>
            </a:schemeClr>
          </a:solidFill>
          <a:ln/>
        </p:spPr>
      </p:sp>
      <p:sp>
        <p:nvSpPr>
          <p:cNvPr id="26" name="Text 21"/>
          <p:cNvSpPr txBox="1"/>
          <p:nvPr/>
        </p:nvSpPr>
        <p:spPr>
          <a:xfrm>
            <a:off x="4480560" y="5285232"/>
            <a:ext cx="1348740" cy="50292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Under review</a:t>
            </a:r>
            <a:endParaRPr lang="en-US" sz="1500" dirty="0"/>
          </a:p>
        </p:txBody>
      </p:sp>
      <p:sp>
        <p:nvSpPr>
          <p:cNvPr id="27" name="Shape 22"/>
          <p:cNvSpPr/>
          <p:nvPr/>
        </p:nvSpPr>
        <p:spPr>
          <a:xfrm rot="5400000">
            <a:off x="5984748" y="5426050"/>
            <a:ext cx="237744" cy="120701"/>
          </a:xfrm>
          <a:prstGeom prst="triangle">
            <a:avLst/>
          </a:prstGeom>
          <a:solidFill>
            <a:schemeClr val="accent2"/>
          </a:solidFill>
          <a:ln/>
        </p:spPr>
      </p:sp>
      <p:sp>
        <p:nvSpPr>
          <p:cNvPr id="28" name="Shape 23"/>
          <p:cNvSpPr/>
          <p:nvPr/>
        </p:nvSpPr>
        <p:spPr>
          <a:xfrm>
            <a:off x="6240780" y="5120640"/>
            <a:ext cx="1623060" cy="731520"/>
          </a:xfrm>
          <a:prstGeom prst="roundRect">
            <a:avLst>
              <a:gd name="adj" fmla="val 12500"/>
            </a:avLst>
          </a:prstGeom>
          <a:solidFill>
            <a:schemeClr val="bg2">
              <a:alpha val="80000"/>
            </a:schemeClr>
          </a:solidFill>
          <a:ln/>
        </p:spPr>
      </p:sp>
      <p:sp>
        <p:nvSpPr>
          <p:cNvPr id="29" name="Text 24"/>
          <p:cNvSpPr txBox="1"/>
          <p:nvPr/>
        </p:nvSpPr>
        <p:spPr>
          <a:xfrm>
            <a:off x="6377940" y="5285232"/>
            <a:ext cx="1348740" cy="50292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Approved</a:t>
            </a:r>
            <a:endParaRPr lang="en-US" sz="1500" dirty="0"/>
          </a:p>
        </p:txBody>
      </p:sp>
      <p:sp>
        <p:nvSpPr>
          <p:cNvPr id="30" name="Shape 25"/>
          <p:cNvSpPr/>
          <p:nvPr/>
        </p:nvSpPr>
        <p:spPr>
          <a:xfrm rot="5400000">
            <a:off x="7882128" y="5426050"/>
            <a:ext cx="237744" cy="120701"/>
          </a:xfrm>
          <a:prstGeom prst="triangle">
            <a:avLst/>
          </a:prstGeom>
          <a:solidFill>
            <a:schemeClr val="accent2"/>
          </a:solidFill>
          <a:ln/>
        </p:spPr>
      </p:sp>
      <p:sp>
        <p:nvSpPr>
          <p:cNvPr id="31" name="Shape 26"/>
          <p:cNvSpPr/>
          <p:nvPr/>
        </p:nvSpPr>
        <p:spPr>
          <a:xfrm>
            <a:off x="8138160" y="5120640"/>
            <a:ext cx="1623060" cy="731520"/>
          </a:xfrm>
          <a:prstGeom prst="roundRect">
            <a:avLst>
              <a:gd name="adj" fmla="val 12500"/>
            </a:avLst>
          </a:prstGeom>
          <a:solidFill>
            <a:schemeClr val="bg2">
              <a:alpha val="80000"/>
            </a:schemeClr>
          </a:solidFill>
          <a:ln/>
        </p:spPr>
      </p:sp>
      <p:sp>
        <p:nvSpPr>
          <p:cNvPr id="32" name="Text 27"/>
          <p:cNvSpPr txBox="1"/>
          <p:nvPr/>
        </p:nvSpPr>
        <p:spPr>
          <a:xfrm>
            <a:off x="8275320" y="5285232"/>
            <a:ext cx="1348740" cy="50292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Issued</a:t>
            </a:r>
            <a:endParaRPr lang="en-US" sz="1500" dirty="0"/>
          </a:p>
        </p:txBody>
      </p:sp>
      <p:sp>
        <p:nvSpPr>
          <p:cNvPr id="33" name="Shape 28"/>
          <p:cNvSpPr/>
          <p:nvPr/>
        </p:nvSpPr>
        <p:spPr>
          <a:xfrm rot="5400000">
            <a:off x="9779508" y="5426050"/>
            <a:ext cx="237744" cy="120701"/>
          </a:xfrm>
          <a:prstGeom prst="triangle">
            <a:avLst/>
          </a:prstGeom>
          <a:solidFill>
            <a:schemeClr val="accent2"/>
          </a:solidFill>
          <a:ln/>
        </p:spPr>
      </p:sp>
      <p:sp>
        <p:nvSpPr>
          <p:cNvPr id="34" name="Shape 29"/>
          <p:cNvSpPr/>
          <p:nvPr/>
        </p:nvSpPr>
        <p:spPr>
          <a:xfrm>
            <a:off x="10035540" y="5120640"/>
            <a:ext cx="1623060" cy="731520"/>
          </a:xfrm>
          <a:prstGeom prst="roundRect">
            <a:avLst>
              <a:gd name="adj" fmla="val 12500"/>
            </a:avLst>
          </a:prstGeom>
          <a:solidFill>
            <a:schemeClr val="accent3"/>
          </a:solidFill>
          <a:ln/>
        </p:spPr>
      </p:sp>
      <p:sp>
        <p:nvSpPr>
          <p:cNvPr id="35" name="Text 30"/>
          <p:cNvSpPr txBox="1"/>
          <p:nvPr/>
        </p:nvSpPr>
        <p:spPr>
          <a:xfrm>
            <a:off x="10172700" y="5285232"/>
            <a:ext cx="1348740" cy="502920"/>
          </a:xfrm>
          <a:prstGeom prst="rect">
            <a:avLst/>
          </a:prstGeom>
          <a:noFill/>
          <a:ln/>
        </p:spPr>
        <p:txBody>
          <a:bodyPr wrap="square" lIns="0" tIns="0" rIns="0" bIns="0" rtlCol="0" anchor="t"/>
          <a:lstStyle/>
          <a:p>
            <a:pPr indent="0" marL="0">
              <a:buNone/>
            </a:pPr>
            <a:r>
              <a:rPr lang="en-US" sz="1500" b="1" dirty="0">
                <a:solidFill>
                  <a:schemeClr val="bg1"/>
                </a:solidFill>
                <a:latin typeface="Ebrima" pitchFamily="34" charset="0"/>
                <a:ea typeface="Ebrima" pitchFamily="34" charset="-122"/>
                <a:cs typeface="Ebrima" pitchFamily="34" charset="-120"/>
              </a:rPr>
              <a:t>Returned</a:t>
            </a:r>
            <a:endParaRPr lang="en-US" sz="1500" dirty="0"/>
          </a:p>
        </p:txBody>
      </p:sp>
      <p:sp>
        <p:nvSpPr>
          <p:cNvPr id="36" name="Text 31"/>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00" dirty="0">
                <a:solidFill>
                  <a:schemeClr val="accent4"/>
                </a:solidFill>
                <a:latin typeface="Ebrima" pitchFamily="34" charset="0"/>
                <a:ea typeface="Ebrima" pitchFamily="34" charset="-122"/>
                <a:cs typeface="Ebrima" pitchFamily="34" charset="-120"/>
              </a:rPr>
              <a:t>Reviews are done by the Finance &amp; Property department, and stock levels update instantly when items are issued and returned</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Departments, Projects and Tasks</a:t>
            </a:r>
            <a:endParaRPr lang="en-US" sz="3400" dirty="0"/>
          </a:p>
        </p:txBody>
      </p:sp>
      <p:sp>
        <p:nvSpPr>
          <p:cNvPr id="3" name="Shape 1"/>
          <p:cNvSpPr/>
          <p:nvPr/>
        </p:nvSpPr>
        <p:spPr>
          <a:xfrm>
            <a:off x="548640" y="1325880"/>
            <a:ext cx="3657600" cy="4846320"/>
          </a:xfrm>
          <a:prstGeom prst="roundRect">
            <a:avLst>
              <a:gd name="adj" fmla="val 3000"/>
            </a:avLst>
          </a:prstGeom>
          <a:solidFill>
            <a:schemeClr val="accent1"/>
          </a:solidFill>
          <a:ln/>
        </p:spPr>
      </p:sp>
      <p:sp>
        <p:nvSpPr>
          <p:cNvPr id="4" name="Text 2"/>
          <p:cNvSpPr txBox="1"/>
          <p:nvPr/>
        </p:nvSpPr>
        <p:spPr>
          <a:xfrm>
            <a:off x="777240" y="1463040"/>
            <a:ext cx="3291840" cy="457200"/>
          </a:xfrm>
          <a:prstGeom prst="rect">
            <a:avLst/>
          </a:prstGeom>
          <a:noFill/>
          <a:ln/>
        </p:spPr>
        <p:txBody>
          <a:bodyPr wrap="square" lIns="0" tIns="0" rIns="0" bIns="0" rtlCol="0" anchor="t"/>
          <a:lstStyle/>
          <a:p>
            <a:pPr indent="0" marL="0">
              <a:buNone/>
            </a:pPr>
            <a:r>
              <a:rPr lang="en-US" sz="1800" b="1" dirty="0">
                <a:solidFill>
                  <a:schemeClr val="accent2"/>
                </a:solidFill>
                <a:latin typeface="Ebrima" pitchFamily="34" charset="0"/>
                <a:ea typeface="Ebrima" pitchFamily="34" charset="-122"/>
                <a:cs typeface="Ebrima" pitchFamily="34" charset="-120"/>
              </a:rPr>
              <a:t>7 departments</a:t>
            </a:r>
            <a:endParaRPr lang="en-US" sz="1800" dirty="0"/>
          </a:p>
        </p:txBody>
      </p:sp>
      <p:sp>
        <p:nvSpPr>
          <p:cNvPr id="5" name="Text 3"/>
          <p:cNvSpPr txBox="1"/>
          <p:nvPr/>
        </p:nvSpPr>
        <p:spPr>
          <a:xfrm>
            <a:off x="777240" y="2011680"/>
            <a:ext cx="3291840" cy="32004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Hymns &amp; Arts</a:t>
            </a:r>
            <a:endParaRPr lang="en-US" sz="1400" dirty="0"/>
          </a:p>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Education &amp; Training</a:t>
            </a:r>
            <a:endParaRPr lang="en-US" sz="1400" dirty="0"/>
          </a:p>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Human Resources Management</a:t>
            </a:r>
            <a:endParaRPr lang="en-US" sz="1400" dirty="0"/>
          </a:p>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Finance &amp; Property</a:t>
            </a:r>
            <a:endParaRPr lang="en-US" sz="1400" dirty="0"/>
          </a:p>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Programs &amp; Conference Preparation</a:t>
            </a:r>
            <a:endParaRPr lang="en-US" sz="1400" dirty="0"/>
          </a:p>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Planning &amp; Development</a:t>
            </a:r>
            <a:endParaRPr lang="en-US" sz="1400" dirty="0"/>
          </a:p>
          <a:p>
            <a:pPr marL="342900" indent="-342900">
              <a:spcAft>
                <a:spcPts val="500"/>
              </a:spcAft>
              <a:buSzPct val="100000"/>
              <a:buChar char="●"/>
            </a:pPr>
            <a:r>
              <a:rPr lang="en-US" sz="1400" dirty="0">
                <a:solidFill>
                  <a:schemeClr val="bg1"/>
                </a:solidFill>
                <a:latin typeface="Ebrima" pitchFamily="34" charset="0"/>
                <a:ea typeface="Ebrima" pitchFamily="34" charset="-122"/>
                <a:cs typeface="Ebrima" pitchFamily="34" charset="-120"/>
              </a:rPr>
              <a:t>Information &amp; Internal Communications</a:t>
            </a:r>
            <a:endParaRPr lang="en-US" sz="1400" dirty="0"/>
          </a:p>
        </p:txBody>
      </p:sp>
      <p:sp>
        <p:nvSpPr>
          <p:cNvPr id="6" name="Text 4"/>
          <p:cNvSpPr txBox="1"/>
          <p:nvPr/>
        </p:nvSpPr>
        <p:spPr>
          <a:xfrm>
            <a:off x="777240" y="5349240"/>
            <a:ext cx="3291840" cy="685800"/>
          </a:xfrm>
          <a:prstGeom prst="rect">
            <a:avLst/>
          </a:prstGeom>
          <a:noFill/>
          <a:ln/>
        </p:spPr>
        <p:txBody>
          <a:bodyPr wrap="square" lIns="0" tIns="0" rIns="0" bIns="0" rtlCol="0" anchor="t"/>
          <a:lstStyle/>
          <a:p>
            <a:pPr indent="0" marL="0">
              <a:buNone/>
            </a:pPr>
            <a:r>
              <a:rPr lang="en-US" sz="1250" dirty="0">
                <a:solidFill>
                  <a:schemeClr val="accent2"/>
                </a:solidFill>
                <a:latin typeface="Ebrima" pitchFamily="34" charset="0"/>
                <a:ea typeface="Ebrima" pitchFamily="34" charset="-122"/>
                <a:cs typeface="Ebrima" pitchFamily="34" charset="-120"/>
              </a:rPr>
              <a:t>Leaders record their members' monthly participation scores</a:t>
            </a:r>
            <a:endParaRPr lang="en-US" sz="1250" dirty="0"/>
          </a:p>
        </p:txBody>
      </p:sp>
      <p:sp>
        <p:nvSpPr>
          <p:cNvPr id="7" name="Shape 5"/>
          <p:cNvSpPr/>
          <p:nvPr/>
        </p:nvSpPr>
        <p:spPr>
          <a:xfrm>
            <a:off x="4526280" y="1325880"/>
            <a:ext cx="3474720" cy="1463040"/>
          </a:xfrm>
          <a:prstGeom prst="roundRect">
            <a:avLst>
              <a:gd name="adj" fmla="val 7500"/>
            </a:avLst>
          </a:prstGeom>
          <a:solidFill>
            <a:schemeClr val="bg2">
              <a:alpha val="55000"/>
            </a:schemeClr>
          </a:solidFill>
          <a:ln/>
        </p:spPr>
      </p:sp>
      <p:sp>
        <p:nvSpPr>
          <p:cNvPr id="8" name="Shape 6"/>
          <p:cNvSpPr/>
          <p:nvPr/>
        </p:nvSpPr>
        <p:spPr>
          <a:xfrm>
            <a:off x="4709160" y="1527048"/>
            <a:ext cx="548640" cy="548640"/>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4840834" y="1658722"/>
            <a:ext cx="285293" cy="285293"/>
          </a:xfrm>
          <a:prstGeom prst="rect">
            <a:avLst/>
          </a:prstGeom>
        </p:spPr>
      </p:pic>
      <p:sp>
        <p:nvSpPr>
          <p:cNvPr id="10" name="Text 7"/>
          <p:cNvSpPr txBox="1"/>
          <p:nvPr/>
        </p:nvSpPr>
        <p:spPr>
          <a:xfrm>
            <a:off x="5394960" y="1527048"/>
            <a:ext cx="2468880" cy="45720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Projects</a:t>
            </a:r>
            <a:endParaRPr lang="en-US" sz="1550" dirty="0"/>
          </a:p>
        </p:txBody>
      </p:sp>
      <p:sp>
        <p:nvSpPr>
          <p:cNvPr id="11" name="Text 8"/>
          <p:cNvSpPr txBox="1"/>
          <p:nvPr/>
        </p:nvSpPr>
        <p:spPr>
          <a:xfrm>
            <a:off x="4709160" y="2148840"/>
            <a:ext cx="3154680" cy="5943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Team, deadlines, priority and progress</a:t>
            </a:r>
            <a:endParaRPr lang="en-US" sz="1250" dirty="0"/>
          </a:p>
        </p:txBody>
      </p:sp>
      <p:sp>
        <p:nvSpPr>
          <p:cNvPr id="12" name="Shape 9"/>
          <p:cNvSpPr/>
          <p:nvPr/>
        </p:nvSpPr>
        <p:spPr>
          <a:xfrm>
            <a:off x="8138160" y="1325880"/>
            <a:ext cx="3474720" cy="1463040"/>
          </a:xfrm>
          <a:prstGeom prst="roundRect">
            <a:avLst>
              <a:gd name="adj" fmla="val 7500"/>
            </a:avLst>
          </a:prstGeom>
          <a:solidFill>
            <a:schemeClr val="bg2">
              <a:alpha val="55000"/>
            </a:schemeClr>
          </a:solidFill>
          <a:ln/>
        </p:spPr>
      </p:sp>
      <p:sp>
        <p:nvSpPr>
          <p:cNvPr id="13" name="Shape 10"/>
          <p:cNvSpPr/>
          <p:nvPr/>
        </p:nvSpPr>
        <p:spPr>
          <a:xfrm>
            <a:off x="8321040" y="1527048"/>
            <a:ext cx="548640" cy="548640"/>
          </a:xfrm>
          <a:prstGeom prst="ellipse">
            <a:avLst/>
          </a:prstGeom>
          <a:solidFill>
            <a:schemeClr val="accent2"/>
          </a:solidFill>
          <a:ln/>
        </p:spPr>
      </p:sp>
      <p:pic>
        <p:nvPicPr>
          <p:cNvPr id="14" name="Image 1" descr="preencoded.png">    </p:cNvPr>
          <p:cNvPicPr>
            <a:picLocks noChangeAspect="1"/>
          </p:cNvPicPr>
          <p:nvPr/>
        </p:nvPicPr>
        <p:blipFill>
          <a:blip r:embed="rId2"/>
          <a:stretch>
            <a:fillRect/>
          </a:stretch>
        </p:blipFill>
        <p:spPr>
          <a:xfrm>
            <a:off x="8452714" y="1658722"/>
            <a:ext cx="285293" cy="285293"/>
          </a:xfrm>
          <a:prstGeom prst="rect">
            <a:avLst/>
          </a:prstGeom>
        </p:spPr>
      </p:pic>
      <p:sp>
        <p:nvSpPr>
          <p:cNvPr id="15" name="Text 11"/>
          <p:cNvSpPr txBox="1"/>
          <p:nvPr/>
        </p:nvSpPr>
        <p:spPr>
          <a:xfrm>
            <a:off x="9006840" y="1527048"/>
            <a:ext cx="2468880" cy="45720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Tasks</a:t>
            </a:r>
            <a:endParaRPr lang="en-US" sz="1550" dirty="0"/>
          </a:p>
        </p:txBody>
      </p:sp>
      <p:sp>
        <p:nvSpPr>
          <p:cNvPr id="16" name="Text 12"/>
          <p:cNvSpPr txBox="1"/>
          <p:nvPr/>
        </p:nvSpPr>
        <p:spPr>
          <a:xfrm>
            <a:off x="8321040" y="2148840"/>
            <a:ext cx="3154680" cy="5943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Multiple assignees, statuses with reasons, deadline reminders</a:t>
            </a:r>
            <a:endParaRPr lang="en-US" sz="1250" dirty="0"/>
          </a:p>
        </p:txBody>
      </p:sp>
      <p:sp>
        <p:nvSpPr>
          <p:cNvPr id="17" name="Shape 13"/>
          <p:cNvSpPr/>
          <p:nvPr/>
        </p:nvSpPr>
        <p:spPr>
          <a:xfrm>
            <a:off x="4526280" y="2971800"/>
            <a:ext cx="3474720" cy="1463040"/>
          </a:xfrm>
          <a:prstGeom prst="roundRect">
            <a:avLst>
              <a:gd name="adj" fmla="val 7500"/>
            </a:avLst>
          </a:prstGeom>
          <a:solidFill>
            <a:schemeClr val="bg2">
              <a:alpha val="55000"/>
            </a:schemeClr>
          </a:solidFill>
          <a:ln/>
        </p:spPr>
      </p:sp>
      <p:sp>
        <p:nvSpPr>
          <p:cNvPr id="18" name="Shape 14"/>
          <p:cNvSpPr/>
          <p:nvPr/>
        </p:nvSpPr>
        <p:spPr>
          <a:xfrm>
            <a:off x="4709160" y="3172968"/>
            <a:ext cx="548640" cy="548640"/>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4840834" y="3304642"/>
            <a:ext cx="285293" cy="285293"/>
          </a:xfrm>
          <a:prstGeom prst="rect">
            <a:avLst/>
          </a:prstGeom>
        </p:spPr>
      </p:pic>
      <p:sp>
        <p:nvSpPr>
          <p:cNvPr id="20" name="Text 15"/>
          <p:cNvSpPr txBox="1"/>
          <p:nvPr/>
        </p:nvSpPr>
        <p:spPr>
          <a:xfrm>
            <a:off x="5394960" y="3172968"/>
            <a:ext cx="2468880" cy="45720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Budget and expenses</a:t>
            </a:r>
            <a:endParaRPr lang="en-US" sz="1550" dirty="0"/>
          </a:p>
        </p:txBody>
      </p:sp>
      <p:sp>
        <p:nvSpPr>
          <p:cNvPr id="21" name="Text 16"/>
          <p:cNvSpPr txBox="1"/>
          <p:nvPr/>
        </p:nvSpPr>
        <p:spPr>
          <a:xfrm>
            <a:off x="4709160" y="3794760"/>
            <a:ext cx="3154680" cy="5943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Approved by Finance &amp; Property; spending over budget is not allowed</a:t>
            </a:r>
            <a:endParaRPr lang="en-US" sz="1250" dirty="0"/>
          </a:p>
        </p:txBody>
      </p:sp>
      <p:sp>
        <p:nvSpPr>
          <p:cNvPr id="22" name="Shape 17"/>
          <p:cNvSpPr/>
          <p:nvPr/>
        </p:nvSpPr>
        <p:spPr>
          <a:xfrm>
            <a:off x="8138160" y="2971800"/>
            <a:ext cx="3474720" cy="1463040"/>
          </a:xfrm>
          <a:prstGeom prst="roundRect">
            <a:avLst>
              <a:gd name="adj" fmla="val 7500"/>
            </a:avLst>
          </a:prstGeom>
          <a:solidFill>
            <a:schemeClr val="bg2">
              <a:alpha val="55000"/>
            </a:schemeClr>
          </a:solidFill>
          <a:ln/>
        </p:spPr>
      </p:sp>
      <p:sp>
        <p:nvSpPr>
          <p:cNvPr id="23" name="Shape 18"/>
          <p:cNvSpPr/>
          <p:nvPr/>
        </p:nvSpPr>
        <p:spPr>
          <a:xfrm>
            <a:off x="8321040" y="3172968"/>
            <a:ext cx="548640" cy="548640"/>
          </a:xfrm>
          <a:prstGeom prst="ellipse">
            <a:avLst/>
          </a:prstGeom>
          <a:solidFill>
            <a:schemeClr val="accent2"/>
          </a:solidFill>
          <a:ln/>
        </p:spPr>
      </p:sp>
      <p:pic>
        <p:nvPicPr>
          <p:cNvPr id="24" name="Image 3" descr="preencoded.png">    </p:cNvPr>
          <p:cNvPicPr>
            <a:picLocks noChangeAspect="1"/>
          </p:cNvPicPr>
          <p:nvPr/>
        </p:nvPicPr>
        <p:blipFill>
          <a:blip r:embed="rId4"/>
          <a:stretch>
            <a:fillRect/>
          </a:stretch>
        </p:blipFill>
        <p:spPr>
          <a:xfrm>
            <a:off x="8452714" y="3304642"/>
            <a:ext cx="285293" cy="285293"/>
          </a:xfrm>
          <a:prstGeom prst="rect">
            <a:avLst/>
          </a:prstGeom>
        </p:spPr>
      </p:pic>
      <p:sp>
        <p:nvSpPr>
          <p:cNvPr id="25" name="Text 19"/>
          <p:cNvSpPr txBox="1"/>
          <p:nvPr/>
        </p:nvSpPr>
        <p:spPr>
          <a:xfrm>
            <a:off x="9006840" y="3172968"/>
            <a:ext cx="2468880" cy="45720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Issues and ideas</a:t>
            </a:r>
            <a:endParaRPr lang="en-US" sz="1550" dirty="0"/>
          </a:p>
        </p:txBody>
      </p:sp>
      <p:sp>
        <p:nvSpPr>
          <p:cNvPr id="26" name="Text 20"/>
          <p:cNvSpPr txBox="1"/>
          <p:nvPr/>
        </p:nvSpPr>
        <p:spPr>
          <a:xfrm>
            <a:off x="8321040" y="3794760"/>
            <a:ext cx="3154680" cy="5943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Ideas become tasks; files and comments</a:t>
            </a:r>
            <a:endParaRPr lang="en-US" sz="1250" dirty="0"/>
          </a:p>
        </p:txBody>
      </p:sp>
      <p:sp>
        <p:nvSpPr>
          <p:cNvPr id="27" name="Shape 21"/>
          <p:cNvSpPr/>
          <p:nvPr/>
        </p:nvSpPr>
        <p:spPr>
          <a:xfrm>
            <a:off x="4526280" y="4617720"/>
            <a:ext cx="3474720" cy="1463040"/>
          </a:xfrm>
          <a:prstGeom prst="roundRect">
            <a:avLst>
              <a:gd name="adj" fmla="val 7500"/>
            </a:avLst>
          </a:prstGeom>
          <a:solidFill>
            <a:schemeClr val="bg2">
              <a:alpha val="55000"/>
            </a:schemeClr>
          </a:solidFill>
          <a:ln/>
        </p:spPr>
      </p:sp>
      <p:sp>
        <p:nvSpPr>
          <p:cNvPr id="28" name="Shape 22"/>
          <p:cNvSpPr/>
          <p:nvPr/>
        </p:nvSpPr>
        <p:spPr>
          <a:xfrm>
            <a:off x="4709160" y="4818888"/>
            <a:ext cx="548640" cy="548640"/>
          </a:xfrm>
          <a:prstGeom prst="ellipse">
            <a:avLst/>
          </a:prstGeom>
          <a:solidFill>
            <a:schemeClr val="accent1"/>
          </a:solidFill>
          <a:ln/>
        </p:spPr>
      </p:sp>
      <p:pic>
        <p:nvPicPr>
          <p:cNvPr id="29" name="Image 4" descr="preencoded.png">    </p:cNvPr>
          <p:cNvPicPr>
            <a:picLocks noChangeAspect="1"/>
          </p:cNvPicPr>
          <p:nvPr/>
        </p:nvPicPr>
        <p:blipFill>
          <a:blip r:embed="rId5"/>
          <a:stretch>
            <a:fillRect/>
          </a:stretch>
        </p:blipFill>
        <p:spPr>
          <a:xfrm>
            <a:off x="4840834" y="4950562"/>
            <a:ext cx="285293" cy="285293"/>
          </a:xfrm>
          <a:prstGeom prst="rect">
            <a:avLst/>
          </a:prstGeom>
        </p:spPr>
      </p:pic>
      <p:sp>
        <p:nvSpPr>
          <p:cNvPr id="30" name="Text 23"/>
          <p:cNvSpPr txBox="1"/>
          <p:nvPr/>
        </p:nvSpPr>
        <p:spPr>
          <a:xfrm>
            <a:off x="5394960" y="4818888"/>
            <a:ext cx="2468880" cy="45720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Department chat</a:t>
            </a:r>
            <a:endParaRPr lang="en-US" sz="1550" dirty="0"/>
          </a:p>
        </p:txBody>
      </p:sp>
      <p:sp>
        <p:nvSpPr>
          <p:cNvPr id="31" name="Text 24"/>
          <p:cNvSpPr txBox="1"/>
          <p:nvPr/>
        </p:nvSpPr>
        <p:spPr>
          <a:xfrm>
            <a:off x="4709160" y="5440680"/>
            <a:ext cx="3154680" cy="5943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Group chat, private messages, meeting links</a:t>
            </a:r>
            <a:endParaRPr lang="en-US" sz="1250" dirty="0"/>
          </a:p>
        </p:txBody>
      </p:sp>
      <p:sp>
        <p:nvSpPr>
          <p:cNvPr id="32" name="Shape 25"/>
          <p:cNvSpPr/>
          <p:nvPr/>
        </p:nvSpPr>
        <p:spPr>
          <a:xfrm>
            <a:off x="8138160" y="4617720"/>
            <a:ext cx="3474720" cy="1463040"/>
          </a:xfrm>
          <a:prstGeom prst="roundRect">
            <a:avLst>
              <a:gd name="adj" fmla="val 7500"/>
            </a:avLst>
          </a:prstGeom>
          <a:solidFill>
            <a:schemeClr val="bg2">
              <a:alpha val="55000"/>
            </a:schemeClr>
          </a:solidFill>
          <a:ln/>
        </p:spPr>
      </p:sp>
      <p:sp>
        <p:nvSpPr>
          <p:cNvPr id="33" name="Shape 26"/>
          <p:cNvSpPr/>
          <p:nvPr/>
        </p:nvSpPr>
        <p:spPr>
          <a:xfrm>
            <a:off x="8321040" y="4818888"/>
            <a:ext cx="548640" cy="548640"/>
          </a:xfrm>
          <a:prstGeom prst="ellipse">
            <a:avLst/>
          </a:prstGeom>
          <a:solidFill>
            <a:schemeClr val="accent2"/>
          </a:solidFill>
          <a:ln/>
        </p:spPr>
      </p:sp>
      <p:pic>
        <p:nvPicPr>
          <p:cNvPr id="34" name="Image 5" descr="preencoded.png">    </p:cNvPr>
          <p:cNvPicPr>
            <a:picLocks noChangeAspect="1"/>
          </p:cNvPicPr>
          <p:nvPr/>
        </p:nvPicPr>
        <p:blipFill>
          <a:blip r:embed="rId6"/>
          <a:stretch>
            <a:fillRect/>
          </a:stretch>
        </p:blipFill>
        <p:spPr>
          <a:xfrm>
            <a:off x="8452714" y="4950562"/>
            <a:ext cx="285293" cy="285293"/>
          </a:xfrm>
          <a:prstGeom prst="rect">
            <a:avLst/>
          </a:prstGeom>
        </p:spPr>
      </p:pic>
      <p:sp>
        <p:nvSpPr>
          <p:cNvPr id="35" name="Text 27"/>
          <p:cNvSpPr txBox="1"/>
          <p:nvPr/>
        </p:nvSpPr>
        <p:spPr>
          <a:xfrm>
            <a:off x="9006840" y="4818888"/>
            <a:ext cx="2468880" cy="45720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Task Bot</a:t>
            </a:r>
            <a:endParaRPr lang="en-US" sz="1550" dirty="0"/>
          </a:p>
        </p:txBody>
      </p:sp>
      <p:sp>
        <p:nvSpPr>
          <p:cNvPr id="36" name="Text 28"/>
          <p:cNvSpPr txBox="1"/>
          <p:nvPr/>
        </p:nvSpPr>
        <p:spPr>
          <a:xfrm>
            <a:off x="8321040" y="5440680"/>
            <a:ext cx="3154680" cy="594360"/>
          </a:xfrm>
          <a:prstGeom prst="rect">
            <a:avLst/>
          </a:prstGeom>
          <a:noFill/>
          <a:ln/>
        </p:spPr>
        <p:txBody>
          <a:bodyPr wrap="square" lIns="0" tIns="0" rIns="0" bIns="0" rtlCol="0" anchor="t"/>
          <a:lstStyle/>
          <a:p>
            <a:pPr indent="0" marL="0">
              <a:buNone/>
            </a:pPr>
            <a:r>
              <a:rPr lang="en-US" sz="1250" dirty="0">
                <a:solidFill>
                  <a:schemeClr val="tx1"/>
                </a:solidFill>
                <a:latin typeface="Ebrima" pitchFamily="34" charset="0"/>
                <a:ea typeface="Ebrima" pitchFamily="34" charset="-122"/>
                <a:cs typeface="Ebrima" pitchFamily="34" charset="-120"/>
              </a:rPr>
              <a:t>Task updates arrive in the chat with action buttons</a:t>
            </a:r>
            <a:endParaRPr lang="en-US" sz="12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Notifications, Reminders and Announcements</a:t>
            </a:r>
            <a:endParaRPr lang="en-US" sz="3400" dirty="0"/>
          </a:p>
        </p:txBody>
      </p:sp>
      <p:sp>
        <p:nvSpPr>
          <p:cNvPr id="3" name="Shape 1"/>
          <p:cNvSpPr/>
          <p:nvPr/>
        </p:nvSpPr>
        <p:spPr>
          <a:xfrm>
            <a:off x="548640" y="1325880"/>
            <a:ext cx="2624328" cy="1737360"/>
          </a:xfrm>
          <a:prstGeom prst="roundRect">
            <a:avLst>
              <a:gd name="adj" fmla="val 6316"/>
            </a:avLst>
          </a:prstGeom>
          <a:solidFill>
            <a:schemeClr val="accent1"/>
          </a:solidFill>
          <a:ln/>
        </p:spPr>
      </p:sp>
      <p:sp>
        <p:nvSpPr>
          <p:cNvPr id="4" name="Shape 2"/>
          <p:cNvSpPr/>
          <p:nvPr/>
        </p:nvSpPr>
        <p:spPr>
          <a:xfrm>
            <a:off x="1508760" y="1463040"/>
            <a:ext cx="685800" cy="68580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1673352" y="1627632"/>
            <a:ext cx="356616" cy="356616"/>
          </a:xfrm>
          <a:prstGeom prst="rect">
            <a:avLst/>
          </a:prstGeom>
        </p:spPr>
      </p:pic>
      <p:sp>
        <p:nvSpPr>
          <p:cNvPr id="6" name="Text 3"/>
          <p:cNvSpPr txBox="1"/>
          <p:nvPr/>
        </p:nvSpPr>
        <p:spPr>
          <a:xfrm>
            <a:off x="640080" y="2240280"/>
            <a:ext cx="2441448" cy="411480"/>
          </a:xfrm>
          <a:prstGeom prst="rect">
            <a:avLst/>
          </a:prstGeom>
          <a:noFill/>
          <a:ln/>
        </p:spPr>
        <p:txBody>
          <a:bodyPr wrap="square" lIns="0" tIns="0" rIns="0" bIns="0" rtlCol="0" anchor="t"/>
          <a:lstStyle/>
          <a:p>
            <a:pPr algn="ctr" indent="0" marL="0">
              <a:buNone/>
            </a:pPr>
            <a:r>
              <a:rPr lang="en-US" sz="1550" b="1" dirty="0">
                <a:solidFill>
                  <a:schemeClr val="bg1"/>
                </a:solidFill>
                <a:latin typeface="Ebrima" pitchFamily="34" charset="0"/>
                <a:ea typeface="Ebrima" pitchFamily="34" charset="-122"/>
                <a:cs typeface="Ebrima" pitchFamily="34" charset="-120"/>
              </a:rPr>
              <a:t>Notification center</a:t>
            </a:r>
            <a:endParaRPr lang="en-US" sz="1550" dirty="0"/>
          </a:p>
        </p:txBody>
      </p:sp>
      <p:sp>
        <p:nvSpPr>
          <p:cNvPr id="7" name="Text 4"/>
          <p:cNvSpPr txBox="1"/>
          <p:nvPr/>
        </p:nvSpPr>
        <p:spPr>
          <a:xfrm>
            <a:off x="640080" y="2633472"/>
            <a:ext cx="2441448" cy="365760"/>
          </a:xfrm>
          <a:prstGeom prst="rect">
            <a:avLst/>
          </a:prstGeom>
          <a:noFill/>
          <a:ln/>
        </p:spPr>
        <p:txBody>
          <a:bodyPr wrap="square" lIns="0" tIns="0" rIns="0" bIns="0" rtlCol="0" anchor="t"/>
          <a:lstStyle/>
          <a:p>
            <a:pPr algn="ctr" indent="0" marL="0">
              <a:buNone/>
            </a:pPr>
            <a:r>
              <a:rPr lang="en-US" sz="1250" dirty="0">
                <a:solidFill>
                  <a:schemeClr val="bg1"/>
                </a:solidFill>
                <a:latin typeface="Ebrima" pitchFamily="34" charset="0"/>
                <a:ea typeface="Ebrima" pitchFamily="34" charset="-122"/>
                <a:cs typeface="Ebrima" pitchFamily="34" charset="-120"/>
              </a:rPr>
              <a:t>Inside the app</a:t>
            </a:r>
            <a:endParaRPr lang="en-US" sz="1250" dirty="0"/>
          </a:p>
        </p:txBody>
      </p:sp>
      <p:sp>
        <p:nvSpPr>
          <p:cNvPr id="8" name="Shape 5"/>
          <p:cNvSpPr/>
          <p:nvPr/>
        </p:nvSpPr>
        <p:spPr>
          <a:xfrm>
            <a:off x="3355848" y="1325880"/>
            <a:ext cx="2624328" cy="1737360"/>
          </a:xfrm>
          <a:prstGeom prst="roundRect">
            <a:avLst>
              <a:gd name="adj" fmla="val 6316"/>
            </a:avLst>
          </a:prstGeom>
          <a:solidFill>
            <a:schemeClr val="bg2">
              <a:alpha val="60000"/>
            </a:schemeClr>
          </a:solidFill>
          <a:ln/>
        </p:spPr>
      </p:sp>
      <p:sp>
        <p:nvSpPr>
          <p:cNvPr id="9" name="Shape 6"/>
          <p:cNvSpPr/>
          <p:nvPr/>
        </p:nvSpPr>
        <p:spPr>
          <a:xfrm>
            <a:off x="4315968" y="1463040"/>
            <a:ext cx="685800" cy="68580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480560" y="1627632"/>
            <a:ext cx="356616" cy="356616"/>
          </a:xfrm>
          <a:prstGeom prst="rect">
            <a:avLst/>
          </a:prstGeom>
        </p:spPr>
      </p:pic>
      <p:sp>
        <p:nvSpPr>
          <p:cNvPr id="11" name="Text 7"/>
          <p:cNvSpPr txBox="1"/>
          <p:nvPr/>
        </p:nvSpPr>
        <p:spPr>
          <a:xfrm>
            <a:off x="3447288" y="2240280"/>
            <a:ext cx="2441448" cy="411480"/>
          </a:xfrm>
          <a:prstGeom prst="rect">
            <a:avLst/>
          </a:prstGeom>
          <a:noFill/>
          <a:ln/>
        </p:spPr>
        <p:txBody>
          <a:bodyPr wrap="square" lIns="0" tIns="0" rIns="0" bIns="0" rtlCol="0" anchor="t"/>
          <a:lstStyle/>
          <a:p>
            <a:pPr algn="ctr" indent="0" marL="0">
              <a:buNone/>
            </a:pPr>
            <a:r>
              <a:rPr lang="en-US" sz="1550" b="1" dirty="0">
                <a:solidFill>
                  <a:schemeClr val="accent1"/>
                </a:solidFill>
                <a:latin typeface="Ebrima" pitchFamily="34" charset="0"/>
                <a:ea typeface="Ebrima" pitchFamily="34" charset="-122"/>
                <a:cs typeface="Ebrima" pitchFamily="34" charset="-120"/>
              </a:rPr>
              <a:t>Push notifications</a:t>
            </a:r>
            <a:endParaRPr lang="en-US" sz="1550" dirty="0"/>
          </a:p>
        </p:txBody>
      </p:sp>
      <p:sp>
        <p:nvSpPr>
          <p:cNvPr id="12" name="Text 8"/>
          <p:cNvSpPr txBox="1"/>
          <p:nvPr/>
        </p:nvSpPr>
        <p:spPr>
          <a:xfrm>
            <a:off x="3447288" y="2633472"/>
            <a:ext cx="2441448" cy="36576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Directly on the phone</a:t>
            </a:r>
            <a:endParaRPr lang="en-US" sz="1250" dirty="0"/>
          </a:p>
        </p:txBody>
      </p:sp>
      <p:sp>
        <p:nvSpPr>
          <p:cNvPr id="13" name="Shape 9"/>
          <p:cNvSpPr/>
          <p:nvPr/>
        </p:nvSpPr>
        <p:spPr>
          <a:xfrm>
            <a:off x="6163056" y="1325880"/>
            <a:ext cx="2624328" cy="1737360"/>
          </a:xfrm>
          <a:prstGeom prst="roundRect">
            <a:avLst>
              <a:gd name="adj" fmla="val 6316"/>
            </a:avLst>
          </a:prstGeom>
          <a:solidFill>
            <a:schemeClr val="bg2">
              <a:alpha val="60000"/>
            </a:schemeClr>
          </a:solidFill>
          <a:ln/>
        </p:spPr>
      </p:sp>
      <p:sp>
        <p:nvSpPr>
          <p:cNvPr id="14" name="Shape 10"/>
          <p:cNvSpPr/>
          <p:nvPr/>
        </p:nvSpPr>
        <p:spPr>
          <a:xfrm>
            <a:off x="7123176" y="1463040"/>
            <a:ext cx="685800" cy="68580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7287768" y="1627632"/>
            <a:ext cx="356616" cy="356616"/>
          </a:xfrm>
          <a:prstGeom prst="rect">
            <a:avLst/>
          </a:prstGeom>
        </p:spPr>
      </p:pic>
      <p:sp>
        <p:nvSpPr>
          <p:cNvPr id="16" name="Text 11"/>
          <p:cNvSpPr txBox="1"/>
          <p:nvPr/>
        </p:nvSpPr>
        <p:spPr>
          <a:xfrm>
            <a:off x="6254496" y="2240280"/>
            <a:ext cx="2441448" cy="411480"/>
          </a:xfrm>
          <a:prstGeom prst="rect">
            <a:avLst/>
          </a:prstGeom>
          <a:noFill/>
          <a:ln/>
        </p:spPr>
        <p:txBody>
          <a:bodyPr wrap="square" lIns="0" tIns="0" rIns="0" bIns="0" rtlCol="0" anchor="t"/>
          <a:lstStyle/>
          <a:p>
            <a:pPr algn="ctr" indent="0" marL="0">
              <a:buNone/>
            </a:pPr>
            <a:r>
              <a:rPr lang="en-US" sz="1550" b="1" dirty="0">
                <a:solidFill>
                  <a:schemeClr val="accent1"/>
                </a:solidFill>
                <a:latin typeface="Ebrima" pitchFamily="34" charset="0"/>
                <a:ea typeface="Ebrima" pitchFamily="34" charset="-122"/>
                <a:cs typeface="Ebrima" pitchFamily="34" charset="-120"/>
              </a:rPr>
              <a:t>Email</a:t>
            </a:r>
            <a:endParaRPr lang="en-US" sz="1550" dirty="0"/>
          </a:p>
        </p:txBody>
      </p:sp>
      <p:sp>
        <p:nvSpPr>
          <p:cNvPr id="17" name="Text 12"/>
          <p:cNvSpPr txBox="1"/>
          <p:nvPr/>
        </p:nvSpPr>
        <p:spPr>
          <a:xfrm>
            <a:off x="6254496" y="2633472"/>
            <a:ext cx="2441448" cy="36576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To a registered email</a:t>
            </a:r>
            <a:endParaRPr lang="en-US" sz="1250" dirty="0"/>
          </a:p>
        </p:txBody>
      </p:sp>
      <p:sp>
        <p:nvSpPr>
          <p:cNvPr id="18" name="Shape 13"/>
          <p:cNvSpPr/>
          <p:nvPr/>
        </p:nvSpPr>
        <p:spPr>
          <a:xfrm>
            <a:off x="8970264" y="1325880"/>
            <a:ext cx="2624328" cy="1737360"/>
          </a:xfrm>
          <a:prstGeom prst="roundRect">
            <a:avLst>
              <a:gd name="adj" fmla="val 6316"/>
            </a:avLst>
          </a:prstGeom>
          <a:solidFill>
            <a:schemeClr val="bg2">
              <a:alpha val="60000"/>
            </a:schemeClr>
          </a:solidFill>
          <a:ln/>
        </p:spPr>
      </p:sp>
      <p:sp>
        <p:nvSpPr>
          <p:cNvPr id="19" name="Shape 14"/>
          <p:cNvSpPr/>
          <p:nvPr/>
        </p:nvSpPr>
        <p:spPr>
          <a:xfrm>
            <a:off x="9930384" y="1463040"/>
            <a:ext cx="685800" cy="68580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10094976" y="1627632"/>
            <a:ext cx="356616" cy="356616"/>
          </a:xfrm>
          <a:prstGeom prst="rect">
            <a:avLst/>
          </a:prstGeom>
        </p:spPr>
      </p:pic>
      <p:sp>
        <p:nvSpPr>
          <p:cNvPr id="21" name="Text 15"/>
          <p:cNvSpPr txBox="1"/>
          <p:nvPr/>
        </p:nvSpPr>
        <p:spPr>
          <a:xfrm>
            <a:off x="9061704" y="2240280"/>
            <a:ext cx="2441448" cy="411480"/>
          </a:xfrm>
          <a:prstGeom prst="rect">
            <a:avLst/>
          </a:prstGeom>
          <a:noFill/>
          <a:ln/>
        </p:spPr>
        <p:txBody>
          <a:bodyPr wrap="square" lIns="0" tIns="0" rIns="0" bIns="0" rtlCol="0" anchor="t"/>
          <a:lstStyle/>
          <a:p>
            <a:pPr algn="ctr" indent="0" marL="0">
              <a:buNone/>
            </a:pPr>
            <a:r>
              <a:rPr lang="en-US" sz="1550" b="1" dirty="0">
                <a:solidFill>
                  <a:schemeClr val="accent1"/>
                </a:solidFill>
                <a:latin typeface="Ebrima" pitchFamily="34" charset="0"/>
                <a:ea typeface="Ebrima" pitchFamily="34" charset="-122"/>
                <a:cs typeface="Ebrima" pitchFamily="34" charset="-120"/>
              </a:rPr>
              <a:t>Telegram</a:t>
            </a:r>
            <a:endParaRPr lang="en-US" sz="1550" dirty="0"/>
          </a:p>
        </p:txBody>
      </p:sp>
      <p:sp>
        <p:nvSpPr>
          <p:cNvPr id="22" name="Text 16"/>
          <p:cNvSpPr txBox="1"/>
          <p:nvPr/>
        </p:nvSpPr>
        <p:spPr>
          <a:xfrm>
            <a:off x="9061704" y="2633472"/>
            <a:ext cx="2441448" cy="365760"/>
          </a:xfrm>
          <a:prstGeom prst="rect">
            <a:avLst/>
          </a:prstGeom>
          <a:noFill/>
          <a:ln/>
        </p:spPr>
        <p:txBody>
          <a:bodyPr wrap="square" lIns="0" tIns="0" rIns="0" bIns="0" rtlCol="0" anchor="t"/>
          <a:lstStyle/>
          <a:p>
            <a:pPr algn="ctr" indent="0" marL="0">
              <a:buNone/>
            </a:pPr>
            <a:r>
              <a:rPr lang="en-US" sz="1250" dirty="0">
                <a:solidFill>
                  <a:schemeClr val="tx1"/>
                </a:solidFill>
                <a:latin typeface="Ebrima" pitchFamily="34" charset="0"/>
                <a:ea typeface="Ebrima" pitchFamily="34" charset="-122"/>
                <a:cs typeface="Ebrima" pitchFamily="34" charset="-120"/>
              </a:rPr>
              <a:t>For linked accounts</a:t>
            </a:r>
            <a:endParaRPr lang="en-US" sz="1250" dirty="0"/>
          </a:p>
        </p:txBody>
      </p:sp>
      <p:sp>
        <p:nvSpPr>
          <p:cNvPr id="23" name="Text 17"/>
          <p:cNvSpPr txBox="1"/>
          <p:nvPr/>
        </p:nvSpPr>
        <p:spPr>
          <a:xfrm>
            <a:off x="548640" y="3429000"/>
            <a:ext cx="6583680" cy="274320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tx1"/>
                </a:solidFill>
                <a:latin typeface="Ebrima" pitchFamily="34" charset="0"/>
                <a:ea typeface="Ebrima" pitchFamily="34" charset="-122"/>
                <a:cs typeface="Ebrima" pitchFamily="34" charset="-120"/>
              </a:rPr>
              <a:t>8 topics: programs, attendance, projects, departments, education, property, Mezmur, system — members can turn off what they don't need</a:t>
            </a:r>
            <a:endParaRPr lang="en-US" sz="1450" dirty="0"/>
          </a:p>
          <a:p>
            <a:pPr marL="342900" indent="-342900">
              <a:spcAft>
                <a:spcPts val="1000"/>
              </a:spcAft>
              <a:buSzPct val="100000"/>
              <a:buChar char="●"/>
            </a:pPr>
            <a:r>
              <a:rPr lang="en-US" sz="1450" dirty="0">
                <a:solidFill>
                  <a:schemeClr val="tx1"/>
                </a:solidFill>
                <a:latin typeface="Ebrima" pitchFamily="34" charset="0"/>
                <a:ea typeface="Ebrima" pitchFamily="34" charset="-122"/>
                <a:cs typeface="Ebrima" pitchFamily="34" charset="-120"/>
              </a:rPr>
              <a:t>Essential messages (announcements, admin messages, borrowing due dates) always get through</a:t>
            </a:r>
            <a:endParaRPr lang="en-US" sz="1450" dirty="0"/>
          </a:p>
          <a:p>
            <a:pPr marL="342900" indent="-342900">
              <a:spcAft>
                <a:spcPts val="1000"/>
              </a:spcAft>
              <a:buSzPct val="100000"/>
              <a:buChar char="●"/>
            </a:pPr>
            <a:r>
              <a:rPr lang="en-US" sz="1450" dirty="0">
                <a:solidFill>
                  <a:schemeClr val="tx1"/>
                </a:solidFill>
                <a:latin typeface="Ebrima" pitchFamily="34" charset="0"/>
                <a:ea typeface="Ebrima" pitchFamily="34" charset="-122"/>
                <a:cs typeface="Ebrima" pitchFamily="34" charset="-120"/>
              </a:rPr>
              <a:t>Administrators send to one person, a selection, a group or everyone, and track delivery</a:t>
            </a:r>
            <a:endParaRPr lang="en-US" sz="1450" dirty="0"/>
          </a:p>
        </p:txBody>
      </p:sp>
      <p:sp>
        <p:nvSpPr>
          <p:cNvPr id="24" name="Shape 18"/>
          <p:cNvSpPr/>
          <p:nvPr/>
        </p:nvSpPr>
        <p:spPr>
          <a:xfrm>
            <a:off x="7498080" y="3383280"/>
            <a:ext cx="4160520" cy="2788920"/>
          </a:xfrm>
          <a:prstGeom prst="roundRect">
            <a:avLst>
              <a:gd name="adj" fmla="val 3934"/>
            </a:avLst>
          </a:prstGeom>
          <a:solidFill>
            <a:schemeClr val="bg2">
              <a:alpha val="60000"/>
            </a:schemeClr>
          </a:solidFill>
          <a:ln/>
        </p:spPr>
      </p:sp>
      <p:sp>
        <p:nvSpPr>
          <p:cNvPr id="25" name="Text 19"/>
          <p:cNvSpPr txBox="1"/>
          <p:nvPr/>
        </p:nvSpPr>
        <p:spPr>
          <a:xfrm>
            <a:off x="7726680" y="3520440"/>
            <a:ext cx="374904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Other communication channels</a:t>
            </a:r>
            <a:endParaRPr lang="en-US" sz="1500" dirty="0"/>
          </a:p>
        </p:txBody>
      </p:sp>
      <p:sp>
        <p:nvSpPr>
          <p:cNvPr id="26" name="Text 20"/>
          <p:cNvSpPr txBox="1"/>
          <p:nvPr/>
        </p:nvSpPr>
        <p:spPr>
          <a:xfrm>
            <a:off x="7726680" y="3977640"/>
            <a:ext cx="3749040" cy="21031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Banners on the home screen</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Internal pages with images and action buttons</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Program, borrowing and personal reminders</a:t>
            </a:r>
            <a:endParaRPr lang="en-US" sz="1300" dirty="0"/>
          </a:p>
          <a:p>
            <a:pPr marL="342900" indent="-342900">
              <a:spcAft>
                <a:spcPts val="500"/>
              </a:spcAft>
              <a:buSzPct val="100000"/>
              <a:buChar char="●"/>
            </a:pPr>
            <a:r>
              <a:rPr lang="en-US" sz="1300" dirty="0">
                <a:solidFill>
                  <a:schemeClr val="tx1"/>
                </a:solidFill>
                <a:latin typeface="Ebrima" pitchFamily="34" charset="0"/>
                <a:ea typeface="Ebrima" pitchFamily="34" charset="-122"/>
                <a:cs typeface="Ebrima" pitchFamily="34" charset="-120"/>
              </a:rPr>
              <a:t>Shareable Mezmur and program links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Administrative Hierarchy, Roles and Access Permissions</a:t>
            </a:r>
            <a:endParaRPr lang="en-US" sz="3400" dirty="0"/>
          </a:p>
        </p:txBody>
      </p:sp>
      <p:sp>
        <p:nvSpPr>
          <p:cNvPr id="3" name="Shape 1"/>
          <p:cNvSpPr/>
          <p:nvPr/>
        </p:nvSpPr>
        <p:spPr>
          <a:xfrm>
            <a:off x="548640" y="1325880"/>
            <a:ext cx="2624328" cy="1143000"/>
          </a:xfrm>
          <a:prstGeom prst="roundRect">
            <a:avLst>
              <a:gd name="adj" fmla="val 9600"/>
            </a:avLst>
          </a:prstGeom>
          <a:solidFill>
            <a:schemeClr val="accent1"/>
          </a:solidFill>
          <a:ln/>
        </p:spPr>
      </p:sp>
      <p:sp>
        <p:nvSpPr>
          <p:cNvPr id="4" name="Text 2"/>
          <p:cNvSpPr txBox="1"/>
          <p:nvPr/>
        </p:nvSpPr>
        <p:spPr>
          <a:xfrm>
            <a:off x="731520" y="1344168"/>
            <a:ext cx="2286000" cy="685800"/>
          </a:xfrm>
          <a:prstGeom prst="rect">
            <a:avLst/>
          </a:prstGeom>
          <a:noFill/>
          <a:ln/>
        </p:spPr>
        <p:txBody>
          <a:bodyPr wrap="square" lIns="0" tIns="0" rIns="0" bIns="0" rtlCol="0" anchor="t"/>
          <a:lstStyle/>
          <a:p>
            <a:pPr indent="0" marL="0">
              <a:buNone/>
            </a:pPr>
            <a:r>
              <a:rPr lang="en-US" sz="3600" b="1" dirty="0">
                <a:solidFill>
                  <a:schemeClr val="accent2"/>
                </a:solidFill>
                <a:latin typeface="Ebrima" pitchFamily="34" charset="0"/>
                <a:ea typeface="Ebrima" pitchFamily="34" charset="-122"/>
                <a:cs typeface="Ebrima" pitchFamily="34" charset="-120"/>
              </a:rPr>
              <a:t>63</a:t>
            </a:r>
            <a:endParaRPr lang="en-US" sz="3600" dirty="0"/>
          </a:p>
        </p:txBody>
      </p:sp>
      <p:sp>
        <p:nvSpPr>
          <p:cNvPr id="5" name="Text 3"/>
          <p:cNvSpPr txBox="1"/>
          <p:nvPr/>
        </p:nvSpPr>
        <p:spPr>
          <a:xfrm>
            <a:off x="731520" y="2011680"/>
            <a:ext cx="2286000" cy="365760"/>
          </a:xfrm>
          <a:prstGeom prst="rect">
            <a:avLst/>
          </a:prstGeom>
          <a:noFill/>
          <a:ln/>
        </p:spPr>
        <p:txBody>
          <a:bodyPr wrap="square" lIns="0" tIns="0" rIns="0" bIns="0" rtlCol="0" anchor="t"/>
          <a:lstStyle/>
          <a:p>
            <a:pPr indent="0" marL="0">
              <a:buNone/>
            </a:pPr>
            <a:r>
              <a:rPr lang="en-US" sz="1400" dirty="0">
                <a:solidFill>
                  <a:schemeClr val="bg1"/>
                </a:solidFill>
                <a:latin typeface="Ebrima" pitchFamily="34" charset="0"/>
                <a:ea typeface="Ebrima" pitchFamily="34" charset="-122"/>
                <a:cs typeface="Ebrima" pitchFamily="34" charset="-120"/>
              </a:rPr>
              <a:t>Access permissions</a:t>
            </a:r>
            <a:endParaRPr lang="en-US" sz="1400" dirty="0"/>
          </a:p>
        </p:txBody>
      </p:sp>
      <p:sp>
        <p:nvSpPr>
          <p:cNvPr id="6" name="Shape 4"/>
          <p:cNvSpPr/>
          <p:nvPr/>
        </p:nvSpPr>
        <p:spPr>
          <a:xfrm>
            <a:off x="3355848" y="1325880"/>
            <a:ext cx="2624328" cy="1143000"/>
          </a:xfrm>
          <a:prstGeom prst="roundRect">
            <a:avLst>
              <a:gd name="adj" fmla="val 9600"/>
            </a:avLst>
          </a:prstGeom>
          <a:solidFill>
            <a:schemeClr val="bg2">
              <a:alpha val="65000"/>
            </a:schemeClr>
          </a:solidFill>
          <a:ln/>
        </p:spPr>
      </p:sp>
      <p:sp>
        <p:nvSpPr>
          <p:cNvPr id="7" name="Text 5"/>
          <p:cNvSpPr txBox="1"/>
          <p:nvPr/>
        </p:nvSpPr>
        <p:spPr>
          <a:xfrm>
            <a:off x="3538728" y="1344168"/>
            <a:ext cx="2286000" cy="685800"/>
          </a:xfrm>
          <a:prstGeom prst="rect">
            <a:avLst/>
          </a:prstGeom>
          <a:noFill/>
          <a:ln/>
        </p:spPr>
        <p:txBody>
          <a:bodyPr wrap="square" lIns="0" tIns="0" rIns="0" bIns="0" rtlCol="0" anchor="t"/>
          <a:lstStyle/>
          <a:p>
            <a:pPr indent="0" marL="0">
              <a:buNone/>
            </a:pPr>
            <a:r>
              <a:rPr lang="en-US" sz="3600" b="1" dirty="0">
                <a:solidFill>
                  <a:schemeClr val="accent1"/>
                </a:solidFill>
                <a:latin typeface="Ebrima" pitchFamily="34" charset="0"/>
                <a:ea typeface="Ebrima" pitchFamily="34" charset="-122"/>
                <a:cs typeface="Ebrima" pitchFamily="34" charset="-120"/>
              </a:rPr>
              <a:t>14</a:t>
            </a:r>
            <a:endParaRPr lang="en-US" sz="3600" dirty="0"/>
          </a:p>
        </p:txBody>
      </p:sp>
      <p:sp>
        <p:nvSpPr>
          <p:cNvPr id="8" name="Text 6"/>
          <p:cNvSpPr txBox="1"/>
          <p:nvPr/>
        </p:nvSpPr>
        <p:spPr>
          <a:xfrm>
            <a:off x="3538728" y="2011680"/>
            <a:ext cx="2286000" cy="365760"/>
          </a:xfrm>
          <a:prstGeom prst="rect">
            <a:avLst/>
          </a:prstGeom>
          <a:noFill/>
          <a:ln/>
        </p:spPr>
        <p:txBody>
          <a:bodyPr wrap="square" lIns="0" tIns="0" rIns="0" bIns="0" rtlCol="0" anchor="t"/>
          <a:lstStyle/>
          <a:p>
            <a:pPr indent="0" marL="0">
              <a:buNone/>
            </a:pPr>
            <a:r>
              <a:rPr lang="en-US" sz="1400" dirty="0">
                <a:solidFill>
                  <a:schemeClr val="tx1"/>
                </a:solidFill>
                <a:latin typeface="Ebrima" pitchFamily="34" charset="0"/>
                <a:ea typeface="Ebrima" pitchFamily="34" charset="-122"/>
                <a:cs typeface="Ebrima" pitchFamily="34" charset="-120"/>
              </a:rPr>
              <a:t>Roles</a:t>
            </a:r>
            <a:endParaRPr lang="en-US" sz="1400" dirty="0"/>
          </a:p>
        </p:txBody>
      </p:sp>
      <p:sp>
        <p:nvSpPr>
          <p:cNvPr id="9" name="Shape 7"/>
          <p:cNvSpPr/>
          <p:nvPr/>
        </p:nvSpPr>
        <p:spPr>
          <a:xfrm>
            <a:off x="6163056" y="1325880"/>
            <a:ext cx="2624328" cy="1143000"/>
          </a:xfrm>
          <a:prstGeom prst="roundRect">
            <a:avLst>
              <a:gd name="adj" fmla="val 9600"/>
            </a:avLst>
          </a:prstGeom>
          <a:solidFill>
            <a:schemeClr val="accent1"/>
          </a:solidFill>
          <a:ln/>
        </p:spPr>
      </p:sp>
      <p:sp>
        <p:nvSpPr>
          <p:cNvPr id="10" name="Text 8"/>
          <p:cNvSpPr txBox="1"/>
          <p:nvPr/>
        </p:nvSpPr>
        <p:spPr>
          <a:xfrm>
            <a:off x="6345936" y="1344168"/>
            <a:ext cx="2286000" cy="685800"/>
          </a:xfrm>
          <a:prstGeom prst="rect">
            <a:avLst/>
          </a:prstGeom>
          <a:noFill/>
          <a:ln/>
        </p:spPr>
        <p:txBody>
          <a:bodyPr wrap="square" lIns="0" tIns="0" rIns="0" bIns="0" rtlCol="0" anchor="t"/>
          <a:lstStyle/>
          <a:p>
            <a:pPr indent="0" marL="0">
              <a:buNone/>
            </a:pPr>
            <a:r>
              <a:rPr lang="en-US" sz="3600" b="1" dirty="0">
                <a:solidFill>
                  <a:schemeClr val="accent2"/>
                </a:solidFill>
                <a:latin typeface="Ebrima" pitchFamily="34" charset="0"/>
                <a:ea typeface="Ebrima" pitchFamily="34" charset="-122"/>
                <a:cs typeface="Ebrima" pitchFamily="34" charset="-120"/>
              </a:rPr>
              <a:t>7</a:t>
            </a:r>
            <a:endParaRPr lang="en-US" sz="3600" dirty="0"/>
          </a:p>
        </p:txBody>
      </p:sp>
      <p:sp>
        <p:nvSpPr>
          <p:cNvPr id="11" name="Text 9"/>
          <p:cNvSpPr txBox="1"/>
          <p:nvPr/>
        </p:nvSpPr>
        <p:spPr>
          <a:xfrm>
            <a:off x="6345936" y="2011680"/>
            <a:ext cx="2286000" cy="365760"/>
          </a:xfrm>
          <a:prstGeom prst="rect">
            <a:avLst/>
          </a:prstGeom>
          <a:noFill/>
          <a:ln/>
        </p:spPr>
        <p:txBody>
          <a:bodyPr wrap="square" lIns="0" tIns="0" rIns="0" bIns="0" rtlCol="0" anchor="t"/>
          <a:lstStyle/>
          <a:p>
            <a:pPr indent="0" marL="0">
              <a:buNone/>
            </a:pPr>
            <a:r>
              <a:rPr lang="en-US" sz="1400" dirty="0">
                <a:solidFill>
                  <a:schemeClr val="bg1"/>
                </a:solidFill>
                <a:latin typeface="Ebrima" pitchFamily="34" charset="0"/>
                <a:ea typeface="Ebrima" pitchFamily="34" charset="-122"/>
                <a:cs typeface="Ebrima" pitchFamily="34" charset="-120"/>
              </a:rPr>
              <a:t>Departments</a:t>
            </a:r>
            <a:endParaRPr lang="en-US" sz="1400" dirty="0"/>
          </a:p>
        </p:txBody>
      </p:sp>
      <p:sp>
        <p:nvSpPr>
          <p:cNvPr id="12" name="Shape 10"/>
          <p:cNvSpPr/>
          <p:nvPr/>
        </p:nvSpPr>
        <p:spPr>
          <a:xfrm>
            <a:off x="8970264" y="1325880"/>
            <a:ext cx="2624328" cy="1143000"/>
          </a:xfrm>
          <a:prstGeom prst="roundRect">
            <a:avLst>
              <a:gd name="adj" fmla="val 9600"/>
            </a:avLst>
          </a:prstGeom>
          <a:solidFill>
            <a:schemeClr val="bg2">
              <a:alpha val="65000"/>
            </a:schemeClr>
          </a:solidFill>
          <a:ln/>
        </p:spPr>
      </p:sp>
      <p:sp>
        <p:nvSpPr>
          <p:cNvPr id="13" name="Text 11"/>
          <p:cNvSpPr txBox="1"/>
          <p:nvPr/>
        </p:nvSpPr>
        <p:spPr>
          <a:xfrm>
            <a:off x="9153144" y="1344168"/>
            <a:ext cx="2286000" cy="685800"/>
          </a:xfrm>
          <a:prstGeom prst="rect">
            <a:avLst/>
          </a:prstGeom>
          <a:noFill/>
          <a:ln/>
        </p:spPr>
        <p:txBody>
          <a:bodyPr wrap="square" lIns="0" tIns="0" rIns="0" bIns="0" rtlCol="0" anchor="t"/>
          <a:lstStyle/>
          <a:p>
            <a:pPr indent="0" marL="0">
              <a:buNone/>
            </a:pPr>
            <a:r>
              <a:rPr lang="en-US" sz="3600" b="1" dirty="0">
                <a:solidFill>
                  <a:schemeClr val="accent1"/>
                </a:solidFill>
                <a:latin typeface="Ebrima" pitchFamily="34" charset="0"/>
                <a:ea typeface="Ebrima" pitchFamily="34" charset="-122"/>
                <a:cs typeface="Ebrima" pitchFamily="34" charset="-120"/>
              </a:rPr>
              <a:t>10</a:t>
            </a:r>
            <a:endParaRPr lang="en-US" sz="3600" dirty="0"/>
          </a:p>
        </p:txBody>
      </p:sp>
      <p:sp>
        <p:nvSpPr>
          <p:cNvPr id="14" name="Text 12"/>
          <p:cNvSpPr txBox="1"/>
          <p:nvPr/>
        </p:nvSpPr>
        <p:spPr>
          <a:xfrm>
            <a:off x="9153144" y="2011680"/>
            <a:ext cx="2286000" cy="365760"/>
          </a:xfrm>
          <a:prstGeom prst="rect">
            <a:avLst/>
          </a:prstGeom>
          <a:noFill/>
          <a:ln/>
        </p:spPr>
        <p:txBody>
          <a:bodyPr wrap="square" lIns="0" tIns="0" rIns="0" bIns="0" rtlCol="0" anchor="t"/>
          <a:lstStyle/>
          <a:p>
            <a:pPr indent="0" marL="0">
              <a:buNone/>
            </a:pPr>
            <a:r>
              <a:rPr lang="en-US" sz="1400" dirty="0">
                <a:solidFill>
                  <a:schemeClr val="tx1"/>
                </a:solidFill>
                <a:latin typeface="Ebrima" pitchFamily="34" charset="0"/>
                <a:ea typeface="Ebrima" pitchFamily="34" charset="-122"/>
                <a:cs typeface="Ebrima" pitchFamily="34" charset="-120"/>
              </a:rPr>
              <a:t>Admin groups</a:t>
            </a:r>
            <a:endParaRPr lang="en-US" sz="1400" dirty="0"/>
          </a:p>
        </p:txBody>
      </p:sp>
      <p:sp>
        <p:nvSpPr>
          <p:cNvPr id="15" name="Text 13"/>
          <p:cNvSpPr txBox="1"/>
          <p:nvPr/>
        </p:nvSpPr>
        <p:spPr>
          <a:xfrm>
            <a:off x="548640" y="2697480"/>
            <a:ext cx="4572000" cy="365760"/>
          </a:xfrm>
          <a:prstGeom prst="rect">
            <a:avLst/>
          </a:prstGeom>
          <a:noFill/>
          <a:ln/>
        </p:spPr>
        <p:txBody>
          <a:bodyPr wrap="square" lIns="0" tIns="0" rIns="0" bIns="0" rtlCol="0" anchor="t"/>
          <a:lstStyle/>
          <a:p>
            <a:pPr indent="0" marL="0">
              <a:buNone/>
            </a:pPr>
            <a:r>
              <a:rPr lang="en-US" sz="1600" b="1" dirty="0">
                <a:solidFill>
                  <a:schemeClr val="accent1"/>
                </a:solidFill>
                <a:latin typeface="Ebrima" pitchFamily="34" charset="0"/>
                <a:ea typeface="Ebrima" pitchFamily="34" charset="-122"/>
                <a:cs typeface="Ebrima" pitchFamily="34" charset="-120"/>
              </a:rPr>
              <a:t>Role levels</a:t>
            </a:r>
            <a:endParaRPr lang="en-US" sz="1600" dirty="0"/>
          </a:p>
        </p:txBody>
      </p:sp>
      <p:sp>
        <p:nvSpPr>
          <p:cNvPr id="16" name="Shape 14"/>
          <p:cNvSpPr/>
          <p:nvPr/>
        </p:nvSpPr>
        <p:spPr>
          <a:xfrm>
            <a:off x="548640" y="3108960"/>
            <a:ext cx="6766560" cy="530352"/>
          </a:xfrm>
          <a:prstGeom prst="roundRect">
            <a:avLst>
              <a:gd name="adj" fmla="val 13793"/>
            </a:avLst>
          </a:prstGeom>
          <a:solidFill>
            <a:schemeClr val="accent6"/>
          </a:solidFill>
          <a:ln/>
        </p:spPr>
      </p:sp>
      <p:sp>
        <p:nvSpPr>
          <p:cNvPr id="17" name="Text 15"/>
          <p:cNvSpPr txBox="1"/>
          <p:nvPr/>
        </p:nvSpPr>
        <p:spPr>
          <a:xfrm>
            <a:off x="731520" y="3108960"/>
            <a:ext cx="5486400" cy="530352"/>
          </a:xfrm>
          <a:prstGeom prst="rect">
            <a:avLst/>
          </a:prstGeom>
          <a:noFill/>
          <a:ln/>
        </p:spPr>
        <p:txBody>
          <a:bodyPr wrap="square" lIns="0" tIns="0" rIns="0" bIns="0" rtlCol="0" anchor="ctr"/>
          <a:lstStyle/>
          <a:p>
            <a:pPr indent="0" marL="0">
              <a:buNone/>
            </a:pPr>
            <a:r>
              <a:rPr lang="en-US" sz="1300" b="1" dirty="0">
                <a:solidFill>
                  <a:schemeClr val="bg1"/>
                </a:solidFill>
                <a:latin typeface="Ebrima" pitchFamily="34" charset="0"/>
                <a:ea typeface="Ebrima" pitchFamily="34" charset="-122"/>
                <a:cs typeface="Ebrima" pitchFamily="34" charset="-120"/>
              </a:rPr>
              <a:t>High Administrator</a:t>
            </a:r>
            <a:endParaRPr lang="en-US" sz="1300" dirty="0"/>
          </a:p>
        </p:txBody>
      </p:sp>
      <p:sp>
        <p:nvSpPr>
          <p:cNvPr id="18" name="Text 16"/>
          <p:cNvSpPr txBox="1"/>
          <p:nvPr/>
        </p:nvSpPr>
        <p:spPr>
          <a:xfrm>
            <a:off x="6217920" y="3108960"/>
            <a:ext cx="960120" cy="530352"/>
          </a:xfrm>
          <a:prstGeom prst="rect">
            <a:avLst/>
          </a:prstGeom>
          <a:noFill/>
          <a:ln/>
        </p:spPr>
        <p:txBody>
          <a:bodyPr wrap="square" lIns="0" tIns="0" rIns="0" bIns="0" rtlCol="0" anchor="ctr"/>
          <a:lstStyle/>
          <a:p>
            <a:pPr algn="r" indent="0" marL="0">
              <a:buNone/>
            </a:pPr>
            <a:r>
              <a:rPr lang="en-US" sz="1200" b="1" dirty="0">
                <a:solidFill>
                  <a:schemeClr val="bg1"/>
                </a:solidFill>
                <a:latin typeface="Ebrima" pitchFamily="34" charset="0"/>
                <a:ea typeface="Ebrima" pitchFamily="34" charset="-122"/>
                <a:cs typeface="Ebrima" pitchFamily="34" charset="-120"/>
              </a:rPr>
              <a:t>Level 50</a:t>
            </a:r>
            <a:endParaRPr lang="en-US" sz="1200" dirty="0"/>
          </a:p>
        </p:txBody>
      </p:sp>
      <p:sp>
        <p:nvSpPr>
          <p:cNvPr id="19" name="Shape 17"/>
          <p:cNvSpPr/>
          <p:nvPr/>
        </p:nvSpPr>
        <p:spPr>
          <a:xfrm>
            <a:off x="731520" y="3730752"/>
            <a:ext cx="6400800" cy="530352"/>
          </a:xfrm>
          <a:prstGeom prst="roundRect">
            <a:avLst>
              <a:gd name="adj" fmla="val 13793"/>
            </a:avLst>
          </a:prstGeom>
          <a:solidFill>
            <a:schemeClr val="accent1"/>
          </a:solidFill>
          <a:ln/>
        </p:spPr>
      </p:sp>
      <p:sp>
        <p:nvSpPr>
          <p:cNvPr id="20" name="Text 18"/>
          <p:cNvSpPr txBox="1"/>
          <p:nvPr/>
        </p:nvSpPr>
        <p:spPr>
          <a:xfrm>
            <a:off x="914400" y="3730752"/>
            <a:ext cx="5120640" cy="530352"/>
          </a:xfrm>
          <a:prstGeom prst="rect">
            <a:avLst/>
          </a:prstGeom>
          <a:noFill/>
          <a:ln/>
        </p:spPr>
        <p:txBody>
          <a:bodyPr wrap="square" lIns="0" tIns="0" rIns="0" bIns="0" rtlCol="0" anchor="ctr"/>
          <a:lstStyle/>
          <a:p>
            <a:pPr indent="0" marL="0">
              <a:buNone/>
            </a:pPr>
            <a:r>
              <a:rPr lang="en-US" sz="1300" dirty="0">
                <a:solidFill>
                  <a:schemeClr val="bg1"/>
                </a:solidFill>
                <a:latin typeface="Ebrima" pitchFamily="34" charset="0"/>
                <a:ea typeface="Ebrima" pitchFamily="34" charset="-122"/>
                <a:cs typeface="Ebrima" pitchFamily="34" charset="-120"/>
              </a:rPr>
              <a:t>Area leads (Mezmur, HR, payments, education)</a:t>
            </a:r>
            <a:endParaRPr lang="en-US" sz="1300" dirty="0"/>
          </a:p>
        </p:txBody>
      </p:sp>
      <p:sp>
        <p:nvSpPr>
          <p:cNvPr id="21" name="Text 19"/>
          <p:cNvSpPr txBox="1"/>
          <p:nvPr/>
        </p:nvSpPr>
        <p:spPr>
          <a:xfrm>
            <a:off x="6035040" y="3730752"/>
            <a:ext cx="960120" cy="530352"/>
          </a:xfrm>
          <a:prstGeom prst="rect">
            <a:avLst/>
          </a:prstGeom>
          <a:noFill/>
          <a:ln/>
        </p:spPr>
        <p:txBody>
          <a:bodyPr wrap="square" lIns="0" tIns="0" rIns="0" bIns="0" rtlCol="0" anchor="ctr"/>
          <a:lstStyle/>
          <a:p>
            <a:pPr algn="r" indent="0" marL="0">
              <a:buNone/>
            </a:pPr>
            <a:r>
              <a:rPr lang="en-US" sz="1200" b="1" dirty="0">
                <a:solidFill>
                  <a:schemeClr val="bg1"/>
                </a:solidFill>
                <a:latin typeface="Ebrima" pitchFamily="34" charset="0"/>
                <a:ea typeface="Ebrima" pitchFamily="34" charset="-122"/>
                <a:cs typeface="Ebrima" pitchFamily="34" charset="-120"/>
              </a:rPr>
              <a:t>Level 20</a:t>
            </a:r>
            <a:endParaRPr lang="en-US" sz="1200" dirty="0"/>
          </a:p>
        </p:txBody>
      </p:sp>
      <p:sp>
        <p:nvSpPr>
          <p:cNvPr id="22" name="Shape 20"/>
          <p:cNvSpPr/>
          <p:nvPr/>
        </p:nvSpPr>
        <p:spPr>
          <a:xfrm>
            <a:off x="914400" y="4352544"/>
            <a:ext cx="6035040" cy="530352"/>
          </a:xfrm>
          <a:prstGeom prst="roundRect">
            <a:avLst>
              <a:gd name="adj" fmla="val 13793"/>
            </a:avLst>
          </a:prstGeom>
          <a:solidFill>
            <a:schemeClr val="accent2"/>
          </a:solidFill>
          <a:ln/>
        </p:spPr>
      </p:sp>
      <p:sp>
        <p:nvSpPr>
          <p:cNvPr id="23" name="Text 21"/>
          <p:cNvSpPr txBox="1"/>
          <p:nvPr/>
        </p:nvSpPr>
        <p:spPr>
          <a:xfrm>
            <a:off x="1097280" y="4352544"/>
            <a:ext cx="4754880" cy="530352"/>
          </a:xfrm>
          <a:prstGeom prst="rect">
            <a:avLst/>
          </a:prstGeom>
          <a:noFill/>
          <a:ln/>
        </p:spPr>
        <p:txBody>
          <a:bodyPr wrap="square" lIns="0" tIns="0" rIns="0" bIns="0" rtlCol="0" anchor="ctr"/>
          <a:lstStyle/>
          <a:p>
            <a:pPr indent="0" marL="0">
              <a:buNone/>
            </a:pPr>
            <a:r>
              <a:rPr lang="en-US" sz="1300" dirty="0">
                <a:solidFill>
                  <a:schemeClr val="bg1"/>
                </a:solidFill>
                <a:latin typeface="Ebrima" pitchFamily="34" charset="0"/>
                <a:ea typeface="Ebrima" pitchFamily="34" charset="-122"/>
                <a:cs typeface="Ebrima" pitchFamily="34" charset="-120"/>
              </a:rPr>
              <a:t>Department administrators (7) and education registrar</a:t>
            </a:r>
            <a:endParaRPr lang="en-US" sz="1300" dirty="0"/>
          </a:p>
        </p:txBody>
      </p:sp>
      <p:sp>
        <p:nvSpPr>
          <p:cNvPr id="24" name="Text 22"/>
          <p:cNvSpPr txBox="1"/>
          <p:nvPr/>
        </p:nvSpPr>
        <p:spPr>
          <a:xfrm>
            <a:off x="5852160" y="4352544"/>
            <a:ext cx="960120" cy="530352"/>
          </a:xfrm>
          <a:prstGeom prst="rect">
            <a:avLst/>
          </a:prstGeom>
          <a:noFill/>
          <a:ln/>
        </p:spPr>
        <p:txBody>
          <a:bodyPr wrap="square" lIns="0" tIns="0" rIns="0" bIns="0" rtlCol="0" anchor="ctr"/>
          <a:lstStyle/>
          <a:p>
            <a:pPr algn="r" indent="0" marL="0">
              <a:buNone/>
            </a:pPr>
            <a:r>
              <a:rPr lang="en-US" sz="1200" b="1" dirty="0">
                <a:solidFill>
                  <a:schemeClr val="bg1"/>
                </a:solidFill>
                <a:latin typeface="Ebrima" pitchFamily="34" charset="0"/>
                <a:ea typeface="Ebrima" pitchFamily="34" charset="-122"/>
                <a:cs typeface="Ebrima" pitchFamily="34" charset="-120"/>
              </a:rPr>
              <a:t>Level 15</a:t>
            </a:r>
            <a:endParaRPr lang="en-US" sz="1200" dirty="0"/>
          </a:p>
        </p:txBody>
      </p:sp>
      <p:sp>
        <p:nvSpPr>
          <p:cNvPr id="25" name="Shape 23"/>
          <p:cNvSpPr/>
          <p:nvPr/>
        </p:nvSpPr>
        <p:spPr>
          <a:xfrm>
            <a:off x="1097280" y="4974336"/>
            <a:ext cx="5669280" cy="530352"/>
          </a:xfrm>
          <a:prstGeom prst="roundRect">
            <a:avLst>
              <a:gd name="adj" fmla="val 13793"/>
            </a:avLst>
          </a:prstGeom>
          <a:solidFill>
            <a:schemeClr val="accent5"/>
          </a:solidFill>
          <a:ln/>
        </p:spPr>
      </p:sp>
      <p:sp>
        <p:nvSpPr>
          <p:cNvPr id="26" name="Text 24"/>
          <p:cNvSpPr txBox="1"/>
          <p:nvPr/>
        </p:nvSpPr>
        <p:spPr>
          <a:xfrm>
            <a:off x="1280160" y="4974336"/>
            <a:ext cx="4389120" cy="530352"/>
          </a:xfrm>
          <a:prstGeom prst="rect">
            <a:avLst/>
          </a:prstGeom>
          <a:noFill/>
          <a:ln/>
        </p:spPr>
        <p:txBody>
          <a:bodyPr wrap="square" lIns="0" tIns="0" rIns="0" bIns="0" rtlCol="0" anchor="ctr"/>
          <a:lstStyle/>
          <a:p>
            <a:pPr indent="0" marL="0">
              <a:buNone/>
            </a:pPr>
            <a:r>
              <a:rPr lang="en-US" sz="1300" dirty="0">
                <a:solidFill>
                  <a:schemeClr val="bg1"/>
                </a:solidFill>
                <a:latin typeface="Ebrima" pitchFamily="34" charset="0"/>
                <a:ea typeface="Ebrima" pitchFamily="34" charset="-122"/>
                <a:cs typeface="Ebrima" pitchFamily="34" charset="-120"/>
              </a:rPr>
              <a:t>Administrator</a:t>
            </a:r>
            <a:endParaRPr lang="en-US" sz="1300" dirty="0"/>
          </a:p>
        </p:txBody>
      </p:sp>
      <p:sp>
        <p:nvSpPr>
          <p:cNvPr id="27" name="Text 25"/>
          <p:cNvSpPr txBox="1"/>
          <p:nvPr/>
        </p:nvSpPr>
        <p:spPr>
          <a:xfrm>
            <a:off x="5669280" y="4974336"/>
            <a:ext cx="960120" cy="530352"/>
          </a:xfrm>
          <a:prstGeom prst="rect">
            <a:avLst/>
          </a:prstGeom>
          <a:noFill/>
          <a:ln/>
        </p:spPr>
        <p:txBody>
          <a:bodyPr wrap="square" lIns="0" tIns="0" rIns="0" bIns="0" rtlCol="0" anchor="ctr"/>
          <a:lstStyle/>
          <a:p>
            <a:pPr algn="r" indent="0" marL="0">
              <a:buNone/>
            </a:pPr>
            <a:r>
              <a:rPr lang="en-US" sz="1200" b="1" dirty="0">
                <a:solidFill>
                  <a:schemeClr val="bg1"/>
                </a:solidFill>
                <a:latin typeface="Ebrima" pitchFamily="34" charset="0"/>
                <a:ea typeface="Ebrima" pitchFamily="34" charset="-122"/>
                <a:cs typeface="Ebrima" pitchFamily="34" charset="-120"/>
              </a:rPr>
              <a:t>Level 10</a:t>
            </a:r>
            <a:endParaRPr lang="en-US" sz="1200" dirty="0"/>
          </a:p>
        </p:txBody>
      </p:sp>
      <p:sp>
        <p:nvSpPr>
          <p:cNvPr id="28" name="Shape 26"/>
          <p:cNvSpPr/>
          <p:nvPr/>
        </p:nvSpPr>
        <p:spPr>
          <a:xfrm>
            <a:off x="1280160" y="5596128"/>
            <a:ext cx="5303520" cy="530352"/>
          </a:xfrm>
          <a:prstGeom prst="roundRect">
            <a:avLst>
              <a:gd name="adj" fmla="val 13793"/>
            </a:avLst>
          </a:prstGeom>
          <a:solidFill>
            <a:schemeClr val="bg2">
              <a:alpha val="80000"/>
            </a:schemeClr>
          </a:solidFill>
          <a:ln/>
        </p:spPr>
      </p:sp>
      <p:sp>
        <p:nvSpPr>
          <p:cNvPr id="29" name="Text 27"/>
          <p:cNvSpPr txBox="1"/>
          <p:nvPr/>
        </p:nvSpPr>
        <p:spPr>
          <a:xfrm>
            <a:off x="1463040" y="5596128"/>
            <a:ext cx="4937760" cy="530352"/>
          </a:xfrm>
          <a:prstGeom prst="rect">
            <a:avLst/>
          </a:prstGeom>
          <a:noFill/>
          <a:ln/>
        </p:spPr>
        <p:txBody>
          <a:bodyPr wrap="square" lIns="0" tIns="0" rIns="0" bIns="0" rtlCol="0" anchor="ctr"/>
          <a:lstStyle/>
          <a:p>
            <a:pPr indent="0" marL="0">
              <a:buNone/>
            </a:pPr>
            <a:r>
              <a:rPr lang="en-US" sz="1300" dirty="0">
                <a:solidFill>
                  <a:schemeClr val="tx1"/>
                </a:solidFill>
                <a:latin typeface="Ebrima" pitchFamily="34" charset="0"/>
                <a:ea typeface="Ebrima" pitchFamily="34" charset="-122"/>
                <a:cs typeface="Ebrima" pitchFamily="34" charset="-120"/>
              </a:rPr>
              <a:t>Members — teachers, attendance takers and others with direct permissions</a:t>
            </a:r>
            <a:endParaRPr lang="en-US" sz="1300" dirty="0"/>
          </a:p>
        </p:txBody>
      </p:sp>
      <p:sp>
        <p:nvSpPr>
          <p:cNvPr id="30" name="Shape 28"/>
          <p:cNvSpPr/>
          <p:nvPr/>
        </p:nvSpPr>
        <p:spPr>
          <a:xfrm>
            <a:off x="7589520" y="2880360"/>
            <a:ext cx="4069080" cy="3291840"/>
          </a:xfrm>
          <a:prstGeom prst="roundRect">
            <a:avLst>
              <a:gd name="adj" fmla="val 3333"/>
            </a:avLst>
          </a:prstGeom>
          <a:solidFill>
            <a:schemeClr val="bg2">
              <a:alpha val="60000"/>
            </a:schemeClr>
          </a:solidFill>
          <a:ln/>
        </p:spPr>
      </p:sp>
      <p:sp>
        <p:nvSpPr>
          <p:cNvPr id="31" name="Text 29"/>
          <p:cNvSpPr txBox="1"/>
          <p:nvPr/>
        </p:nvSpPr>
        <p:spPr>
          <a:xfrm>
            <a:off x="7818120" y="3017520"/>
            <a:ext cx="365760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Principles</a:t>
            </a:r>
            <a:endParaRPr lang="en-US" sz="1500" dirty="0"/>
          </a:p>
        </p:txBody>
      </p:sp>
      <p:sp>
        <p:nvSpPr>
          <p:cNvPr id="32" name="Text 30"/>
          <p:cNvSpPr txBox="1"/>
          <p:nvPr/>
        </p:nvSpPr>
        <p:spPr>
          <a:xfrm>
            <a:off x="7818120" y="3474720"/>
            <a:ext cx="370332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Ebrima" pitchFamily="34" charset="0"/>
                <a:ea typeface="Ebrima" pitchFamily="34" charset="-122"/>
                <a:cs typeface="Ebrima" pitchFamily="34" charset="-120"/>
              </a:rPr>
              <a:t>Access = role permissions + department role + direct grants − revocations</a:t>
            </a:r>
            <a:endParaRPr lang="en-US" sz="1300" dirty="0"/>
          </a:p>
          <a:p>
            <a:pPr marL="342900" indent="-342900">
              <a:spcAft>
                <a:spcPts val="600"/>
              </a:spcAft>
              <a:buSzPct val="100000"/>
              <a:buChar char="●"/>
            </a:pPr>
            <a:r>
              <a:rPr lang="en-US" sz="1300" dirty="0">
                <a:solidFill>
                  <a:schemeClr val="tx1"/>
                </a:solidFill>
                <a:latin typeface="Ebrima" pitchFamily="34" charset="0"/>
                <a:ea typeface="Ebrima" pitchFamily="34" charset="-122"/>
                <a:cs typeface="Ebrima" pitchFamily="34" charset="-120"/>
              </a:rPr>
              <a:t>Unauthorized pages are hidden, and the server blocks them independently</a:t>
            </a:r>
            <a:endParaRPr lang="en-US" sz="1300" dirty="0"/>
          </a:p>
          <a:p>
            <a:pPr marL="342900" indent="-342900">
              <a:spcAft>
                <a:spcPts val="600"/>
              </a:spcAft>
              <a:buSzPct val="100000"/>
              <a:buChar char="●"/>
            </a:pPr>
            <a:r>
              <a:rPr lang="en-US" sz="1300" dirty="0">
                <a:solidFill>
                  <a:schemeClr val="tx1"/>
                </a:solidFill>
                <a:latin typeface="Ebrima" pitchFamily="34" charset="0"/>
                <a:ea typeface="Ebrima" pitchFamily="34" charset="-122"/>
                <a:cs typeface="Ebrima" pitchFamily="34" charset="-120"/>
              </a:rPr>
              <a:t>Attendance control is in the hands of HR</a:t>
            </a:r>
            <a:endParaRPr lang="en-US" sz="1300" dirty="0"/>
          </a:p>
          <a:p>
            <a:pPr marL="342900" indent="-342900">
              <a:spcAft>
                <a:spcPts val="600"/>
              </a:spcAft>
              <a:buSzPct val="100000"/>
              <a:buChar char="●"/>
            </a:pPr>
            <a:r>
              <a:rPr lang="en-US" sz="1300" dirty="0">
                <a:solidFill>
                  <a:schemeClr val="tx1"/>
                </a:solidFill>
                <a:latin typeface="Ebrima" pitchFamily="34" charset="0"/>
                <a:ea typeface="Ebrima" pitchFamily="34" charset="-122"/>
                <a:cs typeface="Ebrima" pitchFamily="34" charset="-120"/>
              </a:rPr>
              <a:t>Money is approved by the Finance &amp; Property department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Reports, Audit Log and Accountability</a:t>
            </a:r>
            <a:endParaRPr lang="en-US" sz="3400" dirty="0"/>
          </a:p>
        </p:txBody>
      </p:sp>
      <p:sp>
        <p:nvSpPr>
          <p:cNvPr id="3" name="Text 1"/>
          <p:cNvSpPr txBox="1"/>
          <p:nvPr/>
        </p:nvSpPr>
        <p:spPr>
          <a:xfrm>
            <a:off x="548640" y="1325880"/>
            <a:ext cx="6400800" cy="411480"/>
          </a:xfrm>
          <a:prstGeom prst="rect">
            <a:avLst/>
          </a:prstGeom>
          <a:noFill/>
          <a:ln/>
        </p:spPr>
        <p:txBody>
          <a:bodyPr wrap="square" lIns="0" tIns="0" rIns="0" bIns="0" rtlCol="0" anchor="t"/>
          <a:lstStyle/>
          <a:p>
            <a:pPr indent="0" marL="0">
              <a:buNone/>
            </a:pPr>
            <a:r>
              <a:rPr lang="en-US" sz="1700" b="1" dirty="0">
                <a:solidFill>
                  <a:schemeClr val="accent1"/>
                </a:solidFill>
                <a:latin typeface="Ebrima" pitchFamily="34" charset="0"/>
                <a:ea typeface="Ebrima" pitchFamily="34" charset="-122"/>
                <a:cs typeface="Ebrima" pitchFamily="34" charset="-120"/>
              </a:rPr>
              <a:t>15 report types</a:t>
            </a:r>
            <a:endParaRPr lang="en-US" sz="1700" dirty="0"/>
          </a:p>
        </p:txBody>
      </p:sp>
      <p:sp>
        <p:nvSpPr>
          <p:cNvPr id="4" name="Shape 2"/>
          <p:cNvSpPr/>
          <p:nvPr/>
        </p:nvSpPr>
        <p:spPr>
          <a:xfrm>
            <a:off x="548640" y="1828800"/>
            <a:ext cx="2075688" cy="457200"/>
          </a:xfrm>
          <a:prstGeom prst="roundRect">
            <a:avLst>
              <a:gd name="adj" fmla="val 20000"/>
            </a:avLst>
          </a:prstGeom>
          <a:solidFill>
            <a:schemeClr val="bg2">
              <a:alpha val="65000"/>
            </a:schemeClr>
          </a:solidFill>
          <a:ln/>
        </p:spPr>
      </p:sp>
      <p:sp>
        <p:nvSpPr>
          <p:cNvPr id="5" name="Text 3"/>
          <p:cNvSpPr txBox="1"/>
          <p:nvPr/>
        </p:nvSpPr>
        <p:spPr>
          <a:xfrm>
            <a:off x="658368" y="1828800"/>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Users</a:t>
            </a:r>
            <a:endParaRPr lang="en-US" sz="1250" dirty="0"/>
          </a:p>
        </p:txBody>
      </p:sp>
      <p:sp>
        <p:nvSpPr>
          <p:cNvPr id="6" name="Shape 4"/>
          <p:cNvSpPr/>
          <p:nvPr/>
        </p:nvSpPr>
        <p:spPr>
          <a:xfrm>
            <a:off x="2761488" y="1828800"/>
            <a:ext cx="2075688" cy="457200"/>
          </a:xfrm>
          <a:prstGeom prst="roundRect">
            <a:avLst>
              <a:gd name="adj" fmla="val 20000"/>
            </a:avLst>
          </a:prstGeom>
          <a:solidFill>
            <a:schemeClr val="bg2">
              <a:alpha val="65000"/>
            </a:schemeClr>
          </a:solidFill>
          <a:ln/>
        </p:spPr>
      </p:sp>
      <p:sp>
        <p:nvSpPr>
          <p:cNvPr id="7" name="Text 5"/>
          <p:cNvSpPr txBox="1"/>
          <p:nvPr/>
        </p:nvSpPr>
        <p:spPr>
          <a:xfrm>
            <a:off x="2871216" y="1828800"/>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Mezmurs</a:t>
            </a:r>
            <a:endParaRPr lang="en-US" sz="1250" dirty="0"/>
          </a:p>
        </p:txBody>
      </p:sp>
      <p:sp>
        <p:nvSpPr>
          <p:cNvPr id="8" name="Shape 6"/>
          <p:cNvSpPr/>
          <p:nvPr/>
        </p:nvSpPr>
        <p:spPr>
          <a:xfrm>
            <a:off x="4974336" y="1828800"/>
            <a:ext cx="2075688" cy="457200"/>
          </a:xfrm>
          <a:prstGeom prst="roundRect">
            <a:avLst>
              <a:gd name="adj" fmla="val 20000"/>
            </a:avLst>
          </a:prstGeom>
          <a:solidFill>
            <a:schemeClr val="bg2">
              <a:alpha val="65000"/>
            </a:schemeClr>
          </a:solidFill>
          <a:ln/>
        </p:spPr>
      </p:sp>
      <p:sp>
        <p:nvSpPr>
          <p:cNvPr id="9" name="Text 7"/>
          <p:cNvSpPr txBox="1"/>
          <p:nvPr/>
        </p:nvSpPr>
        <p:spPr>
          <a:xfrm>
            <a:off x="5084064" y="1828800"/>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Attendance</a:t>
            </a:r>
            <a:endParaRPr lang="en-US" sz="1250" dirty="0"/>
          </a:p>
        </p:txBody>
      </p:sp>
      <p:sp>
        <p:nvSpPr>
          <p:cNvPr id="10" name="Shape 8"/>
          <p:cNvSpPr/>
          <p:nvPr/>
        </p:nvSpPr>
        <p:spPr>
          <a:xfrm>
            <a:off x="548640" y="2395728"/>
            <a:ext cx="2075688" cy="457200"/>
          </a:xfrm>
          <a:prstGeom prst="roundRect">
            <a:avLst>
              <a:gd name="adj" fmla="val 20000"/>
            </a:avLst>
          </a:prstGeom>
          <a:solidFill>
            <a:schemeClr val="bg2">
              <a:alpha val="65000"/>
            </a:schemeClr>
          </a:solidFill>
          <a:ln/>
        </p:spPr>
      </p:sp>
      <p:sp>
        <p:nvSpPr>
          <p:cNvPr id="11" name="Text 9"/>
          <p:cNvSpPr txBox="1"/>
          <p:nvPr/>
        </p:nvSpPr>
        <p:spPr>
          <a:xfrm>
            <a:off x="658368" y="2395728"/>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Borrowing</a:t>
            </a:r>
            <a:endParaRPr lang="en-US" sz="1250" dirty="0"/>
          </a:p>
        </p:txBody>
      </p:sp>
      <p:sp>
        <p:nvSpPr>
          <p:cNvPr id="12" name="Shape 10"/>
          <p:cNvSpPr/>
          <p:nvPr/>
        </p:nvSpPr>
        <p:spPr>
          <a:xfrm>
            <a:off x="2761488" y="2395728"/>
            <a:ext cx="2075688" cy="457200"/>
          </a:xfrm>
          <a:prstGeom prst="roundRect">
            <a:avLst>
              <a:gd name="adj" fmla="val 20000"/>
            </a:avLst>
          </a:prstGeom>
          <a:solidFill>
            <a:schemeClr val="bg2">
              <a:alpha val="65000"/>
            </a:schemeClr>
          </a:solidFill>
          <a:ln/>
        </p:spPr>
      </p:sp>
      <p:sp>
        <p:nvSpPr>
          <p:cNvPr id="13" name="Text 11"/>
          <p:cNvSpPr txBox="1"/>
          <p:nvPr/>
        </p:nvSpPr>
        <p:spPr>
          <a:xfrm>
            <a:off x="2871216" y="2395728"/>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Notifications</a:t>
            </a:r>
            <a:endParaRPr lang="en-US" sz="1250" dirty="0"/>
          </a:p>
        </p:txBody>
      </p:sp>
      <p:sp>
        <p:nvSpPr>
          <p:cNvPr id="14" name="Shape 12"/>
          <p:cNvSpPr/>
          <p:nvPr/>
        </p:nvSpPr>
        <p:spPr>
          <a:xfrm>
            <a:off x="4974336" y="2395728"/>
            <a:ext cx="2075688" cy="457200"/>
          </a:xfrm>
          <a:prstGeom prst="roundRect">
            <a:avLst>
              <a:gd name="adj" fmla="val 20000"/>
            </a:avLst>
          </a:prstGeom>
          <a:solidFill>
            <a:schemeClr val="bg2">
              <a:alpha val="65000"/>
            </a:schemeClr>
          </a:solidFill>
          <a:ln/>
        </p:spPr>
      </p:sp>
      <p:sp>
        <p:nvSpPr>
          <p:cNvPr id="15" name="Text 13"/>
          <p:cNvSpPr txBox="1"/>
          <p:nvPr/>
        </p:nvSpPr>
        <p:spPr>
          <a:xfrm>
            <a:off x="5084064" y="2395728"/>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Admin activity</a:t>
            </a:r>
            <a:endParaRPr lang="en-US" sz="1250" dirty="0"/>
          </a:p>
        </p:txBody>
      </p:sp>
      <p:sp>
        <p:nvSpPr>
          <p:cNvPr id="16" name="Shape 14"/>
          <p:cNvSpPr/>
          <p:nvPr/>
        </p:nvSpPr>
        <p:spPr>
          <a:xfrm>
            <a:off x="548640" y="2962656"/>
            <a:ext cx="2075688" cy="457200"/>
          </a:xfrm>
          <a:prstGeom prst="roundRect">
            <a:avLst>
              <a:gd name="adj" fmla="val 20000"/>
            </a:avLst>
          </a:prstGeom>
          <a:solidFill>
            <a:schemeClr val="bg2">
              <a:alpha val="65000"/>
            </a:schemeClr>
          </a:solidFill>
          <a:ln/>
        </p:spPr>
      </p:sp>
      <p:sp>
        <p:nvSpPr>
          <p:cNvPr id="17" name="Text 15"/>
          <p:cNvSpPr txBox="1"/>
          <p:nvPr/>
        </p:nvSpPr>
        <p:spPr>
          <a:xfrm>
            <a:off x="658368" y="2962656"/>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Audit log</a:t>
            </a:r>
            <a:endParaRPr lang="en-US" sz="1250" dirty="0"/>
          </a:p>
        </p:txBody>
      </p:sp>
      <p:sp>
        <p:nvSpPr>
          <p:cNvPr id="18" name="Shape 16"/>
          <p:cNvSpPr/>
          <p:nvPr/>
        </p:nvSpPr>
        <p:spPr>
          <a:xfrm>
            <a:off x="2761488" y="2962656"/>
            <a:ext cx="2075688" cy="457200"/>
          </a:xfrm>
          <a:prstGeom prst="roundRect">
            <a:avLst>
              <a:gd name="adj" fmla="val 20000"/>
            </a:avLst>
          </a:prstGeom>
          <a:solidFill>
            <a:schemeClr val="bg2">
              <a:alpha val="65000"/>
            </a:schemeClr>
          </a:solidFill>
          <a:ln/>
        </p:spPr>
      </p:sp>
      <p:sp>
        <p:nvSpPr>
          <p:cNvPr id="19" name="Text 17"/>
          <p:cNvSpPr txBox="1"/>
          <p:nvPr/>
        </p:nvSpPr>
        <p:spPr>
          <a:xfrm>
            <a:off x="2871216" y="2962656"/>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User activity</a:t>
            </a:r>
            <a:endParaRPr lang="en-US" sz="1250" dirty="0"/>
          </a:p>
        </p:txBody>
      </p:sp>
      <p:sp>
        <p:nvSpPr>
          <p:cNvPr id="20" name="Shape 18"/>
          <p:cNvSpPr/>
          <p:nvPr/>
        </p:nvSpPr>
        <p:spPr>
          <a:xfrm>
            <a:off x="4974336" y="2962656"/>
            <a:ext cx="2075688" cy="457200"/>
          </a:xfrm>
          <a:prstGeom prst="roundRect">
            <a:avLst>
              <a:gd name="adj" fmla="val 20000"/>
            </a:avLst>
          </a:prstGeom>
          <a:solidFill>
            <a:schemeClr val="bg2">
              <a:alpha val="65000"/>
            </a:schemeClr>
          </a:solidFill>
          <a:ln/>
        </p:spPr>
      </p:sp>
      <p:sp>
        <p:nvSpPr>
          <p:cNvPr id="21" name="Text 19"/>
          <p:cNvSpPr txBox="1"/>
          <p:nvPr/>
        </p:nvSpPr>
        <p:spPr>
          <a:xfrm>
            <a:off x="5084064" y="2962656"/>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Monthly contribution</a:t>
            </a:r>
            <a:endParaRPr lang="en-US" sz="1250" dirty="0"/>
          </a:p>
        </p:txBody>
      </p:sp>
      <p:sp>
        <p:nvSpPr>
          <p:cNvPr id="22" name="Shape 20"/>
          <p:cNvSpPr/>
          <p:nvPr/>
        </p:nvSpPr>
        <p:spPr>
          <a:xfrm>
            <a:off x="548640" y="3529584"/>
            <a:ext cx="2075688" cy="457200"/>
          </a:xfrm>
          <a:prstGeom prst="roundRect">
            <a:avLst>
              <a:gd name="adj" fmla="val 20000"/>
            </a:avLst>
          </a:prstGeom>
          <a:solidFill>
            <a:schemeClr val="bg2">
              <a:alpha val="65000"/>
            </a:schemeClr>
          </a:solidFill>
          <a:ln/>
        </p:spPr>
      </p:sp>
      <p:sp>
        <p:nvSpPr>
          <p:cNvPr id="23" name="Text 21"/>
          <p:cNvSpPr txBox="1"/>
          <p:nvPr/>
        </p:nvSpPr>
        <p:spPr>
          <a:xfrm>
            <a:off x="658368" y="3529584"/>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Service selection</a:t>
            </a:r>
            <a:endParaRPr lang="en-US" sz="1250" dirty="0"/>
          </a:p>
        </p:txBody>
      </p:sp>
      <p:sp>
        <p:nvSpPr>
          <p:cNvPr id="24" name="Shape 22"/>
          <p:cNvSpPr/>
          <p:nvPr/>
        </p:nvSpPr>
        <p:spPr>
          <a:xfrm>
            <a:off x="2761488" y="3529584"/>
            <a:ext cx="2075688" cy="457200"/>
          </a:xfrm>
          <a:prstGeom prst="roundRect">
            <a:avLst>
              <a:gd name="adj" fmla="val 20000"/>
            </a:avLst>
          </a:prstGeom>
          <a:solidFill>
            <a:schemeClr val="bg2">
              <a:alpha val="65000"/>
            </a:schemeClr>
          </a:solidFill>
          <a:ln/>
        </p:spPr>
      </p:sp>
      <p:sp>
        <p:nvSpPr>
          <p:cNvPr id="25" name="Text 23"/>
          <p:cNvSpPr txBox="1"/>
          <p:nvPr/>
        </p:nvSpPr>
        <p:spPr>
          <a:xfrm>
            <a:off x="2871216" y="3529584"/>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Projects</a:t>
            </a:r>
            <a:endParaRPr lang="en-US" sz="1250" dirty="0"/>
          </a:p>
        </p:txBody>
      </p:sp>
      <p:sp>
        <p:nvSpPr>
          <p:cNvPr id="26" name="Shape 24"/>
          <p:cNvSpPr/>
          <p:nvPr/>
        </p:nvSpPr>
        <p:spPr>
          <a:xfrm>
            <a:off x="4974336" y="3529584"/>
            <a:ext cx="2075688" cy="457200"/>
          </a:xfrm>
          <a:prstGeom prst="roundRect">
            <a:avLst>
              <a:gd name="adj" fmla="val 20000"/>
            </a:avLst>
          </a:prstGeom>
          <a:solidFill>
            <a:schemeClr val="bg2">
              <a:alpha val="65000"/>
            </a:schemeClr>
          </a:solidFill>
          <a:ln/>
        </p:spPr>
      </p:sp>
      <p:sp>
        <p:nvSpPr>
          <p:cNvPr id="27" name="Text 25"/>
          <p:cNvSpPr txBox="1"/>
          <p:nvPr/>
        </p:nvSpPr>
        <p:spPr>
          <a:xfrm>
            <a:off x="5084064" y="3529584"/>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Education</a:t>
            </a:r>
            <a:endParaRPr lang="en-US" sz="1250" dirty="0"/>
          </a:p>
        </p:txBody>
      </p:sp>
      <p:sp>
        <p:nvSpPr>
          <p:cNvPr id="28" name="Shape 26"/>
          <p:cNvSpPr/>
          <p:nvPr/>
        </p:nvSpPr>
        <p:spPr>
          <a:xfrm>
            <a:off x="548640" y="4096512"/>
            <a:ext cx="2075688" cy="457200"/>
          </a:xfrm>
          <a:prstGeom prst="roundRect">
            <a:avLst>
              <a:gd name="adj" fmla="val 20000"/>
            </a:avLst>
          </a:prstGeom>
          <a:solidFill>
            <a:schemeClr val="bg2">
              <a:alpha val="65000"/>
            </a:schemeClr>
          </a:solidFill>
          <a:ln/>
        </p:spPr>
      </p:sp>
      <p:sp>
        <p:nvSpPr>
          <p:cNvPr id="29" name="Text 27"/>
          <p:cNvSpPr txBox="1"/>
          <p:nvPr/>
        </p:nvSpPr>
        <p:spPr>
          <a:xfrm>
            <a:off x="658368" y="4096512"/>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Programs</a:t>
            </a:r>
            <a:endParaRPr lang="en-US" sz="1250" dirty="0"/>
          </a:p>
        </p:txBody>
      </p:sp>
      <p:sp>
        <p:nvSpPr>
          <p:cNvPr id="30" name="Shape 28"/>
          <p:cNvSpPr/>
          <p:nvPr/>
        </p:nvSpPr>
        <p:spPr>
          <a:xfrm>
            <a:off x="2761488" y="4096512"/>
            <a:ext cx="2075688" cy="457200"/>
          </a:xfrm>
          <a:prstGeom prst="roundRect">
            <a:avLst>
              <a:gd name="adj" fmla="val 20000"/>
            </a:avLst>
          </a:prstGeom>
          <a:solidFill>
            <a:schemeClr val="bg2">
              <a:alpha val="65000"/>
            </a:schemeClr>
          </a:solidFill>
          <a:ln/>
        </p:spPr>
      </p:sp>
      <p:sp>
        <p:nvSpPr>
          <p:cNvPr id="31" name="Text 29"/>
          <p:cNvSpPr txBox="1"/>
          <p:nvPr/>
        </p:nvSpPr>
        <p:spPr>
          <a:xfrm>
            <a:off x="2871216" y="4096512"/>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Education marks</a:t>
            </a:r>
            <a:endParaRPr lang="en-US" sz="1250" dirty="0"/>
          </a:p>
        </p:txBody>
      </p:sp>
      <p:sp>
        <p:nvSpPr>
          <p:cNvPr id="32" name="Shape 30"/>
          <p:cNvSpPr/>
          <p:nvPr/>
        </p:nvSpPr>
        <p:spPr>
          <a:xfrm>
            <a:off x="4974336" y="4096512"/>
            <a:ext cx="2075688" cy="457200"/>
          </a:xfrm>
          <a:prstGeom prst="roundRect">
            <a:avLst>
              <a:gd name="adj" fmla="val 20000"/>
            </a:avLst>
          </a:prstGeom>
          <a:solidFill>
            <a:schemeClr val="bg2">
              <a:alpha val="65000"/>
            </a:schemeClr>
          </a:solidFill>
          <a:ln/>
        </p:spPr>
      </p:sp>
      <p:sp>
        <p:nvSpPr>
          <p:cNvPr id="33" name="Text 31"/>
          <p:cNvSpPr txBox="1"/>
          <p:nvPr/>
        </p:nvSpPr>
        <p:spPr>
          <a:xfrm>
            <a:off x="5084064" y="4096512"/>
            <a:ext cx="1874520" cy="457200"/>
          </a:xfrm>
          <a:prstGeom prst="rect">
            <a:avLst/>
          </a:prstGeom>
          <a:noFill/>
          <a:ln/>
        </p:spPr>
        <p:txBody>
          <a:bodyPr wrap="square" lIns="0" tIns="0" rIns="0" bIns="0" rtlCol="0" anchor="ctr"/>
          <a:lstStyle/>
          <a:p>
            <a:pPr indent="0" marL="0">
              <a:buNone/>
            </a:pPr>
            <a:r>
              <a:rPr lang="en-US" sz="1250" dirty="0">
                <a:solidFill>
                  <a:schemeClr val="tx1"/>
                </a:solidFill>
                <a:latin typeface="Ebrima" pitchFamily="34" charset="0"/>
                <a:ea typeface="Ebrima" pitchFamily="34" charset="-122"/>
                <a:cs typeface="Ebrima" pitchFamily="34" charset="-120"/>
              </a:rPr>
              <a:t>Mezmur selection</a:t>
            </a:r>
            <a:endParaRPr lang="en-US" sz="1250" dirty="0"/>
          </a:p>
        </p:txBody>
      </p:sp>
      <p:sp>
        <p:nvSpPr>
          <p:cNvPr id="34" name="Shape 32"/>
          <p:cNvSpPr/>
          <p:nvPr/>
        </p:nvSpPr>
        <p:spPr>
          <a:xfrm>
            <a:off x="7406640" y="1325880"/>
            <a:ext cx="4251960" cy="896112"/>
          </a:xfrm>
          <a:prstGeom prst="roundRect">
            <a:avLst>
              <a:gd name="adj" fmla="val 12245"/>
            </a:avLst>
          </a:prstGeom>
          <a:solidFill>
            <a:schemeClr val="accent1"/>
          </a:solidFill>
          <a:ln/>
        </p:spPr>
      </p:sp>
      <p:sp>
        <p:nvSpPr>
          <p:cNvPr id="35" name="Text 33"/>
          <p:cNvSpPr txBox="1"/>
          <p:nvPr/>
        </p:nvSpPr>
        <p:spPr>
          <a:xfrm>
            <a:off x="7589520" y="1325880"/>
            <a:ext cx="1097280" cy="896112"/>
          </a:xfrm>
          <a:prstGeom prst="rect">
            <a:avLst/>
          </a:prstGeom>
          <a:noFill/>
          <a:ln/>
        </p:spPr>
        <p:txBody>
          <a:bodyPr wrap="square" lIns="0" tIns="0" rIns="0" bIns="0" rtlCol="0" anchor="ctr"/>
          <a:lstStyle/>
          <a:p>
            <a:pPr indent="0" marL="0">
              <a:buNone/>
            </a:pPr>
            <a:r>
              <a:rPr lang="en-US" sz="2000" b="1" dirty="0">
                <a:solidFill>
                  <a:schemeClr val="accent2"/>
                </a:solidFill>
                <a:latin typeface="Ebrima" pitchFamily="34" charset="0"/>
                <a:ea typeface="Ebrima" pitchFamily="34" charset="-122"/>
                <a:cs typeface="Ebrima" pitchFamily="34" charset="-120"/>
              </a:rPr>
              <a:t>PDF</a:t>
            </a:r>
            <a:endParaRPr lang="en-US" sz="2000" dirty="0"/>
          </a:p>
        </p:txBody>
      </p:sp>
      <p:sp>
        <p:nvSpPr>
          <p:cNvPr id="36" name="Text 34"/>
          <p:cNvSpPr txBox="1"/>
          <p:nvPr/>
        </p:nvSpPr>
        <p:spPr>
          <a:xfrm>
            <a:off x="8686800" y="1325880"/>
            <a:ext cx="2834640" cy="896112"/>
          </a:xfrm>
          <a:prstGeom prst="rect">
            <a:avLst/>
          </a:prstGeom>
          <a:noFill/>
          <a:ln/>
        </p:spPr>
        <p:txBody>
          <a:bodyPr wrap="square" lIns="0" tIns="0" rIns="0" bIns="0" rtlCol="0" anchor="ctr"/>
          <a:lstStyle/>
          <a:p>
            <a:pPr indent="0" marL="0">
              <a:buNone/>
            </a:pPr>
            <a:r>
              <a:rPr lang="en-US" sz="1250" dirty="0">
                <a:solidFill>
                  <a:schemeClr val="bg1"/>
                </a:solidFill>
                <a:latin typeface="Ebrima" pitchFamily="34" charset="0"/>
                <a:ea typeface="Ebrima" pitchFamily="34" charset="-122"/>
                <a:cs typeface="Ebrima" pitchFamily="34" charset="-120"/>
              </a:rPr>
              <a:t>Print-ready with logo, Ethiopian date, page numbers and reference</a:t>
            </a:r>
            <a:endParaRPr lang="en-US" sz="1250" dirty="0"/>
          </a:p>
        </p:txBody>
      </p:sp>
      <p:sp>
        <p:nvSpPr>
          <p:cNvPr id="37" name="Shape 35"/>
          <p:cNvSpPr/>
          <p:nvPr/>
        </p:nvSpPr>
        <p:spPr>
          <a:xfrm>
            <a:off x="7406640" y="2350008"/>
            <a:ext cx="4251960" cy="896112"/>
          </a:xfrm>
          <a:prstGeom prst="roundRect">
            <a:avLst>
              <a:gd name="adj" fmla="val 12245"/>
            </a:avLst>
          </a:prstGeom>
          <a:solidFill>
            <a:schemeClr val="accent1"/>
          </a:solidFill>
          <a:ln/>
        </p:spPr>
      </p:sp>
      <p:sp>
        <p:nvSpPr>
          <p:cNvPr id="38" name="Text 36"/>
          <p:cNvSpPr txBox="1"/>
          <p:nvPr/>
        </p:nvSpPr>
        <p:spPr>
          <a:xfrm>
            <a:off x="7589520" y="2350008"/>
            <a:ext cx="1097280" cy="896112"/>
          </a:xfrm>
          <a:prstGeom prst="rect">
            <a:avLst/>
          </a:prstGeom>
          <a:noFill/>
          <a:ln/>
        </p:spPr>
        <p:txBody>
          <a:bodyPr wrap="square" lIns="0" tIns="0" rIns="0" bIns="0" rtlCol="0" anchor="ctr"/>
          <a:lstStyle/>
          <a:p>
            <a:pPr indent="0" marL="0">
              <a:buNone/>
            </a:pPr>
            <a:r>
              <a:rPr lang="en-US" sz="2000" b="1" dirty="0">
                <a:solidFill>
                  <a:schemeClr val="accent2"/>
                </a:solidFill>
                <a:latin typeface="Ebrima" pitchFamily="34" charset="0"/>
                <a:ea typeface="Ebrima" pitchFamily="34" charset="-122"/>
                <a:cs typeface="Ebrima" pitchFamily="34" charset="-120"/>
              </a:rPr>
              <a:t>Excel</a:t>
            </a:r>
            <a:endParaRPr lang="en-US" sz="2000" dirty="0"/>
          </a:p>
        </p:txBody>
      </p:sp>
      <p:sp>
        <p:nvSpPr>
          <p:cNvPr id="39" name="Text 37"/>
          <p:cNvSpPr txBox="1"/>
          <p:nvPr/>
        </p:nvSpPr>
        <p:spPr>
          <a:xfrm>
            <a:off x="8686800" y="2350008"/>
            <a:ext cx="2834640" cy="896112"/>
          </a:xfrm>
          <a:prstGeom prst="rect">
            <a:avLst/>
          </a:prstGeom>
          <a:noFill/>
          <a:ln/>
        </p:spPr>
        <p:txBody>
          <a:bodyPr wrap="square" lIns="0" tIns="0" rIns="0" bIns="0" rtlCol="0" anchor="ctr"/>
          <a:lstStyle/>
          <a:p>
            <a:pPr indent="0" marL="0">
              <a:buNone/>
            </a:pPr>
            <a:r>
              <a:rPr lang="en-US" sz="1250" dirty="0">
                <a:solidFill>
                  <a:schemeClr val="bg1"/>
                </a:solidFill>
                <a:latin typeface="Ebrima" pitchFamily="34" charset="0"/>
                <a:ea typeface="Ebrima" pitchFamily="34" charset="-122"/>
                <a:cs typeface="Ebrima" pitchFamily="34" charset="-120"/>
              </a:rPr>
              <a:t>Summary sheet plus one sheet per table</a:t>
            </a:r>
            <a:endParaRPr lang="en-US" sz="1250" dirty="0"/>
          </a:p>
        </p:txBody>
      </p:sp>
      <p:sp>
        <p:nvSpPr>
          <p:cNvPr id="40" name="Shape 38"/>
          <p:cNvSpPr/>
          <p:nvPr/>
        </p:nvSpPr>
        <p:spPr>
          <a:xfrm>
            <a:off x="7406640" y="3374136"/>
            <a:ext cx="4251960" cy="896112"/>
          </a:xfrm>
          <a:prstGeom prst="roundRect">
            <a:avLst>
              <a:gd name="adj" fmla="val 12245"/>
            </a:avLst>
          </a:prstGeom>
          <a:solidFill>
            <a:schemeClr val="accent1"/>
          </a:solidFill>
          <a:ln/>
        </p:spPr>
      </p:sp>
      <p:sp>
        <p:nvSpPr>
          <p:cNvPr id="41" name="Text 39"/>
          <p:cNvSpPr txBox="1"/>
          <p:nvPr/>
        </p:nvSpPr>
        <p:spPr>
          <a:xfrm>
            <a:off x="7589520" y="3374136"/>
            <a:ext cx="1097280" cy="896112"/>
          </a:xfrm>
          <a:prstGeom prst="rect">
            <a:avLst/>
          </a:prstGeom>
          <a:noFill/>
          <a:ln/>
        </p:spPr>
        <p:txBody>
          <a:bodyPr wrap="square" lIns="0" tIns="0" rIns="0" bIns="0" rtlCol="0" anchor="ctr"/>
          <a:lstStyle/>
          <a:p>
            <a:pPr indent="0" marL="0">
              <a:buNone/>
            </a:pPr>
            <a:r>
              <a:rPr lang="en-US" sz="2000" b="1" dirty="0">
                <a:solidFill>
                  <a:schemeClr val="accent2"/>
                </a:solidFill>
                <a:latin typeface="Ebrima" pitchFamily="34" charset="0"/>
                <a:ea typeface="Ebrima" pitchFamily="34" charset="-122"/>
                <a:cs typeface="Ebrima" pitchFamily="34" charset="-120"/>
              </a:rPr>
              <a:t>CSV</a:t>
            </a:r>
            <a:endParaRPr lang="en-US" sz="2000" dirty="0"/>
          </a:p>
        </p:txBody>
      </p:sp>
      <p:sp>
        <p:nvSpPr>
          <p:cNvPr id="42" name="Text 40"/>
          <p:cNvSpPr txBox="1"/>
          <p:nvPr/>
        </p:nvSpPr>
        <p:spPr>
          <a:xfrm>
            <a:off x="8686800" y="3374136"/>
            <a:ext cx="2834640" cy="896112"/>
          </a:xfrm>
          <a:prstGeom prst="rect">
            <a:avLst/>
          </a:prstGeom>
          <a:noFill/>
          <a:ln/>
        </p:spPr>
        <p:txBody>
          <a:bodyPr wrap="square" lIns="0" tIns="0" rIns="0" bIns="0" rtlCol="0" anchor="ctr"/>
          <a:lstStyle/>
          <a:p>
            <a:pPr indent="0" marL="0">
              <a:buNone/>
            </a:pPr>
            <a:r>
              <a:rPr lang="en-US" sz="1250" dirty="0">
                <a:solidFill>
                  <a:schemeClr val="bg1"/>
                </a:solidFill>
                <a:latin typeface="Ebrima" pitchFamily="34" charset="0"/>
                <a:ea typeface="Ebrima" pitchFamily="34" charset="-122"/>
                <a:cs typeface="Ebrima" pitchFamily="34" charset="-120"/>
              </a:rPr>
              <a:t>A simple table for other systems</a:t>
            </a:r>
            <a:endParaRPr lang="en-US" sz="1250" dirty="0"/>
          </a:p>
        </p:txBody>
      </p:sp>
      <p:sp>
        <p:nvSpPr>
          <p:cNvPr id="43" name="Shape 41"/>
          <p:cNvSpPr/>
          <p:nvPr/>
        </p:nvSpPr>
        <p:spPr>
          <a:xfrm>
            <a:off x="7406640" y="4526280"/>
            <a:ext cx="4251960" cy="1645920"/>
          </a:xfrm>
          <a:prstGeom prst="roundRect">
            <a:avLst>
              <a:gd name="adj" fmla="val 6667"/>
            </a:avLst>
          </a:prstGeom>
          <a:solidFill>
            <a:schemeClr val="accent2">
              <a:alpha val="22000"/>
            </a:schemeClr>
          </a:solidFill>
          <a:ln/>
        </p:spPr>
      </p:sp>
      <p:sp>
        <p:nvSpPr>
          <p:cNvPr id="44" name="Text 42"/>
          <p:cNvSpPr txBox="1"/>
          <p:nvPr/>
        </p:nvSpPr>
        <p:spPr>
          <a:xfrm>
            <a:off x="7635240" y="4617720"/>
            <a:ext cx="384048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Accountability</a:t>
            </a:r>
            <a:endParaRPr lang="en-US" sz="1500" dirty="0"/>
          </a:p>
        </p:txBody>
      </p:sp>
      <p:sp>
        <p:nvSpPr>
          <p:cNvPr id="45" name="Text 43"/>
          <p:cNvSpPr txBox="1"/>
          <p:nvPr/>
        </p:nvSpPr>
        <p:spPr>
          <a:xfrm>
            <a:off x="7635240" y="5029200"/>
            <a:ext cx="384048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Every admin action and every exported report is kept in the audit log — who, what, when</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Working Offline and Synchronization</a:t>
            </a:r>
            <a:endParaRPr lang="en-US" sz="3400" dirty="0"/>
          </a:p>
        </p:txBody>
      </p:sp>
      <p:sp>
        <p:nvSpPr>
          <p:cNvPr id="3" name="Text 1"/>
          <p:cNvSpPr txBox="1"/>
          <p:nvPr/>
        </p:nvSpPr>
        <p:spPr>
          <a:xfrm>
            <a:off x="548640" y="1325880"/>
            <a:ext cx="5486400" cy="411480"/>
          </a:xfrm>
          <a:prstGeom prst="rect">
            <a:avLst/>
          </a:prstGeom>
          <a:noFill/>
          <a:ln/>
        </p:spPr>
        <p:txBody>
          <a:bodyPr wrap="square" lIns="0" tIns="0" rIns="0" bIns="0" rtlCol="0" anchor="t"/>
          <a:lstStyle/>
          <a:p>
            <a:pPr indent="0" marL="0">
              <a:buNone/>
            </a:pPr>
            <a:r>
              <a:rPr lang="en-US" sz="1700" b="1" dirty="0">
                <a:solidFill>
                  <a:schemeClr val="accent1"/>
                </a:solidFill>
                <a:latin typeface="Ebrima" pitchFamily="34" charset="0"/>
                <a:ea typeface="Ebrima" pitchFamily="34" charset="-122"/>
                <a:cs typeface="Ebrima" pitchFamily="34" charset="-120"/>
              </a:rPr>
              <a:t>Works offline</a:t>
            </a:r>
            <a:endParaRPr lang="en-US" sz="1700" dirty="0"/>
          </a:p>
        </p:txBody>
      </p:sp>
      <p:sp>
        <p:nvSpPr>
          <p:cNvPr id="4" name="Shape 2"/>
          <p:cNvSpPr/>
          <p:nvPr/>
        </p:nvSpPr>
        <p:spPr>
          <a:xfrm>
            <a:off x="548640" y="182880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658368" y="1938528"/>
            <a:ext cx="237744" cy="237744"/>
          </a:xfrm>
          <a:prstGeom prst="rect">
            <a:avLst/>
          </a:prstGeom>
        </p:spPr>
      </p:pic>
      <p:sp>
        <p:nvSpPr>
          <p:cNvPr id="6" name="Text 3"/>
          <p:cNvSpPr txBox="1"/>
          <p:nvPr/>
        </p:nvSpPr>
        <p:spPr>
          <a:xfrm>
            <a:off x="1188720" y="1828800"/>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Downloaded Mezmurs and favorites</a:t>
            </a:r>
            <a:endParaRPr lang="en-US" sz="1450" dirty="0"/>
          </a:p>
        </p:txBody>
      </p:sp>
      <p:sp>
        <p:nvSpPr>
          <p:cNvPr id="7" name="Shape 4"/>
          <p:cNvSpPr/>
          <p:nvPr/>
        </p:nvSpPr>
        <p:spPr>
          <a:xfrm>
            <a:off x="548640" y="2432304"/>
            <a:ext cx="457200" cy="45720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658368" y="2542032"/>
            <a:ext cx="237744" cy="237744"/>
          </a:xfrm>
          <a:prstGeom prst="rect">
            <a:avLst/>
          </a:prstGeom>
        </p:spPr>
      </p:pic>
      <p:sp>
        <p:nvSpPr>
          <p:cNvPr id="9" name="Text 5"/>
          <p:cNvSpPr txBox="1"/>
          <p:nvPr/>
        </p:nvSpPr>
        <p:spPr>
          <a:xfrm>
            <a:off x="1188720" y="2432304"/>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Own ID card and QR code</a:t>
            </a:r>
            <a:endParaRPr lang="en-US" sz="1450" dirty="0"/>
          </a:p>
        </p:txBody>
      </p:sp>
      <p:sp>
        <p:nvSpPr>
          <p:cNvPr id="10" name="Shape 6"/>
          <p:cNvSpPr/>
          <p:nvPr/>
        </p:nvSpPr>
        <p:spPr>
          <a:xfrm>
            <a:off x="548640" y="3035808"/>
            <a:ext cx="457200" cy="457200"/>
          </a:xfrm>
          <a:prstGeom prst="ellipse">
            <a:avLst/>
          </a:prstGeom>
          <a:solidFill>
            <a:schemeClr val="accent1"/>
          </a:solidFill>
          <a:ln/>
        </p:spPr>
      </p:sp>
      <p:pic>
        <p:nvPicPr>
          <p:cNvPr id="11" name="Image 2" descr="preencoded.png">    </p:cNvPr>
          <p:cNvPicPr>
            <a:picLocks noChangeAspect="1"/>
          </p:cNvPicPr>
          <p:nvPr/>
        </p:nvPicPr>
        <p:blipFill>
          <a:blip r:embed="rId3"/>
          <a:stretch>
            <a:fillRect/>
          </a:stretch>
        </p:blipFill>
        <p:spPr>
          <a:xfrm>
            <a:off x="658368" y="3145536"/>
            <a:ext cx="237744" cy="237744"/>
          </a:xfrm>
          <a:prstGeom prst="rect">
            <a:avLst/>
          </a:prstGeom>
        </p:spPr>
      </p:pic>
      <p:sp>
        <p:nvSpPr>
          <p:cNvPr id="12" name="Text 7"/>
          <p:cNvSpPr txBox="1"/>
          <p:nvPr/>
        </p:nvSpPr>
        <p:spPr>
          <a:xfrm>
            <a:off x="1188720" y="3035808"/>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Personal reminders and program alarms</a:t>
            </a:r>
            <a:endParaRPr lang="en-US" sz="1450" dirty="0"/>
          </a:p>
        </p:txBody>
      </p:sp>
      <p:sp>
        <p:nvSpPr>
          <p:cNvPr id="13" name="Shape 8"/>
          <p:cNvSpPr/>
          <p:nvPr/>
        </p:nvSpPr>
        <p:spPr>
          <a:xfrm>
            <a:off x="548640" y="3639312"/>
            <a:ext cx="457200" cy="45720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658368" y="3749040"/>
            <a:ext cx="237744" cy="237744"/>
          </a:xfrm>
          <a:prstGeom prst="rect">
            <a:avLst/>
          </a:prstGeom>
        </p:spPr>
      </p:pic>
      <p:sp>
        <p:nvSpPr>
          <p:cNvPr id="15" name="Text 9"/>
          <p:cNvSpPr txBox="1"/>
          <p:nvPr/>
        </p:nvSpPr>
        <p:spPr>
          <a:xfrm>
            <a:off x="1188720" y="3639312"/>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Recording attendance (assigned takers)</a:t>
            </a:r>
            <a:endParaRPr lang="en-US" sz="1450" dirty="0"/>
          </a:p>
        </p:txBody>
      </p:sp>
      <p:sp>
        <p:nvSpPr>
          <p:cNvPr id="16" name="Shape 10"/>
          <p:cNvSpPr/>
          <p:nvPr/>
        </p:nvSpPr>
        <p:spPr>
          <a:xfrm>
            <a:off x="548640" y="4242816"/>
            <a:ext cx="457200" cy="457200"/>
          </a:xfrm>
          <a:prstGeom prst="ellipse">
            <a:avLst/>
          </a:prstGeom>
          <a:solidFill>
            <a:schemeClr val="accent1"/>
          </a:solidFill>
          <a:ln/>
        </p:spPr>
      </p:sp>
      <p:pic>
        <p:nvPicPr>
          <p:cNvPr id="17" name="Image 4" descr="preencoded.png">    </p:cNvPr>
          <p:cNvPicPr>
            <a:picLocks noChangeAspect="1"/>
          </p:cNvPicPr>
          <p:nvPr/>
        </p:nvPicPr>
        <p:blipFill>
          <a:blip r:embed="rId5"/>
          <a:stretch>
            <a:fillRect/>
          </a:stretch>
        </p:blipFill>
        <p:spPr>
          <a:xfrm>
            <a:off x="658368" y="4352544"/>
            <a:ext cx="237744" cy="237744"/>
          </a:xfrm>
          <a:prstGeom prst="rect">
            <a:avLst/>
          </a:prstGeom>
        </p:spPr>
      </p:pic>
      <p:sp>
        <p:nvSpPr>
          <p:cNvPr id="18" name="Text 11"/>
          <p:cNvSpPr txBox="1"/>
          <p:nvPr/>
        </p:nvSpPr>
        <p:spPr>
          <a:xfrm>
            <a:off x="1188720" y="4242816"/>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Borrowing and returns (property staff)</a:t>
            </a:r>
            <a:endParaRPr lang="en-US" sz="1450" dirty="0"/>
          </a:p>
        </p:txBody>
      </p:sp>
      <p:sp>
        <p:nvSpPr>
          <p:cNvPr id="19" name="Shape 12"/>
          <p:cNvSpPr/>
          <p:nvPr/>
        </p:nvSpPr>
        <p:spPr>
          <a:xfrm>
            <a:off x="548640" y="4846320"/>
            <a:ext cx="457200" cy="457200"/>
          </a:xfrm>
          <a:prstGeom prst="ellipse">
            <a:avLst/>
          </a:prstGeom>
          <a:solidFill>
            <a:schemeClr val="accent1"/>
          </a:solidFill>
          <a:ln/>
        </p:spPr>
      </p:sp>
      <p:pic>
        <p:nvPicPr>
          <p:cNvPr id="20" name="Image 5" descr="preencoded.png">    </p:cNvPr>
          <p:cNvPicPr>
            <a:picLocks noChangeAspect="1"/>
          </p:cNvPicPr>
          <p:nvPr/>
        </p:nvPicPr>
        <p:blipFill>
          <a:blip r:embed="rId6"/>
          <a:stretch>
            <a:fillRect/>
          </a:stretch>
        </p:blipFill>
        <p:spPr>
          <a:xfrm>
            <a:off x="658368" y="4956048"/>
            <a:ext cx="237744" cy="237744"/>
          </a:xfrm>
          <a:prstGeom prst="rect">
            <a:avLst/>
          </a:prstGeom>
        </p:spPr>
      </p:pic>
      <p:sp>
        <p:nvSpPr>
          <p:cNvPr id="21" name="Text 13"/>
          <p:cNvSpPr txBox="1"/>
          <p:nvPr/>
        </p:nvSpPr>
        <p:spPr>
          <a:xfrm>
            <a:off x="1188720" y="4846320"/>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Task status updates</a:t>
            </a:r>
            <a:endParaRPr lang="en-US" sz="1450" dirty="0"/>
          </a:p>
        </p:txBody>
      </p:sp>
      <p:sp>
        <p:nvSpPr>
          <p:cNvPr id="22" name="Shape 14"/>
          <p:cNvSpPr/>
          <p:nvPr/>
        </p:nvSpPr>
        <p:spPr>
          <a:xfrm>
            <a:off x="548640" y="5449824"/>
            <a:ext cx="457200" cy="457200"/>
          </a:xfrm>
          <a:prstGeom prst="ellipse">
            <a:avLst/>
          </a:prstGeom>
          <a:solidFill>
            <a:schemeClr val="accent1"/>
          </a:solidFill>
          <a:ln/>
        </p:spPr>
      </p:sp>
      <p:pic>
        <p:nvPicPr>
          <p:cNvPr id="23" name="Image 6" descr="preencoded.png">    </p:cNvPr>
          <p:cNvPicPr>
            <a:picLocks noChangeAspect="1"/>
          </p:cNvPicPr>
          <p:nvPr/>
        </p:nvPicPr>
        <p:blipFill>
          <a:blip r:embed="rId7"/>
          <a:stretch>
            <a:fillRect/>
          </a:stretch>
        </p:blipFill>
        <p:spPr>
          <a:xfrm>
            <a:off x="658368" y="5559552"/>
            <a:ext cx="237744" cy="237744"/>
          </a:xfrm>
          <a:prstGeom prst="rect">
            <a:avLst/>
          </a:prstGeom>
        </p:spPr>
      </p:pic>
      <p:sp>
        <p:nvSpPr>
          <p:cNvPr id="24" name="Text 15"/>
          <p:cNvSpPr txBox="1"/>
          <p:nvPr/>
        </p:nvSpPr>
        <p:spPr>
          <a:xfrm>
            <a:off x="1188720" y="5449824"/>
            <a:ext cx="4846320" cy="457200"/>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Previously viewed pages (read-only)</a:t>
            </a:r>
            <a:endParaRPr lang="en-US" sz="1450" dirty="0"/>
          </a:p>
        </p:txBody>
      </p:sp>
      <p:sp>
        <p:nvSpPr>
          <p:cNvPr id="25" name="Text 16"/>
          <p:cNvSpPr txBox="1"/>
          <p:nvPr/>
        </p:nvSpPr>
        <p:spPr>
          <a:xfrm>
            <a:off x="6400800" y="1325880"/>
            <a:ext cx="5212080" cy="411480"/>
          </a:xfrm>
          <a:prstGeom prst="rect">
            <a:avLst/>
          </a:prstGeom>
          <a:noFill/>
          <a:ln/>
        </p:spPr>
        <p:txBody>
          <a:bodyPr wrap="square" lIns="0" tIns="0" rIns="0" bIns="0" rtlCol="0" anchor="t"/>
          <a:lstStyle/>
          <a:p>
            <a:pPr indent="0" marL="0">
              <a:buNone/>
            </a:pPr>
            <a:r>
              <a:rPr lang="en-US" sz="1700" b="1" dirty="0">
                <a:solidFill>
                  <a:schemeClr val="accent1"/>
                </a:solidFill>
                <a:latin typeface="Ebrima" pitchFamily="34" charset="0"/>
                <a:ea typeface="Ebrima" pitchFamily="34" charset="-122"/>
                <a:cs typeface="Ebrima" pitchFamily="34" charset="-120"/>
              </a:rPr>
              <a:t>How it syncs</a:t>
            </a:r>
            <a:endParaRPr lang="en-US" sz="1700" dirty="0"/>
          </a:p>
        </p:txBody>
      </p:sp>
      <p:sp>
        <p:nvSpPr>
          <p:cNvPr id="26" name="Shape 17"/>
          <p:cNvSpPr/>
          <p:nvPr/>
        </p:nvSpPr>
        <p:spPr>
          <a:xfrm>
            <a:off x="6400800" y="1828800"/>
            <a:ext cx="5257800" cy="749808"/>
          </a:xfrm>
          <a:prstGeom prst="roundRect">
            <a:avLst>
              <a:gd name="adj" fmla="val 14634"/>
            </a:avLst>
          </a:prstGeom>
          <a:solidFill>
            <a:schemeClr val="bg2">
              <a:alpha val="60000"/>
            </a:schemeClr>
          </a:solidFill>
          <a:ln/>
        </p:spPr>
      </p:sp>
      <p:sp>
        <p:nvSpPr>
          <p:cNvPr id="27" name="Text 18"/>
          <p:cNvSpPr txBox="1"/>
          <p:nvPr/>
        </p:nvSpPr>
        <p:spPr>
          <a:xfrm>
            <a:off x="6537960" y="1828800"/>
            <a:ext cx="457200" cy="749808"/>
          </a:xfrm>
          <a:prstGeom prst="rect">
            <a:avLst/>
          </a:prstGeom>
          <a:noFill/>
          <a:ln/>
        </p:spPr>
        <p:txBody>
          <a:bodyPr wrap="square" lIns="0" tIns="0" rIns="0" bIns="0" rtlCol="0" anchor="ctr"/>
          <a:lstStyle/>
          <a:p>
            <a:pPr indent="0" marL="0">
              <a:buNone/>
            </a:pPr>
            <a:r>
              <a:rPr lang="en-US" sz="2200" b="1" dirty="0">
                <a:solidFill>
                  <a:schemeClr val="accent1"/>
                </a:solidFill>
                <a:latin typeface="Ebrima" pitchFamily="34" charset="0"/>
                <a:ea typeface="Ebrima" pitchFamily="34" charset="-122"/>
                <a:cs typeface="Ebrima" pitchFamily="34" charset="-120"/>
              </a:rPr>
              <a:t>1</a:t>
            </a:r>
            <a:endParaRPr lang="en-US" sz="2200" dirty="0"/>
          </a:p>
        </p:txBody>
      </p:sp>
      <p:sp>
        <p:nvSpPr>
          <p:cNvPr id="28" name="Text 19"/>
          <p:cNvSpPr txBox="1"/>
          <p:nvPr/>
        </p:nvSpPr>
        <p:spPr>
          <a:xfrm>
            <a:off x="7040880" y="1828800"/>
            <a:ext cx="4480560" cy="749808"/>
          </a:xfrm>
          <a:prstGeom prst="rect">
            <a:avLst/>
          </a:prstGeom>
          <a:noFill/>
          <a:ln/>
        </p:spPr>
        <p:txBody>
          <a:bodyPr wrap="square" lIns="0" tIns="0" rIns="0" bIns="0" rtlCol="0" anchor="ctr"/>
          <a:lstStyle/>
          <a:p>
            <a:pPr indent="0" marL="0">
              <a:buNone/>
            </a:pPr>
            <a:r>
              <a:rPr lang="en-US" sz="1400" b="1" dirty="0">
                <a:solidFill>
                  <a:schemeClr val="tx1"/>
                </a:solidFill>
                <a:latin typeface="Ebrima" pitchFamily="34" charset="0"/>
                <a:ea typeface="Ebrima" pitchFamily="34" charset="-122"/>
                <a:cs typeface="Ebrima" pitchFamily="34" charset="-120"/>
              </a:rPr>
              <a:t>Saved on the phone — </a:t>
            </a:r>
            <a:pPr indent="0" marL="0">
              <a:buNone/>
            </a:pPr>
            <a:r>
              <a:rPr lang="en-US" sz="1400" dirty="0">
                <a:solidFill>
                  <a:schemeClr val="tx1"/>
                </a:solidFill>
                <a:latin typeface="Ebrima" pitchFamily="34" charset="0"/>
                <a:ea typeface="Ebrima" pitchFamily="34" charset="-122"/>
                <a:cs typeface="Ebrima" pitchFamily="34" charset="-120"/>
              </a:rPr>
              <a:t>signatures encrypted</a:t>
            </a:r>
            <a:endParaRPr lang="en-US" sz="1400" dirty="0"/>
          </a:p>
        </p:txBody>
      </p:sp>
      <p:sp>
        <p:nvSpPr>
          <p:cNvPr id="29" name="Shape 20"/>
          <p:cNvSpPr/>
          <p:nvPr/>
        </p:nvSpPr>
        <p:spPr>
          <a:xfrm>
            <a:off x="6400800" y="2743200"/>
            <a:ext cx="5257800" cy="749808"/>
          </a:xfrm>
          <a:prstGeom prst="roundRect">
            <a:avLst>
              <a:gd name="adj" fmla="val 14634"/>
            </a:avLst>
          </a:prstGeom>
          <a:solidFill>
            <a:schemeClr val="bg2">
              <a:alpha val="60000"/>
            </a:schemeClr>
          </a:solidFill>
          <a:ln/>
        </p:spPr>
      </p:sp>
      <p:sp>
        <p:nvSpPr>
          <p:cNvPr id="30" name="Text 21"/>
          <p:cNvSpPr txBox="1"/>
          <p:nvPr/>
        </p:nvSpPr>
        <p:spPr>
          <a:xfrm>
            <a:off x="6537960" y="2743200"/>
            <a:ext cx="457200" cy="749808"/>
          </a:xfrm>
          <a:prstGeom prst="rect">
            <a:avLst/>
          </a:prstGeom>
          <a:noFill/>
          <a:ln/>
        </p:spPr>
        <p:txBody>
          <a:bodyPr wrap="square" lIns="0" tIns="0" rIns="0" bIns="0" rtlCol="0" anchor="ctr"/>
          <a:lstStyle/>
          <a:p>
            <a:pPr indent="0" marL="0">
              <a:buNone/>
            </a:pPr>
            <a:r>
              <a:rPr lang="en-US" sz="2200" b="1" dirty="0">
                <a:solidFill>
                  <a:schemeClr val="accent1"/>
                </a:solidFill>
                <a:latin typeface="Ebrima" pitchFamily="34" charset="0"/>
                <a:ea typeface="Ebrima" pitchFamily="34" charset="-122"/>
                <a:cs typeface="Ebrima" pitchFamily="34" charset="-120"/>
              </a:rPr>
              <a:t>2</a:t>
            </a:r>
            <a:endParaRPr lang="en-US" sz="2200" dirty="0"/>
          </a:p>
        </p:txBody>
      </p:sp>
      <p:sp>
        <p:nvSpPr>
          <p:cNvPr id="31" name="Text 22"/>
          <p:cNvSpPr txBox="1"/>
          <p:nvPr/>
        </p:nvSpPr>
        <p:spPr>
          <a:xfrm>
            <a:off x="7040880" y="2743200"/>
            <a:ext cx="4480560" cy="749808"/>
          </a:xfrm>
          <a:prstGeom prst="rect">
            <a:avLst/>
          </a:prstGeom>
          <a:noFill/>
          <a:ln/>
        </p:spPr>
        <p:txBody>
          <a:bodyPr wrap="square" lIns="0" tIns="0" rIns="0" bIns="0" rtlCol="0" anchor="ctr"/>
          <a:lstStyle/>
          <a:p>
            <a:pPr indent="0" marL="0">
              <a:buNone/>
            </a:pPr>
            <a:r>
              <a:rPr lang="en-US" sz="1400" b="1" dirty="0">
                <a:solidFill>
                  <a:schemeClr val="tx1"/>
                </a:solidFill>
                <a:latin typeface="Ebrima" pitchFamily="34" charset="0"/>
                <a:ea typeface="Ebrima" pitchFamily="34" charset="-122"/>
                <a:cs typeface="Ebrima" pitchFamily="34" charset="-120"/>
              </a:rPr>
              <a:t>When back online — </a:t>
            </a:r>
            <a:pPr indent="0" marL="0">
              <a:buNone/>
            </a:pPr>
            <a:r>
              <a:rPr lang="en-US" sz="1400" dirty="0">
                <a:solidFill>
                  <a:schemeClr val="tx1"/>
                </a:solidFill>
                <a:latin typeface="Ebrima" pitchFamily="34" charset="0"/>
                <a:ea typeface="Ebrima" pitchFamily="34" charset="-122"/>
                <a:cs typeface="Ebrima" pitchFamily="34" charset="-120"/>
              </a:rPr>
              <a:t>sent automatically</a:t>
            </a:r>
            <a:endParaRPr lang="en-US" sz="1400" dirty="0"/>
          </a:p>
        </p:txBody>
      </p:sp>
      <p:sp>
        <p:nvSpPr>
          <p:cNvPr id="32" name="Shape 23"/>
          <p:cNvSpPr/>
          <p:nvPr/>
        </p:nvSpPr>
        <p:spPr>
          <a:xfrm>
            <a:off x="6400800" y="3657600"/>
            <a:ext cx="5257800" cy="749808"/>
          </a:xfrm>
          <a:prstGeom prst="roundRect">
            <a:avLst>
              <a:gd name="adj" fmla="val 14634"/>
            </a:avLst>
          </a:prstGeom>
          <a:solidFill>
            <a:schemeClr val="bg2">
              <a:alpha val="60000"/>
            </a:schemeClr>
          </a:solidFill>
          <a:ln/>
        </p:spPr>
      </p:sp>
      <p:sp>
        <p:nvSpPr>
          <p:cNvPr id="33" name="Text 24"/>
          <p:cNvSpPr txBox="1"/>
          <p:nvPr/>
        </p:nvSpPr>
        <p:spPr>
          <a:xfrm>
            <a:off x="6537960" y="3657600"/>
            <a:ext cx="457200" cy="749808"/>
          </a:xfrm>
          <a:prstGeom prst="rect">
            <a:avLst/>
          </a:prstGeom>
          <a:noFill/>
          <a:ln/>
        </p:spPr>
        <p:txBody>
          <a:bodyPr wrap="square" lIns="0" tIns="0" rIns="0" bIns="0" rtlCol="0" anchor="ctr"/>
          <a:lstStyle/>
          <a:p>
            <a:pPr indent="0" marL="0">
              <a:buNone/>
            </a:pPr>
            <a:r>
              <a:rPr lang="en-US" sz="2200" b="1" dirty="0">
                <a:solidFill>
                  <a:schemeClr val="accent1"/>
                </a:solidFill>
                <a:latin typeface="Ebrima" pitchFamily="34" charset="0"/>
                <a:ea typeface="Ebrima" pitchFamily="34" charset="-122"/>
                <a:cs typeface="Ebrima" pitchFamily="34" charset="-120"/>
              </a:rPr>
              <a:t>3</a:t>
            </a:r>
            <a:endParaRPr lang="en-US" sz="2200" dirty="0"/>
          </a:p>
        </p:txBody>
      </p:sp>
      <p:sp>
        <p:nvSpPr>
          <p:cNvPr id="34" name="Text 25"/>
          <p:cNvSpPr txBox="1"/>
          <p:nvPr/>
        </p:nvSpPr>
        <p:spPr>
          <a:xfrm>
            <a:off x="7040880" y="3657600"/>
            <a:ext cx="4480560" cy="749808"/>
          </a:xfrm>
          <a:prstGeom prst="rect">
            <a:avLst/>
          </a:prstGeom>
          <a:noFill/>
          <a:ln/>
        </p:spPr>
        <p:txBody>
          <a:bodyPr wrap="square" lIns="0" tIns="0" rIns="0" bIns="0" rtlCol="0" anchor="ctr"/>
          <a:lstStyle/>
          <a:p>
            <a:pPr indent="0" marL="0">
              <a:buNone/>
            </a:pPr>
            <a:r>
              <a:rPr lang="en-US" sz="1400" b="1" dirty="0">
                <a:solidFill>
                  <a:schemeClr val="tx1"/>
                </a:solidFill>
                <a:latin typeface="Ebrima" pitchFamily="34" charset="0"/>
                <a:ea typeface="Ebrima" pitchFamily="34" charset="-122"/>
                <a:cs typeface="Ebrima" pitchFamily="34" charset="-120"/>
              </a:rPr>
              <a:t>Server verifies — </a:t>
            </a:r>
            <a:pPr indent="0" marL="0">
              <a:buNone/>
            </a:pPr>
            <a:r>
              <a:rPr lang="en-US" sz="1400" dirty="0">
                <a:solidFill>
                  <a:schemeClr val="tx1"/>
                </a:solidFill>
                <a:latin typeface="Ebrima" pitchFamily="34" charset="0"/>
                <a:ea typeface="Ebrima" pitchFamily="34" charset="-122"/>
                <a:cs typeface="Ebrima" pitchFamily="34" charset="-120"/>
              </a:rPr>
              <a:t>the server has the final say</a:t>
            </a:r>
            <a:endParaRPr lang="en-US" sz="1400" dirty="0"/>
          </a:p>
        </p:txBody>
      </p:sp>
      <p:sp>
        <p:nvSpPr>
          <p:cNvPr id="35" name="Shape 26"/>
          <p:cNvSpPr/>
          <p:nvPr/>
        </p:nvSpPr>
        <p:spPr>
          <a:xfrm>
            <a:off x="6400800" y="4572000"/>
            <a:ext cx="5257800" cy="749808"/>
          </a:xfrm>
          <a:prstGeom prst="roundRect">
            <a:avLst>
              <a:gd name="adj" fmla="val 14634"/>
            </a:avLst>
          </a:prstGeom>
          <a:solidFill>
            <a:schemeClr val="accent1"/>
          </a:solidFill>
          <a:ln/>
        </p:spPr>
      </p:sp>
      <p:sp>
        <p:nvSpPr>
          <p:cNvPr id="36" name="Text 27"/>
          <p:cNvSpPr txBox="1"/>
          <p:nvPr/>
        </p:nvSpPr>
        <p:spPr>
          <a:xfrm>
            <a:off x="6537960" y="4572000"/>
            <a:ext cx="457200" cy="749808"/>
          </a:xfrm>
          <a:prstGeom prst="rect">
            <a:avLst/>
          </a:prstGeom>
          <a:noFill/>
          <a:ln/>
        </p:spPr>
        <p:txBody>
          <a:bodyPr wrap="square" lIns="0" tIns="0" rIns="0" bIns="0" rtlCol="0" anchor="ctr"/>
          <a:lstStyle/>
          <a:p>
            <a:pPr indent="0" marL="0">
              <a:buNone/>
            </a:pPr>
            <a:r>
              <a:rPr lang="en-US" sz="2200" b="1" dirty="0">
                <a:solidFill>
                  <a:schemeClr val="accent2"/>
                </a:solidFill>
                <a:latin typeface="Ebrima" pitchFamily="34" charset="0"/>
                <a:ea typeface="Ebrima" pitchFamily="34" charset="-122"/>
                <a:cs typeface="Ebrima" pitchFamily="34" charset="-120"/>
              </a:rPr>
              <a:t>4</a:t>
            </a:r>
            <a:endParaRPr lang="en-US" sz="2200" dirty="0"/>
          </a:p>
        </p:txBody>
      </p:sp>
      <p:sp>
        <p:nvSpPr>
          <p:cNvPr id="37" name="Text 28"/>
          <p:cNvSpPr txBox="1"/>
          <p:nvPr/>
        </p:nvSpPr>
        <p:spPr>
          <a:xfrm>
            <a:off x="7040880" y="4572000"/>
            <a:ext cx="4480560" cy="749808"/>
          </a:xfrm>
          <a:prstGeom prst="rect">
            <a:avLst/>
          </a:prstGeom>
          <a:noFill/>
          <a:ln/>
        </p:spPr>
        <p:txBody>
          <a:bodyPr wrap="square" lIns="0" tIns="0" rIns="0" bIns="0" rtlCol="0" anchor="ctr"/>
          <a:lstStyle/>
          <a:p>
            <a:pPr indent="0" marL="0">
              <a:buNone/>
            </a:pPr>
            <a:r>
              <a:rPr lang="en-US" sz="1400" b="1" dirty="0">
                <a:solidFill>
                  <a:schemeClr val="bg1"/>
                </a:solidFill>
                <a:latin typeface="Ebrima" pitchFamily="34" charset="0"/>
                <a:ea typeface="Ebrima" pitchFamily="34" charset="-122"/>
                <a:cs typeface="Ebrima" pitchFamily="34" charset="-120"/>
              </a:rPr>
              <a:t>If not accepted — </a:t>
            </a:r>
            <a:pPr indent="0" marL="0">
              <a:buNone/>
            </a:pPr>
            <a:r>
              <a:rPr lang="en-US" sz="1400" dirty="0">
                <a:solidFill>
                  <a:schemeClr val="bg1"/>
                </a:solidFill>
                <a:latin typeface="Ebrima" pitchFamily="34" charset="0"/>
                <a:ea typeface="Ebrima" pitchFamily="34" charset="-122"/>
                <a:cs typeface="Ebrima" pitchFamily="34" charset="-120"/>
              </a:rPr>
              <a:t>sent to HR for review — never lost</a:t>
            </a:r>
            <a:endParaRPr lang="en-US" sz="1400" dirty="0"/>
          </a:p>
        </p:txBody>
      </p:sp>
      <p:sp>
        <p:nvSpPr>
          <p:cNvPr id="38" name="Text 29"/>
          <p:cNvSpPr txBox="1"/>
          <p:nvPr/>
        </p:nvSpPr>
        <p:spPr>
          <a:xfrm>
            <a:off x="6400800" y="5623560"/>
            <a:ext cx="5257800" cy="548640"/>
          </a:xfrm>
          <a:prstGeom prst="rect">
            <a:avLst/>
          </a:prstGeom>
          <a:noFill/>
          <a:ln/>
        </p:spPr>
        <p:txBody>
          <a:bodyPr wrap="square" lIns="0" tIns="0" rIns="0" bIns="0" rtlCol="0" anchor="t"/>
          <a:lstStyle/>
          <a:p>
            <a:pPr indent="0" marL="0">
              <a:buNone/>
            </a:pPr>
            <a:r>
              <a:rPr lang="en-US" sz="1250" i="1" dirty="0">
                <a:solidFill>
                  <a:schemeClr val="accent4"/>
                </a:solidFill>
                <a:latin typeface="Ebrima" pitchFamily="34" charset="0"/>
                <a:ea typeface="Ebrima" pitchFamily="34" charset="-122"/>
                <a:cs typeface="Ebrima" pitchFamily="34" charset="-120"/>
              </a:rPr>
              <a:t>Limitation: most administrative tasks still need a connection; full offline work is planned.</a:t>
            </a:r>
            <a:endParaRPr lang="en-US" sz="12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Privacy and Security</a:t>
            </a:r>
            <a:endParaRPr lang="en-US" sz="3400" dirty="0"/>
          </a:p>
        </p:txBody>
      </p:sp>
      <p:sp>
        <p:nvSpPr>
          <p:cNvPr id="3" name="Shape 1"/>
          <p:cNvSpPr/>
          <p:nvPr/>
        </p:nvSpPr>
        <p:spPr>
          <a:xfrm>
            <a:off x="548640" y="1325880"/>
            <a:ext cx="3520440" cy="2286000"/>
          </a:xfrm>
          <a:prstGeom prst="roundRect">
            <a:avLst>
              <a:gd name="adj" fmla="val 4800"/>
            </a:avLst>
          </a:prstGeom>
          <a:solidFill>
            <a:schemeClr val="bg2">
              <a:alpha val="55000"/>
            </a:schemeClr>
          </a:solidFill>
          <a:ln/>
        </p:spPr>
      </p:sp>
      <p:sp>
        <p:nvSpPr>
          <p:cNvPr id="4" name="Shape 2"/>
          <p:cNvSpPr/>
          <p:nvPr/>
        </p:nvSpPr>
        <p:spPr>
          <a:xfrm>
            <a:off x="777240" y="1554480"/>
            <a:ext cx="658368" cy="65836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35248" y="1712488"/>
            <a:ext cx="342351" cy="342351"/>
          </a:xfrm>
          <a:prstGeom prst="rect">
            <a:avLst/>
          </a:prstGeom>
        </p:spPr>
      </p:pic>
      <p:sp>
        <p:nvSpPr>
          <p:cNvPr id="6" name="Text 3"/>
          <p:cNvSpPr txBox="1"/>
          <p:nvPr/>
        </p:nvSpPr>
        <p:spPr>
          <a:xfrm>
            <a:off x="1600200" y="1600200"/>
            <a:ext cx="2331720" cy="59436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Permission-based access</a:t>
            </a:r>
            <a:endParaRPr lang="en-US" sz="1550" dirty="0"/>
          </a:p>
        </p:txBody>
      </p:sp>
      <p:sp>
        <p:nvSpPr>
          <p:cNvPr id="7" name="Text 4"/>
          <p:cNvSpPr txBox="1"/>
          <p:nvPr/>
        </p:nvSpPr>
        <p:spPr>
          <a:xfrm>
            <a:off x="777240" y="2377440"/>
            <a:ext cx="310896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Everyone sees only what their role requires</a:t>
            </a:r>
            <a:endParaRPr lang="en-US" sz="1300" dirty="0"/>
          </a:p>
        </p:txBody>
      </p:sp>
      <p:sp>
        <p:nvSpPr>
          <p:cNvPr id="8" name="Shape 5"/>
          <p:cNvSpPr/>
          <p:nvPr/>
        </p:nvSpPr>
        <p:spPr>
          <a:xfrm>
            <a:off x="4297680" y="1325880"/>
            <a:ext cx="3520440" cy="2286000"/>
          </a:xfrm>
          <a:prstGeom prst="roundRect">
            <a:avLst>
              <a:gd name="adj" fmla="val 4800"/>
            </a:avLst>
          </a:prstGeom>
          <a:solidFill>
            <a:schemeClr val="bg2">
              <a:alpha val="55000"/>
            </a:schemeClr>
          </a:solidFill>
          <a:ln/>
        </p:spPr>
      </p:sp>
      <p:sp>
        <p:nvSpPr>
          <p:cNvPr id="9" name="Shape 6"/>
          <p:cNvSpPr/>
          <p:nvPr/>
        </p:nvSpPr>
        <p:spPr>
          <a:xfrm>
            <a:off x="4526280" y="1554480"/>
            <a:ext cx="658368" cy="658368"/>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684288" y="1712488"/>
            <a:ext cx="342351" cy="342351"/>
          </a:xfrm>
          <a:prstGeom prst="rect">
            <a:avLst/>
          </a:prstGeom>
        </p:spPr>
      </p:pic>
      <p:sp>
        <p:nvSpPr>
          <p:cNvPr id="11" name="Text 7"/>
          <p:cNvSpPr txBox="1"/>
          <p:nvPr/>
        </p:nvSpPr>
        <p:spPr>
          <a:xfrm>
            <a:off x="5349240" y="1600200"/>
            <a:ext cx="2331720" cy="59436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Encrypted personal data</a:t>
            </a:r>
            <a:endParaRPr lang="en-US" sz="1550" dirty="0"/>
          </a:p>
        </p:txBody>
      </p:sp>
      <p:sp>
        <p:nvSpPr>
          <p:cNvPr id="12" name="Text 8"/>
          <p:cNvSpPr txBox="1"/>
          <p:nvPr/>
        </p:nvSpPr>
        <p:spPr>
          <a:xfrm>
            <a:off x="4526280" y="2377440"/>
            <a:ext cx="310896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Sensitive member data, messages and notes are stored encrypted in the database</a:t>
            </a:r>
            <a:endParaRPr lang="en-US" sz="1300" dirty="0"/>
          </a:p>
        </p:txBody>
      </p:sp>
      <p:sp>
        <p:nvSpPr>
          <p:cNvPr id="13" name="Shape 9"/>
          <p:cNvSpPr/>
          <p:nvPr/>
        </p:nvSpPr>
        <p:spPr>
          <a:xfrm>
            <a:off x="8046720" y="1325880"/>
            <a:ext cx="3520440" cy="2286000"/>
          </a:xfrm>
          <a:prstGeom prst="roundRect">
            <a:avLst>
              <a:gd name="adj" fmla="val 4800"/>
            </a:avLst>
          </a:prstGeom>
          <a:solidFill>
            <a:schemeClr val="bg2">
              <a:alpha val="55000"/>
            </a:schemeClr>
          </a:solidFill>
          <a:ln/>
        </p:spPr>
      </p:sp>
      <p:sp>
        <p:nvSpPr>
          <p:cNvPr id="14" name="Shape 10"/>
          <p:cNvSpPr/>
          <p:nvPr/>
        </p:nvSpPr>
        <p:spPr>
          <a:xfrm>
            <a:off x="8275320" y="1554480"/>
            <a:ext cx="658368" cy="658368"/>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433328" y="1712488"/>
            <a:ext cx="342351" cy="342351"/>
          </a:xfrm>
          <a:prstGeom prst="rect">
            <a:avLst/>
          </a:prstGeom>
        </p:spPr>
      </p:pic>
      <p:sp>
        <p:nvSpPr>
          <p:cNvPr id="16" name="Text 11"/>
          <p:cNvSpPr txBox="1"/>
          <p:nvPr/>
        </p:nvSpPr>
        <p:spPr>
          <a:xfrm>
            <a:off x="9098280" y="1600200"/>
            <a:ext cx="2331720" cy="59436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Private storage</a:t>
            </a:r>
            <a:endParaRPr lang="en-US" sz="1550" dirty="0"/>
          </a:p>
        </p:txBody>
      </p:sp>
      <p:sp>
        <p:nvSpPr>
          <p:cNvPr id="17" name="Text 12"/>
          <p:cNvSpPr txBox="1"/>
          <p:nvPr/>
        </p:nvSpPr>
        <p:spPr>
          <a:xfrm>
            <a:off x="8275320" y="2377440"/>
            <a:ext cx="310896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Signatures, chat files and books open only for authorized users</a:t>
            </a:r>
            <a:endParaRPr lang="en-US" sz="1300" dirty="0"/>
          </a:p>
        </p:txBody>
      </p:sp>
      <p:sp>
        <p:nvSpPr>
          <p:cNvPr id="18" name="Shape 13"/>
          <p:cNvSpPr/>
          <p:nvPr/>
        </p:nvSpPr>
        <p:spPr>
          <a:xfrm>
            <a:off x="548640" y="3794760"/>
            <a:ext cx="3520440" cy="2286000"/>
          </a:xfrm>
          <a:prstGeom prst="roundRect">
            <a:avLst>
              <a:gd name="adj" fmla="val 4800"/>
            </a:avLst>
          </a:prstGeom>
          <a:solidFill>
            <a:schemeClr val="bg2">
              <a:alpha val="55000"/>
            </a:schemeClr>
          </a:solidFill>
          <a:ln/>
        </p:spPr>
      </p:sp>
      <p:sp>
        <p:nvSpPr>
          <p:cNvPr id="19" name="Shape 14"/>
          <p:cNvSpPr/>
          <p:nvPr/>
        </p:nvSpPr>
        <p:spPr>
          <a:xfrm>
            <a:off x="777240" y="4023360"/>
            <a:ext cx="658368" cy="658368"/>
          </a:xfrm>
          <a:prstGeom prst="ellipse">
            <a:avLst/>
          </a:prstGeom>
          <a:solidFill>
            <a:schemeClr val="accent2"/>
          </a:solidFill>
          <a:ln/>
        </p:spPr>
      </p:sp>
      <p:pic>
        <p:nvPicPr>
          <p:cNvPr id="20" name="Image 3" descr="preencoded.png">    </p:cNvPr>
          <p:cNvPicPr>
            <a:picLocks noChangeAspect="1"/>
          </p:cNvPicPr>
          <p:nvPr/>
        </p:nvPicPr>
        <p:blipFill>
          <a:blip r:embed="rId4"/>
          <a:stretch>
            <a:fillRect/>
          </a:stretch>
        </p:blipFill>
        <p:spPr>
          <a:xfrm>
            <a:off x="935248" y="4181368"/>
            <a:ext cx="342351" cy="342351"/>
          </a:xfrm>
          <a:prstGeom prst="rect">
            <a:avLst/>
          </a:prstGeom>
        </p:spPr>
      </p:pic>
      <p:sp>
        <p:nvSpPr>
          <p:cNvPr id="21" name="Text 15"/>
          <p:cNvSpPr txBox="1"/>
          <p:nvPr/>
        </p:nvSpPr>
        <p:spPr>
          <a:xfrm>
            <a:off x="1600200" y="4069080"/>
            <a:ext cx="2331720" cy="59436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Sign-in protection</a:t>
            </a:r>
            <a:endParaRPr lang="en-US" sz="1550" dirty="0"/>
          </a:p>
        </p:txBody>
      </p:sp>
      <p:sp>
        <p:nvSpPr>
          <p:cNvPr id="22" name="Text 16"/>
          <p:cNvSpPr txBox="1"/>
          <p:nvPr/>
        </p:nvSpPr>
        <p:spPr>
          <a:xfrm>
            <a:off x="777240" y="4846320"/>
            <a:ext cx="310896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PIN, temporary lockout, one trusted phone and session control</a:t>
            </a:r>
            <a:endParaRPr lang="en-US" sz="1300" dirty="0"/>
          </a:p>
        </p:txBody>
      </p:sp>
      <p:sp>
        <p:nvSpPr>
          <p:cNvPr id="23" name="Shape 17"/>
          <p:cNvSpPr/>
          <p:nvPr/>
        </p:nvSpPr>
        <p:spPr>
          <a:xfrm>
            <a:off x="4297680" y="3794760"/>
            <a:ext cx="3520440" cy="2286000"/>
          </a:xfrm>
          <a:prstGeom prst="roundRect">
            <a:avLst>
              <a:gd name="adj" fmla="val 4800"/>
            </a:avLst>
          </a:prstGeom>
          <a:solidFill>
            <a:schemeClr val="bg2">
              <a:alpha val="55000"/>
            </a:schemeClr>
          </a:solidFill>
          <a:ln/>
        </p:spPr>
      </p:sp>
      <p:sp>
        <p:nvSpPr>
          <p:cNvPr id="24" name="Shape 18"/>
          <p:cNvSpPr/>
          <p:nvPr/>
        </p:nvSpPr>
        <p:spPr>
          <a:xfrm>
            <a:off x="4526280" y="4023360"/>
            <a:ext cx="658368" cy="658368"/>
          </a:xfrm>
          <a:prstGeom prst="ellipse">
            <a:avLst/>
          </a:prstGeom>
          <a:solidFill>
            <a:schemeClr val="accent2"/>
          </a:solidFill>
          <a:ln/>
        </p:spPr>
      </p:sp>
      <p:pic>
        <p:nvPicPr>
          <p:cNvPr id="25" name="Image 4" descr="preencoded.png">    </p:cNvPr>
          <p:cNvPicPr>
            <a:picLocks noChangeAspect="1"/>
          </p:cNvPicPr>
          <p:nvPr/>
        </p:nvPicPr>
        <p:blipFill>
          <a:blip r:embed="rId5"/>
          <a:stretch>
            <a:fillRect/>
          </a:stretch>
        </p:blipFill>
        <p:spPr>
          <a:xfrm>
            <a:off x="4684288" y="4181368"/>
            <a:ext cx="342351" cy="342351"/>
          </a:xfrm>
          <a:prstGeom prst="rect">
            <a:avLst/>
          </a:prstGeom>
        </p:spPr>
      </p:pic>
      <p:sp>
        <p:nvSpPr>
          <p:cNvPr id="26" name="Text 19"/>
          <p:cNvSpPr txBox="1"/>
          <p:nvPr/>
        </p:nvSpPr>
        <p:spPr>
          <a:xfrm>
            <a:off x="5349240" y="4069080"/>
            <a:ext cx="2331720" cy="59436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Audit log</a:t>
            </a:r>
            <a:endParaRPr lang="en-US" sz="1550" dirty="0"/>
          </a:p>
        </p:txBody>
      </p:sp>
      <p:sp>
        <p:nvSpPr>
          <p:cNvPr id="27" name="Text 20"/>
          <p:cNvSpPr txBox="1"/>
          <p:nvPr/>
        </p:nvSpPr>
        <p:spPr>
          <a:xfrm>
            <a:off x="4526280" y="4846320"/>
            <a:ext cx="310896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All admin actions and reports are recorded</a:t>
            </a:r>
            <a:endParaRPr lang="en-US" sz="1300" dirty="0"/>
          </a:p>
        </p:txBody>
      </p:sp>
      <p:sp>
        <p:nvSpPr>
          <p:cNvPr id="28" name="Shape 21"/>
          <p:cNvSpPr/>
          <p:nvPr/>
        </p:nvSpPr>
        <p:spPr>
          <a:xfrm>
            <a:off x="8046720" y="3794760"/>
            <a:ext cx="3520440" cy="2286000"/>
          </a:xfrm>
          <a:prstGeom prst="roundRect">
            <a:avLst>
              <a:gd name="adj" fmla="val 4800"/>
            </a:avLst>
          </a:prstGeom>
          <a:solidFill>
            <a:schemeClr val="bg2">
              <a:alpha val="55000"/>
            </a:schemeClr>
          </a:solidFill>
          <a:ln/>
        </p:spPr>
      </p:sp>
      <p:sp>
        <p:nvSpPr>
          <p:cNvPr id="29" name="Shape 22"/>
          <p:cNvSpPr/>
          <p:nvPr/>
        </p:nvSpPr>
        <p:spPr>
          <a:xfrm>
            <a:off x="8275320" y="4023360"/>
            <a:ext cx="658368" cy="658368"/>
          </a:xfrm>
          <a:prstGeom prst="ellipse">
            <a:avLst/>
          </a:prstGeom>
          <a:solidFill>
            <a:schemeClr val="accent2"/>
          </a:solidFill>
          <a:ln/>
        </p:spPr>
      </p:sp>
      <p:pic>
        <p:nvPicPr>
          <p:cNvPr id="30" name="Image 5" descr="preencoded.png">    </p:cNvPr>
          <p:cNvPicPr>
            <a:picLocks noChangeAspect="1"/>
          </p:cNvPicPr>
          <p:nvPr/>
        </p:nvPicPr>
        <p:blipFill>
          <a:blip r:embed="rId6"/>
          <a:stretch>
            <a:fillRect/>
          </a:stretch>
        </p:blipFill>
        <p:spPr>
          <a:xfrm>
            <a:off x="8433328" y="4181368"/>
            <a:ext cx="342351" cy="342351"/>
          </a:xfrm>
          <a:prstGeom prst="rect">
            <a:avLst/>
          </a:prstGeom>
        </p:spPr>
      </p:pic>
      <p:sp>
        <p:nvSpPr>
          <p:cNvPr id="31" name="Text 23"/>
          <p:cNvSpPr txBox="1"/>
          <p:nvPr/>
        </p:nvSpPr>
        <p:spPr>
          <a:xfrm>
            <a:off x="9098280" y="4069080"/>
            <a:ext cx="2331720" cy="594360"/>
          </a:xfrm>
          <a:prstGeom prst="rect">
            <a:avLst/>
          </a:prstGeom>
          <a:noFill/>
          <a:ln/>
        </p:spPr>
        <p:txBody>
          <a:bodyPr wrap="square" lIns="0" tIns="0" rIns="0" bIns="0" rtlCol="0" anchor="ctr"/>
          <a:lstStyle/>
          <a:p>
            <a:pPr indent="0" marL="0">
              <a:buNone/>
            </a:pPr>
            <a:r>
              <a:rPr lang="en-US" sz="1550" b="1" dirty="0">
                <a:solidFill>
                  <a:schemeClr val="accent1"/>
                </a:solidFill>
                <a:latin typeface="Ebrima" pitchFamily="34" charset="0"/>
                <a:ea typeface="Ebrima" pitchFamily="34" charset="-122"/>
                <a:cs typeface="Ebrima" pitchFamily="34" charset="-120"/>
              </a:rPr>
              <a:t>On-device protection</a:t>
            </a:r>
            <a:endParaRPr lang="en-US" sz="1550" dirty="0"/>
          </a:p>
        </p:txBody>
      </p:sp>
      <p:sp>
        <p:nvSpPr>
          <p:cNvPr id="32" name="Text 24"/>
          <p:cNvSpPr txBox="1"/>
          <p:nvPr/>
        </p:nvSpPr>
        <p:spPr>
          <a:xfrm>
            <a:off x="8275320" y="4846320"/>
            <a:ext cx="3108960" cy="109728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Encryption, fingerprint lock and screenshot blocking</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How the System Works Technically</a:t>
            </a:r>
            <a:endParaRPr lang="en-US" sz="3400" dirty="0"/>
          </a:p>
        </p:txBody>
      </p:sp>
      <p:sp>
        <p:nvSpPr>
          <p:cNvPr id="3" name="Shape 1"/>
          <p:cNvSpPr/>
          <p:nvPr/>
        </p:nvSpPr>
        <p:spPr>
          <a:xfrm>
            <a:off x="548640" y="1325880"/>
            <a:ext cx="3108960" cy="4526280"/>
          </a:xfrm>
          <a:prstGeom prst="roundRect">
            <a:avLst>
              <a:gd name="adj" fmla="val 3529"/>
            </a:avLst>
          </a:prstGeom>
          <a:solidFill>
            <a:schemeClr val="bg2">
              <a:alpha val="60000"/>
            </a:schemeClr>
          </a:solidFill>
          <a:ln/>
        </p:spPr>
      </p:sp>
      <p:sp>
        <p:nvSpPr>
          <p:cNvPr id="4" name="Text 2"/>
          <p:cNvSpPr txBox="1"/>
          <p:nvPr/>
        </p:nvSpPr>
        <p:spPr>
          <a:xfrm>
            <a:off x="731520" y="1417320"/>
            <a:ext cx="274320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Ebrima" pitchFamily="34" charset="0"/>
                <a:ea typeface="Ebrima" pitchFamily="34" charset="-122"/>
                <a:cs typeface="Ebrima" pitchFamily="34" charset="-120"/>
              </a:rPr>
              <a:t>Users</a:t>
            </a:r>
            <a:endParaRPr lang="en-US" sz="1600" dirty="0"/>
          </a:p>
        </p:txBody>
      </p:sp>
      <p:sp>
        <p:nvSpPr>
          <p:cNvPr id="5" name="Shape 3"/>
          <p:cNvSpPr/>
          <p:nvPr/>
        </p:nvSpPr>
        <p:spPr>
          <a:xfrm>
            <a:off x="777240" y="1920240"/>
            <a:ext cx="2651760" cy="1051560"/>
          </a:xfrm>
          <a:prstGeom prst="roundRect">
            <a:avLst>
              <a:gd name="adj" fmla="val 8696"/>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14400" y="2194560"/>
            <a:ext cx="502920" cy="502920"/>
          </a:xfrm>
          <a:prstGeom prst="rect">
            <a:avLst/>
          </a:prstGeom>
        </p:spPr>
      </p:pic>
      <p:sp>
        <p:nvSpPr>
          <p:cNvPr id="7" name="Text 4"/>
          <p:cNvSpPr txBox="1"/>
          <p:nvPr/>
        </p:nvSpPr>
        <p:spPr>
          <a:xfrm>
            <a:off x="1508760" y="1920240"/>
            <a:ext cx="1828800" cy="1051560"/>
          </a:xfrm>
          <a:prstGeom prst="rect">
            <a:avLst/>
          </a:prstGeom>
          <a:noFill/>
          <a:ln/>
        </p:spPr>
        <p:txBody>
          <a:bodyPr wrap="square" lIns="0" tIns="0" rIns="0" bIns="0" rtlCol="0" anchor="ctr"/>
          <a:lstStyle/>
          <a:p>
            <a:pPr indent="0" marL="0">
              <a:buNone/>
            </a:pPr>
            <a:r>
              <a:rPr lang="en-US" sz="1350" dirty="0">
                <a:solidFill>
                  <a:schemeClr val="bg1"/>
                </a:solidFill>
                <a:latin typeface="Ebrima" pitchFamily="34" charset="0"/>
                <a:ea typeface="Ebrima" pitchFamily="34" charset="-122"/>
                <a:cs typeface="Ebrima" pitchFamily="34" charset="-120"/>
              </a:rPr>
              <a:t>Android app</a:t>
            </a:r>
            <a:endParaRPr lang="en-US" sz="1350" dirty="0"/>
          </a:p>
        </p:txBody>
      </p:sp>
      <p:sp>
        <p:nvSpPr>
          <p:cNvPr id="8" name="Shape 5"/>
          <p:cNvSpPr/>
          <p:nvPr/>
        </p:nvSpPr>
        <p:spPr>
          <a:xfrm>
            <a:off x="777240" y="3200400"/>
            <a:ext cx="2651760" cy="1051560"/>
          </a:xfrm>
          <a:prstGeom prst="roundRect">
            <a:avLst>
              <a:gd name="adj" fmla="val 8696"/>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914400" y="3474720"/>
            <a:ext cx="502920" cy="502920"/>
          </a:xfrm>
          <a:prstGeom prst="rect">
            <a:avLst/>
          </a:prstGeom>
        </p:spPr>
      </p:pic>
      <p:sp>
        <p:nvSpPr>
          <p:cNvPr id="10" name="Text 6"/>
          <p:cNvSpPr txBox="1"/>
          <p:nvPr/>
        </p:nvSpPr>
        <p:spPr>
          <a:xfrm>
            <a:off x="1508760" y="3200400"/>
            <a:ext cx="1828800" cy="1051560"/>
          </a:xfrm>
          <a:prstGeom prst="rect">
            <a:avLst/>
          </a:prstGeom>
          <a:noFill/>
          <a:ln/>
        </p:spPr>
        <p:txBody>
          <a:bodyPr wrap="square" lIns="0" tIns="0" rIns="0" bIns="0" rtlCol="0" anchor="ctr"/>
          <a:lstStyle/>
          <a:p>
            <a:pPr indent="0" marL="0">
              <a:buNone/>
            </a:pPr>
            <a:r>
              <a:rPr lang="en-US" sz="1350" dirty="0">
                <a:solidFill>
                  <a:schemeClr val="bg1"/>
                </a:solidFill>
                <a:latin typeface="Ebrima" pitchFamily="34" charset="0"/>
                <a:ea typeface="Ebrima" pitchFamily="34" charset="-122"/>
                <a:cs typeface="Ebrima" pitchFamily="34" charset="-120"/>
              </a:rPr>
              <a:t>Web app</a:t>
            </a:r>
            <a:endParaRPr lang="en-US" sz="1350" dirty="0"/>
          </a:p>
        </p:txBody>
      </p:sp>
      <p:sp>
        <p:nvSpPr>
          <p:cNvPr id="11" name="Shape 7"/>
          <p:cNvSpPr/>
          <p:nvPr/>
        </p:nvSpPr>
        <p:spPr>
          <a:xfrm>
            <a:off x="777240" y="4480560"/>
            <a:ext cx="2651760" cy="1051560"/>
          </a:xfrm>
          <a:prstGeom prst="roundRect">
            <a:avLst>
              <a:gd name="adj" fmla="val 8696"/>
            </a:avLst>
          </a:prstGeom>
          <a:solidFill>
            <a:schemeClr val="bg1"/>
          </a:solidFill>
          <a:ln w="15875">
            <a:solidFill>
              <a:schemeClr val="accent2"/>
            </a:solidFill>
            <a:prstDash val="solid"/>
          </a:ln>
        </p:spPr>
      </p:sp>
      <p:pic>
        <p:nvPicPr>
          <p:cNvPr id="12" name="Image 2" descr="preencoded.png">    </p:cNvPr>
          <p:cNvPicPr>
            <a:picLocks noChangeAspect="1"/>
          </p:cNvPicPr>
          <p:nvPr/>
        </p:nvPicPr>
        <p:blipFill>
          <a:blip r:embed="rId3"/>
          <a:stretch>
            <a:fillRect/>
          </a:stretch>
        </p:blipFill>
        <p:spPr>
          <a:xfrm>
            <a:off x="914400" y="4754880"/>
            <a:ext cx="502920" cy="502920"/>
          </a:xfrm>
          <a:prstGeom prst="rect">
            <a:avLst/>
          </a:prstGeom>
        </p:spPr>
      </p:pic>
      <p:sp>
        <p:nvSpPr>
          <p:cNvPr id="13" name="Text 8"/>
          <p:cNvSpPr txBox="1"/>
          <p:nvPr/>
        </p:nvSpPr>
        <p:spPr>
          <a:xfrm>
            <a:off x="1508760" y="4480560"/>
            <a:ext cx="1828800" cy="1051560"/>
          </a:xfrm>
          <a:prstGeom prst="rect">
            <a:avLst/>
          </a:prstGeom>
          <a:noFill/>
          <a:ln/>
        </p:spPr>
        <p:txBody>
          <a:bodyPr wrap="square" lIns="0" tIns="0" rIns="0" bIns="0" rtlCol="0" anchor="ctr"/>
          <a:lstStyle/>
          <a:p>
            <a:pPr indent="0" marL="0">
              <a:buNone/>
            </a:pPr>
            <a:r>
              <a:rPr lang="en-US" sz="1350" dirty="0">
                <a:solidFill>
                  <a:schemeClr val="tx1"/>
                </a:solidFill>
                <a:latin typeface="Ebrima" pitchFamily="34" charset="0"/>
                <a:ea typeface="Ebrima" pitchFamily="34" charset="-122"/>
                <a:cs typeface="Ebrima" pitchFamily="34" charset="-120"/>
              </a:rPr>
              <a:t>Local storage on the phone (offline)</a:t>
            </a:r>
            <a:endParaRPr lang="en-US" sz="1350" dirty="0"/>
          </a:p>
        </p:txBody>
      </p:sp>
      <p:sp>
        <p:nvSpPr>
          <p:cNvPr id="14" name="Shape 9"/>
          <p:cNvSpPr/>
          <p:nvPr/>
        </p:nvSpPr>
        <p:spPr>
          <a:xfrm>
            <a:off x="3703320" y="3291840"/>
            <a:ext cx="777240" cy="0"/>
          </a:xfrm>
          <a:prstGeom prst="line">
            <a:avLst/>
          </a:prstGeom>
          <a:noFill/>
          <a:ln w="25400">
            <a:solidFill>
              <a:schemeClr val="accent2"/>
            </a:solidFill>
            <a:prstDash val="solid"/>
            <a:tailEnd type="triangle"/>
          </a:ln>
        </p:spPr>
      </p:sp>
      <p:sp>
        <p:nvSpPr>
          <p:cNvPr id="15" name="Text 10"/>
          <p:cNvSpPr txBox="1"/>
          <p:nvPr/>
        </p:nvSpPr>
        <p:spPr>
          <a:xfrm>
            <a:off x="3657600" y="3383280"/>
            <a:ext cx="868680"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Ebrima" pitchFamily="34" charset="0"/>
                <a:ea typeface="Ebrima" pitchFamily="34" charset="-122"/>
                <a:cs typeface="Ebrima" pitchFamily="34" charset="-120"/>
              </a:rPr>
              <a:t>HTTPS</a:t>
            </a:r>
            <a:endParaRPr lang="en-US" sz="1100" dirty="0"/>
          </a:p>
        </p:txBody>
      </p:sp>
      <p:sp>
        <p:nvSpPr>
          <p:cNvPr id="16" name="Shape 11"/>
          <p:cNvSpPr/>
          <p:nvPr/>
        </p:nvSpPr>
        <p:spPr>
          <a:xfrm>
            <a:off x="4572000" y="1325880"/>
            <a:ext cx="3931920" cy="4526280"/>
          </a:xfrm>
          <a:prstGeom prst="roundRect">
            <a:avLst>
              <a:gd name="adj" fmla="val 2791"/>
            </a:avLst>
          </a:prstGeom>
          <a:solidFill>
            <a:schemeClr val="accent1"/>
          </a:solidFill>
          <a:ln/>
        </p:spPr>
      </p:sp>
      <p:sp>
        <p:nvSpPr>
          <p:cNvPr id="17" name="Text 12"/>
          <p:cNvSpPr txBox="1"/>
          <p:nvPr/>
        </p:nvSpPr>
        <p:spPr>
          <a:xfrm>
            <a:off x="4754880" y="1417320"/>
            <a:ext cx="3566160" cy="411480"/>
          </a:xfrm>
          <a:prstGeom prst="rect">
            <a:avLst/>
          </a:prstGeom>
          <a:noFill/>
          <a:ln/>
        </p:spPr>
        <p:txBody>
          <a:bodyPr wrap="square" lIns="0" tIns="0" rIns="0" bIns="0" rtlCol="0" anchor="t"/>
          <a:lstStyle/>
          <a:p>
            <a:pPr algn="ctr" indent="0" marL="0">
              <a:buNone/>
            </a:pPr>
            <a:r>
              <a:rPr lang="en-US" sz="1600" b="1" dirty="0">
                <a:solidFill>
                  <a:schemeClr val="accent2"/>
                </a:solidFill>
                <a:latin typeface="Ebrima" pitchFamily="34" charset="0"/>
                <a:ea typeface="Ebrima" pitchFamily="34" charset="-122"/>
                <a:cs typeface="Ebrima" pitchFamily="34" charset="-120"/>
              </a:rPr>
              <a:t>Server</a:t>
            </a:r>
            <a:endParaRPr lang="en-US" sz="1600" dirty="0"/>
          </a:p>
        </p:txBody>
      </p:sp>
      <p:sp>
        <p:nvSpPr>
          <p:cNvPr id="18" name="Shape 13"/>
          <p:cNvSpPr/>
          <p:nvPr/>
        </p:nvSpPr>
        <p:spPr>
          <a:xfrm>
            <a:off x="4800600" y="1965960"/>
            <a:ext cx="3474720" cy="804672"/>
          </a:xfrm>
          <a:prstGeom prst="roundRect">
            <a:avLst>
              <a:gd name="adj" fmla="val 9091"/>
            </a:avLst>
          </a:prstGeom>
          <a:solidFill>
            <a:schemeClr val="bg1">
              <a:alpha val="12000"/>
            </a:schemeClr>
          </a:solidFill>
          <a:ln w="9525">
            <a:solidFill>
              <a:schemeClr val="accent2"/>
            </a:solidFill>
            <a:prstDash val="solid"/>
          </a:ln>
        </p:spPr>
      </p:sp>
      <p:sp>
        <p:nvSpPr>
          <p:cNvPr id="19" name="Text 14"/>
          <p:cNvSpPr txBox="1"/>
          <p:nvPr/>
        </p:nvSpPr>
        <p:spPr>
          <a:xfrm>
            <a:off x="4937760" y="1965960"/>
            <a:ext cx="3200400" cy="804672"/>
          </a:xfrm>
          <a:prstGeom prst="rect">
            <a:avLst/>
          </a:prstGeom>
          <a:noFill/>
          <a:ln/>
        </p:spPr>
        <p:txBody>
          <a:bodyPr wrap="square" lIns="0" tIns="0" rIns="0" bIns="0" rtlCol="0" anchor="ctr"/>
          <a:lstStyle/>
          <a:p>
            <a:pPr algn="ctr" indent="0" marL="0">
              <a:buNone/>
            </a:pPr>
            <a:r>
              <a:rPr lang="en-US" sz="1300" dirty="0">
                <a:solidFill>
                  <a:schemeClr val="bg1"/>
                </a:solidFill>
                <a:latin typeface="Ebrima" pitchFamily="34" charset="0"/>
                <a:ea typeface="Ebrima" pitchFamily="34" charset="-122"/>
                <a:cs typeface="Ebrima" pitchFamily="34" charset="-120"/>
              </a:rPr>
              <a:t>Sign-in and permission checks</a:t>
            </a:r>
            <a:endParaRPr lang="en-US" sz="1300" dirty="0"/>
          </a:p>
        </p:txBody>
      </p:sp>
      <p:sp>
        <p:nvSpPr>
          <p:cNvPr id="20" name="Shape 15"/>
          <p:cNvSpPr/>
          <p:nvPr/>
        </p:nvSpPr>
        <p:spPr>
          <a:xfrm>
            <a:off x="6537960" y="2770632"/>
            <a:ext cx="0" cy="155448"/>
          </a:xfrm>
          <a:prstGeom prst="line">
            <a:avLst/>
          </a:prstGeom>
          <a:noFill/>
          <a:ln w="25400">
            <a:solidFill>
              <a:schemeClr val="accent2"/>
            </a:solidFill>
            <a:prstDash val="solid"/>
            <a:tailEnd type="triangle"/>
          </a:ln>
        </p:spPr>
      </p:sp>
      <p:sp>
        <p:nvSpPr>
          <p:cNvPr id="21" name="Shape 16"/>
          <p:cNvSpPr/>
          <p:nvPr/>
        </p:nvSpPr>
        <p:spPr>
          <a:xfrm>
            <a:off x="4800600" y="2926080"/>
            <a:ext cx="3474720" cy="804672"/>
          </a:xfrm>
          <a:prstGeom prst="roundRect">
            <a:avLst>
              <a:gd name="adj" fmla="val 9091"/>
            </a:avLst>
          </a:prstGeom>
          <a:solidFill>
            <a:schemeClr val="bg1">
              <a:alpha val="12000"/>
            </a:schemeClr>
          </a:solidFill>
          <a:ln w="9525">
            <a:solidFill>
              <a:schemeClr val="accent2"/>
            </a:solidFill>
            <a:prstDash val="solid"/>
          </a:ln>
        </p:spPr>
      </p:sp>
      <p:sp>
        <p:nvSpPr>
          <p:cNvPr id="22" name="Text 17"/>
          <p:cNvSpPr txBox="1"/>
          <p:nvPr/>
        </p:nvSpPr>
        <p:spPr>
          <a:xfrm>
            <a:off x="4937760" y="2926080"/>
            <a:ext cx="3200400" cy="804672"/>
          </a:xfrm>
          <a:prstGeom prst="rect">
            <a:avLst/>
          </a:prstGeom>
          <a:noFill/>
          <a:ln/>
        </p:spPr>
        <p:txBody>
          <a:bodyPr wrap="square" lIns="0" tIns="0" rIns="0" bIns="0" rtlCol="0" anchor="ctr"/>
          <a:lstStyle/>
          <a:p>
            <a:pPr algn="ctr" indent="0" marL="0">
              <a:buNone/>
            </a:pPr>
            <a:r>
              <a:rPr lang="en-US" sz="1300" dirty="0">
                <a:solidFill>
                  <a:schemeClr val="bg1"/>
                </a:solidFill>
                <a:latin typeface="Ebrima" pitchFamily="34" charset="0"/>
                <a:ea typeface="Ebrima" pitchFamily="34" charset="-122"/>
                <a:cs typeface="Ebrima" pitchFamily="34" charset="-120"/>
              </a:rPr>
              <a:t>Service logic — Mezmur, education, attendance, selection, contributions…</a:t>
            </a:r>
            <a:endParaRPr lang="en-US" sz="1300" dirty="0"/>
          </a:p>
        </p:txBody>
      </p:sp>
      <p:sp>
        <p:nvSpPr>
          <p:cNvPr id="23" name="Shape 18"/>
          <p:cNvSpPr/>
          <p:nvPr/>
        </p:nvSpPr>
        <p:spPr>
          <a:xfrm>
            <a:off x="6537960" y="3730752"/>
            <a:ext cx="0" cy="155448"/>
          </a:xfrm>
          <a:prstGeom prst="line">
            <a:avLst/>
          </a:prstGeom>
          <a:noFill/>
          <a:ln w="25400">
            <a:solidFill>
              <a:schemeClr val="accent2"/>
            </a:solidFill>
            <a:prstDash val="solid"/>
            <a:tailEnd type="triangle"/>
          </a:ln>
        </p:spPr>
      </p:sp>
      <p:sp>
        <p:nvSpPr>
          <p:cNvPr id="24" name="Shape 19"/>
          <p:cNvSpPr/>
          <p:nvPr/>
        </p:nvSpPr>
        <p:spPr>
          <a:xfrm>
            <a:off x="4800600" y="3886200"/>
            <a:ext cx="3474720" cy="804672"/>
          </a:xfrm>
          <a:prstGeom prst="roundRect">
            <a:avLst>
              <a:gd name="adj" fmla="val 9091"/>
            </a:avLst>
          </a:prstGeom>
          <a:solidFill>
            <a:schemeClr val="bg1">
              <a:alpha val="12000"/>
            </a:schemeClr>
          </a:solidFill>
          <a:ln w="9525">
            <a:solidFill>
              <a:schemeClr val="accent2"/>
            </a:solidFill>
            <a:prstDash val="solid"/>
          </a:ln>
        </p:spPr>
      </p:sp>
      <p:sp>
        <p:nvSpPr>
          <p:cNvPr id="25" name="Text 20"/>
          <p:cNvSpPr txBox="1"/>
          <p:nvPr/>
        </p:nvSpPr>
        <p:spPr>
          <a:xfrm>
            <a:off x="4937760" y="3886200"/>
            <a:ext cx="3200400" cy="804672"/>
          </a:xfrm>
          <a:prstGeom prst="rect">
            <a:avLst/>
          </a:prstGeom>
          <a:noFill/>
          <a:ln/>
        </p:spPr>
        <p:txBody>
          <a:bodyPr wrap="square" lIns="0" tIns="0" rIns="0" bIns="0" rtlCol="0" anchor="ctr"/>
          <a:lstStyle/>
          <a:p>
            <a:pPr algn="ctr" indent="0" marL="0">
              <a:buNone/>
            </a:pPr>
            <a:r>
              <a:rPr lang="en-US" sz="1300" dirty="0">
                <a:solidFill>
                  <a:schemeClr val="bg1"/>
                </a:solidFill>
                <a:latin typeface="Ebrima" pitchFamily="34" charset="0"/>
                <a:ea typeface="Ebrima" pitchFamily="34" charset="-122"/>
                <a:cs typeface="Ebrima" pitchFamily="34" charset="-120"/>
              </a:rPr>
              <a:t>Background jobs — reminders, fines, cleanup</a:t>
            </a:r>
            <a:endParaRPr lang="en-US" sz="1300" dirty="0"/>
          </a:p>
        </p:txBody>
      </p:sp>
      <p:sp>
        <p:nvSpPr>
          <p:cNvPr id="26" name="Shape 21"/>
          <p:cNvSpPr/>
          <p:nvPr/>
        </p:nvSpPr>
        <p:spPr>
          <a:xfrm>
            <a:off x="6537960" y="4736592"/>
            <a:ext cx="0" cy="155448"/>
          </a:xfrm>
          <a:prstGeom prst="line">
            <a:avLst/>
          </a:prstGeom>
          <a:noFill/>
          <a:ln w="25400">
            <a:solidFill>
              <a:schemeClr val="accent2"/>
            </a:solidFill>
            <a:prstDash val="solid"/>
            <a:tailEnd type="triangle"/>
          </a:ln>
        </p:spPr>
      </p:sp>
      <p:sp>
        <p:nvSpPr>
          <p:cNvPr id="27" name="Shape 22"/>
          <p:cNvSpPr/>
          <p:nvPr/>
        </p:nvSpPr>
        <p:spPr>
          <a:xfrm>
            <a:off x="4800600" y="4919472"/>
            <a:ext cx="1664208" cy="777240"/>
          </a:xfrm>
          <a:prstGeom prst="roundRect">
            <a:avLst>
              <a:gd name="adj" fmla="val 9412"/>
            </a:avLst>
          </a:prstGeom>
          <a:solidFill>
            <a:schemeClr val="accent2"/>
          </a:solidFill>
          <a:ln/>
        </p:spPr>
      </p:sp>
      <p:sp>
        <p:nvSpPr>
          <p:cNvPr id="28" name="Text 23"/>
          <p:cNvSpPr txBox="1"/>
          <p:nvPr/>
        </p:nvSpPr>
        <p:spPr>
          <a:xfrm>
            <a:off x="4800600" y="4919472"/>
            <a:ext cx="1664208" cy="777240"/>
          </a:xfrm>
          <a:prstGeom prst="rect">
            <a:avLst/>
          </a:prstGeom>
          <a:noFill/>
          <a:ln/>
        </p:spPr>
        <p:txBody>
          <a:bodyPr wrap="square" lIns="0" tIns="0" rIns="0" bIns="0" rtlCol="0" anchor="ctr"/>
          <a:lstStyle/>
          <a:p>
            <a:pPr algn="ctr" indent="0" marL="0">
              <a:buNone/>
            </a:pPr>
            <a:r>
              <a:rPr lang="en-US" sz="1350" b="1" dirty="0">
                <a:solidFill>
                  <a:schemeClr val="bg1"/>
                </a:solidFill>
                <a:latin typeface="Ebrima" pitchFamily="34" charset="0"/>
                <a:ea typeface="Ebrima" pitchFamily="34" charset="-122"/>
                <a:cs typeface="Ebrima" pitchFamily="34" charset="-120"/>
              </a:rPr>
              <a:t>Database</a:t>
            </a:r>
            <a:endParaRPr lang="en-US" sz="1350" dirty="0"/>
          </a:p>
        </p:txBody>
      </p:sp>
      <p:sp>
        <p:nvSpPr>
          <p:cNvPr id="29" name="Shape 24"/>
          <p:cNvSpPr/>
          <p:nvPr/>
        </p:nvSpPr>
        <p:spPr>
          <a:xfrm>
            <a:off x="6611112" y="4919472"/>
            <a:ext cx="1664208" cy="777240"/>
          </a:xfrm>
          <a:prstGeom prst="roundRect">
            <a:avLst>
              <a:gd name="adj" fmla="val 9412"/>
            </a:avLst>
          </a:prstGeom>
          <a:solidFill>
            <a:schemeClr val="accent2"/>
          </a:solidFill>
          <a:ln/>
        </p:spPr>
      </p:sp>
      <p:sp>
        <p:nvSpPr>
          <p:cNvPr id="30" name="Text 25"/>
          <p:cNvSpPr txBox="1"/>
          <p:nvPr/>
        </p:nvSpPr>
        <p:spPr>
          <a:xfrm>
            <a:off x="6611112" y="4919472"/>
            <a:ext cx="1664208" cy="777240"/>
          </a:xfrm>
          <a:prstGeom prst="rect">
            <a:avLst/>
          </a:prstGeom>
          <a:noFill/>
          <a:ln/>
        </p:spPr>
        <p:txBody>
          <a:bodyPr wrap="square" lIns="0" tIns="0" rIns="0" bIns="0" rtlCol="0" anchor="ctr"/>
          <a:lstStyle/>
          <a:p>
            <a:pPr algn="ctr" indent="0" marL="0">
              <a:buNone/>
            </a:pPr>
            <a:r>
              <a:rPr lang="en-US" sz="1350" b="1" dirty="0">
                <a:solidFill>
                  <a:schemeClr val="bg1"/>
                </a:solidFill>
                <a:latin typeface="Ebrima" pitchFamily="34" charset="0"/>
                <a:ea typeface="Ebrima" pitchFamily="34" charset="-122"/>
                <a:cs typeface="Ebrima" pitchFamily="34" charset="-120"/>
              </a:rPr>
              <a:t>File storage</a:t>
            </a:r>
            <a:endParaRPr lang="en-US" sz="1350" dirty="0"/>
          </a:p>
        </p:txBody>
      </p:sp>
      <p:sp>
        <p:nvSpPr>
          <p:cNvPr id="31" name="Shape 26"/>
          <p:cNvSpPr/>
          <p:nvPr/>
        </p:nvSpPr>
        <p:spPr>
          <a:xfrm>
            <a:off x="8549640" y="3291840"/>
            <a:ext cx="685800" cy="0"/>
          </a:xfrm>
          <a:prstGeom prst="line">
            <a:avLst/>
          </a:prstGeom>
          <a:noFill/>
          <a:ln w="25400">
            <a:solidFill>
              <a:schemeClr val="accent2"/>
            </a:solidFill>
            <a:prstDash val="solid"/>
            <a:tailEnd type="triangle"/>
          </a:ln>
        </p:spPr>
      </p:sp>
      <p:sp>
        <p:nvSpPr>
          <p:cNvPr id="32" name="Shape 27"/>
          <p:cNvSpPr/>
          <p:nvPr/>
        </p:nvSpPr>
        <p:spPr>
          <a:xfrm>
            <a:off x="9281160" y="1325880"/>
            <a:ext cx="2377440" cy="4526280"/>
          </a:xfrm>
          <a:prstGeom prst="roundRect">
            <a:avLst>
              <a:gd name="adj" fmla="val 4615"/>
            </a:avLst>
          </a:prstGeom>
          <a:solidFill>
            <a:schemeClr val="bg2">
              <a:alpha val="60000"/>
            </a:schemeClr>
          </a:solidFill>
          <a:ln/>
        </p:spPr>
      </p:sp>
      <p:sp>
        <p:nvSpPr>
          <p:cNvPr id="33" name="Text 28"/>
          <p:cNvSpPr txBox="1"/>
          <p:nvPr/>
        </p:nvSpPr>
        <p:spPr>
          <a:xfrm>
            <a:off x="9372600" y="1417320"/>
            <a:ext cx="2194560" cy="640080"/>
          </a:xfrm>
          <a:prstGeom prst="rect">
            <a:avLst/>
          </a:prstGeom>
          <a:noFill/>
          <a:ln/>
        </p:spPr>
        <p:txBody>
          <a:bodyPr wrap="square" lIns="0" tIns="0" rIns="0" bIns="0" rtlCol="0" anchor="t"/>
          <a:lstStyle/>
          <a:p>
            <a:pPr algn="ctr" indent="0" marL="0">
              <a:buNone/>
            </a:pPr>
            <a:r>
              <a:rPr lang="en-US" sz="1500" b="1" dirty="0">
                <a:solidFill>
                  <a:schemeClr val="accent1"/>
                </a:solidFill>
                <a:latin typeface="Ebrima" pitchFamily="34" charset="0"/>
                <a:ea typeface="Ebrima" pitchFamily="34" charset="-122"/>
                <a:cs typeface="Ebrima" pitchFamily="34" charset="-120"/>
              </a:rPr>
              <a:t>External services</a:t>
            </a:r>
            <a:endParaRPr lang="en-US" sz="1500" dirty="0"/>
          </a:p>
        </p:txBody>
      </p:sp>
      <p:sp>
        <p:nvSpPr>
          <p:cNvPr id="34" name="Shape 29"/>
          <p:cNvSpPr/>
          <p:nvPr/>
        </p:nvSpPr>
        <p:spPr>
          <a:xfrm>
            <a:off x="10104120" y="2194560"/>
            <a:ext cx="640080" cy="640080"/>
          </a:xfrm>
          <a:prstGeom prst="ellipse">
            <a:avLst/>
          </a:prstGeom>
          <a:solidFill>
            <a:schemeClr val="accent1"/>
          </a:solidFill>
          <a:ln/>
        </p:spPr>
      </p:sp>
      <p:pic>
        <p:nvPicPr>
          <p:cNvPr id="35" name="Image 3" descr="preencoded.png">    </p:cNvPr>
          <p:cNvPicPr>
            <a:picLocks noChangeAspect="1"/>
          </p:cNvPicPr>
          <p:nvPr/>
        </p:nvPicPr>
        <p:blipFill>
          <a:blip r:embed="rId4"/>
          <a:stretch>
            <a:fillRect/>
          </a:stretch>
        </p:blipFill>
        <p:spPr>
          <a:xfrm>
            <a:off x="10257739" y="2348179"/>
            <a:ext cx="332842" cy="332842"/>
          </a:xfrm>
          <a:prstGeom prst="rect">
            <a:avLst/>
          </a:prstGeom>
        </p:spPr>
      </p:pic>
      <p:sp>
        <p:nvSpPr>
          <p:cNvPr id="36" name="Text 30"/>
          <p:cNvSpPr txBox="1"/>
          <p:nvPr/>
        </p:nvSpPr>
        <p:spPr>
          <a:xfrm>
            <a:off x="9372600" y="2880360"/>
            <a:ext cx="2194560" cy="365760"/>
          </a:xfrm>
          <a:prstGeom prst="rect">
            <a:avLst/>
          </a:prstGeom>
          <a:noFill/>
          <a:ln/>
        </p:spPr>
        <p:txBody>
          <a:bodyPr wrap="square" lIns="0" tIns="0" rIns="0" bIns="0" rtlCol="0" anchor="t"/>
          <a:lstStyle/>
          <a:p>
            <a:pPr algn="ctr" indent="0" marL="0">
              <a:buNone/>
            </a:pPr>
            <a:r>
              <a:rPr lang="en-US" sz="1300" dirty="0">
                <a:solidFill>
                  <a:schemeClr val="tx1"/>
                </a:solidFill>
                <a:latin typeface="Ebrima" pitchFamily="34" charset="0"/>
                <a:ea typeface="Ebrima" pitchFamily="34" charset="-122"/>
                <a:cs typeface="Ebrima" pitchFamily="34" charset="-120"/>
              </a:rPr>
              <a:t>Firebase (Push)</a:t>
            </a:r>
            <a:endParaRPr lang="en-US" sz="1300" dirty="0"/>
          </a:p>
        </p:txBody>
      </p:sp>
      <p:sp>
        <p:nvSpPr>
          <p:cNvPr id="37" name="Shape 31"/>
          <p:cNvSpPr/>
          <p:nvPr/>
        </p:nvSpPr>
        <p:spPr>
          <a:xfrm>
            <a:off x="10104120" y="3474720"/>
            <a:ext cx="640080" cy="640080"/>
          </a:xfrm>
          <a:prstGeom prst="ellipse">
            <a:avLst/>
          </a:prstGeom>
          <a:solidFill>
            <a:schemeClr val="accent1"/>
          </a:solidFill>
          <a:ln/>
        </p:spPr>
      </p:sp>
      <p:pic>
        <p:nvPicPr>
          <p:cNvPr id="38" name="Image 4" descr="preencoded.png">    </p:cNvPr>
          <p:cNvPicPr>
            <a:picLocks noChangeAspect="1"/>
          </p:cNvPicPr>
          <p:nvPr/>
        </p:nvPicPr>
        <p:blipFill>
          <a:blip r:embed="rId5"/>
          <a:stretch>
            <a:fillRect/>
          </a:stretch>
        </p:blipFill>
        <p:spPr>
          <a:xfrm>
            <a:off x="10257739" y="3628339"/>
            <a:ext cx="332842" cy="332842"/>
          </a:xfrm>
          <a:prstGeom prst="rect">
            <a:avLst/>
          </a:prstGeom>
        </p:spPr>
      </p:pic>
      <p:sp>
        <p:nvSpPr>
          <p:cNvPr id="39" name="Text 32"/>
          <p:cNvSpPr txBox="1"/>
          <p:nvPr/>
        </p:nvSpPr>
        <p:spPr>
          <a:xfrm>
            <a:off x="9372600" y="4160520"/>
            <a:ext cx="2194560" cy="365760"/>
          </a:xfrm>
          <a:prstGeom prst="rect">
            <a:avLst/>
          </a:prstGeom>
          <a:noFill/>
          <a:ln/>
        </p:spPr>
        <p:txBody>
          <a:bodyPr wrap="square" lIns="0" tIns="0" rIns="0" bIns="0" rtlCol="0" anchor="t"/>
          <a:lstStyle/>
          <a:p>
            <a:pPr algn="ctr" indent="0" marL="0">
              <a:buNone/>
            </a:pPr>
            <a:r>
              <a:rPr lang="en-US" sz="1300" dirty="0">
                <a:solidFill>
                  <a:schemeClr val="tx1"/>
                </a:solidFill>
                <a:latin typeface="Ebrima" pitchFamily="34" charset="0"/>
                <a:ea typeface="Ebrima" pitchFamily="34" charset="-122"/>
                <a:cs typeface="Ebrima" pitchFamily="34" charset="-120"/>
              </a:rPr>
              <a:t>Email</a:t>
            </a:r>
            <a:endParaRPr lang="en-US" sz="1300" dirty="0"/>
          </a:p>
        </p:txBody>
      </p:sp>
      <p:sp>
        <p:nvSpPr>
          <p:cNvPr id="40" name="Shape 33"/>
          <p:cNvSpPr/>
          <p:nvPr/>
        </p:nvSpPr>
        <p:spPr>
          <a:xfrm>
            <a:off x="10104120" y="4754880"/>
            <a:ext cx="640080" cy="640080"/>
          </a:xfrm>
          <a:prstGeom prst="ellipse">
            <a:avLst/>
          </a:prstGeom>
          <a:solidFill>
            <a:schemeClr val="accent1"/>
          </a:solidFill>
          <a:ln/>
        </p:spPr>
      </p:sp>
      <p:pic>
        <p:nvPicPr>
          <p:cNvPr id="41" name="Image 5" descr="preencoded.png">    </p:cNvPr>
          <p:cNvPicPr>
            <a:picLocks noChangeAspect="1"/>
          </p:cNvPicPr>
          <p:nvPr/>
        </p:nvPicPr>
        <p:blipFill>
          <a:blip r:embed="rId6"/>
          <a:stretch>
            <a:fillRect/>
          </a:stretch>
        </p:blipFill>
        <p:spPr>
          <a:xfrm>
            <a:off x="10257739" y="4908499"/>
            <a:ext cx="332842" cy="332842"/>
          </a:xfrm>
          <a:prstGeom prst="rect">
            <a:avLst/>
          </a:prstGeom>
        </p:spPr>
      </p:pic>
      <p:sp>
        <p:nvSpPr>
          <p:cNvPr id="42" name="Text 34"/>
          <p:cNvSpPr txBox="1"/>
          <p:nvPr/>
        </p:nvSpPr>
        <p:spPr>
          <a:xfrm>
            <a:off x="9372600" y="5440680"/>
            <a:ext cx="2194560" cy="365760"/>
          </a:xfrm>
          <a:prstGeom prst="rect">
            <a:avLst/>
          </a:prstGeom>
          <a:noFill/>
          <a:ln/>
        </p:spPr>
        <p:txBody>
          <a:bodyPr wrap="square" lIns="0" tIns="0" rIns="0" bIns="0" rtlCol="0" anchor="t"/>
          <a:lstStyle/>
          <a:p>
            <a:pPr algn="ctr" indent="0" marL="0">
              <a:buNone/>
            </a:pPr>
            <a:r>
              <a:rPr lang="en-US" sz="1300" dirty="0">
                <a:solidFill>
                  <a:schemeClr val="tx1"/>
                </a:solidFill>
                <a:latin typeface="Ebrima" pitchFamily="34" charset="0"/>
                <a:ea typeface="Ebrima" pitchFamily="34" charset="-122"/>
                <a:cs typeface="Ebrima" pitchFamily="34" charset="-120"/>
              </a:rPr>
              <a:t>Telegram</a:t>
            </a:r>
            <a:endParaRPr lang="en-US" sz="1300" dirty="0"/>
          </a:p>
        </p:txBody>
      </p:sp>
      <p:sp>
        <p:nvSpPr>
          <p:cNvPr id="43" name="Text 35"/>
          <p:cNvSpPr txBox="1"/>
          <p:nvPr/>
        </p:nvSpPr>
        <p:spPr>
          <a:xfrm>
            <a:off x="548640" y="6016752"/>
            <a:ext cx="11064240" cy="274320"/>
          </a:xfrm>
          <a:prstGeom prst="rect">
            <a:avLst/>
          </a:prstGeom>
          <a:noFill/>
          <a:ln/>
        </p:spPr>
        <p:txBody>
          <a:bodyPr wrap="square" lIns="0" tIns="0" rIns="0" bIns="0" rtlCol="0" anchor="t"/>
          <a:lstStyle/>
          <a:p>
            <a:pPr indent="0" marL="0">
              <a:buNone/>
            </a:pPr>
            <a:r>
              <a:rPr lang="en-US" sz="1100" dirty="0">
                <a:solidFill>
                  <a:schemeClr val="accent4"/>
                </a:solidFill>
                <a:latin typeface="Ebrima" pitchFamily="34" charset="0"/>
                <a:ea typeface="Ebrima" pitchFamily="34" charset="-122"/>
                <a:cs typeface="Ebrima" pitchFamily="34" charset="-120"/>
              </a:rPr>
              <a:t>Technologies: Flutter (app) · Laravel 12 / PHP (server) · MariaDB/MySQL (database)</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Ethiopian Calendar and Language</a:t>
            </a:r>
            <a:endParaRPr lang="en-US" sz="3400" dirty="0"/>
          </a:p>
        </p:txBody>
      </p:sp>
      <p:sp>
        <p:nvSpPr>
          <p:cNvPr id="3" name="Shape 1"/>
          <p:cNvSpPr/>
          <p:nvPr/>
        </p:nvSpPr>
        <p:spPr>
          <a:xfrm>
            <a:off x="548640" y="1371600"/>
            <a:ext cx="1353312" cy="868680"/>
          </a:xfrm>
          <a:prstGeom prst="roundRect">
            <a:avLst>
              <a:gd name="adj" fmla="val 10526"/>
            </a:avLst>
          </a:prstGeom>
          <a:solidFill>
            <a:schemeClr val="accent1"/>
          </a:solidFill>
          <a:ln/>
        </p:spPr>
      </p:sp>
      <p:sp>
        <p:nvSpPr>
          <p:cNvPr id="4" name="Text 2"/>
          <p:cNvSpPr txBox="1"/>
          <p:nvPr/>
        </p:nvSpPr>
        <p:spPr>
          <a:xfrm>
            <a:off x="640080" y="142646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1</a:t>
            </a:r>
            <a:endParaRPr lang="en-US" sz="1100" dirty="0"/>
          </a:p>
        </p:txBody>
      </p:sp>
      <p:sp>
        <p:nvSpPr>
          <p:cNvPr id="5" name="Text 3"/>
          <p:cNvSpPr txBox="1"/>
          <p:nvPr/>
        </p:nvSpPr>
        <p:spPr>
          <a:xfrm>
            <a:off x="548640" y="164592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Meskerem</a:t>
            </a:r>
            <a:endParaRPr lang="en-US" sz="1500" dirty="0"/>
          </a:p>
        </p:txBody>
      </p:sp>
      <p:sp>
        <p:nvSpPr>
          <p:cNvPr id="6" name="Shape 4"/>
          <p:cNvSpPr/>
          <p:nvPr/>
        </p:nvSpPr>
        <p:spPr>
          <a:xfrm>
            <a:off x="2029968" y="1371600"/>
            <a:ext cx="1353312" cy="868680"/>
          </a:xfrm>
          <a:prstGeom prst="roundRect">
            <a:avLst>
              <a:gd name="adj" fmla="val 10526"/>
            </a:avLst>
          </a:prstGeom>
          <a:solidFill>
            <a:schemeClr val="accent1">
              <a:alpha val="85000"/>
            </a:schemeClr>
          </a:solidFill>
          <a:ln/>
        </p:spPr>
      </p:sp>
      <p:sp>
        <p:nvSpPr>
          <p:cNvPr id="7" name="Text 5"/>
          <p:cNvSpPr txBox="1"/>
          <p:nvPr/>
        </p:nvSpPr>
        <p:spPr>
          <a:xfrm>
            <a:off x="2121408" y="142646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2</a:t>
            </a:r>
            <a:endParaRPr lang="en-US" sz="1100" dirty="0"/>
          </a:p>
        </p:txBody>
      </p:sp>
      <p:sp>
        <p:nvSpPr>
          <p:cNvPr id="8" name="Text 6"/>
          <p:cNvSpPr txBox="1"/>
          <p:nvPr/>
        </p:nvSpPr>
        <p:spPr>
          <a:xfrm>
            <a:off x="2029968" y="164592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Tikimt</a:t>
            </a:r>
            <a:endParaRPr lang="en-US" sz="1500" dirty="0"/>
          </a:p>
        </p:txBody>
      </p:sp>
      <p:sp>
        <p:nvSpPr>
          <p:cNvPr id="9" name="Shape 7"/>
          <p:cNvSpPr/>
          <p:nvPr/>
        </p:nvSpPr>
        <p:spPr>
          <a:xfrm>
            <a:off x="3511296" y="1371600"/>
            <a:ext cx="1353312" cy="868680"/>
          </a:xfrm>
          <a:prstGeom prst="roundRect">
            <a:avLst>
              <a:gd name="adj" fmla="val 10526"/>
            </a:avLst>
          </a:prstGeom>
          <a:solidFill>
            <a:schemeClr val="accent1"/>
          </a:solidFill>
          <a:ln/>
        </p:spPr>
      </p:sp>
      <p:sp>
        <p:nvSpPr>
          <p:cNvPr id="10" name="Text 8"/>
          <p:cNvSpPr txBox="1"/>
          <p:nvPr/>
        </p:nvSpPr>
        <p:spPr>
          <a:xfrm>
            <a:off x="3602736" y="142646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3</a:t>
            </a:r>
            <a:endParaRPr lang="en-US" sz="1100" dirty="0"/>
          </a:p>
        </p:txBody>
      </p:sp>
      <p:sp>
        <p:nvSpPr>
          <p:cNvPr id="11" name="Text 9"/>
          <p:cNvSpPr txBox="1"/>
          <p:nvPr/>
        </p:nvSpPr>
        <p:spPr>
          <a:xfrm>
            <a:off x="3511296" y="164592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Hidar</a:t>
            </a:r>
            <a:endParaRPr lang="en-US" sz="1500" dirty="0"/>
          </a:p>
        </p:txBody>
      </p:sp>
      <p:sp>
        <p:nvSpPr>
          <p:cNvPr id="12" name="Shape 10"/>
          <p:cNvSpPr/>
          <p:nvPr/>
        </p:nvSpPr>
        <p:spPr>
          <a:xfrm>
            <a:off x="4992624" y="1371600"/>
            <a:ext cx="1353312" cy="868680"/>
          </a:xfrm>
          <a:prstGeom prst="roundRect">
            <a:avLst>
              <a:gd name="adj" fmla="val 10526"/>
            </a:avLst>
          </a:prstGeom>
          <a:solidFill>
            <a:schemeClr val="accent1">
              <a:alpha val="85000"/>
            </a:schemeClr>
          </a:solidFill>
          <a:ln/>
        </p:spPr>
      </p:sp>
      <p:sp>
        <p:nvSpPr>
          <p:cNvPr id="13" name="Text 11"/>
          <p:cNvSpPr txBox="1"/>
          <p:nvPr/>
        </p:nvSpPr>
        <p:spPr>
          <a:xfrm>
            <a:off x="5084064" y="142646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4</a:t>
            </a:r>
            <a:endParaRPr lang="en-US" sz="1100" dirty="0"/>
          </a:p>
        </p:txBody>
      </p:sp>
      <p:sp>
        <p:nvSpPr>
          <p:cNvPr id="14" name="Text 12"/>
          <p:cNvSpPr txBox="1"/>
          <p:nvPr/>
        </p:nvSpPr>
        <p:spPr>
          <a:xfrm>
            <a:off x="4992624" y="164592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Tahsas</a:t>
            </a:r>
            <a:endParaRPr lang="en-US" sz="1500" dirty="0"/>
          </a:p>
        </p:txBody>
      </p:sp>
      <p:sp>
        <p:nvSpPr>
          <p:cNvPr id="15" name="Shape 13"/>
          <p:cNvSpPr/>
          <p:nvPr/>
        </p:nvSpPr>
        <p:spPr>
          <a:xfrm>
            <a:off x="548640" y="2377440"/>
            <a:ext cx="1353312" cy="868680"/>
          </a:xfrm>
          <a:prstGeom prst="roundRect">
            <a:avLst>
              <a:gd name="adj" fmla="val 10526"/>
            </a:avLst>
          </a:prstGeom>
          <a:solidFill>
            <a:schemeClr val="accent1"/>
          </a:solidFill>
          <a:ln/>
        </p:spPr>
      </p:sp>
      <p:sp>
        <p:nvSpPr>
          <p:cNvPr id="16" name="Text 14"/>
          <p:cNvSpPr txBox="1"/>
          <p:nvPr/>
        </p:nvSpPr>
        <p:spPr>
          <a:xfrm>
            <a:off x="640080" y="243230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5</a:t>
            </a:r>
            <a:endParaRPr lang="en-US" sz="1100" dirty="0"/>
          </a:p>
        </p:txBody>
      </p:sp>
      <p:sp>
        <p:nvSpPr>
          <p:cNvPr id="17" name="Text 15"/>
          <p:cNvSpPr txBox="1"/>
          <p:nvPr/>
        </p:nvSpPr>
        <p:spPr>
          <a:xfrm>
            <a:off x="548640" y="265176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Tir</a:t>
            </a:r>
            <a:endParaRPr lang="en-US" sz="1500" dirty="0"/>
          </a:p>
        </p:txBody>
      </p:sp>
      <p:sp>
        <p:nvSpPr>
          <p:cNvPr id="18" name="Shape 16"/>
          <p:cNvSpPr/>
          <p:nvPr/>
        </p:nvSpPr>
        <p:spPr>
          <a:xfrm>
            <a:off x="2029968" y="2377440"/>
            <a:ext cx="1353312" cy="868680"/>
          </a:xfrm>
          <a:prstGeom prst="roundRect">
            <a:avLst>
              <a:gd name="adj" fmla="val 10526"/>
            </a:avLst>
          </a:prstGeom>
          <a:solidFill>
            <a:schemeClr val="accent1">
              <a:alpha val="85000"/>
            </a:schemeClr>
          </a:solidFill>
          <a:ln/>
        </p:spPr>
      </p:sp>
      <p:sp>
        <p:nvSpPr>
          <p:cNvPr id="19" name="Text 17"/>
          <p:cNvSpPr txBox="1"/>
          <p:nvPr/>
        </p:nvSpPr>
        <p:spPr>
          <a:xfrm>
            <a:off x="2121408" y="243230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6</a:t>
            </a:r>
            <a:endParaRPr lang="en-US" sz="1100" dirty="0"/>
          </a:p>
        </p:txBody>
      </p:sp>
      <p:sp>
        <p:nvSpPr>
          <p:cNvPr id="20" name="Text 18"/>
          <p:cNvSpPr txBox="1"/>
          <p:nvPr/>
        </p:nvSpPr>
        <p:spPr>
          <a:xfrm>
            <a:off x="2029968" y="265176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Yekatit</a:t>
            </a:r>
            <a:endParaRPr lang="en-US" sz="1500" dirty="0"/>
          </a:p>
        </p:txBody>
      </p:sp>
      <p:sp>
        <p:nvSpPr>
          <p:cNvPr id="21" name="Shape 19"/>
          <p:cNvSpPr/>
          <p:nvPr/>
        </p:nvSpPr>
        <p:spPr>
          <a:xfrm>
            <a:off x="3511296" y="2377440"/>
            <a:ext cx="1353312" cy="868680"/>
          </a:xfrm>
          <a:prstGeom prst="roundRect">
            <a:avLst>
              <a:gd name="adj" fmla="val 10526"/>
            </a:avLst>
          </a:prstGeom>
          <a:solidFill>
            <a:schemeClr val="accent1"/>
          </a:solidFill>
          <a:ln/>
        </p:spPr>
      </p:sp>
      <p:sp>
        <p:nvSpPr>
          <p:cNvPr id="22" name="Text 20"/>
          <p:cNvSpPr txBox="1"/>
          <p:nvPr/>
        </p:nvSpPr>
        <p:spPr>
          <a:xfrm>
            <a:off x="3602736" y="243230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7</a:t>
            </a:r>
            <a:endParaRPr lang="en-US" sz="1100" dirty="0"/>
          </a:p>
        </p:txBody>
      </p:sp>
      <p:sp>
        <p:nvSpPr>
          <p:cNvPr id="23" name="Text 21"/>
          <p:cNvSpPr txBox="1"/>
          <p:nvPr/>
        </p:nvSpPr>
        <p:spPr>
          <a:xfrm>
            <a:off x="3511296" y="265176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Megabit</a:t>
            </a:r>
            <a:endParaRPr lang="en-US" sz="1500" dirty="0"/>
          </a:p>
        </p:txBody>
      </p:sp>
      <p:sp>
        <p:nvSpPr>
          <p:cNvPr id="24" name="Shape 22"/>
          <p:cNvSpPr/>
          <p:nvPr/>
        </p:nvSpPr>
        <p:spPr>
          <a:xfrm>
            <a:off x="4992624" y="2377440"/>
            <a:ext cx="1353312" cy="868680"/>
          </a:xfrm>
          <a:prstGeom prst="roundRect">
            <a:avLst>
              <a:gd name="adj" fmla="val 10526"/>
            </a:avLst>
          </a:prstGeom>
          <a:solidFill>
            <a:schemeClr val="accent1">
              <a:alpha val="85000"/>
            </a:schemeClr>
          </a:solidFill>
          <a:ln/>
        </p:spPr>
      </p:sp>
      <p:sp>
        <p:nvSpPr>
          <p:cNvPr id="25" name="Text 23"/>
          <p:cNvSpPr txBox="1"/>
          <p:nvPr/>
        </p:nvSpPr>
        <p:spPr>
          <a:xfrm>
            <a:off x="5084064" y="243230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8</a:t>
            </a:r>
            <a:endParaRPr lang="en-US" sz="1100" dirty="0"/>
          </a:p>
        </p:txBody>
      </p:sp>
      <p:sp>
        <p:nvSpPr>
          <p:cNvPr id="26" name="Text 24"/>
          <p:cNvSpPr txBox="1"/>
          <p:nvPr/>
        </p:nvSpPr>
        <p:spPr>
          <a:xfrm>
            <a:off x="4992624" y="265176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Miyazya</a:t>
            </a:r>
            <a:endParaRPr lang="en-US" sz="1500" dirty="0"/>
          </a:p>
        </p:txBody>
      </p:sp>
      <p:sp>
        <p:nvSpPr>
          <p:cNvPr id="27" name="Shape 25"/>
          <p:cNvSpPr/>
          <p:nvPr/>
        </p:nvSpPr>
        <p:spPr>
          <a:xfrm>
            <a:off x="548640" y="3383280"/>
            <a:ext cx="1353312" cy="868680"/>
          </a:xfrm>
          <a:prstGeom prst="roundRect">
            <a:avLst>
              <a:gd name="adj" fmla="val 10526"/>
            </a:avLst>
          </a:prstGeom>
          <a:solidFill>
            <a:schemeClr val="accent1"/>
          </a:solidFill>
          <a:ln/>
        </p:spPr>
      </p:sp>
      <p:sp>
        <p:nvSpPr>
          <p:cNvPr id="28" name="Text 26"/>
          <p:cNvSpPr txBox="1"/>
          <p:nvPr/>
        </p:nvSpPr>
        <p:spPr>
          <a:xfrm>
            <a:off x="640080" y="343814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9</a:t>
            </a:r>
            <a:endParaRPr lang="en-US" sz="1100" dirty="0"/>
          </a:p>
        </p:txBody>
      </p:sp>
      <p:sp>
        <p:nvSpPr>
          <p:cNvPr id="29" name="Text 27"/>
          <p:cNvSpPr txBox="1"/>
          <p:nvPr/>
        </p:nvSpPr>
        <p:spPr>
          <a:xfrm>
            <a:off x="548640" y="365760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Ginbot</a:t>
            </a:r>
            <a:endParaRPr lang="en-US" sz="1500" dirty="0"/>
          </a:p>
        </p:txBody>
      </p:sp>
      <p:sp>
        <p:nvSpPr>
          <p:cNvPr id="30" name="Shape 28"/>
          <p:cNvSpPr/>
          <p:nvPr/>
        </p:nvSpPr>
        <p:spPr>
          <a:xfrm>
            <a:off x="2029968" y="3383280"/>
            <a:ext cx="1353312" cy="868680"/>
          </a:xfrm>
          <a:prstGeom prst="roundRect">
            <a:avLst>
              <a:gd name="adj" fmla="val 10526"/>
            </a:avLst>
          </a:prstGeom>
          <a:solidFill>
            <a:schemeClr val="accent1">
              <a:alpha val="85000"/>
            </a:schemeClr>
          </a:solidFill>
          <a:ln/>
        </p:spPr>
      </p:sp>
      <p:sp>
        <p:nvSpPr>
          <p:cNvPr id="31" name="Text 29"/>
          <p:cNvSpPr txBox="1"/>
          <p:nvPr/>
        </p:nvSpPr>
        <p:spPr>
          <a:xfrm>
            <a:off x="2121408" y="343814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10</a:t>
            </a:r>
            <a:endParaRPr lang="en-US" sz="1100" dirty="0"/>
          </a:p>
        </p:txBody>
      </p:sp>
      <p:sp>
        <p:nvSpPr>
          <p:cNvPr id="32" name="Text 30"/>
          <p:cNvSpPr txBox="1"/>
          <p:nvPr/>
        </p:nvSpPr>
        <p:spPr>
          <a:xfrm>
            <a:off x="2029968" y="365760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Sene</a:t>
            </a:r>
            <a:endParaRPr lang="en-US" sz="1500" dirty="0"/>
          </a:p>
        </p:txBody>
      </p:sp>
      <p:sp>
        <p:nvSpPr>
          <p:cNvPr id="33" name="Shape 31"/>
          <p:cNvSpPr/>
          <p:nvPr/>
        </p:nvSpPr>
        <p:spPr>
          <a:xfrm>
            <a:off x="3511296" y="3383280"/>
            <a:ext cx="1353312" cy="868680"/>
          </a:xfrm>
          <a:prstGeom prst="roundRect">
            <a:avLst>
              <a:gd name="adj" fmla="val 10526"/>
            </a:avLst>
          </a:prstGeom>
          <a:solidFill>
            <a:schemeClr val="accent1"/>
          </a:solidFill>
          <a:ln/>
        </p:spPr>
      </p:sp>
      <p:sp>
        <p:nvSpPr>
          <p:cNvPr id="34" name="Text 32"/>
          <p:cNvSpPr txBox="1"/>
          <p:nvPr/>
        </p:nvSpPr>
        <p:spPr>
          <a:xfrm>
            <a:off x="3602736" y="343814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11</a:t>
            </a:r>
            <a:endParaRPr lang="en-US" sz="1100" dirty="0"/>
          </a:p>
        </p:txBody>
      </p:sp>
      <p:sp>
        <p:nvSpPr>
          <p:cNvPr id="35" name="Text 33"/>
          <p:cNvSpPr txBox="1"/>
          <p:nvPr/>
        </p:nvSpPr>
        <p:spPr>
          <a:xfrm>
            <a:off x="3511296" y="365760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Hamle</a:t>
            </a:r>
            <a:endParaRPr lang="en-US" sz="1500" dirty="0"/>
          </a:p>
        </p:txBody>
      </p:sp>
      <p:sp>
        <p:nvSpPr>
          <p:cNvPr id="36" name="Shape 34"/>
          <p:cNvSpPr/>
          <p:nvPr/>
        </p:nvSpPr>
        <p:spPr>
          <a:xfrm>
            <a:off x="4992624" y="3383280"/>
            <a:ext cx="1353312" cy="868680"/>
          </a:xfrm>
          <a:prstGeom prst="roundRect">
            <a:avLst>
              <a:gd name="adj" fmla="val 10526"/>
            </a:avLst>
          </a:prstGeom>
          <a:solidFill>
            <a:schemeClr val="accent1">
              <a:alpha val="85000"/>
            </a:schemeClr>
          </a:solidFill>
          <a:ln/>
        </p:spPr>
      </p:sp>
      <p:sp>
        <p:nvSpPr>
          <p:cNvPr id="37" name="Text 35"/>
          <p:cNvSpPr txBox="1"/>
          <p:nvPr/>
        </p:nvSpPr>
        <p:spPr>
          <a:xfrm>
            <a:off x="5084064" y="3438144"/>
            <a:ext cx="457200" cy="274320"/>
          </a:xfrm>
          <a:prstGeom prst="rect">
            <a:avLst/>
          </a:prstGeom>
          <a:noFill/>
          <a:ln/>
        </p:spPr>
        <p:txBody>
          <a:bodyPr wrap="square" lIns="0" tIns="0" rIns="0" bIns="0" rtlCol="0" anchor="t"/>
          <a:lstStyle/>
          <a:p>
            <a:pPr indent="0" marL="0">
              <a:buNone/>
            </a:pPr>
            <a:r>
              <a:rPr lang="en-US" sz="1100" dirty="0">
                <a:solidFill>
                  <a:schemeClr val="accent2"/>
                </a:solidFill>
                <a:latin typeface="Ebrima" pitchFamily="34" charset="0"/>
                <a:ea typeface="Ebrima" pitchFamily="34" charset="-122"/>
                <a:cs typeface="Ebrima" pitchFamily="34" charset="-120"/>
              </a:rPr>
              <a:t>12</a:t>
            </a:r>
            <a:endParaRPr lang="en-US" sz="1100" dirty="0"/>
          </a:p>
        </p:txBody>
      </p:sp>
      <p:sp>
        <p:nvSpPr>
          <p:cNvPr id="38" name="Text 36"/>
          <p:cNvSpPr txBox="1"/>
          <p:nvPr/>
        </p:nvSpPr>
        <p:spPr>
          <a:xfrm>
            <a:off x="4992624" y="365760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Nehase</a:t>
            </a:r>
            <a:endParaRPr lang="en-US" sz="1500" dirty="0"/>
          </a:p>
        </p:txBody>
      </p:sp>
      <p:sp>
        <p:nvSpPr>
          <p:cNvPr id="39" name="Shape 37"/>
          <p:cNvSpPr/>
          <p:nvPr/>
        </p:nvSpPr>
        <p:spPr>
          <a:xfrm>
            <a:off x="548640" y="4389120"/>
            <a:ext cx="1353312" cy="868680"/>
          </a:xfrm>
          <a:prstGeom prst="roundRect">
            <a:avLst>
              <a:gd name="adj" fmla="val 10526"/>
            </a:avLst>
          </a:prstGeom>
          <a:solidFill>
            <a:schemeClr val="accent2"/>
          </a:solidFill>
          <a:ln/>
        </p:spPr>
      </p:sp>
      <p:sp>
        <p:nvSpPr>
          <p:cNvPr id="40" name="Text 38"/>
          <p:cNvSpPr txBox="1"/>
          <p:nvPr/>
        </p:nvSpPr>
        <p:spPr>
          <a:xfrm>
            <a:off x="640080" y="4443984"/>
            <a:ext cx="457200" cy="274320"/>
          </a:xfrm>
          <a:prstGeom prst="rect">
            <a:avLst/>
          </a:prstGeom>
          <a:noFill/>
          <a:ln/>
        </p:spPr>
        <p:txBody>
          <a:bodyPr wrap="square" lIns="0" tIns="0" rIns="0" bIns="0" rtlCol="0" anchor="t"/>
          <a:lstStyle/>
          <a:p>
            <a:pPr indent="0" marL="0">
              <a:buNone/>
            </a:pPr>
            <a:r>
              <a:rPr lang="en-US" sz="1100" dirty="0">
                <a:solidFill>
                  <a:schemeClr val="bg1"/>
                </a:solidFill>
                <a:latin typeface="Ebrima" pitchFamily="34" charset="0"/>
                <a:ea typeface="Ebrima" pitchFamily="34" charset="-122"/>
                <a:cs typeface="Ebrima" pitchFamily="34" charset="-120"/>
              </a:rPr>
              <a:t>13</a:t>
            </a:r>
            <a:endParaRPr lang="en-US" sz="1100" dirty="0"/>
          </a:p>
        </p:txBody>
      </p:sp>
      <p:sp>
        <p:nvSpPr>
          <p:cNvPr id="41" name="Text 39"/>
          <p:cNvSpPr txBox="1"/>
          <p:nvPr/>
        </p:nvSpPr>
        <p:spPr>
          <a:xfrm>
            <a:off x="548640" y="4663440"/>
            <a:ext cx="1353312"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Ebrima" pitchFamily="34" charset="0"/>
                <a:ea typeface="Ebrima" pitchFamily="34" charset="-122"/>
                <a:cs typeface="Ebrima" pitchFamily="34" charset="-120"/>
              </a:rPr>
              <a:t>Pagume</a:t>
            </a:r>
            <a:endParaRPr lang="en-US" sz="1500" dirty="0"/>
          </a:p>
        </p:txBody>
      </p:sp>
      <p:sp>
        <p:nvSpPr>
          <p:cNvPr id="42" name="Text 40"/>
          <p:cNvSpPr txBox="1"/>
          <p:nvPr/>
        </p:nvSpPr>
        <p:spPr>
          <a:xfrm>
            <a:off x="6766560" y="1371600"/>
            <a:ext cx="4892040" cy="47548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Dates are shown in the Ethiopian calendar (E.C.), with an Ethiopian date picker</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Monthly contributions are counted by Ethiopian month</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Programs can repeat on Ethiopian calendar days</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Reports include the Ethiopian date and month name</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Time follows Addis Ababa local time</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Amharic is the primary language; English is one tap away</a:t>
            </a:r>
            <a:endParaRPr lang="en-US" sz="1500" dirty="0"/>
          </a:p>
          <a:p>
            <a:pPr marL="342900" indent="-342900">
              <a:spcAft>
                <a:spcPts val="900"/>
              </a:spcAft>
              <a:buSzPct val="100000"/>
              <a:buChar char="●"/>
            </a:pPr>
            <a:r>
              <a:rPr lang="en-US" sz="1500" dirty="0">
                <a:solidFill>
                  <a:schemeClr val="tx1"/>
                </a:solidFill>
                <a:latin typeface="Ebrima" pitchFamily="34" charset="0"/>
                <a:ea typeface="Ebrima" pitchFamily="34" charset="-122"/>
                <a:cs typeface="Ebrima" pitchFamily="34" charset="-120"/>
              </a:rPr>
              <a:t>Ge'ez script displays cleanly on all screens and reports</a:t>
            </a:r>
            <a:endParaRPr lang="en-US" sz="1500" dirty="0"/>
          </a:p>
        </p:txBody>
      </p:sp>
      <p:sp>
        <p:nvSpPr>
          <p:cNvPr id="43" name="Text 41"/>
          <p:cNvSpPr txBox="1"/>
          <p:nvPr/>
        </p:nvSpPr>
        <p:spPr>
          <a:xfrm>
            <a:off x="548640" y="5715000"/>
            <a:ext cx="5852160" cy="320040"/>
          </a:xfrm>
          <a:prstGeom prst="rect">
            <a:avLst/>
          </a:prstGeom>
          <a:noFill/>
          <a:ln/>
        </p:spPr>
        <p:txBody>
          <a:bodyPr wrap="square" lIns="0" tIns="0" rIns="0" bIns="0" rtlCol="0" anchor="t"/>
          <a:lstStyle/>
          <a:p>
            <a:pPr indent="0" marL="0">
              <a:buNone/>
            </a:pPr>
            <a:r>
              <a:rPr lang="en-US" sz="1200" i="1" dirty="0">
                <a:solidFill>
                  <a:schemeClr val="accent4"/>
                </a:solidFill>
                <a:latin typeface="Ebrima" pitchFamily="34" charset="0"/>
                <a:ea typeface="Ebrima" pitchFamily="34" charset="-122"/>
                <a:cs typeface="Ebrima" pitchFamily="34" charset="-120"/>
              </a:rPr>
              <a:t>For payments, Pagume counts with Nehase</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Benefits — for Leaders, Departments and Members</a:t>
            </a:r>
            <a:endParaRPr lang="en-US" sz="3400" dirty="0"/>
          </a:p>
        </p:txBody>
      </p:sp>
      <p:sp>
        <p:nvSpPr>
          <p:cNvPr id="3" name="Shape 1"/>
          <p:cNvSpPr/>
          <p:nvPr/>
        </p:nvSpPr>
        <p:spPr>
          <a:xfrm>
            <a:off x="548640" y="1325880"/>
            <a:ext cx="3520440" cy="4846320"/>
          </a:xfrm>
          <a:prstGeom prst="roundRect">
            <a:avLst>
              <a:gd name="adj" fmla="val 3117"/>
            </a:avLst>
          </a:prstGeom>
          <a:solidFill>
            <a:schemeClr val="bg2">
              <a:alpha val="55000"/>
            </a:schemeClr>
          </a:solidFill>
          <a:ln/>
        </p:spPr>
      </p:sp>
      <p:sp>
        <p:nvSpPr>
          <p:cNvPr id="4" name="Shape 2"/>
          <p:cNvSpPr/>
          <p:nvPr/>
        </p:nvSpPr>
        <p:spPr>
          <a:xfrm>
            <a:off x="1874520" y="1554480"/>
            <a:ext cx="868680" cy="8686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2083003" y="1762963"/>
            <a:ext cx="451714" cy="451714"/>
          </a:xfrm>
          <a:prstGeom prst="rect">
            <a:avLst/>
          </a:prstGeom>
        </p:spPr>
      </p:pic>
      <p:sp>
        <p:nvSpPr>
          <p:cNvPr id="6" name="Text 3"/>
          <p:cNvSpPr txBox="1"/>
          <p:nvPr/>
        </p:nvSpPr>
        <p:spPr>
          <a:xfrm>
            <a:off x="731520" y="2560320"/>
            <a:ext cx="3154680" cy="457200"/>
          </a:xfrm>
          <a:prstGeom prst="rect">
            <a:avLst/>
          </a:prstGeom>
          <a:noFill/>
          <a:ln/>
        </p:spPr>
        <p:txBody>
          <a:bodyPr wrap="square" lIns="0" tIns="0" rIns="0" bIns="0" rtlCol="0" anchor="t"/>
          <a:lstStyle/>
          <a:p>
            <a:pPr algn="ctr" indent="0" marL="0">
              <a:buNone/>
            </a:pPr>
            <a:r>
              <a:rPr lang="en-US" sz="2000" b="1" dirty="0">
                <a:solidFill>
                  <a:schemeClr val="accent1"/>
                </a:solidFill>
                <a:latin typeface="Ebrima" pitchFamily="34" charset="0"/>
                <a:ea typeface="Ebrima" pitchFamily="34" charset="-122"/>
                <a:cs typeface="Ebrima" pitchFamily="34" charset="-120"/>
              </a:rPr>
              <a:t>For leaders</a:t>
            </a:r>
            <a:endParaRPr lang="en-US" sz="2000" dirty="0"/>
          </a:p>
        </p:txBody>
      </p:sp>
      <p:sp>
        <p:nvSpPr>
          <p:cNvPr id="7" name="Text 4"/>
          <p:cNvSpPr txBox="1"/>
          <p:nvPr/>
        </p:nvSpPr>
        <p:spPr>
          <a:xfrm>
            <a:off x="868680" y="3200400"/>
            <a:ext cx="2926080" cy="283464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Timely, reliable reports</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Selection results calculated by clear rules</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Accountability verified by the audit log</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Summaries that support decisions</a:t>
            </a:r>
            <a:endParaRPr lang="en-US" sz="1450" dirty="0"/>
          </a:p>
        </p:txBody>
      </p:sp>
      <p:sp>
        <p:nvSpPr>
          <p:cNvPr id="8" name="Shape 5"/>
          <p:cNvSpPr/>
          <p:nvPr/>
        </p:nvSpPr>
        <p:spPr>
          <a:xfrm>
            <a:off x="4297680" y="1325880"/>
            <a:ext cx="3520440" cy="4846320"/>
          </a:xfrm>
          <a:prstGeom prst="roundRect">
            <a:avLst>
              <a:gd name="adj" fmla="val 3117"/>
            </a:avLst>
          </a:prstGeom>
          <a:solidFill>
            <a:schemeClr val="bg2">
              <a:alpha val="55000"/>
            </a:schemeClr>
          </a:solidFill>
          <a:ln/>
        </p:spPr>
      </p:sp>
      <p:sp>
        <p:nvSpPr>
          <p:cNvPr id="9" name="Shape 6"/>
          <p:cNvSpPr/>
          <p:nvPr/>
        </p:nvSpPr>
        <p:spPr>
          <a:xfrm>
            <a:off x="5623560" y="1554480"/>
            <a:ext cx="868680" cy="868680"/>
          </a:xfrm>
          <a:prstGeom prst="ellipse">
            <a:avLst/>
          </a:prstGeom>
          <a:solidFill>
            <a:schemeClr val="accent2"/>
          </a:solidFill>
          <a:ln/>
        </p:spPr>
      </p:sp>
      <p:pic>
        <p:nvPicPr>
          <p:cNvPr id="10" name="Image 1" descr="preencoded.png">    </p:cNvPr>
          <p:cNvPicPr>
            <a:picLocks noChangeAspect="1"/>
          </p:cNvPicPr>
          <p:nvPr/>
        </p:nvPicPr>
        <p:blipFill>
          <a:blip r:embed="rId2"/>
          <a:stretch>
            <a:fillRect/>
          </a:stretch>
        </p:blipFill>
        <p:spPr>
          <a:xfrm>
            <a:off x="5832043" y="1762963"/>
            <a:ext cx="451714" cy="451714"/>
          </a:xfrm>
          <a:prstGeom prst="rect">
            <a:avLst/>
          </a:prstGeom>
        </p:spPr>
      </p:pic>
      <p:sp>
        <p:nvSpPr>
          <p:cNvPr id="11" name="Text 7"/>
          <p:cNvSpPr txBox="1"/>
          <p:nvPr/>
        </p:nvSpPr>
        <p:spPr>
          <a:xfrm>
            <a:off x="4480560" y="2560320"/>
            <a:ext cx="3154680" cy="457200"/>
          </a:xfrm>
          <a:prstGeom prst="rect">
            <a:avLst/>
          </a:prstGeom>
          <a:noFill/>
          <a:ln/>
        </p:spPr>
        <p:txBody>
          <a:bodyPr wrap="square" lIns="0" tIns="0" rIns="0" bIns="0" rtlCol="0" anchor="t"/>
          <a:lstStyle/>
          <a:p>
            <a:pPr algn="ctr" indent="0" marL="0">
              <a:buNone/>
            </a:pPr>
            <a:r>
              <a:rPr lang="en-US" sz="2000" b="1" dirty="0">
                <a:solidFill>
                  <a:schemeClr val="accent1"/>
                </a:solidFill>
                <a:latin typeface="Ebrima" pitchFamily="34" charset="0"/>
                <a:ea typeface="Ebrima" pitchFamily="34" charset="-122"/>
                <a:cs typeface="Ebrima" pitchFamily="34" charset="-120"/>
              </a:rPr>
              <a:t>For departments</a:t>
            </a:r>
            <a:endParaRPr lang="en-US" sz="2000" dirty="0"/>
          </a:p>
        </p:txBody>
      </p:sp>
      <p:sp>
        <p:nvSpPr>
          <p:cNvPr id="12" name="Text 8"/>
          <p:cNvSpPr txBox="1"/>
          <p:nvPr/>
        </p:nvSpPr>
        <p:spPr>
          <a:xfrm>
            <a:off x="4617720" y="3200400"/>
            <a:ext cx="2926080" cy="283464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Projects, tasks and budgets in one place</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Department chat and Task Bot</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Property requests and tracking</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Member participation records</a:t>
            </a:r>
            <a:endParaRPr lang="en-US" sz="1450" dirty="0"/>
          </a:p>
        </p:txBody>
      </p:sp>
      <p:sp>
        <p:nvSpPr>
          <p:cNvPr id="13" name="Shape 9"/>
          <p:cNvSpPr/>
          <p:nvPr/>
        </p:nvSpPr>
        <p:spPr>
          <a:xfrm>
            <a:off x="8046720" y="1325880"/>
            <a:ext cx="3520440" cy="4846320"/>
          </a:xfrm>
          <a:prstGeom prst="roundRect">
            <a:avLst>
              <a:gd name="adj" fmla="val 3117"/>
            </a:avLst>
          </a:prstGeom>
          <a:solidFill>
            <a:schemeClr val="bg2">
              <a:alpha val="55000"/>
            </a:schemeClr>
          </a:solidFill>
          <a:ln/>
        </p:spPr>
      </p:sp>
      <p:sp>
        <p:nvSpPr>
          <p:cNvPr id="14" name="Shape 10"/>
          <p:cNvSpPr/>
          <p:nvPr/>
        </p:nvSpPr>
        <p:spPr>
          <a:xfrm>
            <a:off x="9372600" y="1554480"/>
            <a:ext cx="868680" cy="868680"/>
          </a:xfrm>
          <a:prstGeom prst="ellipse">
            <a:avLst/>
          </a:prstGeom>
          <a:solidFill>
            <a:schemeClr val="accent6"/>
          </a:solidFill>
          <a:ln/>
        </p:spPr>
      </p:sp>
      <p:pic>
        <p:nvPicPr>
          <p:cNvPr id="15" name="Image 2" descr="preencoded.png">    </p:cNvPr>
          <p:cNvPicPr>
            <a:picLocks noChangeAspect="1"/>
          </p:cNvPicPr>
          <p:nvPr/>
        </p:nvPicPr>
        <p:blipFill>
          <a:blip r:embed="rId3"/>
          <a:stretch>
            <a:fillRect/>
          </a:stretch>
        </p:blipFill>
        <p:spPr>
          <a:xfrm>
            <a:off x="9581083" y="1762963"/>
            <a:ext cx="451714" cy="451714"/>
          </a:xfrm>
          <a:prstGeom prst="rect">
            <a:avLst/>
          </a:prstGeom>
        </p:spPr>
      </p:pic>
      <p:sp>
        <p:nvSpPr>
          <p:cNvPr id="16" name="Text 11"/>
          <p:cNvSpPr txBox="1"/>
          <p:nvPr/>
        </p:nvSpPr>
        <p:spPr>
          <a:xfrm>
            <a:off x="8229600" y="2560320"/>
            <a:ext cx="3154680" cy="457200"/>
          </a:xfrm>
          <a:prstGeom prst="rect">
            <a:avLst/>
          </a:prstGeom>
          <a:noFill/>
          <a:ln/>
        </p:spPr>
        <p:txBody>
          <a:bodyPr wrap="square" lIns="0" tIns="0" rIns="0" bIns="0" rtlCol="0" anchor="t"/>
          <a:lstStyle/>
          <a:p>
            <a:pPr algn="ctr" indent="0" marL="0">
              <a:buNone/>
            </a:pPr>
            <a:r>
              <a:rPr lang="en-US" sz="2000" b="1" dirty="0">
                <a:solidFill>
                  <a:schemeClr val="accent1"/>
                </a:solidFill>
                <a:latin typeface="Ebrima" pitchFamily="34" charset="0"/>
                <a:ea typeface="Ebrima" pitchFamily="34" charset="-122"/>
                <a:cs typeface="Ebrima" pitchFamily="34" charset="-120"/>
              </a:rPr>
              <a:t>For members</a:t>
            </a:r>
            <a:endParaRPr lang="en-US" sz="2000" dirty="0"/>
          </a:p>
        </p:txBody>
      </p:sp>
      <p:sp>
        <p:nvSpPr>
          <p:cNvPr id="17" name="Text 12"/>
          <p:cNvSpPr txBox="1"/>
          <p:nvPr/>
        </p:nvSpPr>
        <p:spPr>
          <a:xfrm>
            <a:off x="8366760" y="3200400"/>
            <a:ext cx="2926080" cy="283464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Mezmur and lessons in your pocket</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Program reminders</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View your own attendance, contributions and results</a:t>
            </a:r>
            <a:endParaRPr lang="en-US" sz="1450" dirty="0"/>
          </a:p>
          <a:p>
            <a:pPr marL="342900" indent="-342900">
              <a:spcAft>
                <a:spcPts val="900"/>
              </a:spcAft>
              <a:buSzPct val="100000"/>
              <a:buChar char="●"/>
            </a:pPr>
            <a:r>
              <a:rPr lang="en-US" sz="1450" dirty="0">
                <a:solidFill>
                  <a:schemeClr val="tx1"/>
                </a:solidFill>
                <a:latin typeface="Ebrima" pitchFamily="34" charset="0"/>
                <a:ea typeface="Ebrima" pitchFamily="34" charset="-122"/>
                <a:cs typeface="Ebrima" pitchFamily="34" charset="-120"/>
              </a:rPr>
              <a:t>Digital ID card and QR</a:t>
            </a:r>
            <a:endParaRPr lang="en-US" sz="14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Current Implementation Status</a:t>
            </a:r>
            <a:endParaRPr lang="en-US" sz="3400" dirty="0"/>
          </a:p>
        </p:txBody>
      </p:sp>
      <p:graphicFrame>
        <p:nvGraphicFramePr>
          <p:cNvPr id="3" name="Chart 0" descr=""/>
          <p:cNvGraphicFramePr/>
          <p:nvPr/>
        </p:nvGraphicFramePr>
        <p:xfrm>
          <a:off x="457200" y="1280160"/>
          <a:ext cx="6035040" cy="48920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812280" y="1325880"/>
            <a:ext cx="4846320" cy="1417320"/>
          </a:xfrm>
          <a:prstGeom prst="roundRect">
            <a:avLst>
              <a:gd name="adj" fmla="val 7742"/>
            </a:avLst>
          </a:prstGeom>
          <a:solidFill>
            <a:schemeClr val="accent1"/>
          </a:solidFill>
          <a:ln/>
        </p:spPr>
      </p:sp>
      <p:sp>
        <p:nvSpPr>
          <p:cNvPr id="5" name="Text 2"/>
          <p:cNvSpPr txBox="1"/>
          <p:nvPr/>
        </p:nvSpPr>
        <p:spPr>
          <a:xfrm>
            <a:off x="7040880" y="1417320"/>
            <a:ext cx="4480560" cy="365760"/>
          </a:xfrm>
          <a:prstGeom prst="rect">
            <a:avLst/>
          </a:prstGeom>
          <a:noFill/>
          <a:ln/>
        </p:spPr>
        <p:txBody>
          <a:bodyPr wrap="square" lIns="0" tIns="0" rIns="0" bIns="0" rtlCol="0" anchor="t"/>
          <a:lstStyle/>
          <a:p>
            <a:pPr indent="0" marL="0">
              <a:buNone/>
            </a:pPr>
            <a:r>
              <a:rPr lang="en-US" sz="1300" dirty="0">
                <a:solidFill>
                  <a:schemeClr val="accent2"/>
                </a:solidFill>
                <a:latin typeface="Ebrima" pitchFamily="34" charset="0"/>
                <a:ea typeface="Ebrima" pitchFamily="34" charset="-122"/>
                <a:cs typeface="Ebrima" pitchFamily="34" charset="-120"/>
              </a:rPr>
              <a:t>Latest official release</a:t>
            </a:r>
            <a:endParaRPr lang="en-US" sz="1300" dirty="0"/>
          </a:p>
        </p:txBody>
      </p:sp>
      <p:sp>
        <p:nvSpPr>
          <p:cNvPr id="6" name="Text 3"/>
          <p:cNvSpPr txBox="1"/>
          <p:nvPr/>
        </p:nvSpPr>
        <p:spPr>
          <a:xfrm>
            <a:off x="7040880" y="1783080"/>
            <a:ext cx="4480560" cy="457200"/>
          </a:xfrm>
          <a:prstGeom prst="rect">
            <a:avLst/>
          </a:prstGeom>
          <a:noFill/>
          <a:ln/>
        </p:spPr>
        <p:txBody>
          <a:bodyPr wrap="square" lIns="0" tIns="0" rIns="0" bIns="0" rtlCol="0" anchor="t"/>
          <a:lstStyle/>
          <a:p>
            <a:pPr indent="0" marL="0">
              <a:buNone/>
            </a:pPr>
            <a:r>
              <a:rPr lang="en-US" sz="1800" b="1" dirty="0">
                <a:solidFill>
                  <a:schemeClr val="bg1"/>
                </a:solidFill>
                <a:latin typeface="Ebrima" pitchFamily="34" charset="0"/>
                <a:ea typeface="Ebrima" pitchFamily="34" charset="-122"/>
                <a:cs typeface="Ebrima" pitchFamily="34" charset="-120"/>
              </a:rPr>
              <a:t>1.5.3 (build 16) — October 2026</a:t>
            </a:r>
            <a:endParaRPr lang="en-US" sz="1800" dirty="0"/>
          </a:p>
        </p:txBody>
      </p:sp>
      <p:sp>
        <p:nvSpPr>
          <p:cNvPr id="7" name="Text 4"/>
          <p:cNvSpPr txBox="1"/>
          <p:nvPr/>
        </p:nvSpPr>
        <p:spPr>
          <a:xfrm>
            <a:off x="7040880" y="2240280"/>
            <a:ext cx="4480560" cy="365760"/>
          </a:xfrm>
          <a:prstGeom prst="rect">
            <a:avLst/>
          </a:prstGeom>
          <a:noFill/>
          <a:ln/>
        </p:spPr>
        <p:txBody>
          <a:bodyPr wrap="square" lIns="0" tIns="0" rIns="0" bIns="0" rtlCol="0" anchor="t"/>
          <a:lstStyle/>
          <a:p>
            <a:pPr indent="0" marL="0">
              <a:buNone/>
            </a:pPr>
            <a:r>
              <a:rPr lang="en-US" sz="1250" dirty="0">
                <a:solidFill>
                  <a:schemeClr val="bg1"/>
                </a:solidFill>
                <a:latin typeface="Ebrima" pitchFamily="34" charset="0"/>
                <a:ea typeface="Ebrima" pitchFamily="34" charset="-122"/>
                <a:cs typeface="Ebrima" pitchFamily="34" charset="-120"/>
              </a:rPr>
              <a:t>Older versions are required to update</a:t>
            </a:r>
            <a:endParaRPr lang="en-US" sz="1250" dirty="0"/>
          </a:p>
        </p:txBody>
      </p:sp>
      <p:sp>
        <p:nvSpPr>
          <p:cNvPr id="8" name="Text 5"/>
          <p:cNvSpPr txBox="1"/>
          <p:nvPr/>
        </p:nvSpPr>
        <p:spPr>
          <a:xfrm>
            <a:off x="6812280" y="2971800"/>
            <a:ext cx="4846320" cy="365760"/>
          </a:xfrm>
          <a:prstGeom prst="rect">
            <a:avLst/>
          </a:prstGeom>
          <a:noFill/>
          <a:ln/>
        </p:spPr>
        <p:txBody>
          <a:bodyPr wrap="square" lIns="0" tIns="0" rIns="0" bIns="0" rtlCol="0" anchor="t"/>
          <a:lstStyle/>
          <a:p>
            <a:pPr indent="0" marL="0">
              <a:buNone/>
            </a:pPr>
            <a:r>
              <a:rPr lang="en-US" sz="1500" b="1" dirty="0">
                <a:solidFill>
                  <a:schemeClr val="accent1"/>
                </a:solidFill>
                <a:latin typeface="Ebrima" pitchFamily="34" charset="0"/>
                <a:ea typeface="Ebrima" pitchFamily="34" charset="-122"/>
                <a:cs typeface="Ebrima" pitchFamily="34" charset="-120"/>
              </a:rPr>
              <a:t>Built and in testing (not yet released)</a:t>
            </a:r>
            <a:endParaRPr lang="en-US" sz="1500" dirty="0"/>
          </a:p>
        </p:txBody>
      </p:sp>
      <p:sp>
        <p:nvSpPr>
          <p:cNvPr id="9" name="Text 6"/>
          <p:cNvSpPr txBox="1"/>
          <p:nvPr/>
        </p:nvSpPr>
        <p:spPr>
          <a:xfrm>
            <a:off x="6812280" y="3383280"/>
            <a:ext cx="4846320" cy="21945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1"/>
                </a:solidFill>
                <a:latin typeface="Ebrima" pitchFamily="34" charset="0"/>
                <a:ea typeface="Ebrima" pitchFamily="34" charset="-122"/>
                <a:cs typeface="Ebrima" pitchFamily="34" charset="-120"/>
              </a:rPr>
              <a:t>Academic years, terms and class levels (1–12)</a:t>
            </a:r>
            <a:endParaRPr lang="en-US" sz="1350" dirty="0"/>
          </a:p>
          <a:p>
            <a:pPr marL="342900" indent="-342900">
              <a:spcAft>
                <a:spcPts val="500"/>
              </a:spcAft>
              <a:buSzPct val="100000"/>
              <a:buChar char="●"/>
            </a:pPr>
            <a:r>
              <a:rPr lang="en-US" sz="1350" dirty="0">
                <a:solidFill>
                  <a:schemeClr val="tx1"/>
                </a:solidFill>
                <a:latin typeface="Ebrima" pitchFamily="34" charset="0"/>
                <a:ea typeface="Ebrima" pitchFamily="34" charset="-122"/>
                <a:cs typeface="Ebrima" pitchFamily="34" charset="-120"/>
              </a:rPr>
              <a:t>Class attendance through programs</a:t>
            </a:r>
            <a:endParaRPr lang="en-US" sz="1350" dirty="0"/>
          </a:p>
          <a:p>
            <a:pPr marL="342900" indent="-342900">
              <a:spcAft>
                <a:spcPts val="500"/>
              </a:spcAft>
              <a:buSzPct val="100000"/>
              <a:buChar char="●"/>
            </a:pPr>
            <a:r>
              <a:rPr lang="en-US" sz="1350" dirty="0">
                <a:solidFill>
                  <a:schemeClr val="tx1"/>
                </a:solidFill>
                <a:latin typeface="Ebrima" pitchFamily="34" charset="0"/>
                <a:ea typeface="Ebrima" pitchFamily="34" charset="-122"/>
                <a:cs typeface="Ebrima" pitchFamily="34" charset="-120"/>
              </a:rPr>
              <a:t>Selection elapsed-minute scoring and configuration versions</a:t>
            </a:r>
            <a:endParaRPr lang="en-US" sz="1350" dirty="0"/>
          </a:p>
          <a:p>
            <a:pPr marL="342900" indent="-342900">
              <a:spcAft>
                <a:spcPts val="500"/>
              </a:spcAft>
              <a:buSzPct val="100000"/>
              <a:buChar char="●"/>
            </a:pPr>
            <a:r>
              <a:rPr lang="en-US" sz="1350" dirty="0">
                <a:solidFill>
                  <a:schemeClr val="tx1"/>
                </a:solidFill>
                <a:latin typeface="Ebrima" pitchFamily="34" charset="0"/>
                <a:ea typeface="Ebrima" pitchFamily="34" charset="-122"/>
                <a:cs typeface="Ebrima" pitchFamily="34" charset="-120"/>
              </a:rPr>
              <a:t>Contribution month-range fix</a:t>
            </a:r>
            <a:endParaRPr lang="en-US" sz="1350" dirty="0"/>
          </a:p>
          <a:p>
            <a:pPr marL="342900" indent="-342900">
              <a:spcAft>
                <a:spcPts val="500"/>
              </a:spcAft>
              <a:buSzPct val="100000"/>
              <a:buChar char="●"/>
            </a:pPr>
            <a:r>
              <a:rPr lang="en-US" sz="1350" dirty="0">
                <a:solidFill>
                  <a:schemeClr val="tx1"/>
                </a:solidFill>
                <a:latin typeface="Ebrima" pitchFamily="34" charset="0"/>
                <a:ea typeface="Ebrima" pitchFamily="34" charset="-122"/>
                <a:cs typeface="Ebrima" pitchFamily="34" charset="-120"/>
              </a:rPr>
              <a:t>Offline records kept safe when signing out</a:t>
            </a:r>
            <a:endParaRPr lang="en-US" sz="1350" dirty="0"/>
          </a:p>
        </p:txBody>
      </p:sp>
      <p:sp>
        <p:nvSpPr>
          <p:cNvPr id="10" name="Text 7"/>
          <p:cNvSpPr txBox="1"/>
          <p:nvPr/>
        </p:nvSpPr>
        <p:spPr>
          <a:xfrm>
            <a:off x="6812280" y="5760720"/>
            <a:ext cx="4846320" cy="365760"/>
          </a:xfrm>
          <a:prstGeom prst="rect">
            <a:avLst/>
          </a:prstGeom>
          <a:noFill/>
          <a:ln/>
        </p:spPr>
        <p:txBody>
          <a:bodyPr wrap="square" lIns="0" tIns="0" rIns="0" bIns="0" rtlCol="0" anchor="t"/>
          <a:lstStyle/>
          <a:p>
            <a:pPr indent="0" marL="0">
              <a:buNone/>
            </a:pPr>
            <a:r>
              <a:rPr lang="en-US" sz="1200" i="1" dirty="0">
                <a:solidFill>
                  <a:schemeClr val="accent4"/>
                </a:solidFill>
                <a:latin typeface="Ebrima" pitchFamily="34" charset="0"/>
                <a:ea typeface="Ebrima" pitchFamily="34" charset="-122"/>
                <a:cs typeface="Ebrima" pitchFamily="34" charset="-120"/>
              </a:rPr>
              <a:t>Automated tests: all 176 app tests pass</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Next Development Priorities</a:t>
            </a:r>
            <a:endParaRPr lang="en-US" sz="3400" dirty="0"/>
          </a:p>
        </p:txBody>
      </p:sp>
      <p:sp>
        <p:nvSpPr>
          <p:cNvPr id="3" name="Shape 1"/>
          <p:cNvSpPr/>
          <p:nvPr/>
        </p:nvSpPr>
        <p:spPr>
          <a:xfrm>
            <a:off x="1078992" y="1463040"/>
            <a:ext cx="0" cy="4206240"/>
          </a:xfrm>
          <a:prstGeom prst="line">
            <a:avLst/>
          </a:prstGeom>
          <a:noFill/>
          <a:ln w="25400">
            <a:solidFill>
              <a:schemeClr val="accent2"/>
            </a:solidFill>
            <a:prstDash val="solid"/>
          </a:ln>
        </p:spPr>
      </p:sp>
      <p:sp>
        <p:nvSpPr>
          <p:cNvPr id="4" name="Shape 2"/>
          <p:cNvSpPr/>
          <p:nvPr/>
        </p:nvSpPr>
        <p:spPr>
          <a:xfrm>
            <a:off x="758952" y="1353312"/>
            <a:ext cx="640080" cy="457200"/>
          </a:xfrm>
          <a:prstGeom prst="ellipse">
            <a:avLst/>
          </a:prstGeom>
          <a:solidFill>
            <a:schemeClr val="accent1"/>
          </a:solidFill>
          <a:ln w="15875">
            <a:solidFill>
              <a:schemeClr val="accent1"/>
            </a:solidFill>
            <a:prstDash val="solid"/>
          </a:ln>
        </p:spPr>
      </p:sp>
      <p:sp>
        <p:nvSpPr>
          <p:cNvPr id="5" name="Text 3"/>
          <p:cNvSpPr txBox="1"/>
          <p:nvPr/>
        </p:nvSpPr>
        <p:spPr>
          <a:xfrm>
            <a:off x="758952" y="1353312"/>
            <a:ext cx="64008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Ebrima" pitchFamily="34" charset="0"/>
                <a:ea typeface="Ebrima" pitchFamily="34" charset="-122"/>
                <a:cs typeface="Ebrima" pitchFamily="34" charset="-120"/>
              </a:rPr>
              <a:t>+17</a:t>
            </a:r>
            <a:endParaRPr lang="en-US" sz="1200" dirty="0"/>
          </a:p>
        </p:txBody>
      </p:sp>
      <p:sp>
        <p:nvSpPr>
          <p:cNvPr id="6" name="Text 4"/>
          <p:cNvSpPr txBox="1"/>
          <p:nvPr/>
        </p:nvSpPr>
        <p:spPr>
          <a:xfrm>
            <a:off x="1600200" y="1325880"/>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Keep offline records from being lost; contribution month-range fix</a:t>
            </a:r>
            <a:endParaRPr lang="en-US" sz="1450" dirty="0"/>
          </a:p>
        </p:txBody>
      </p:sp>
      <p:sp>
        <p:nvSpPr>
          <p:cNvPr id="7" name="Shape 5"/>
          <p:cNvSpPr/>
          <p:nvPr/>
        </p:nvSpPr>
        <p:spPr>
          <a:xfrm>
            <a:off x="758952" y="1929384"/>
            <a:ext cx="640080" cy="457200"/>
          </a:xfrm>
          <a:prstGeom prst="ellipse">
            <a:avLst/>
          </a:prstGeom>
          <a:solidFill>
            <a:schemeClr val="accent1"/>
          </a:solidFill>
          <a:ln w="15875">
            <a:solidFill>
              <a:schemeClr val="accent1"/>
            </a:solidFill>
            <a:prstDash val="solid"/>
          </a:ln>
        </p:spPr>
      </p:sp>
      <p:sp>
        <p:nvSpPr>
          <p:cNvPr id="8" name="Text 6"/>
          <p:cNvSpPr txBox="1"/>
          <p:nvPr/>
        </p:nvSpPr>
        <p:spPr>
          <a:xfrm>
            <a:off x="758952" y="1929384"/>
            <a:ext cx="64008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Ebrima" pitchFamily="34" charset="0"/>
                <a:ea typeface="Ebrima" pitchFamily="34" charset="-122"/>
                <a:cs typeface="Ebrima" pitchFamily="34" charset="-120"/>
              </a:rPr>
              <a:t>+18</a:t>
            </a:r>
            <a:endParaRPr lang="en-US" sz="1200" dirty="0"/>
          </a:p>
        </p:txBody>
      </p:sp>
      <p:sp>
        <p:nvSpPr>
          <p:cNvPr id="9" name="Text 7"/>
          <p:cNvSpPr txBox="1"/>
          <p:nvPr/>
        </p:nvSpPr>
        <p:spPr>
          <a:xfrm>
            <a:off x="1600200" y="1901952"/>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Academic years, terms and class levels; exclusive enrolment</a:t>
            </a:r>
            <a:endParaRPr lang="en-US" sz="1450" dirty="0"/>
          </a:p>
        </p:txBody>
      </p:sp>
      <p:sp>
        <p:nvSpPr>
          <p:cNvPr id="10" name="Shape 8"/>
          <p:cNvSpPr/>
          <p:nvPr/>
        </p:nvSpPr>
        <p:spPr>
          <a:xfrm>
            <a:off x="758952" y="2505456"/>
            <a:ext cx="640080" cy="457200"/>
          </a:xfrm>
          <a:prstGeom prst="ellipse">
            <a:avLst/>
          </a:prstGeom>
          <a:solidFill>
            <a:schemeClr val="accent1"/>
          </a:solidFill>
          <a:ln w="15875">
            <a:solidFill>
              <a:schemeClr val="accent1"/>
            </a:solidFill>
            <a:prstDash val="solid"/>
          </a:ln>
        </p:spPr>
      </p:sp>
      <p:sp>
        <p:nvSpPr>
          <p:cNvPr id="11" name="Text 9"/>
          <p:cNvSpPr txBox="1"/>
          <p:nvPr/>
        </p:nvSpPr>
        <p:spPr>
          <a:xfrm>
            <a:off x="758952" y="2505456"/>
            <a:ext cx="64008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Ebrima" pitchFamily="34" charset="0"/>
                <a:ea typeface="Ebrima" pitchFamily="34" charset="-122"/>
                <a:cs typeface="Ebrima" pitchFamily="34" charset="-120"/>
              </a:rPr>
              <a:t>+19</a:t>
            </a:r>
            <a:endParaRPr lang="en-US" sz="1200" dirty="0"/>
          </a:p>
        </p:txBody>
      </p:sp>
      <p:sp>
        <p:nvSpPr>
          <p:cNvPr id="12" name="Text 10"/>
          <p:cNvSpPr txBox="1"/>
          <p:nvPr/>
        </p:nvSpPr>
        <p:spPr>
          <a:xfrm>
            <a:off x="1600200" y="2478024"/>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Class attendance through programs; elapsed-minute scoring for selection</a:t>
            </a:r>
            <a:endParaRPr lang="en-US" sz="1450" dirty="0"/>
          </a:p>
        </p:txBody>
      </p:sp>
      <p:sp>
        <p:nvSpPr>
          <p:cNvPr id="13" name="Shape 11"/>
          <p:cNvSpPr/>
          <p:nvPr/>
        </p:nvSpPr>
        <p:spPr>
          <a:xfrm>
            <a:off x="758952" y="3081528"/>
            <a:ext cx="640080" cy="457200"/>
          </a:xfrm>
          <a:prstGeom prst="ellipse">
            <a:avLst/>
          </a:prstGeom>
          <a:solidFill>
            <a:schemeClr val="bg1"/>
          </a:solidFill>
          <a:ln w="15875">
            <a:solidFill>
              <a:schemeClr val="accent1"/>
            </a:solidFill>
            <a:prstDash val="solid"/>
          </a:ln>
        </p:spPr>
      </p:sp>
      <p:sp>
        <p:nvSpPr>
          <p:cNvPr id="14" name="Text 12"/>
          <p:cNvSpPr txBox="1"/>
          <p:nvPr/>
        </p:nvSpPr>
        <p:spPr>
          <a:xfrm>
            <a:off x="758952" y="3081528"/>
            <a:ext cx="64008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Ebrima" pitchFamily="34" charset="0"/>
                <a:ea typeface="Ebrima" pitchFamily="34" charset="-122"/>
                <a:cs typeface="Ebrima" pitchFamily="34" charset="-120"/>
              </a:rPr>
              <a:t>+20</a:t>
            </a:r>
            <a:endParaRPr lang="en-US" sz="1200" dirty="0"/>
          </a:p>
        </p:txBody>
      </p:sp>
      <p:sp>
        <p:nvSpPr>
          <p:cNvPr id="15" name="Text 13"/>
          <p:cNvSpPr txBox="1"/>
          <p:nvPr/>
        </p:nvSpPr>
        <p:spPr>
          <a:xfrm>
            <a:off x="1600200" y="3054096"/>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Offline work for all screens and administrators</a:t>
            </a:r>
            <a:endParaRPr lang="en-US" sz="1450" dirty="0"/>
          </a:p>
        </p:txBody>
      </p:sp>
      <p:sp>
        <p:nvSpPr>
          <p:cNvPr id="16" name="Shape 14"/>
          <p:cNvSpPr/>
          <p:nvPr/>
        </p:nvSpPr>
        <p:spPr>
          <a:xfrm>
            <a:off x="758952" y="3657600"/>
            <a:ext cx="640080" cy="457200"/>
          </a:xfrm>
          <a:prstGeom prst="ellipse">
            <a:avLst/>
          </a:prstGeom>
          <a:solidFill>
            <a:schemeClr val="bg1"/>
          </a:solidFill>
          <a:ln w="15875">
            <a:solidFill>
              <a:schemeClr val="accent1"/>
            </a:solidFill>
            <a:prstDash val="solid"/>
          </a:ln>
        </p:spPr>
      </p:sp>
      <p:sp>
        <p:nvSpPr>
          <p:cNvPr id="17" name="Text 15"/>
          <p:cNvSpPr txBox="1"/>
          <p:nvPr/>
        </p:nvSpPr>
        <p:spPr>
          <a:xfrm>
            <a:off x="758952" y="3657600"/>
            <a:ext cx="64008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Ebrima" pitchFamily="34" charset="0"/>
                <a:ea typeface="Ebrima" pitchFamily="34" charset="-122"/>
                <a:cs typeface="Ebrima" pitchFamily="34" charset="-120"/>
              </a:rPr>
              <a:t>+21</a:t>
            </a:r>
            <a:endParaRPr lang="en-US" sz="1200" dirty="0"/>
          </a:p>
        </p:txBody>
      </p:sp>
      <p:sp>
        <p:nvSpPr>
          <p:cNvPr id="18" name="Text 16"/>
          <p:cNvSpPr txBox="1"/>
          <p:nvPr/>
        </p:nvSpPr>
        <p:spPr>
          <a:xfrm>
            <a:off x="1600200" y="3630168"/>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Education results workflow: pass marks, retakes, question banks</a:t>
            </a:r>
            <a:endParaRPr lang="en-US" sz="1450" dirty="0"/>
          </a:p>
        </p:txBody>
      </p:sp>
      <p:sp>
        <p:nvSpPr>
          <p:cNvPr id="19" name="Shape 17"/>
          <p:cNvSpPr/>
          <p:nvPr/>
        </p:nvSpPr>
        <p:spPr>
          <a:xfrm>
            <a:off x="758952" y="4233672"/>
            <a:ext cx="640080" cy="457200"/>
          </a:xfrm>
          <a:prstGeom prst="ellipse">
            <a:avLst/>
          </a:prstGeom>
          <a:solidFill>
            <a:schemeClr val="bg1"/>
          </a:solidFill>
          <a:ln w="15875">
            <a:solidFill>
              <a:schemeClr val="accent1"/>
            </a:solidFill>
            <a:prstDash val="solid"/>
          </a:ln>
        </p:spPr>
      </p:sp>
      <p:sp>
        <p:nvSpPr>
          <p:cNvPr id="20" name="Text 18"/>
          <p:cNvSpPr txBox="1"/>
          <p:nvPr/>
        </p:nvSpPr>
        <p:spPr>
          <a:xfrm>
            <a:off x="758952" y="4233672"/>
            <a:ext cx="64008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Ebrima" pitchFamily="34" charset="0"/>
                <a:ea typeface="Ebrima" pitchFamily="34" charset="-122"/>
                <a:cs typeface="Ebrima" pitchFamily="34" charset="-120"/>
              </a:rPr>
              <a:t>+22</a:t>
            </a:r>
            <a:endParaRPr lang="en-US" sz="1200" dirty="0"/>
          </a:p>
        </p:txBody>
      </p:sp>
      <p:sp>
        <p:nvSpPr>
          <p:cNvPr id="21" name="Text 19"/>
          <p:cNvSpPr txBox="1"/>
          <p:nvPr/>
        </p:nvSpPr>
        <p:spPr>
          <a:xfrm>
            <a:off x="1600200" y="4206240"/>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Certificates, student dashboard and engagement scores</a:t>
            </a:r>
            <a:endParaRPr lang="en-US" sz="1450" dirty="0"/>
          </a:p>
        </p:txBody>
      </p:sp>
      <p:sp>
        <p:nvSpPr>
          <p:cNvPr id="22" name="Shape 20"/>
          <p:cNvSpPr/>
          <p:nvPr/>
        </p:nvSpPr>
        <p:spPr>
          <a:xfrm>
            <a:off x="758952" y="4809744"/>
            <a:ext cx="640080" cy="457200"/>
          </a:xfrm>
          <a:prstGeom prst="ellipse">
            <a:avLst/>
          </a:prstGeom>
          <a:solidFill>
            <a:schemeClr val="bg1"/>
          </a:solidFill>
          <a:ln w="15875">
            <a:solidFill>
              <a:schemeClr val="accent1"/>
            </a:solidFill>
            <a:prstDash val="solid"/>
          </a:ln>
        </p:spPr>
      </p:sp>
      <p:sp>
        <p:nvSpPr>
          <p:cNvPr id="23" name="Text 21"/>
          <p:cNvSpPr txBox="1"/>
          <p:nvPr/>
        </p:nvSpPr>
        <p:spPr>
          <a:xfrm>
            <a:off x="758952" y="4809744"/>
            <a:ext cx="64008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Ebrima" pitchFamily="34" charset="0"/>
                <a:ea typeface="Ebrima" pitchFamily="34" charset="-122"/>
                <a:cs typeface="Ebrima" pitchFamily="34" charset="-120"/>
              </a:rPr>
              <a:t>+23</a:t>
            </a:r>
            <a:endParaRPr lang="en-US" sz="1200" dirty="0"/>
          </a:p>
        </p:txBody>
      </p:sp>
      <p:sp>
        <p:nvSpPr>
          <p:cNvPr id="24" name="Text 22"/>
          <p:cNvSpPr txBox="1"/>
          <p:nvPr/>
        </p:nvSpPr>
        <p:spPr>
          <a:xfrm>
            <a:off x="1600200" y="4782312"/>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Digital and printed library (an ID for every copy)</a:t>
            </a:r>
            <a:endParaRPr lang="en-US" sz="1450" dirty="0"/>
          </a:p>
        </p:txBody>
      </p:sp>
      <p:sp>
        <p:nvSpPr>
          <p:cNvPr id="25" name="Shape 23"/>
          <p:cNvSpPr/>
          <p:nvPr/>
        </p:nvSpPr>
        <p:spPr>
          <a:xfrm>
            <a:off x="758952" y="5385816"/>
            <a:ext cx="640080" cy="457200"/>
          </a:xfrm>
          <a:prstGeom prst="ellipse">
            <a:avLst/>
          </a:prstGeom>
          <a:solidFill>
            <a:schemeClr val="bg1"/>
          </a:solidFill>
          <a:ln w="15875">
            <a:solidFill>
              <a:schemeClr val="accent1"/>
            </a:solidFill>
            <a:prstDash val="solid"/>
          </a:ln>
        </p:spPr>
      </p:sp>
      <p:sp>
        <p:nvSpPr>
          <p:cNvPr id="26" name="Text 24"/>
          <p:cNvSpPr txBox="1"/>
          <p:nvPr/>
        </p:nvSpPr>
        <p:spPr>
          <a:xfrm>
            <a:off x="758952" y="5385816"/>
            <a:ext cx="64008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Ebrima" pitchFamily="34" charset="0"/>
                <a:ea typeface="Ebrima" pitchFamily="34" charset="-122"/>
                <a:cs typeface="Ebrima" pitchFamily="34" charset="-120"/>
              </a:rPr>
              <a:t>+24</a:t>
            </a:r>
            <a:endParaRPr lang="en-US" sz="1200" dirty="0"/>
          </a:p>
        </p:txBody>
      </p:sp>
      <p:sp>
        <p:nvSpPr>
          <p:cNvPr id="27" name="Text 25"/>
          <p:cNvSpPr txBox="1"/>
          <p:nvPr/>
        </p:nvSpPr>
        <p:spPr>
          <a:xfrm>
            <a:off x="1600200" y="5358384"/>
            <a:ext cx="5943600" cy="512064"/>
          </a:xfrm>
          <a:prstGeom prst="rect">
            <a:avLst/>
          </a:prstGeom>
          <a:noFill/>
          <a:ln/>
        </p:spPr>
        <p:txBody>
          <a:bodyPr wrap="square" lIns="0" tIns="0" rIns="0" bIns="0" rtlCol="0" anchor="ctr"/>
          <a:lstStyle/>
          <a:p>
            <a:pPr indent="0" marL="0">
              <a:buNone/>
            </a:pPr>
            <a:r>
              <a:rPr lang="en-US" sz="1450" dirty="0">
                <a:solidFill>
                  <a:schemeClr val="tx1"/>
                </a:solidFill>
                <a:latin typeface="Ebrima" pitchFamily="34" charset="0"/>
                <a:ea typeface="Ebrima" pitchFamily="34" charset="-122"/>
                <a:cs typeface="Ebrima" pitchFamily="34" charset="-120"/>
              </a:rPr>
              <a:t>Settings, guidance and screen-adaptation improvements</a:t>
            </a:r>
            <a:endParaRPr lang="en-US" sz="1450" dirty="0"/>
          </a:p>
        </p:txBody>
      </p:sp>
      <p:sp>
        <p:nvSpPr>
          <p:cNvPr id="28" name="Shape 26"/>
          <p:cNvSpPr/>
          <p:nvPr/>
        </p:nvSpPr>
        <p:spPr>
          <a:xfrm>
            <a:off x="7863840" y="1325880"/>
            <a:ext cx="3794760" cy="4846320"/>
          </a:xfrm>
          <a:prstGeom prst="roundRect">
            <a:avLst>
              <a:gd name="adj" fmla="val 2892"/>
            </a:avLst>
          </a:prstGeom>
          <a:solidFill>
            <a:schemeClr val="bg2">
              <a:alpha val="60000"/>
            </a:schemeClr>
          </a:solidFill>
          <a:ln/>
        </p:spPr>
      </p:sp>
      <p:sp>
        <p:nvSpPr>
          <p:cNvPr id="29" name="Text 27"/>
          <p:cNvSpPr txBox="1"/>
          <p:nvPr/>
        </p:nvSpPr>
        <p:spPr>
          <a:xfrm>
            <a:off x="8092440" y="1463040"/>
            <a:ext cx="3383280" cy="685800"/>
          </a:xfrm>
          <a:prstGeom prst="rect">
            <a:avLst/>
          </a:prstGeom>
          <a:noFill/>
          <a:ln/>
        </p:spPr>
        <p:txBody>
          <a:bodyPr wrap="square" lIns="0" tIns="0" rIns="0" bIns="0" rtlCol="0" anchor="t"/>
          <a:lstStyle/>
          <a:p>
            <a:pPr indent="0" marL="0">
              <a:buNone/>
            </a:pPr>
            <a:r>
              <a:rPr lang="en-US" sz="1550" b="1" dirty="0">
                <a:solidFill>
                  <a:schemeClr val="accent1"/>
                </a:solidFill>
                <a:latin typeface="Ebrima" pitchFamily="34" charset="0"/>
                <a:ea typeface="Ebrima" pitchFamily="34" charset="-122"/>
                <a:cs typeface="Ebrima" pitchFamily="34" charset="-120"/>
              </a:rPr>
              <a:t>Decisions needed from leadership</a:t>
            </a:r>
            <a:endParaRPr lang="en-US" sz="1550" dirty="0"/>
          </a:p>
        </p:txBody>
      </p:sp>
      <p:sp>
        <p:nvSpPr>
          <p:cNvPr id="30" name="Text 28"/>
          <p:cNvSpPr txBox="1"/>
          <p:nvPr/>
        </p:nvSpPr>
        <p:spPr>
          <a:xfrm>
            <a:off x="8092440" y="2240280"/>
            <a:ext cx="3429000" cy="38404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latin typeface="Ebrima" pitchFamily="34" charset="0"/>
                <a:ea typeface="Ebrima" pitchFamily="34" charset="-122"/>
                <a:cs typeface="Ebrima" pitchFamily="34" charset="-120"/>
              </a:rPr>
              <a:t>Certificate wording, signatory and seal</a:t>
            </a:r>
            <a:endParaRPr lang="en-US" sz="1350" dirty="0"/>
          </a:p>
          <a:p>
            <a:pPr marL="342900" indent="-342900">
              <a:spcAft>
                <a:spcPts val="800"/>
              </a:spcAft>
              <a:buSzPct val="100000"/>
              <a:buChar char="●"/>
            </a:pPr>
            <a:r>
              <a:rPr lang="en-US" sz="1350" dirty="0">
                <a:solidFill>
                  <a:schemeClr val="tx1"/>
                </a:solidFill>
                <a:latin typeface="Ebrima" pitchFamily="34" charset="0"/>
                <a:ea typeface="Ebrima" pitchFamily="34" charset="-122"/>
                <a:cs typeface="Ebrima" pitchFamily="34" charset="-120"/>
              </a:rPr>
              <a:t>How existing books move to the new library</a:t>
            </a:r>
            <a:endParaRPr lang="en-US" sz="1350" dirty="0"/>
          </a:p>
          <a:p>
            <a:pPr marL="342900" indent="-342900">
              <a:spcAft>
                <a:spcPts val="800"/>
              </a:spcAft>
              <a:buSzPct val="100000"/>
              <a:buChar char="●"/>
            </a:pPr>
            <a:r>
              <a:rPr lang="en-US" sz="1350" dirty="0">
                <a:solidFill>
                  <a:schemeClr val="tx1"/>
                </a:solidFill>
                <a:latin typeface="Ebrima" pitchFamily="34" charset="0"/>
                <a:ea typeface="Ebrima" pitchFamily="34" charset="-122"/>
                <a:cs typeface="Ebrima" pitchFamily="34" charset="-120"/>
              </a:rPr>
              <a:t>Formula for participation and academic scores</a:t>
            </a:r>
            <a:endParaRPr lang="en-US" sz="1350" dirty="0"/>
          </a:p>
          <a:p>
            <a:pPr marL="342900" indent="-342900">
              <a:spcAft>
                <a:spcPts val="800"/>
              </a:spcAft>
              <a:buSzPct val="100000"/>
              <a:buChar char="●"/>
            </a:pPr>
            <a:r>
              <a:rPr lang="en-US" sz="1350" dirty="0">
                <a:solidFill>
                  <a:schemeClr val="tx1"/>
                </a:solidFill>
                <a:latin typeface="Ebrima" pitchFamily="34" charset="0"/>
                <a:ea typeface="Ebrima" pitchFamily="34" charset="-122"/>
                <a:cs typeface="Ebrima" pitchFamily="34" charset="-120"/>
              </a:rPr>
              <a:t>What happens when signing out with unsent records</a:t>
            </a:r>
            <a:endParaRPr lang="en-US" sz="1350" dirty="0"/>
          </a:p>
          <a:p>
            <a:pPr marL="342900" indent="-342900">
              <a:spcAft>
                <a:spcPts val="800"/>
              </a:spcAft>
              <a:buSzPct val="100000"/>
              <a:buChar char="●"/>
            </a:pPr>
            <a:r>
              <a:rPr lang="en-US" sz="1350" dirty="0">
                <a:solidFill>
                  <a:schemeClr val="tx1"/>
                </a:solidFill>
                <a:latin typeface="Ebrima" pitchFamily="34" charset="0"/>
                <a:ea typeface="Ebrima" pitchFamily="34" charset="-122"/>
                <a:cs typeface="Ebrima" pitchFamily="34" charset="-120"/>
              </a:rPr>
              <a:t>Rule for the selection service bonus</a:t>
            </a:r>
            <a:endParaRPr lang="en-US" sz="1350" dirty="0"/>
          </a:p>
        </p:txBody>
      </p:sp>
      <p:sp>
        <p:nvSpPr>
          <p:cNvPr id="31" name="Text 29"/>
          <p:cNvSpPr txBox="1"/>
          <p:nvPr/>
        </p:nvSpPr>
        <p:spPr>
          <a:xfrm>
            <a:off x="548640" y="5989320"/>
            <a:ext cx="7040880" cy="274320"/>
          </a:xfrm>
          <a:prstGeom prst="rect">
            <a:avLst/>
          </a:prstGeom>
          <a:noFill/>
          <a:ln/>
        </p:spPr>
        <p:txBody>
          <a:bodyPr wrap="square" lIns="0" tIns="0" rIns="0" bIns="0" rtlCol="0" anchor="t"/>
          <a:lstStyle/>
          <a:p>
            <a:pPr indent="0" marL="0">
              <a:buNone/>
            </a:pPr>
            <a:r>
              <a:rPr lang="en-US" sz="1050" i="1" dirty="0">
                <a:solidFill>
                  <a:schemeClr val="accent4"/>
                </a:solidFill>
                <a:latin typeface="Ebrima" pitchFamily="34" charset="0"/>
                <a:ea typeface="Ebrima" pitchFamily="34" charset="-122"/>
                <a:cs typeface="Ebrima" pitchFamily="34" charset="-120"/>
              </a:rPr>
              <a:t>Numbers (+17…+24) are planned build numbers; the first three are in testing</a:t>
            </a:r>
            <a:endParaRPr lang="en-US" sz="10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Future Opportunities (Proposals)</a:t>
            </a:r>
            <a:endParaRPr lang="en-US" sz="3400" dirty="0"/>
          </a:p>
        </p:txBody>
      </p:sp>
      <p:sp>
        <p:nvSpPr>
          <p:cNvPr id="3" name="Shape 1"/>
          <p:cNvSpPr/>
          <p:nvPr/>
        </p:nvSpPr>
        <p:spPr>
          <a:xfrm>
            <a:off x="548640" y="1325880"/>
            <a:ext cx="5120640" cy="502920"/>
          </a:xfrm>
          <a:prstGeom prst="roundRect">
            <a:avLst>
              <a:gd name="adj" fmla="val 36364"/>
            </a:avLst>
          </a:prstGeom>
          <a:solidFill>
            <a:schemeClr val="accent2"/>
          </a:solidFill>
          <a:ln/>
        </p:spPr>
      </p:sp>
      <p:sp>
        <p:nvSpPr>
          <p:cNvPr id="4" name="Text 2"/>
          <p:cNvSpPr txBox="1"/>
          <p:nvPr/>
        </p:nvSpPr>
        <p:spPr>
          <a:xfrm>
            <a:off x="548640" y="1325880"/>
            <a:ext cx="512064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Ebrima" pitchFamily="34" charset="0"/>
                <a:ea typeface="Ebrima" pitchFamily="34" charset="-122"/>
                <a:cs typeface="Ebrima" pitchFamily="34" charset="-120"/>
              </a:rPr>
              <a:t>Proposals only — not yet decided or built</a:t>
            </a:r>
            <a:endParaRPr lang="en-US" sz="1400" dirty="0"/>
          </a:p>
        </p:txBody>
      </p:sp>
      <p:sp>
        <p:nvSpPr>
          <p:cNvPr id="5" name="Shape 3"/>
          <p:cNvSpPr/>
          <p:nvPr/>
        </p:nvSpPr>
        <p:spPr>
          <a:xfrm>
            <a:off x="548640" y="2103120"/>
            <a:ext cx="3520440" cy="1874520"/>
          </a:xfrm>
          <a:prstGeom prst="roundRect">
            <a:avLst>
              <a:gd name="adj" fmla="val 5854"/>
            </a:avLst>
          </a:prstGeom>
          <a:solidFill>
            <a:schemeClr val="bg1"/>
          </a:solidFill>
          <a:ln w="12700">
            <a:solidFill>
              <a:srgbClr val="E0C9CE"/>
            </a:solidFill>
            <a:prstDash val="solid"/>
          </a:ln>
        </p:spPr>
      </p:sp>
      <p:sp>
        <p:nvSpPr>
          <p:cNvPr id="6" name="Shape 4"/>
          <p:cNvSpPr/>
          <p:nvPr/>
        </p:nvSpPr>
        <p:spPr>
          <a:xfrm>
            <a:off x="777240" y="2331720"/>
            <a:ext cx="594360" cy="59436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19886" y="2474366"/>
            <a:ext cx="309067" cy="309067"/>
          </a:xfrm>
          <a:prstGeom prst="rect">
            <a:avLst/>
          </a:prstGeom>
        </p:spPr>
      </p:pic>
      <p:sp>
        <p:nvSpPr>
          <p:cNvPr id="8" name="Text 5"/>
          <p:cNvSpPr txBox="1"/>
          <p:nvPr/>
        </p:nvSpPr>
        <p:spPr>
          <a:xfrm>
            <a:off x="1508760" y="2359152"/>
            <a:ext cx="2423160" cy="54864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iPhone (iOS) version</a:t>
            </a:r>
            <a:endParaRPr lang="en-US" sz="1500" dirty="0"/>
          </a:p>
        </p:txBody>
      </p:sp>
      <p:sp>
        <p:nvSpPr>
          <p:cNvPr id="9" name="Text 6"/>
          <p:cNvSpPr txBox="1"/>
          <p:nvPr/>
        </p:nvSpPr>
        <p:spPr>
          <a:xfrm>
            <a:off x="777240" y="3063240"/>
            <a:ext cx="3108960" cy="8229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The project is set up; building and distribution remain</a:t>
            </a:r>
            <a:endParaRPr lang="en-US" sz="1300" dirty="0"/>
          </a:p>
        </p:txBody>
      </p:sp>
      <p:sp>
        <p:nvSpPr>
          <p:cNvPr id="10" name="Shape 7"/>
          <p:cNvSpPr/>
          <p:nvPr/>
        </p:nvSpPr>
        <p:spPr>
          <a:xfrm>
            <a:off x="4297680" y="2103120"/>
            <a:ext cx="3520440" cy="1874520"/>
          </a:xfrm>
          <a:prstGeom prst="roundRect">
            <a:avLst>
              <a:gd name="adj" fmla="val 5854"/>
            </a:avLst>
          </a:prstGeom>
          <a:solidFill>
            <a:schemeClr val="bg1"/>
          </a:solidFill>
          <a:ln w="12700">
            <a:solidFill>
              <a:srgbClr val="E0C9CE"/>
            </a:solidFill>
            <a:prstDash val="solid"/>
          </a:ln>
        </p:spPr>
      </p:sp>
      <p:sp>
        <p:nvSpPr>
          <p:cNvPr id="11" name="Shape 8"/>
          <p:cNvSpPr/>
          <p:nvPr/>
        </p:nvSpPr>
        <p:spPr>
          <a:xfrm>
            <a:off x="4526280" y="2331720"/>
            <a:ext cx="594360" cy="59436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668926" y="2474366"/>
            <a:ext cx="309067" cy="309067"/>
          </a:xfrm>
          <a:prstGeom prst="rect">
            <a:avLst/>
          </a:prstGeom>
        </p:spPr>
      </p:pic>
      <p:sp>
        <p:nvSpPr>
          <p:cNvPr id="13" name="Text 9"/>
          <p:cNvSpPr txBox="1"/>
          <p:nvPr/>
        </p:nvSpPr>
        <p:spPr>
          <a:xfrm>
            <a:off x="5257800" y="2359152"/>
            <a:ext cx="2423160" cy="54864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Automatic backups</a:t>
            </a:r>
            <a:endParaRPr lang="en-US" sz="1500" dirty="0"/>
          </a:p>
        </p:txBody>
      </p:sp>
      <p:sp>
        <p:nvSpPr>
          <p:cNvPr id="14" name="Text 10"/>
          <p:cNvSpPr txBox="1"/>
          <p:nvPr/>
        </p:nvSpPr>
        <p:spPr>
          <a:xfrm>
            <a:off x="4526280" y="3063240"/>
            <a:ext cx="3108960" cy="8229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Regular off-server backups of the database and files</a:t>
            </a:r>
            <a:endParaRPr lang="en-US" sz="1300" dirty="0"/>
          </a:p>
        </p:txBody>
      </p:sp>
      <p:sp>
        <p:nvSpPr>
          <p:cNvPr id="15" name="Shape 11"/>
          <p:cNvSpPr/>
          <p:nvPr/>
        </p:nvSpPr>
        <p:spPr>
          <a:xfrm>
            <a:off x="8046720" y="2103120"/>
            <a:ext cx="3520440" cy="1874520"/>
          </a:xfrm>
          <a:prstGeom prst="roundRect">
            <a:avLst>
              <a:gd name="adj" fmla="val 5854"/>
            </a:avLst>
          </a:prstGeom>
          <a:solidFill>
            <a:schemeClr val="bg1"/>
          </a:solidFill>
          <a:ln w="12700">
            <a:solidFill>
              <a:srgbClr val="E0C9CE"/>
            </a:solidFill>
            <a:prstDash val="solid"/>
          </a:ln>
        </p:spPr>
      </p:sp>
      <p:sp>
        <p:nvSpPr>
          <p:cNvPr id="16" name="Shape 12"/>
          <p:cNvSpPr/>
          <p:nvPr/>
        </p:nvSpPr>
        <p:spPr>
          <a:xfrm>
            <a:off x="8275320" y="2331720"/>
            <a:ext cx="594360" cy="59436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417966" y="2474366"/>
            <a:ext cx="309067" cy="309067"/>
          </a:xfrm>
          <a:prstGeom prst="rect">
            <a:avLst/>
          </a:prstGeom>
        </p:spPr>
      </p:pic>
      <p:sp>
        <p:nvSpPr>
          <p:cNvPr id="18" name="Text 13"/>
          <p:cNvSpPr txBox="1"/>
          <p:nvPr/>
        </p:nvSpPr>
        <p:spPr>
          <a:xfrm>
            <a:off x="9006840" y="2359152"/>
            <a:ext cx="2423160" cy="54864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Monitoring and alerts</a:t>
            </a:r>
            <a:endParaRPr lang="en-US" sz="1500" dirty="0"/>
          </a:p>
        </p:txBody>
      </p:sp>
      <p:sp>
        <p:nvSpPr>
          <p:cNvPr id="19" name="Text 14"/>
          <p:cNvSpPr txBox="1"/>
          <p:nvPr/>
        </p:nvSpPr>
        <p:spPr>
          <a:xfrm>
            <a:off x="8275320" y="3063240"/>
            <a:ext cx="3108960" cy="8229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Notify leads when the server is down or a job fails</a:t>
            </a:r>
            <a:endParaRPr lang="en-US" sz="1300" dirty="0"/>
          </a:p>
        </p:txBody>
      </p:sp>
      <p:sp>
        <p:nvSpPr>
          <p:cNvPr id="20" name="Shape 15"/>
          <p:cNvSpPr/>
          <p:nvPr/>
        </p:nvSpPr>
        <p:spPr>
          <a:xfrm>
            <a:off x="548640" y="4160520"/>
            <a:ext cx="3520440" cy="1874520"/>
          </a:xfrm>
          <a:prstGeom prst="roundRect">
            <a:avLst>
              <a:gd name="adj" fmla="val 5854"/>
            </a:avLst>
          </a:prstGeom>
          <a:solidFill>
            <a:schemeClr val="bg1"/>
          </a:solidFill>
          <a:ln w="12700">
            <a:solidFill>
              <a:srgbClr val="E0C9CE"/>
            </a:solidFill>
            <a:prstDash val="solid"/>
          </a:ln>
        </p:spPr>
      </p:sp>
      <p:sp>
        <p:nvSpPr>
          <p:cNvPr id="21" name="Shape 16"/>
          <p:cNvSpPr/>
          <p:nvPr/>
        </p:nvSpPr>
        <p:spPr>
          <a:xfrm>
            <a:off x="777240" y="4389120"/>
            <a:ext cx="594360" cy="594360"/>
          </a:xfrm>
          <a:prstGeom prst="ellipse">
            <a:avLst/>
          </a:prstGeom>
          <a:solidFill>
            <a:schemeClr val="accent2"/>
          </a:solidFill>
          <a:ln/>
        </p:spPr>
      </p:sp>
      <p:pic>
        <p:nvPicPr>
          <p:cNvPr id="22" name="Image 3" descr="preencoded.png">    </p:cNvPr>
          <p:cNvPicPr>
            <a:picLocks noChangeAspect="1"/>
          </p:cNvPicPr>
          <p:nvPr/>
        </p:nvPicPr>
        <p:blipFill>
          <a:blip r:embed="rId4"/>
          <a:stretch>
            <a:fillRect/>
          </a:stretch>
        </p:blipFill>
        <p:spPr>
          <a:xfrm>
            <a:off x="919886" y="4531766"/>
            <a:ext cx="309067" cy="309067"/>
          </a:xfrm>
          <a:prstGeom prst="rect">
            <a:avLst/>
          </a:prstGeom>
        </p:spPr>
      </p:pic>
      <p:sp>
        <p:nvSpPr>
          <p:cNvPr id="23" name="Text 17"/>
          <p:cNvSpPr txBox="1"/>
          <p:nvPr/>
        </p:nvSpPr>
        <p:spPr>
          <a:xfrm>
            <a:off x="1508760" y="4416552"/>
            <a:ext cx="2423160" cy="54864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Scheduled job runner</a:t>
            </a:r>
            <a:endParaRPr lang="en-US" sz="1500" dirty="0"/>
          </a:p>
        </p:txBody>
      </p:sp>
      <p:sp>
        <p:nvSpPr>
          <p:cNvPr id="24" name="Text 18"/>
          <p:cNvSpPr txBox="1"/>
          <p:nvPr/>
        </p:nvSpPr>
        <p:spPr>
          <a:xfrm>
            <a:off x="777240" y="5120640"/>
            <a:ext cx="3108960" cy="8229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So reminders go out at the exact time (cron)</a:t>
            </a:r>
            <a:endParaRPr lang="en-US" sz="1300" dirty="0"/>
          </a:p>
        </p:txBody>
      </p:sp>
      <p:sp>
        <p:nvSpPr>
          <p:cNvPr id="25" name="Shape 19"/>
          <p:cNvSpPr/>
          <p:nvPr/>
        </p:nvSpPr>
        <p:spPr>
          <a:xfrm>
            <a:off x="4297680" y="4160520"/>
            <a:ext cx="3520440" cy="1874520"/>
          </a:xfrm>
          <a:prstGeom prst="roundRect">
            <a:avLst>
              <a:gd name="adj" fmla="val 5854"/>
            </a:avLst>
          </a:prstGeom>
          <a:solidFill>
            <a:schemeClr val="bg1"/>
          </a:solidFill>
          <a:ln w="12700">
            <a:solidFill>
              <a:srgbClr val="E0C9CE"/>
            </a:solidFill>
            <a:prstDash val="solid"/>
          </a:ln>
        </p:spPr>
      </p:sp>
      <p:sp>
        <p:nvSpPr>
          <p:cNvPr id="26" name="Shape 20"/>
          <p:cNvSpPr/>
          <p:nvPr/>
        </p:nvSpPr>
        <p:spPr>
          <a:xfrm>
            <a:off x="4526280" y="4389120"/>
            <a:ext cx="594360" cy="594360"/>
          </a:xfrm>
          <a:prstGeom prst="ellipse">
            <a:avLst/>
          </a:prstGeom>
          <a:solidFill>
            <a:schemeClr val="accent2"/>
          </a:solidFill>
          <a:ln/>
        </p:spPr>
      </p:sp>
      <p:pic>
        <p:nvPicPr>
          <p:cNvPr id="27" name="Image 4" descr="preencoded.png">    </p:cNvPr>
          <p:cNvPicPr>
            <a:picLocks noChangeAspect="1"/>
          </p:cNvPicPr>
          <p:nvPr/>
        </p:nvPicPr>
        <p:blipFill>
          <a:blip r:embed="rId5"/>
          <a:stretch>
            <a:fillRect/>
          </a:stretch>
        </p:blipFill>
        <p:spPr>
          <a:xfrm>
            <a:off x="4668926" y="4531766"/>
            <a:ext cx="309067" cy="309067"/>
          </a:xfrm>
          <a:prstGeom prst="rect">
            <a:avLst/>
          </a:prstGeom>
        </p:spPr>
      </p:pic>
      <p:sp>
        <p:nvSpPr>
          <p:cNvPr id="28" name="Text 21"/>
          <p:cNvSpPr txBox="1"/>
          <p:nvPr/>
        </p:nvSpPr>
        <p:spPr>
          <a:xfrm>
            <a:off x="5257800" y="4416552"/>
            <a:ext cx="2423160" cy="54864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Online payment option</a:t>
            </a:r>
            <a:endParaRPr lang="en-US" sz="1500" dirty="0"/>
          </a:p>
        </p:txBody>
      </p:sp>
      <p:sp>
        <p:nvSpPr>
          <p:cNvPr id="29" name="Text 22"/>
          <p:cNvSpPr txBox="1"/>
          <p:nvPr/>
        </p:nvSpPr>
        <p:spPr>
          <a:xfrm>
            <a:off x="4526280" y="5120640"/>
            <a:ext cx="3108960" cy="8229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For discussion — requires a leadership decision</a:t>
            </a:r>
            <a:endParaRPr lang="en-US" sz="1300" dirty="0"/>
          </a:p>
        </p:txBody>
      </p:sp>
      <p:sp>
        <p:nvSpPr>
          <p:cNvPr id="30" name="Shape 23"/>
          <p:cNvSpPr/>
          <p:nvPr/>
        </p:nvSpPr>
        <p:spPr>
          <a:xfrm>
            <a:off x="8046720" y="4160520"/>
            <a:ext cx="3520440" cy="1874520"/>
          </a:xfrm>
          <a:prstGeom prst="roundRect">
            <a:avLst>
              <a:gd name="adj" fmla="val 5854"/>
            </a:avLst>
          </a:prstGeom>
          <a:solidFill>
            <a:schemeClr val="bg1"/>
          </a:solidFill>
          <a:ln w="12700">
            <a:solidFill>
              <a:srgbClr val="E0C9CE"/>
            </a:solidFill>
            <a:prstDash val="solid"/>
          </a:ln>
        </p:spPr>
      </p:sp>
      <p:sp>
        <p:nvSpPr>
          <p:cNvPr id="31" name="Shape 24"/>
          <p:cNvSpPr/>
          <p:nvPr/>
        </p:nvSpPr>
        <p:spPr>
          <a:xfrm>
            <a:off x="8275320" y="4389120"/>
            <a:ext cx="594360" cy="594360"/>
          </a:xfrm>
          <a:prstGeom prst="ellipse">
            <a:avLst/>
          </a:prstGeom>
          <a:solidFill>
            <a:schemeClr val="accent2"/>
          </a:solidFill>
          <a:ln/>
        </p:spPr>
      </p:sp>
      <p:pic>
        <p:nvPicPr>
          <p:cNvPr id="32" name="Image 5" descr="preencoded.png">    </p:cNvPr>
          <p:cNvPicPr>
            <a:picLocks noChangeAspect="1"/>
          </p:cNvPicPr>
          <p:nvPr/>
        </p:nvPicPr>
        <p:blipFill>
          <a:blip r:embed="rId6"/>
          <a:stretch>
            <a:fillRect/>
          </a:stretch>
        </p:blipFill>
        <p:spPr>
          <a:xfrm>
            <a:off x="8417966" y="4531766"/>
            <a:ext cx="309067" cy="309067"/>
          </a:xfrm>
          <a:prstGeom prst="rect">
            <a:avLst/>
          </a:prstGeom>
        </p:spPr>
      </p:pic>
      <p:sp>
        <p:nvSpPr>
          <p:cNvPr id="33" name="Text 25"/>
          <p:cNvSpPr txBox="1"/>
          <p:nvPr/>
        </p:nvSpPr>
        <p:spPr>
          <a:xfrm>
            <a:off x="9006840" y="4416552"/>
            <a:ext cx="2423160" cy="548640"/>
          </a:xfrm>
          <a:prstGeom prst="rect">
            <a:avLst/>
          </a:prstGeom>
          <a:noFill/>
          <a:ln/>
        </p:spPr>
        <p:txBody>
          <a:bodyPr wrap="square" lIns="0" tIns="0" rIns="0" bIns="0" rtlCol="0" anchor="ctr"/>
          <a:lstStyle/>
          <a:p>
            <a:pPr indent="0" marL="0">
              <a:buNone/>
            </a:pPr>
            <a:r>
              <a:rPr lang="en-US" sz="1500" b="1" dirty="0">
                <a:solidFill>
                  <a:schemeClr val="accent1"/>
                </a:solidFill>
                <a:latin typeface="Ebrima" pitchFamily="34" charset="0"/>
                <a:ea typeface="Ebrima" pitchFamily="34" charset="-122"/>
                <a:cs typeface="Ebrima" pitchFamily="34" charset="-120"/>
              </a:rPr>
              <a:t>Automated quality checks</a:t>
            </a:r>
            <a:endParaRPr lang="en-US" sz="1500" dirty="0"/>
          </a:p>
        </p:txBody>
      </p:sp>
      <p:sp>
        <p:nvSpPr>
          <p:cNvPr id="34" name="Text 26"/>
          <p:cNvSpPr txBox="1"/>
          <p:nvPr/>
        </p:nvSpPr>
        <p:spPr>
          <a:xfrm>
            <a:off x="8275320" y="5120640"/>
            <a:ext cx="3108960" cy="822960"/>
          </a:xfrm>
          <a:prstGeom prst="rect">
            <a:avLst/>
          </a:prstGeom>
          <a:noFill/>
          <a:ln/>
        </p:spPr>
        <p:txBody>
          <a:bodyPr wrap="square" lIns="0" tIns="0" rIns="0" bIns="0" rtlCol="0" anchor="t"/>
          <a:lstStyle/>
          <a:p>
            <a:pPr indent="0" marL="0">
              <a:buNone/>
            </a:pPr>
            <a:r>
              <a:rPr lang="en-US" sz="1300" dirty="0">
                <a:solidFill>
                  <a:schemeClr val="tx1"/>
                </a:solidFill>
                <a:latin typeface="Ebrima" pitchFamily="34" charset="0"/>
                <a:ea typeface="Ebrima" pitchFamily="34" charset="-122"/>
                <a:cs typeface="Ebrima" pitchFamily="34" charset="-120"/>
              </a:rPr>
              <a:t>Every change tested automatically before release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0241280" cy="777240"/>
          </a:xfrm>
          <a:prstGeom prst="rect">
            <a:avLst/>
          </a:prstGeom>
          <a:noFill/>
          <a:ln/>
        </p:spPr>
        <p:txBody>
          <a:bodyPr wrap="square" lIns="0" tIns="0" rIns="0" bIns="0" rtlCol="0" anchor="ctr"/>
          <a:lstStyle/>
          <a:p>
            <a:pPr algn="l" indent="0" marL="0">
              <a:buNone/>
            </a:pPr>
            <a:r>
              <a:rPr lang="en-US" sz="3400" dirty="0">
                <a:solidFill>
                  <a:schemeClr val="accent1"/>
                </a:solidFill>
                <a:latin typeface="Nyala" pitchFamily="34" charset="0"/>
                <a:ea typeface="Nyala" pitchFamily="34" charset="-122"/>
                <a:cs typeface="Nyala" pitchFamily="34" charset="-120"/>
              </a:rPr>
              <a:t>Conclusion and Next Steps</a:t>
            </a:r>
            <a:endParaRPr lang="en-US" sz="3400" dirty="0"/>
          </a:p>
        </p:txBody>
      </p:sp>
      <p:sp>
        <p:nvSpPr>
          <p:cNvPr id="3" name="Shape 1"/>
          <p:cNvSpPr/>
          <p:nvPr/>
        </p:nvSpPr>
        <p:spPr>
          <a:xfrm>
            <a:off x="548640" y="1325880"/>
            <a:ext cx="5394960" cy="4846320"/>
          </a:xfrm>
          <a:prstGeom prst="roundRect">
            <a:avLst>
              <a:gd name="adj" fmla="val 2264"/>
            </a:avLst>
          </a:prstGeom>
          <a:solidFill>
            <a:schemeClr val="accent1"/>
          </a:solidFill>
          <a:ln/>
        </p:spPr>
      </p:sp>
      <p:sp>
        <p:nvSpPr>
          <p:cNvPr id="4" name="Text 2"/>
          <p:cNvSpPr txBox="1"/>
          <p:nvPr/>
        </p:nvSpPr>
        <p:spPr>
          <a:xfrm>
            <a:off x="822960" y="1463040"/>
            <a:ext cx="4846320" cy="457200"/>
          </a:xfrm>
          <a:prstGeom prst="rect">
            <a:avLst/>
          </a:prstGeom>
          <a:noFill/>
          <a:ln/>
        </p:spPr>
        <p:txBody>
          <a:bodyPr wrap="square" lIns="0" tIns="0" rIns="0" bIns="0" rtlCol="0" anchor="t"/>
          <a:lstStyle/>
          <a:p>
            <a:pPr indent="0" marL="0">
              <a:buNone/>
            </a:pPr>
            <a:r>
              <a:rPr lang="en-US" sz="1900" b="1" dirty="0">
                <a:solidFill>
                  <a:schemeClr val="accent2"/>
                </a:solidFill>
                <a:latin typeface="Ebrima" pitchFamily="34" charset="0"/>
                <a:ea typeface="Ebrima" pitchFamily="34" charset="-122"/>
                <a:cs typeface="Ebrima" pitchFamily="34" charset="-120"/>
              </a:rPr>
              <a:t>Summary</a:t>
            </a:r>
            <a:endParaRPr lang="en-US" sz="1900" dirty="0"/>
          </a:p>
        </p:txBody>
      </p:sp>
      <p:sp>
        <p:nvSpPr>
          <p:cNvPr id="5" name="Text 3"/>
          <p:cNvSpPr txBox="1"/>
          <p:nvPr/>
        </p:nvSpPr>
        <p:spPr>
          <a:xfrm>
            <a:off x="822960" y="2057400"/>
            <a:ext cx="4892040" cy="393192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chemeClr val="bg1"/>
                </a:solidFill>
                <a:latin typeface="Ebrima" pitchFamily="34" charset="0"/>
                <a:ea typeface="Ebrima" pitchFamily="34" charset="-122"/>
                <a:cs typeface="Ebrima" pitchFamily="34" charset="-120"/>
              </a:rPr>
              <a:t>Meserete Hiwot brings the Sunday School's main activities together in one app</a:t>
            </a:r>
            <a:endParaRPr lang="en-US" sz="1550" dirty="0"/>
          </a:p>
          <a:p>
            <a:pPr marL="342900" indent="-342900">
              <a:spcAft>
                <a:spcPts val="1200"/>
              </a:spcAft>
              <a:buSzPct val="100000"/>
              <a:buChar char="●"/>
            </a:pPr>
            <a:r>
              <a:rPr lang="en-US" sz="1550" dirty="0">
                <a:solidFill>
                  <a:schemeClr val="bg1"/>
                </a:solidFill>
                <a:latin typeface="Ebrima" pitchFamily="34" charset="0"/>
                <a:ea typeface="Ebrima" pitchFamily="34" charset="-122"/>
                <a:cs typeface="Ebrima" pitchFamily="34" charset="-120"/>
              </a:rPr>
              <a:t>Attendance, marks and selection work transparently and accountably</a:t>
            </a:r>
            <a:endParaRPr lang="en-US" sz="1550" dirty="0"/>
          </a:p>
          <a:p>
            <a:pPr marL="342900" indent="-342900">
              <a:spcAft>
                <a:spcPts val="1200"/>
              </a:spcAft>
              <a:buSzPct val="100000"/>
              <a:buChar char="●"/>
            </a:pPr>
            <a:r>
              <a:rPr lang="en-US" sz="1550" dirty="0">
                <a:solidFill>
                  <a:schemeClr val="bg1"/>
                </a:solidFill>
                <a:latin typeface="Ebrima" pitchFamily="34" charset="0"/>
                <a:ea typeface="Ebrima" pitchFamily="34" charset="-122"/>
                <a:cs typeface="Ebrima" pitchFamily="34" charset="-120"/>
              </a:rPr>
              <a:t>Members' information is carefully protected</a:t>
            </a:r>
            <a:endParaRPr lang="en-US" sz="1550" dirty="0"/>
          </a:p>
          <a:p>
            <a:pPr marL="342900" indent="-342900">
              <a:spcAft>
                <a:spcPts val="1200"/>
              </a:spcAft>
              <a:buSzPct val="100000"/>
              <a:buChar char="●"/>
            </a:pPr>
            <a:r>
              <a:rPr lang="en-US" sz="1550" dirty="0">
                <a:solidFill>
                  <a:schemeClr val="bg1"/>
                </a:solidFill>
                <a:latin typeface="Ebrima" pitchFamily="34" charset="0"/>
                <a:ea typeface="Ebrima" pitchFamily="34" charset="-122"/>
                <a:cs typeface="Ebrima" pitchFamily="34" charset="-120"/>
              </a:rPr>
              <a:t>Most features work today; the rest are on a clear plan</a:t>
            </a:r>
            <a:endParaRPr lang="en-US" sz="1550" dirty="0"/>
          </a:p>
        </p:txBody>
      </p:sp>
      <p:sp>
        <p:nvSpPr>
          <p:cNvPr id="6" name="Text 4"/>
          <p:cNvSpPr txBox="1"/>
          <p:nvPr/>
        </p:nvSpPr>
        <p:spPr>
          <a:xfrm>
            <a:off x="6355080" y="1325880"/>
            <a:ext cx="5303520" cy="457200"/>
          </a:xfrm>
          <a:prstGeom prst="rect">
            <a:avLst/>
          </a:prstGeom>
          <a:noFill/>
          <a:ln/>
        </p:spPr>
        <p:txBody>
          <a:bodyPr wrap="square" lIns="0" tIns="0" rIns="0" bIns="0" rtlCol="0" anchor="t"/>
          <a:lstStyle/>
          <a:p>
            <a:pPr indent="0" marL="0">
              <a:buNone/>
            </a:pPr>
            <a:r>
              <a:rPr lang="en-US" sz="1900" b="1" dirty="0">
                <a:solidFill>
                  <a:schemeClr val="accent1"/>
                </a:solidFill>
                <a:latin typeface="Ebrima" pitchFamily="34" charset="0"/>
                <a:ea typeface="Ebrima" pitchFamily="34" charset="-122"/>
                <a:cs typeface="Ebrima" pitchFamily="34" charset="-120"/>
              </a:rPr>
              <a:t>Next steps</a:t>
            </a:r>
            <a:endParaRPr lang="en-US" sz="1900" dirty="0"/>
          </a:p>
        </p:txBody>
      </p:sp>
      <p:sp>
        <p:nvSpPr>
          <p:cNvPr id="7" name="Shape 5"/>
          <p:cNvSpPr/>
          <p:nvPr/>
        </p:nvSpPr>
        <p:spPr>
          <a:xfrm>
            <a:off x="6355080" y="1920240"/>
            <a:ext cx="566928" cy="566928"/>
          </a:xfrm>
          <a:prstGeom prst="ellipse">
            <a:avLst/>
          </a:prstGeom>
          <a:solidFill>
            <a:schemeClr val="accent2"/>
          </a:solidFill>
          <a:ln/>
        </p:spPr>
      </p:sp>
      <p:sp>
        <p:nvSpPr>
          <p:cNvPr id="8" name="Text 6"/>
          <p:cNvSpPr txBox="1"/>
          <p:nvPr/>
        </p:nvSpPr>
        <p:spPr>
          <a:xfrm>
            <a:off x="6355080" y="192024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Ebrima" pitchFamily="34" charset="0"/>
                <a:ea typeface="Ebrima" pitchFamily="34" charset="-122"/>
                <a:cs typeface="Ebrima" pitchFamily="34" charset="-120"/>
              </a:rPr>
              <a:t>1</a:t>
            </a:r>
            <a:endParaRPr lang="en-US" sz="1600" dirty="0"/>
          </a:p>
        </p:txBody>
      </p:sp>
      <p:sp>
        <p:nvSpPr>
          <p:cNvPr id="9" name="Text 7"/>
          <p:cNvSpPr txBox="1"/>
          <p:nvPr/>
        </p:nvSpPr>
        <p:spPr>
          <a:xfrm>
            <a:off x="7086600" y="1920240"/>
            <a:ext cx="457200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Test and release the pending updates</a:t>
            </a:r>
            <a:endParaRPr lang="en-US" sz="1500" dirty="0"/>
          </a:p>
        </p:txBody>
      </p:sp>
      <p:sp>
        <p:nvSpPr>
          <p:cNvPr id="10" name="Shape 8"/>
          <p:cNvSpPr/>
          <p:nvPr/>
        </p:nvSpPr>
        <p:spPr>
          <a:xfrm>
            <a:off x="6355080" y="2761488"/>
            <a:ext cx="566928" cy="566928"/>
          </a:xfrm>
          <a:prstGeom prst="ellipse">
            <a:avLst/>
          </a:prstGeom>
          <a:solidFill>
            <a:schemeClr val="accent2"/>
          </a:solidFill>
          <a:ln/>
        </p:spPr>
      </p:sp>
      <p:sp>
        <p:nvSpPr>
          <p:cNvPr id="11" name="Text 9"/>
          <p:cNvSpPr txBox="1"/>
          <p:nvPr/>
        </p:nvSpPr>
        <p:spPr>
          <a:xfrm>
            <a:off x="6355080" y="2761488"/>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Ebrima" pitchFamily="34" charset="0"/>
                <a:ea typeface="Ebrima" pitchFamily="34" charset="-122"/>
                <a:cs typeface="Ebrima" pitchFamily="34" charset="-120"/>
              </a:rPr>
              <a:t>2</a:t>
            </a:r>
            <a:endParaRPr lang="en-US" sz="1600" dirty="0"/>
          </a:p>
        </p:txBody>
      </p:sp>
      <p:sp>
        <p:nvSpPr>
          <p:cNvPr id="12" name="Text 10"/>
          <p:cNvSpPr txBox="1"/>
          <p:nvPr/>
        </p:nvSpPr>
        <p:spPr>
          <a:xfrm>
            <a:off x="7086600" y="2761488"/>
            <a:ext cx="457200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Make the pending leadership decisions</a:t>
            </a:r>
            <a:endParaRPr lang="en-US" sz="1500" dirty="0"/>
          </a:p>
        </p:txBody>
      </p:sp>
      <p:sp>
        <p:nvSpPr>
          <p:cNvPr id="13" name="Shape 11"/>
          <p:cNvSpPr/>
          <p:nvPr/>
        </p:nvSpPr>
        <p:spPr>
          <a:xfrm>
            <a:off x="6355080" y="3602736"/>
            <a:ext cx="566928" cy="566928"/>
          </a:xfrm>
          <a:prstGeom prst="ellipse">
            <a:avLst/>
          </a:prstGeom>
          <a:solidFill>
            <a:schemeClr val="accent2"/>
          </a:solidFill>
          <a:ln/>
        </p:spPr>
      </p:sp>
      <p:sp>
        <p:nvSpPr>
          <p:cNvPr id="14" name="Text 12"/>
          <p:cNvSpPr txBox="1"/>
          <p:nvPr/>
        </p:nvSpPr>
        <p:spPr>
          <a:xfrm>
            <a:off x="6355080" y="3602736"/>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Ebrima" pitchFamily="34" charset="0"/>
                <a:ea typeface="Ebrima" pitchFamily="34" charset="-122"/>
                <a:cs typeface="Ebrima" pitchFamily="34" charset="-120"/>
              </a:rPr>
              <a:t>3</a:t>
            </a:r>
            <a:endParaRPr lang="en-US" sz="1600" dirty="0"/>
          </a:p>
        </p:txBody>
      </p:sp>
      <p:sp>
        <p:nvSpPr>
          <p:cNvPr id="15" name="Text 13"/>
          <p:cNvSpPr txBox="1"/>
          <p:nvPr/>
        </p:nvSpPr>
        <p:spPr>
          <a:xfrm>
            <a:off x="7086600" y="3602736"/>
            <a:ext cx="457200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Change server passwords and strengthen security</a:t>
            </a:r>
            <a:endParaRPr lang="en-US" sz="1500" dirty="0"/>
          </a:p>
        </p:txBody>
      </p:sp>
      <p:sp>
        <p:nvSpPr>
          <p:cNvPr id="16" name="Shape 14"/>
          <p:cNvSpPr/>
          <p:nvPr/>
        </p:nvSpPr>
        <p:spPr>
          <a:xfrm>
            <a:off x="6355080" y="4443984"/>
            <a:ext cx="566928" cy="566928"/>
          </a:xfrm>
          <a:prstGeom prst="ellipse">
            <a:avLst/>
          </a:prstGeom>
          <a:solidFill>
            <a:schemeClr val="accent2"/>
          </a:solidFill>
          <a:ln/>
        </p:spPr>
      </p:sp>
      <p:sp>
        <p:nvSpPr>
          <p:cNvPr id="17" name="Text 15"/>
          <p:cNvSpPr txBox="1"/>
          <p:nvPr/>
        </p:nvSpPr>
        <p:spPr>
          <a:xfrm>
            <a:off x="6355080" y="4443984"/>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Ebrima" pitchFamily="34" charset="0"/>
                <a:ea typeface="Ebrima" pitchFamily="34" charset="-122"/>
                <a:cs typeface="Ebrima" pitchFamily="34" charset="-120"/>
              </a:rPr>
              <a:t>4</a:t>
            </a:r>
            <a:endParaRPr lang="en-US" sz="1600" dirty="0"/>
          </a:p>
        </p:txBody>
      </p:sp>
      <p:sp>
        <p:nvSpPr>
          <p:cNvPr id="18" name="Text 16"/>
          <p:cNvSpPr txBox="1"/>
          <p:nvPr/>
        </p:nvSpPr>
        <p:spPr>
          <a:xfrm>
            <a:off x="7086600" y="4443984"/>
            <a:ext cx="457200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Encourage members to install the app</a:t>
            </a:r>
            <a:endParaRPr lang="en-US" sz="1500" dirty="0"/>
          </a:p>
        </p:txBody>
      </p:sp>
      <p:sp>
        <p:nvSpPr>
          <p:cNvPr id="19" name="Shape 17"/>
          <p:cNvSpPr/>
          <p:nvPr/>
        </p:nvSpPr>
        <p:spPr>
          <a:xfrm>
            <a:off x="6355080" y="5285232"/>
            <a:ext cx="566928" cy="566928"/>
          </a:xfrm>
          <a:prstGeom prst="ellipse">
            <a:avLst/>
          </a:prstGeom>
          <a:solidFill>
            <a:schemeClr val="accent2"/>
          </a:solidFill>
          <a:ln/>
        </p:spPr>
      </p:sp>
      <p:sp>
        <p:nvSpPr>
          <p:cNvPr id="20" name="Text 18"/>
          <p:cNvSpPr txBox="1"/>
          <p:nvPr/>
        </p:nvSpPr>
        <p:spPr>
          <a:xfrm>
            <a:off x="6355080" y="5285232"/>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Ebrima" pitchFamily="34" charset="0"/>
                <a:ea typeface="Ebrima" pitchFamily="34" charset="-122"/>
                <a:cs typeface="Ebrima" pitchFamily="34" charset="-120"/>
              </a:rPr>
              <a:t>5</a:t>
            </a:r>
            <a:endParaRPr lang="en-US" sz="1600" dirty="0"/>
          </a:p>
        </p:txBody>
      </p:sp>
      <p:sp>
        <p:nvSpPr>
          <p:cNvPr id="21" name="Text 19"/>
          <p:cNvSpPr txBox="1"/>
          <p:nvPr/>
        </p:nvSpPr>
        <p:spPr>
          <a:xfrm>
            <a:off x="7086600" y="5285232"/>
            <a:ext cx="4572000" cy="566928"/>
          </a:xfrm>
          <a:prstGeom prst="rect">
            <a:avLst/>
          </a:prstGeom>
          <a:noFill/>
          <a:ln/>
        </p:spPr>
        <p:txBody>
          <a:bodyPr wrap="square" lIns="0" tIns="0" rIns="0" bIns="0" rtlCol="0" anchor="ctr"/>
          <a:lstStyle/>
          <a:p>
            <a:pPr indent="0" marL="0">
              <a:buNone/>
            </a:pPr>
            <a:r>
              <a:rPr lang="en-US" sz="1500" dirty="0">
                <a:solidFill>
                  <a:schemeClr val="tx1"/>
                </a:solidFill>
                <a:latin typeface="Ebrima" pitchFamily="34" charset="0"/>
                <a:ea typeface="Ebrima" pitchFamily="34" charset="-122"/>
                <a:cs typeface="Ebrima" pitchFamily="34" charset="-120"/>
              </a:rPr>
              <a:t>Train administrators, teachers and attendance takers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Ebrima"/>
                <a:ea typeface="Ebrima"/>
                <a:cs typeface="Ebrim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727448" y="685800"/>
            <a:ext cx="2743200" cy="2743200"/>
          </a:xfrm>
          <a:prstGeom prst="ellipse">
            <a:avLst/>
          </a:prstGeom>
          <a:solidFill>
            <a:schemeClr val="accent6"/>
          </a:solidFill>
          <a:ln w="25400">
            <a:solidFill>
              <a:schemeClr val="accent2"/>
            </a:solidFill>
            <a:prstDash val="solid"/>
          </a:ln>
        </p:spPr>
      </p:sp>
      <p:pic>
        <p:nvPicPr>
          <p:cNvPr id="3" name="Image 0" descr="C:\Users\HP\Documents\MH-app-1.5.3\mobile\mobile\assets\images\logo.jpg">    </p:cNvPr>
          <p:cNvPicPr>
            <a:picLocks noChangeAspect="1"/>
          </p:cNvPicPr>
          <p:nvPr/>
        </p:nvPicPr>
        <p:blipFill>
          <a:blip r:embed="rId1"/>
          <a:stretch>
            <a:fillRect/>
          </a:stretch>
        </p:blipFill>
        <p:spPr>
          <a:xfrm>
            <a:off x="4910328" y="868680"/>
            <a:ext cx="2377440" cy="2377440"/>
          </a:xfrm>
          <a:prstGeom prst="ellipse">
            <a:avLst/>
          </a:prstGeom>
        </p:spPr>
      </p:pic>
      <p:sp>
        <p:nvSpPr>
          <p:cNvPr id="4" name="Text 1"/>
          <p:cNvSpPr txBox="1"/>
          <p:nvPr/>
        </p:nvSpPr>
        <p:spPr>
          <a:xfrm>
            <a:off x="1371600" y="3657600"/>
            <a:ext cx="9445752" cy="914400"/>
          </a:xfrm>
          <a:prstGeom prst="rect">
            <a:avLst/>
          </a:prstGeom>
          <a:noFill/>
          <a:ln/>
        </p:spPr>
        <p:txBody>
          <a:bodyPr wrap="square" lIns="0" tIns="0" rIns="0" bIns="0" rtlCol="0" anchor="t"/>
          <a:lstStyle/>
          <a:p>
            <a:pPr algn="ctr" indent="0" marL="0">
              <a:buNone/>
            </a:pPr>
            <a:r>
              <a:rPr lang="en-US" sz="5400" dirty="0">
                <a:solidFill>
                  <a:schemeClr val="bg1"/>
                </a:solidFill>
                <a:latin typeface="Nyala" pitchFamily="34" charset="0"/>
                <a:ea typeface="Nyala" pitchFamily="34" charset="-122"/>
                <a:cs typeface="Nyala" pitchFamily="34" charset="-120"/>
              </a:rPr>
              <a:t>Thank You</a:t>
            </a:r>
            <a:endParaRPr lang="en-US" sz="5400" dirty="0"/>
          </a:p>
        </p:txBody>
      </p:sp>
      <p:sp>
        <p:nvSpPr>
          <p:cNvPr id="5" name="Text 2"/>
          <p:cNvSpPr txBox="1"/>
          <p:nvPr/>
        </p:nvSpPr>
        <p:spPr>
          <a:xfrm>
            <a:off x="1371600" y="4572000"/>
            <a:ext cx="9445752" cy="457200"/>
          </a:xfrm>
          <a:prstGeom prst="rect">
            <a:avLst/>
          </a:prstGeom>
          <a:noFill/>
          <a:ln/>
        </p:spPr>
        <p:txBody>
          <a:bodyPr wrap="square" lIns="0" tIns="0" rIns="0" bIns="0" rtlCol="0" anchor="t"/>
          <a:lstStyle/>
          <a:p>
            <a:pPr algn="ctr" indent="0" marL="0">
              <a:buNone/>
            </a:pPr>
            <a:r>
              <a:rPr lang="en-US" sz="2000" dirty="0">
                <a:solidFill>
                  <a:schemeClr val="accent2"/>
                </a:solidFill>
                <a:latin typeface="Ebrima" pitchFamily="34" charset="0"/>
                <a:ea typeface="Ebrima" pitchFamily="34" charset="-122"/>
                <a:cs typeface="Ebrima" pitchFamily="34" charset="-120"/>
              </a:rPr>
              <a:t>Questions and Feedback</a:t>
            </a:r>
            <a:endParaRPr lang="en-US" sz="2000" dirty="0"/>
          </a:p>
        </p:txBody>
      </p:sp>
      <p:sp>
        <p:nvSpPr>
          <p:cNvPr id="6" name="Text 3"/>
          <p:cNvSpPr txBox="1"/>
          <p:nvPr/>
        </p:nvSpPr>
        <p:spPr>
          <a:xfrm>
            <a:off x="1371600" y="5349240"/>
            <a:ext cx="9445752" cy="411480"/>
          </a:xfrm>
          <a:prstGeom prst="rect">
            <a:avLst/>
          </a:prstGeom>
          <a:noFill/>
          <a:ln/>
        </p:spPr>
        <p:txBody>
          <a:bodyPr wrap="square" lIns="0" tIns="0" rIns="0" bIns="0" rtlCol="0" anchor="t"/>
          <a:lstStyle/>
          <a:p>
            <a:pPr algn="ctr" indent="0" marL="0">
              <a:buNone/>
            </a:pPr>
            <a:r>
              <a:rPr lang="en-US" sz="1600" dirty="0">
                <a:solidFill>
                  <a:schemeClr val="bg1"/>
                </a:solidFill>
                <a:latin typeface="Ebrima" pitchFamily="34" charset="0"/>
                <a:ea typeface="Ebrima" pitchFamily="34" charset="-122"/>
                <a:cs typeface="Ebrima" pitchFamily="34" charset="-120"/>
              </a:rPr>
              <a:t>Download the app: app.hersolan.pro/download</a:t>
            </a:r>
            <a:endParaRPr lang="en-US" sz="1600" dirty="0"/>
          </a:p>
        </p:txBody>
      </p:sp>
      <p:sp>
        <p:nvSpPr>
          <p:cNvPr id="7" name="Text 4"/>
          <p:cNvSpPr txBox="1"/>
          <p:nvPr/>
        </p:nvSpPr>
        <p:spPr>
          <a:xfrm>
            <a:off x="1371600" y="5989320"/>
            <a:ext cx="9445752" cy="365760"/>
          </a:xfrm>
          <a:prstGeom prst="rect">
            <a:avLst/>
          </a:prstGeom>
          <a:noFill/>
          <a:ln/>
        </p:spPr>
        <p:txBody>
          <a:bodyPr wrap="square" lIns="0" tIns="0" rIns="0" bIns="0" rtlCol="0" anchor="t"/>
          <a:lstStyle/>
          <a:p>
            <a:pPr algn="ctr" indent="0" marL="0">
              <a:buNone/>
            </a:pPr>
            <a:r>
              <a:rPr lang="en-US" sz="1200" dirty="0">
                <a:solidFill>
                  <a:schemeClr val="bg1"/>
                </a:solidFill>
                <a:latin typeface="Ebrima" pitchFamily="34" charset="0"/>
                <a:ea typeface="Ebrima" pitchFamily="34" charset="-122"/>
                <a:cs typeface="Ebrima" pitchFamily="34" charset="-120"/>
              </a:rPr>
              <a:t>Meserete Hiwot Sunday School · Debre Enqu St. Lideta Lemaryam Church</a:t>
            </a:r>
            <a:endParaRPr lang="en-US" sz="1200" dirty="0"/>
          </a:p>
        </p:txBody>
      </p:sp>
    </p:spTree>
  </p:cSld>
  <p:clrMapOvr>
    <a:masterClrMapping/>
  </p:clrMapOvr>
</p:sld>
</file>

<file path=ppt/theme/theme1.xml><?xml version="1.0" encoding="utf-8"?>
<a:theme xmlns:a="http://schemas.openxmlformats.org/drawingml/2006/main" name="Meserete Hiwot">
  <a:themeElements>
    <a:clrScheme name="Meserete Hiwot">
      <a:dk1>
        <a:srgbClr val="3D2E31"/>
      </a:dk1>
      <a:lt1>
        <a:srgbClr val="FFFFFF"/>
      </a:lt1>
      <a:dk2>
        <a:srgbClr val="6E1423"/>
      </a:dk2>
      <a:lt2>
        <a:srgbClr val="F7E9D8"/>
      </a:lt2>
      <a:accent1>
        <a:srgbClr val="6E1423"/>
      </a:accent1>
      <a:accent2>
        <a:srgbClr val="C8961E"/>
      </a:accent2>
      <a:accent3>
        <a:srgbClr val="2E7D4F"/>
      </a:accent3>
      <a:accent4>
        <a:srgbClr val="8A7A7D"/>
      </a:accent4>
      <a:accent5>
        <a:srgbClr val="B7791F"/>
      </a:accent5>
      <a:accent6>
        <a:srgbClr val="57101C"/>
      </a:accent6>
      <a:hlink>
        <a:srgbClr val="C8961E"/>
      </a:hlink>
      <a:folHlink>
        <a:srgbClr val="8A7A7D"/>
      </a:folHlink>
    </a:clrScheme>
    <a:fontScheme name="Meserete Hiwot">
      <a:majorFont>
        <a:latin typeface="Nya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bri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Ebrim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Meserete Hiwot Sunday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Meserete Hiwot — System Presentation</dc:title>
  <dc:subject>Meserete Hiwot Super-App system presentation (English)</dc:subject>
  <dc:creator>Meserete Hiwot Sunday School</dc:creator>
  <cp:lastModifiedBy>Meserete Hiwot Sunday School</cp:lastModifiedBy>
  <cp:revision>1</cp:revision>
  <dcterms:created xsi:type="dcterms:W3CDTF">2026-10-16T04:07:01Z</dcterms:created>
  <dcterms:modified xsi:type="dcterms:W3CDTF">2026-10-16T04:07:01Z</dcterms:modified>
</cp:coreProperties>
</file>
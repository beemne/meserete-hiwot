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1.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charts/chart2.xml" ContentType="application/vnd.openxmlformats-officedocument.drawingml.chart+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መግቢያ" id="{1a84276b-0403-5614-0dde-f6e567c89cdb}">
          <p14:sldIdLst>
            <p14:sldId id="256"/>
            <p14:sldId id="257"/>
            <p14:sldId id="258"/>
          </p14:sldIdLst>
        </p14:section>
        <p14:section name="አጠቃላይ ገጽታ" id="{d76067be-4e36-6b2c-a9d4-c92620f0f784}">
          <p14:sldIdLst>
            <p14:sldId id="259"/>
            <p14:sldId id="260"/>
            <p14:sldId id="261"/>
          </p14:sldIdLst>
        </p14:section>
        <p14:section name="መዝሙር" id="{b7f024ea-5f6e-bae6-d42e-0324c046baa5}">
          <p14:sldIdLst>
            <p14:sldId id="262"/>
            <p14:sldId id="263"/>
          </p14:sldIdLst>
        </p14:section>
        <p14:section name="አባላትና ፕሮግራሞች" id="{4b158619-46e8-e160-569a-5ec4d3124efe}">
          <p14:sldIdLst>
            <p14:sldId id="264"/>
            <p14:sldId id="265"/>
          </p14:sldIdLst>
        </p14:section>
        <p14:section name="መገኘት" id="{dacf6f35-ce0a-809b-a604-b249479006b5}">
          <p14:sldIdLst>
            <p14:sldId id="266"/>
            <p14:sldId id="267"/>
          </p14:sldIdLst>
        </p14:section>
        <p14:section name="ትምህርት" id="{5b3d4f9f-bd8b-00e8-c887-1afaa6e4660e}">
          <p14:sldIdLst>
            <p14:sldId id="268"/>
            <p14:sldId id="269"/>
          </p14:sldIdLst>
        </p14:section>
        <p14:section name="የአገልግሎት ምርጫ" id="{0f2bcf2b-b703-d878-f4c5-1014d60102d0}">
          <p14:sldIdLst>
            <p14:sldId id="270"/>
            <p14:sldId id="271"/>
          </p14:sldIdLst>
        </p14:section>
        <p14:section name="ፋይናንስና ንብረት" id="{6b2e9def-4bbb-86b6-4fad-fc8667d216bf}">
          <p14:sldIdLst>
            <p14:sldId id="272"/>
            <p14:sldId id="273"/>
          </p14:sldIdLst>
        </p14:section>
        <p14:section name="ትብብርና ግንኙነት" id="{2e2a13ac-bee1-be52-44d4-b2fe929153f7}">
          <p14:sldIdLst>
            <p14:sldId id="274"/>
            <p14:sldId id="275"/>
          </p14:sldIdLst>
        </p14:section>
        <p14:section name="አስተዳደርና ተጠያቂነት" id="{802469aa-943c-70c1-1d4b-c98a3a74e78b}">
          <p14:sldIdLst>
            <p14:sldId id="276"/>
            <p14:sldId id="277"/>
          </p14:sldIdLst>
        </p14:section>
        <p14:section name="ቴክኖሎጂና ደህንነት" id="{9d6b3668-b4c1-5279-70bc-d4142760cb65}">
          <p14:sldIdLst>
            <p14:sldId id="278"/>
            <p14:sldId id="279"/>
            <p14:sldId id="280"/>
            <p14:sldId id="281"/>
          </p14:sldIdLst>
        </p14:section>
        <p14:section name="ሁኔታና ቀጣይ" id="{c8bddfcd-ce45-dfcd-ebc8-bfa0eeca117e}">
          <p14:sldIdLst>
            <p14:sldId id="282"/>
            <p14:sldId id="283"/>
            <p14:sldId id="284"/>
            <p14:sldId id="285"/>
            <p14:sldId id="286"/>
            <p14:sldId id="28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6E1423"/>
                </a:solidFill>
                <a:latin typeface="+mn-lt"/>
              </a:defRPr>
            </a:pPr>
            <a:r>
              <a:rPr sz="1500" b="0" i="0" u="none" strike="noStrike">
                <a:solidFill>
                  <a:srgbClr val="6E1423"/>
                </a:solidFill>
                <a:latin typeface="+mn-lt"/>
              </a:rPr>
              <a:t>ነባሪ ክብደቶች (ከ100)</a:t>
            </a:r>
          </a:p>
        </c:rich>
      </c:tx>
      <c:layout/>
      <c:overlay val="0"/>
    </c:title>
    <c:autoTitleDeleted val="0"/>
    <c:plotArea>
      <c:layout/>
      <c:doughnutChart>
        <c:varyColors val="1"/>
        <c:ser>
          <c:idx val="0"/>
          <c:order val="0"/>
          <c:tx>
            <c:strRef>
              <c:f>Sheet1!$B$1</c:f>
              <c:strCache>
                <c:ptCount val="1"/>
                <c:pt idx="0">
                  <c:v>ነባሪ ክብደት</c:v>
                </c:pt>
              </c:strCache>
            </c:strRef>
          </c:tx>
          <c:spPr>
            <a:solidFill>
              <a:schemeClr val="accent1"/>
            </a:solidFill>
            <a:ln w="9525" cap="flat">
              <a:solidFill>
                <a:srgbClr val="F9F9F9"/>
              </a:solidFill>
              <a:prstDash val="solid"/>
              <a:round/>
            </a:ln>
            <a:effectLst/>
          </c:spPr>
          <c:dPt>
            <c:idx val="0"/>
            <c:bubble3D val="0"/>
            <c:spPr>
              <a:solidFill>
                <a:srgbClr val="6E1423"/>
              </a:solidFill>
              <a:effectLst/>
            </c:spPr>
          </c:dPt>
          <c:dPt>
            <c:idx val="1"/>
            <c:bubble3D val="0"/>
            <c:spPr>
              <a:solidFill>
                <a:srgbClr val="C8961E"/>
              </a:solidFill>
              <a:effectLst/>
            </c:spPr>
          </c:dPt>
          <c:dPt>
            <c:idx val="2"/>
            <c:bubble3D val="0"/>
            <c:spPr>
              <a:solidFill>
                <a:srgbClr val="57101C"/>
              </a:solidFill>
              <a:effectLst/>
            </c:spPr>
          </c:dPt>
          <c:dPt>
            <c:idx val="3"/>
            <c:bubble3D val="0"/>
            <c:spPr>
              <a:solidFill>
                <a:srgbClr val="2E7D4F"/>
              </a:solidFill>
              <a:effectLst/>
            </c:spPr>
          </c:dPt>
          <c:dPt>
            <c:idx val="4"/>
            <c:bubble3D val="0"/>
            <c:spPr>
              <a:solidFill>
                <a:srgbClr val="8A7A7D"/>
              </a:solidFill>
              <a:effectLst/>
            </c:spPr>
          </c:dPt>
          <c:dLbls>
            <c:dLbl>
              <c:idx val="0"/>
              <c:numFmt formatCode="General" sourceLinked="0"/>
              <c:spPr/>
              <c:txPr>
                <a:bodyPr/>
                <a:lstStyle/>
                <a:p>
                  <a:pPr>
                    <a:defRPr sz="1400" b="1" i="0" u="none" strike="noStrike">
                      <a:solidFill>
                        <a:srgbClr val="FFFFFF"/>
                      </a:solidFill>
                      <a:latin typeface="+mn-lt"/>
                    </a:defRPr>
                  </a:pPr>
                </a:p>
              </c:txPr>
              <c:showLegendKey val="0"/>
              <c:showVal val="1"/>
              <c:showCatName val="0"/>
              <c:showSerName val="0"/>
              <c:showPercent val="0"/>
              <c:showBubbleSize val="0"/>
            </c:dLbl>
            <c:dLbl>
              <c:idx val="1"/>
              <c:numFmt formatCode="General" sourceLinked="0"/>
              <c:spPr/>
              <c:txPr>
                <a:bodyPr/>
                <a:lstStyle/>
                <a:p>
                  <a:pPr>
                    <a:defRPr sz="1400" b="1" i="0" u="none" strike="noStrike">
                      <a:solidFill>
                        <a:srgbClr val="FFFFFF"/>
                      </a:solidFill>
                      <a:latin typeface="+mn-lt"/>
                    </a:defRPr>
                  </a:pPr>
                </a:p>
              </c:txPr>
              <c:showLegendKey val="0"/>
              <c:showVal val="1"/>
              <c:showCatName val="0"/>
              <c:showSerName val="0"/>
              <c:showPercent val="0"/>
              <c:showBubbleSize val="0"/>
            </c:dLbl>
            <c:dLbl>
              <c:idx val="2"/>
              <c:numFmt formatCode="General" sourceLinked="0"/>
              <c:spPr/>
              <c:txPr>
                <a:bodyPr/>
                <a:lstStyle/>
                <a:p>
                  <a:pPr>
                    <a:defRPr sz="1400" b="1" i="0" u="none" strike="noStrike">
                      <a:solidFill>
                        <a:srgbClr val="FFFFFF"/>
                      </a:solidFill>
                      <a:latin typeface="+mn-lt"/>
                    </a:defRPr>
                  </a:pPr>
                </a:p>
              </c:txPr>
              <c:showLegendKey val="0"/>
              <c:showVal val="1"/>
              <c:showCatName val="0"/>
              <c:showSerName val="0"/>
              <c:showPercent val="0"/>
              <c:showBubbleSize val="0"/>
            </c:dLbl>
            <c:dLbl>
              <c:idx val="3"/>
              <c:numFmt formatCode="General" sourceLinked="0"/>
              <c:spPr/>
              <c:txPr>
                <a:bodyPr/>
                <a:lstStyle/>
                <a:p>
                  <a:pPr>
                    <a:defRPr sz="1400" b="1" i="0" u="none" strike="noStrike">
                      <a:solidFill>
                        <a:srgbClr val="FFFFFF"/>
                      </a:solidFill>
                      <a:latin typeface="+mn-lt"/>
                    </a:defRPr>
                  </a:pPr>
                </a:p>
              </c:txPr>
              <c:showLegendKey val="0"/>
              <c:showVal val="1"/>
              <c:showCatName val="0"/>
              <c:showSerName val="0"/>
              <c:showPercent val="0"/>
              <c:showBubbleSize val="0"/>
            </c:dLbl>
            <c:dLbl>
              <c:idx val="4"/>
              <c:numFmt formatCode="General" sourceLinked="0"/>
              <c:spPr/>
              <c:txPr>
                <a:bodyPr/>
                <a:lstStyle/>
                <a:p>
                  <a:pPr>
                    <a:defRPr sz="1400" b="1" i="0" u="none" strike="noStrike">
                      <a:solidFill>
                        <a:srgbClr val="FFFFFF"/>
                      </a:solidFill>
                      <a:latin typeface="+mn-lt"/>
                    </a:defRPr>
                  </a:pPr>
                </a:p>
              </c:txPr>
              <c:showLegendKey val="0"/>
              <c:showVal val="1"/>
              <c:showCatName val="0"/>
              <c:showSerName val="0"/>
              <c:showPercent val="0"/>
              <c:showBubbleSize val="0"/>
            </c:dLbl>
            <c:numFmt formatCode="General"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Sheet1!$A$2:$A$6</c:f>
              <c:strCache>
                <c:ptCount val="5"/>
                <c:pt idx="0">
                  <c:v>የክፍል መገኘት</c:v>
                </c:pt>
                <c:pt idx="1">
                  <c:v>ፈተና</c:v>
                </c:pt>
                <c:pt idx="2">
                  <c:v>የመዝሙር መገኘት</c:v>
                </c:pt>
                <c:pt idx="3">
                  <c:v>ወርሃዊ መዋጮ</c:v>
                </c:pt>
                <c:pt idx="4">
                  <c:v>የሥራ ክፍል ተሳትፎ</c:v>
                </c:pt>
              </c:strCache>
            </c:strRef>
          </c:cat>
          <c:val>
            <c:numRef>
              <c:f>Sheet1!$B$2:$B$6</c:f>
              <c:numCache>
                <c:ptCount val="5"/>
                <c:pt idx="0">
                  <c:v>25</c:v>
                </c:pt>
                <c:pt idx="1">
                  <c:v>25</c:v>
                </c:pt>
                <c:pt idx="2">
                  <c:v>30</c:v>
                </c:pt>
                <c:pt idx="3">
                  <c:v>10</c:v>
                </c:pt>
                <c:pt idx="4">
                  <c:v>10</c:v>
                </c:pt>
              </c:numCache>
            </c:numRef>
          </c:val>
        </c:ser>
        <c:firstSliceAng val="0"/>
        <c:holeSize val="52"/>
      </c:doughnutChart>
      <c:spPr>
        <a:noFill/>
        <a:ln>
          <a:noFill/>
        </a:ln>
        <a:effectLst/>
      </c:spPr>
    </c:plotArea>
    <c:legend>
      <c:legendPos val="r"/>
      <c:overlay val="0"/>
      <c:txPr>
        <a:bodyPr/>
        <a:lstStyle/>
        <a:p>
          <a:pPr>
            <a:defRPr sz="1300">
              <a:solidFill>
                <a:srgbClr val="3D2E3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6E1423"/>
                </a:solidFill>
                <a:latin typeface="+mn-lt"/>
              </a:defRPr>
            </a:pPr>
            <a:r>
              <a:rPr sz="1500" b="0" i="0" u="none" strike="noStrike">
                <a:solidFill>
                  <a:srgbClr val="6E1423"/>
                </a:solidFill>
                <a:latin typeface="+mn-lt"/>
              </a:rPr>
              <a:t>98 የተረጋገጡ ባሕሪያት በሁኔታ</a:t>
            </a:r>
          </a:p>
        </c:rich>
      </c:tx>
      <c:layout/>
      <c:overlay val="0"/>
    </c:title>
    <c:autoTitleDeleted val="0"/>
    <c:plotArea>
      <c:layout/>
      <c:barChart>
        <c:barDir val="bar"/>
        <c:grouping val="clustered"/>
        <c:varyColors val="0"/>
        <c:ser>
          <c:idx val="0"/>
          <c:order val="0"/>
          <c:tx>
            <c:strRef>
              <c:f>Sheet1!$B$1</c:f>
              <c:strCache>
                <c:ptCount val="1"/>
                <c:pt idx="0">
                  <c:v>የባሕሪያት ብዛት</c:v>
                </c:pt>
              </c:strCache>
            </c:strRef>
          </c:tx>
          <c:spPr>
            <a:solidFill>
              <a:srgbClr val="6E1423"/>
            </a:solidFill>
            <a:effectLst/>
          </c:spPr>
          <c:invertIfNegative val="0"/>
          <c:dLbls>
            <c:numFmt formatCode="#,##0" sourceLinked="0"/>
            <c:txPr>
              <a:bodyPr/>
              <a:lstStyle/>
              <a:p>
                <a:pPr>
                  <a:defRPr b="1" i="0" strike="noStrike" sz="1400" u="none">
                    <a:solidFill>
                      <a:srgbClr val="3D2E31"/>
                    </a:solidFill>
                    <a:latin typeface="+mn-lt"/>
                  </a:defRPr>
                </a:pPr>
              </a:p>
            </c:txPr>
            <c:showLegendKey val="0"/>
            <c:showVal val="1"/>
            <c:showCatName val="0"/>
            <c:showSerName val="0"/>
            <c:showPercent val="0"/>
            <c:showBubbleSize val="0"/>
            <c:showLeaderLines val="0"/>
          </c:dLbls>
          <c:dPt>
            <c:idx val="0"/>
            <c:invertIfNegative val="0"/>
            <c:bubble3D val="0"/>
            <c:spPr>
              <a:solidFill>
                <a:srgbClr val="6E1423"/>
              </a:solidFill>
              <a:effectLst/>
            </c:spPr>
          </c:dPt>
          <c:dPt>
            <c:idx val="1"/>
            <c:invertIfNegative val="0"/>
            <c:bubble3D val="0"/>
            <c:spPr>
              <a:solidFill>
                <a:srgbClr val="C8961E"/>
              </a:solidFill>
              <a:effectLst/>
            </c:spPr>
          </c:dPt>
          <c:dPt>
            <c:idx val="2"/>
            <c:invertIfNegative val="0"/>
            <c:bubble3D val="0"/>
            <c:spPr>
              <a:solidFill>
                <a:srgbClr val="B7791F"/>
              </a:solidFill>
              <a:effectLst/>
            </c:spPr>
          </c:dPt>
          <c:dPt>
            <c:idx val="3"/>
            <c:invertIfNegative val="0"/>
            <c:bubble3D val="0"/>
            <c:spPr>
              <a:solidFill>
                <a:srgbClr val="8A7A7D"/>
              </a:solidFill>
              <a:effectLst/>
            </c:spPr>
          </c:dPt>
          <c:dPt>
            <c:idx val="4"/>
            <c:invertIfNegative val="0"/>
            <c:bubble3D val="0"/>
            <c:spPr>
              <a:solidFill>
                <a:srgbClr val="3D2E31"/>
              </a:solidFill>
              <a:effectLst/>
            </c:spPr>
          </c:dPt>
          <c:dPt>
            <c:idx val="5"/>
            <c:invertIfNegative val="0"/>
            <c:bubble3D val="0"/>
            <c:spPr>
              <a:solidFill>
                <a:srgbClr val="8A7A7D"/>
              </a:solidFill>
              <a:effectLst/>
            </c:spPr>
          </c:dPt>
          <c:cat>
            <c:multiLvlStrRef>
              <c:f>Sheet1!$A$2:$A$7</c:f>
              <c:multiLvlStrCache>
                <c:ptCount val="6"/>
                <c:lvl>
                  <c:pt idx="0">
                    <c:v>የሚሠራ (የተለቀቀ)</c:v>
                  </c:pt>
                  <c:pt idx="1">
                    <c:v>በከፊል የተሠራ</c:v>
                  </c:pt>
                  <c:pt idx="2">
                    <c:v>ተሠርቶ ያልተለቀቀ</c:v>
                  </c:pt>
                  <c:pt idx="3">
                    <c:v>የታቀደ (ያልተሠራ)</c:v>
                  </c:pt>
                  <c:pt idx="4">
                    <c:v>በጥያቄ የተወገደ</c:v>
                  </c:pt>
                  <c:pt idx="5">
                    <c:v>ያልተረጋገጠ</c:v>
                  </c:pt>
                </c:lvl>
              </c:multiLvlStrCache>
            </c:multiLvlStrRef>
          </c:cat>
          <c:val>
            <c:numRef>
              <c:f>Sheet1!$B$2:$B$7</c:f>
              <c:numCache>
                <c:formatCode>General</c:formatCode>
                <c:ptCount val="6"/>
                <c:pt idx="0">
                  <c:v>79</c:v>
                </c:pt>
                <c:pt idx="1">
                  <c:v>7</c:v>
                </c:pt>
                <c:pt idx="2">
                  <c:v>6</c:v>
                </c:pt>
                <c:pt idx="3">
                  <c:v>4</c:v>
                </c:pt>
                <c:pt idx="4">
                  <c:v>1</c:v>
                </c:pt>
                <c:pt idx="5">
                  <c:v>1</c:v>
                </c:pt>
              </c:numCache>
            </c:numRef>
          </c:val>
        </c:ser>
        <c:dLbls>
          <c:numFmt formatCode="#,##0" sourceLinked="0"/>
          <c:txPr>
            <a:bodyPr/>
            <a:lstStyle/>
            <a:p>
              <a:pPr>
                <a:defRPr b="1" i="0" strike="noStrike" sz="1400" u="none">
                  <a:solidFill>
                    <a:srgbClr val="3D2E31"/>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3D2E31"/>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እንኳን ደህና መጣችሁ። ዛሬ የምናቀርበው የመሠረተ ሕይወት ሰንበት ትምህርት ቤት ዲጂታል መተግበሪያን ነው። መተግበሪያው መዝሙርን፣ ትምህርትን፣ ፕሮግራሞችንና መገኘትን፣ የበዓል አገልግሎት ምርጫን፣ የአባላት አገልግሎቶችንና አስተዳደርን በአንድ ቦታ ያገናኛል። በገለጻው ውስጥ የሚቀርበው ሁሉ አሁን ካለው የመተግበሪያው ኮድ ተረጋግጦ የተወሰደ ነው፤ ገና በልማት ላይ ያሉ ነገሮች ደግሞ ለብቻቸው ተለይተው ይቀርባሉ።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የመተግበሪያው ዋና ዓላማ አራት ነው፦ መዝሙርና ትምህርትን ለእያንዳንዱ አባል ማድረስ፣ መዛግብትን በታማኝነት መያዝ፣ ለመሪዎች ግልጽ መረጃ መስጠትና የአባላትን የግል መረጃ መጠበቅ። አንድ መተግበሪያ ሲሆን በAndroid ስልክና በድር አሳሽ ይሠራል፤ ዋና ቋንቋው አማርኛ ሲሆን እንግሊዝኛም አለው።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እነዚህ መተግበሪያው የሚፈታቸው የዕለት ተዕለት ችግሮች ናቸው። የመገኘት ዝርዝር በወረቀት መያዙ፣ መዝሙሮች በተለያየ ቦታ መበተናቸው፣ የምርጫ ውጤት በእጅ መሰላቱ እንዲሁም መልእክቶች በተለያዩ መንገዶች መበተናቸው ይቀራሉ። በምትካቸው በQR እና በፊርማ የሚመዘገብ መገኘት፣ የተደራጀ የመዝሙር ቤተ መጻሕፍት፣ በግልጽ ሕግ የሚሰላ ውጤትና አንድ የማሳወቂያ ማዕከል ይኖራል።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አባሉ ከገባ በኋላ መነሻ ገጽ ላይ ሦስት ዋና ክፍሎችን ያገኛል፦ መዝሙር፣ ትምህርትና ስለ እኔ። ኃላፊነት ያላቸው ሰዎች ደግሞ የአስተዳዳሪ ፓነልን ያያሉ፤ እያንዳንዱ ሰው የሚያየው የተፈቀደለትን ብቻ ነው። ሁሉም ክፍሎች አንድ አገልጋይና አንድ የመረጃ ቋት ስለሚጋሩ፣ ለምሳሌ የተመዘገበ መገኘት በሪፖርትም በምርጫ ውጤትም በቀጥታ ይታያል።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ይህ ስላይድ የመተግበሪያውን አሥራ ሁለት ዋና ዋና አገልግሎቶች በአንድ እይታ ያሳያል። በቀጣዮቹ ስላይዶች እያንዳንዳቸውን በዝርዝር እናያለን።</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መተግበሪያው ለመጠቀም ቀላል እንዲሆን ተደርጎ ተሠርቷል። አባላት በስልክ ቁጥራቸውና በአጭር ፒን ይገባሉ፤ የቤተ ክርስቲያኑ ቀለማትና ዓርማ በሁሉም ገጾች ይታያሉ፤ በብርሃንና በጨለማ ገጽታ መጠቀም ይቻላል። በየገጹ ያለው የጥያቄ ምልክት ስለ ገጹ እገዛ ይሰጣል። በስላይዱ ላይ ያሉት ምስሎች ከመተግበሪያው በናሙና መረጃ የተወሰዱ ናቸው።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የመዝሙር ክፍሉ በምድብ የተደራጀ ነው። አባላት መዝሙር መፈለግ፣ ግጥሙን በሚመቻቸው የፊደል መጠን ማንበብና ድምፁን ማዳመጥ ይችላሉ። የግጥም ሰዓት ለተዘጋጀላቸው መዝሙራት ግጥሙ ከድምፁ ጋር አብሮ ይደምቃል። የወረዱ መዝሙራት ያለ ኢንተርኔት ይሠራሉ። አስተዳዳሪዎች መዝሙራትን ያስገባሉ፣ ድምፅና ምስል ይጭናሉ፣ ከExcel በጅምላም ማስገባት ይችላሉ።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ማጫወቻው ዘመናዊ የሙዚቃ መተግበሪያ የሚሰጣቸውን መቆጣጠሪያዎች በሙሉ ይዟል፦ ከበስተጀርባ ማጫወት፣ ከመቆለፊያ ገጽ መቆጣጠር፣ ተራ፣ በዘፈቀደ ማጫወት፣ መድገም፣ ፍጥነት መቀየርና የእንቅልፍ ሰዓት ቆጣሪ። ፍጥነት መቀየር በተለይ መዝሙር ለሚለማመዱ ጠቃሚ ነው።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እያንዳንዱ አባል በስልክ ቁጥሩና በፒን ይመዘገባል፤ ቋሚ የአባል መለያ ቁጥርና QR ኮድ ያለው ዲጂታል መታወቂያም ያገኛል። ስሙን ወይም ስልኩን መቀየር ከፈለገ ጥያቄ ያቀርባል፤ አስተዳዳሪ ሲያጸድቅ ለውጡ ከታሪኩ ጋር ይመዘገባል። ለደህንነት ሲባል አንድ አባል በአንድ የታመነ ስልክ ብቻ ይገባል፤ ተደጋጋሚ የተሳሳተ ሙከራ መለያውን ለአጭር ጊዜ ይቆልፋል።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ፕሮግራሞች አንድ ጊዜ፣ በየሳምንቱ፣ በየወሩ፣ በወር ሁለት ጊዜ ወይም በኢትዮጵያ የቀን አቆጣጠር ቀናት ሊደጋገሙ ይችላሉ፤ ይህም የወር በዓላትን ለመያዝ ያስችላል። ፕሮግራሙ ለሁሉም ወይም ለተጋበዙ ብቻ ሊሆን ይችላል። አባላት ከፕሮግራሙ በፊት አስታዋሽ ይደርሳቸዋል፤ የስልክ ማንቂያውም ኢንተርኔት ሳይኖር ይሠራል።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የመገኘት አመዘጋገቡ ፍትሐዊና ተጠያቂነት ያለው እንዲሆን ተደርጓል። ለእያንዳንዱ የፕሮግራም ቀን የሰው ሀብት ክፍል አንድ መዝጋቢ ይመድባል። ክፍለ ጊዜው ከፕሮግራሙ 15 ደቂቃ በፊት ይከፈታል፤ መዝጋቢው ጀምር ሲል ሰዓቱ መቆጠር ይጀምራል። እያንዳንዱ የተገኘ አባል በQR ይመዘገባልና ይፈርማል። ክፍለ ጊዜው ሲዘጋ ለውጥ የሚደረገው በማስተካከያ ጥያቄና በማጽደቅ ብቻ ነው። ኢንተርኔት ባይኖርም መመዝገብ ይቻላል።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ቀደም ሲል የነበረው «ዘግይቷል» የሚለው ደረጃ ተወግዷል፤ ምክንያቱም ማን እንደዘገየ መወሰን ግልጽ መስፈርት ስላልነበረው ነው። አሁን ግን እያንዳንዱ ምዝገባ የተመዘገበበትን ትክክለኛ ሰዓትና ከጀምር በኋላ ያለፉትን ደቂቃዎች ይይዛል። ይህንን መረጃ ተጠቅሞ በደቂቃ ክፍተት መቶኛ የሚሰጥ ስሌት በልማት ላይ ነው፤ ገና አልተለቀቀም። አባላት ከፕሮግራም ለመቅረት የፈቃድ ጥያቄ ማቅረብ ይችላሉ።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የትምህርት ክፍሉ የሰንበት ትምህርት ቤቱን የትምህርት ሥራ ከጅምሩ እስከ ውጤት ያስተዳድራል። ተማሪዎች ይመዘገባሉ፣ መምህራን ይመደባሉ። ውጤት በአራት ደረጃዎች ያልፋል፦ መምህሩ በረቂቅ ያስገባል፣ ለግምገማ ያቀርባል፣ ሌላ ኃላፊ ያጸድቃል፣ ከዚያም ይታተማል። ተማሪዎች የሚያዩት የታተመውን ውጤት ብቻ ነው። ይህ ስህተትንና አድልዎን ለመከላከል ይረዳል።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የመማሪያ መድረኩ አባላት በስልካቸው እንዲማሩ ያስችላል። ትምህርቶች በአራት ምድቦች ተደራጅተዋል፦ መጽሐፍ ቅዱስ፣ የቤተ ክርስቲያን ታሪክ፣ ሥርዓተ አምልኮና ነገረ ቅዱሳን። እያንዳንዱ ትምህርት ጽሑፍ፣ ጥቅሶች፣ ሰነዶችና ድምፅ ሊይዝ ይችላል። ፈተናዎች የጊዜ ገደብ አላቸው፤ ከይፋዊ ፈተና ጋር የተያያዘ ውጤት ይፋዊ ውጤቱ እስኪታተም ድረስ ለተማሪው አይታይም።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የበዓል መዝሙር አገልግሎት ምርጫ በአምስት መመዘኛዎች ይሰላል፦ የክፍል መገኘት፣ ፈተና፣ የመዝሙር መገኘት፣ ወርሃዊ መዋጮና የሥራ ክፍል ተሳትፎ። በስላይዱ ላይ ያሉት ክብደቶችና የማለፊያ ነጥብ 43 ነባሪ እሴቶች ናቸው፤ ለእያንዳንዱ ምርጫ አስተዳዳሪዎች ሊቀይሯቸው ይችላሉ። መረጃ የሌለው መመዘኛ እንደ ዜሮ አይቆጠርም፤ ይልቁንም ከስሌቱ ይወጣል። ማሳሰቢያ፦ በሥራ ክፍሎች የተከፋፈለው የመመዘኛ ዘዴ በቤተ ክርስቲያኑ ጥያቄ መሠረት ተወግዷል።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ምርጫው ስድስት ደረጃዎች አሉት። በረቂቅ ደረጃ ይዘጋጃል፤ ክፍት ሲሆን የእያንዳንዱ አመልካች ውጤት በራሱ ይሰላል። በግምገማ ደረጃ የመዝሙር፣ የትምህርትና የሰው ኃብት ክፍሎች ውጤቱን ይገመግማሉ፤ ሁሉም ካጸደቁ በኋላ ብቻ ምርጫው ይጸድቃል፤ ከዚያ ውጤቱ ይቆለፋል። የመዝሙር አስተዳዳሪዎች አገልግሎት ምድብ ይመድባሉ፤ በመጨረሻም ውጤቱ ይፋ ይሆንና ሁሉም አመልካቾች መልእክት ይደርሳቸዋል።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ወርሃዊ መዋጮ በኢትዮጵያ ወር ይመዘገባል። አንድ ክፍያ እስከ አሥራ ሁለት ወራት ሊሸፍን ይችላል፤ መጠኑ በአባሉ ዓይነት ተመን ይሰላል፤ ሕጻናት አይከፍሉም። ከወሩ በኋላ የተከፈለ ክፍያ ለሒሳብ ክትትል «ከወሩ በኋላ ተከፍሏል» ተብሎ ይመዘገባል፤ ነገር ግን ወሩ እንደተከፈለ ይቆጠራል። መተግበሪያው ገንዘብ አይሰበስብም፤ የተከፈለውን ብቻ ይመዘግባል።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የንብረት ክፍሉ የሰንበት ትምህርት ቤቱን ዕቃዎች በምድብ፣ በኮድና በብዛት ይይዛል። ዕቃ ሲዋስ የአባሉ ፊርማ ይወሰዳል፤ በጊዜው ካልተመለሰ በፖሊሲው መሠረት ቅጣት ይሰላል። ዲጂታል መጻሕፍት በመተግበሪያው ውስጥ ብቻ ይነበባሉ፤ የሕትመት መጻሕፍት ደግሞ በጥያቄና በማጽደቅ ይዋሳሉ። የሥራ ክፍሎች ንብረት ሲፈልጉ ጥያቄ ያቀርባሉ፤ ሒሳብ እና ንብረት ክፍል ይገመግማል።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ሰባቱ የሥራ ክፍሎች በመተግበሪያው ውስጥ ፕሮጀክቶቻቸውንና ተግባሮቻቸውን ያስተዳድራሉ። እያንዳንዱ ተግባር ብዙ ኃላፊዎች ሊኖሩት ይችላል፤ የጊዜ ገደቡ ሲቃረብ አስታዋሽ ይላካል። ገንዘብ የሚያጸድቀው ሒሳብ እና ንብረት ክፍል ብቻ ሲሆን ከበጀት በላይ ወጪ አይፈቀድም። እያንዳንዱ ክፍል የራሱ የውይይት ቡድን አለው፤ የተግባር ቦቱ የተግባሮችን ሁኔታ በውይይቱ ውስጥ ያሳውቃል።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መልእክቶች በአራት መንገዶች ይደርሳሉ፦ በመተግበሪያው የማሳወቂያ ማዕከል፣ በስልክ Push ማሳወቂያ፣ በኢሜይልና በቴሌግራም። አባላት የማይፈልጓቸውን ርዕሶች ማጥፋት ይችላሉ፤ አስፈላጊ መልእክቶች ግን ሁልጊዜ ይደርሳሉ። አስተዳዳሪዎች ለአንድ ሰው ወይም ለሁሉም መልእክት መላክና መድረሱን መከታተል ይችላሉ።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የመተግበሪያው አስተዳደር በፈቃድ ላይ የተመሠረተ ነው። ስልሳ ሦስት ዝርዝር ፈቃዶች በአሥራ አራት ሚናዎች ተደራጅተዋል። እያንዳንዱ ሰው የሚያየውና የሚሠራው የተፈቀደለትን ብቻ ነው፤ መተግበሪያው ያልተፈቀደውን ቢደብቅም አገልጋዩ ራሱን ችሎ ይፈትሻል። ለአንድ ሰው በተለየ ሁኔታ ፈቃድ መስጠትም መንጠቅም ይቻላል።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መሪዎች አሥራ አምስት ዓይነት ሪፖርቶችን በPDF፣ በExcel ወይም በCSV ማውጣት ይችላሉ። እያንዳንዱ ሪፖርት የራሱ ፈቃድ አለው፤ ለምሳሌ የተማሪዎች ውጤት ሪፖርትን የሚያወጡት የትምህርት አስተዳዳሪዎች ብቻ ናቸው። እያንዳንዱ የአስተዳዳሪ ተግባርና የወጣ ሪፖርት በኦዲት መዝገብ ስለሚያዝ ማን ምን እንዳደረገ ሁልጊዜ ማወቅ ይቻላል።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ኢንተርኔት በማይገኝባቸው ቦታዎች መተግበሪያው ብዙ ሥራዎችን ይቀጥላል። የወረዱ መዝሙራት፣ የራስ መታወቂያና አስታዋሾች ያለ ኢንተርኔት ይሠራሉ። የተመደቡ መዝጋቢዎች መገኘትን፣ የንብረት ሠራተኞች ደግሞ ውሰትን ያለ ኢንተርኔት መመዝገብ ይችላሉ። ኢንተርኔት ሲመለስ ሁሉም በራሱ ይላካል፤ አገልጋዩ ያልተቀበለው የመገኘት መዝገብ አይጠፋም፤ ለሰው ሀብት ክፍል ግምገማ ይቀርባል። አብዛኞቹ የአስተዳደር ሥራዎች ግን አሁንም ኢንተርኔት ይፈልጋሉ።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የአባላት መረጃ ጥበቃ ቅድሚያ የተሰጠው ጉዳይ ነው። እያንዳንዱ ሰው ለሥራው የሚያስፈልገውን ብቻ ያያል። ስሱ የግል መረጃዎች በመረጃ ቋቱ ውስጥ ተመስጥረው ይቀመጣሉ፤ ፊርማዎችና መጻሕፍት በግል ማከማቻ ይቀመጣሉ። ተማሪዎች የሚያዩት የታተመ ውጤታቸውን ብቻ ነው። ለደህንነት ሲባል የቴክኒክ ዝርዝሮች በዚህ ገለጻ አልተካተቱም።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ይህ ስላይድ ሥርዓቱ በቴክኒክ እንዴት እንደሚሠራ በቀላሉ ያሳያል። አባላት በAndroid መተግበሪያ ወይም በድር ይጠቀማሉ። መተግበሪያው ደህንነቱ በተጠበቀ ግንኙነት ከአገልጋዩ ጋር ይነጋገራል። አገልጋዩ መጀመሪያ ማንነትንና ፈቃድን ይፈትሻል፣ ከዚያ ሥራውን ያከናውናል፣ መረጃውን በመረጃ ቋቱና በፋይል ማከማቻው ያስቀምጣል። ማሳወቂያዎች በFirebase፣ በኢሜይልና በቴሌግራም ይላካሉ። ኢንተርኔት በሌለበት ጊዜ ስልኩ የራሱን ማከማቻ ይጠቀማል።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መተግበሪያው ለኢትዮጵያ ሁኔታ የተዘጋጀ ነው። ቀኖች በዓመተ ምሕረት ይታያሉ፣ መዋጮ በኢትዮጵያ ወር ይቆጠራል፣ ፕሮግራሞች እንደ ወር በዓላት በኢትዮጵያ ቀናት ሊደጋገሙ ይችላሉ፣ ሪፖርቶችም ኢትዮጵያዊ ቀን ይይዛሉ። አሥራ ሦስተኛው ወር ጳጉሜ ለክፍያ ከነሐሴ ጋር ይቆጠራል።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መተግበሪያው ለሁሉም ወገን ጥቅም አለው። መሪዎች ወቅታዊ ሪፖርትና ግልጽ ውጤት ያገኛሉ። የሥራ ክፍሎች ፕሮጀክቶቻቸውን፣ በጀታቸውንና ውይይታቸውን በአንድ ቦታ ያስተዳድራሉ። አባላት ደግሞ መዝሙርና ትምህርትን በኪሳቸው ይይዛሉ፣ የራሳቸውን መዝገብም ያያሉ።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ከመተግበሪያው ኮድ የተረጋገጡ ዘጠና ስምንት ባሕሪያት አሉ። ሰባ ዘጠኙ በይፋዊው ስሪት 1.5.3 ግንባታ 16 ውስጥ እየሠሩ ነው። ስድስቱ ተሠርተው በሙከራ ላይ ናቸው፤ ሰባቱ በከፊል ተሠርተዋል፤ አራቱ ደግሞ በዕቅድ ላይ ናቸው። በሥራ ክፍሎች የተከፋፈለው የምርጫ መመዘኛ በቤተ ክርስቲያኑ ጥያቄ ተወግዷል። የiPhone ስሪት ተዘጋጅቷል፤ ነገር ግን መሠራቱ አልተረጋገጠም።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ቀጣዩ ሥራ በዕቅድ ተደራጅቷል። የመጀመሪያዎቹ ሦስቱ ደረጃዎች ተሠርተው በሙከራ ላይ ናቸው፤ ቀጥሎ ሙሉ በሙሉ ያለ ኢንተርኔት መሥራት፣ የትምህርት ውጤት ሂደት፣ የምስክር ወረቀትና ቤተ መጻሕፍት ይመጣሉ። አንዳንዶቹ ደረጃዎች ከመጀመራቸው በፊት የአመራሩን ውሳኔ ይፈልጋሉ፤ ለምሳሌ የምስክር ወረቀቱ ጽሑፍና ፈራሚ።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እነዚህ ሐሳቦች ብቻ ናቸው፤ ገና አልተወሰኑም፣ አልተሠሩም። ለምሳሌ የiPhone ስሪት፣ ራስ-ሰር ምትኬ፣ የአገልጋይ ክትትል፣ አስታዋሾች በትክክለኛ ሰዓት እንዲላኩ መደበኛ መርሐ ግብርና ለውይይት የሚቀርብ የኦንላይን ክፍያ አማራጭ ናቸው። የትኞቹ ቅድሚያ እንደሚሰጣቸው አመራሩ ይወስናል።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ለማጠቃለል፦ መሠረተ ሕይወት የሰንበት ትምህርት ቤቱን ዋና ዋና ሥራዎች በአንድ መተግበሪያ ያገናኛል፤ መገኘት፣ ውጤትና ምርጫ ግልጽ በሆነ መንገድ ይሠራሉ፤ የአባላት መረጃም ይጠበቃል። ቀጣይ እርምጃዎቹ ያልተለቀቁ ማሻሻያዎችን መሞከርና መልቀቅ፣ የሚጠበቁ ውሳኔዎችን መስጠት፣ ደህንነትን ማጠናከር፣ አባላት መተግበሪያውን እንዲጭኑ ማበረታታትና ሥልጠና መስጠት ናቸው።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ስለተከታተላችሁ እናመሰግናለን። አሁን ጥያቄዎቻችሁንና አስተያየቶቻችሁን ለመቀበል ዝግጁ ነን። መተግበሪያውን ከማውረጃ ገጹ ማውረድ ይቻላል።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jp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0241280" cy="777240"/>
          </a:xfrm>
          <a:prstGeom prst="rect">
            <a:avLst/>
          </a:prstGeom>
          <a:noFill/>
          <a:ln/>
        </p:spPr>
        <p:txBody>
          <a:bodyPr wrap="square" rtlCol="0"/>
          <a:lstStyle>
            <a:lvl1pPr algn="l" indent="0" marL="0">
              <a:buNone/>
              <a:defRPr lang="en-US" sz="3400" dirty="0">
                <a:solidFill>
                  <a:schemeClr val="accent1"/>
                </a:solidFill>
                <a:latin typeface="Nyala" pitchFamily="34" charset="0"/>
                <a:ea typeface="Nyala" pitchFamily="34" charset="-122"/>
                <a:cs typeface="Nyala" pitchFamily="34" charset="-120"/>
              </a:defRPr>
            </a:lvl1pPr>
          </a:lstStyle>
          <a:p>
            <a:pPr algn="l" indent="0" marL="0">
              <a:buNone/>
            </a:pPr>
            <a:endParaRPr lang="en-US" sz="3400" dirty="0"/>
          </a:p>
        </p:txBody>
      </p:sp>
      <p:pic>
        <p:nvPicPr>
          <p:cNvPr id="3" name="Image 0" descr="C:\Users\HP\Documents\MH-app-1.5.3\mobile\mobile\assets\images\logo.jpg">    </p:cNvPr>
          <p:cNvPicPr>
            <a:picLocks noChangeAspect="1"/>
          </p:cNvPicPr>
          <p:nvPr/>
        </p:nvPicPr>
        <p:blipFill>
          <a:blip r:embed="rId1"/>
          <a:stretch>
            <a:fillRect/>
          </a:stretch>
        </p:blipFill>
        <p:spPr>
          <a:xfrm>
            <a:off x="11137392" y="347472"/>
            <a:ext cx="566928" cy="566928"/>
          </a:xfrm>
          <a:prstGeom prst="rect">
            <a:avLst/>
          </a:prstGeom>
        </p:spPr>
      </p:pic>
      <p:sp>
        <p:nvSpPr>
          <p:cNvPr id="4"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4"/>
                </a:solidFill>
                <a:latin typeface="Ebrima" pitchFamily="34" charset="0"/>
                <a:ea typeface="Ebrima" pitchFamily="34" charset="-122"/>
                <a:cs typeface="Ebrima" pitchFamily="34" charset="-120"/>
              </a:rPr>
              <a:t>መሠረተ ሕይወት ሰንበት ትምህርት ቤት · የሥርዓቱ ማብራሪያ</a:t>
            </a:r>
            <a:endParaRPr lang="en-US" sz="1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Ebrima"/>
                <a:ea typeface="Ebrima"/>
                <a:cs typeface="Ebrima"/>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accent1"/>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Ebrima"/>
                <a:ea typeface="Ebrima"/>
                <a:cs typeface="Ebrima"/>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slideLayout" Target="../slideLayouts/slideLayout2.xml"/><Relationship Id="rId1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2.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png"/><Relationship Id="rId13" Type="http://schemas.openxmlformats.org/officeDocument/2006/relationships/slideLayout" Target="../slideLayouts/slideLayout2.xml"/><Relationship Id="rId1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2.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2.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slideLayout" Target="../slideLayouts/slideLayout2.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2.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2.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2.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2.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2.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2.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2.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2.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image" Target="../media/image-23-7.png"/><Relationship Id="rId8" Type="http://schemas.openxmlformats.org/officeDocument/2006/relationships/slideLayout" Target="../slideLayouts/slideLayout2.xml"/><Relationship Id="rId9"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slideLayout" Target="../slideLayouts/slideLayout2.xml"/><Relationship Id="rId8"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slideLayout" Target="../slideLayouts/slideLayout2.xml"/><Relationship Id="rId8"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slideLayout" Target="../slideLayouts/slideLayout2.xml"/><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image" Target="../media/image-30-6.png"/><Relationship Id="rId7" Type="http://schemas.openxmlformats.org/officeDocument/2006/relationships/slideLayout" Target="../slideLayouts/slideLayout2.xml"/><Relationship Id="rId8"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3.xml"/><Relationship Id="rId3"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7543800" y="960120"/>
            <a:ext cx="4023360" cy="4023360"/>
          </a:xfrm>
          <a:prstGeom prst="ellipse">
            <a:avLst/>
          </a:prstGeom>
          <a:solidFill>
            <a:schemeClr val="accent6"/>
          </a:solidFill>
          <a:ln w="25400">
            <a:solidFill>
              <a:schemeClr val="accent2"/>
            </a:solidFill>
            <a:prstDash val="solid"/>
          </a:ln>
        </p:spPr>
      </p:sp>
      <p:pic>
        <p:nvPicPr>
          <p:cNvPr id="3" name="Image 0" descr="C:\Users\HP\Documents\MH-app-1.5.3\mobile\mobile\assets\images\logo.jpg">    </p:cNvPr>
          <p:cNvPicPr>
            <a:picLocks noChangeAspect="1"/>
          </p:cNvPicPr>
          <p:nvPr/>
        </p:nvPicPr>
        <p:blipFill>
          <a:blip r:embed="rId1"/>
          <a:stretch>
            <a:fillRect/>
          </a:stretch>
        </p:blipFill>
        <p:spPr>
          <a:xfrm>
            <a:off x="7818120" y="1234440"/>
            <a:ext cx="3474720" cy="3474720"/>
          </a:xfrm>
          <a:prstGeom prst="ellipse">
            <a:avLst/>
          </a:prstGeom>
        </p:spPr>
      </p:pic>
      <p:sp>
        <p:nvSpPr>
          <p:cNvPr id="4" name="Text 1"/>
          <p:cNvSpPr txBox="1"/>
          <p:nvPr/>
        </p:nvSpPr>
        <p:spPr>
          <a:xfrm>
            <a:off x="731520" y="1188720"/>
            <a:ext cx="6583680" cy="1188720"/>
          </a:xfrm>
          <a:prstGeom prst="rect">
            <a:avLst/>
          </a:prstGeom>
          <a:noFill/>
          <a:ln/>
        </p:spPr>
        <p:txBody>
          <a:bodyPr wrap="square" lIns="0" tIns="0" rIns="0" bIns="0" rtlCol="0" anchor="t"/>
          <a:lstStyle/>
          <a:p>
            <a:pPr indent="0" marL="0">
              <a:buNone/>
            </a:pPr>
            <a:r>
              <a:rPr lang="en-US" sz="6000" dirty="0">
                <a:solidFill>
                  <a:schemeClr val="bg1"/>
                </a:solidFill>
                <a:latin typeface="Nyala" pitchFamily="34" charset="0"/>
                <a:ea typeface="Nyala" pitchFamily="34" charset="-122"/>
                <a:cs typeface="Nyala" pitchFamily="34" charset="-120"/>
              </a:rPr>
              <a:t>መሠረተ ሕይወት</a:t>
            </a:r>
            <a:endParaRPr lang="en-US" sz="6000" dirty="0"/>
          </a:p>
        </p:txBody>
      </p:sp>
      <p:sp>
        <p:nvSpPr>
          <p:cNvPr id="5" name="Text 2"/>
          <p:cNvSpPr txBox="1"/>
          <p:nvPr/>
        </p:nvSpPr>
        <p:spPr>
          <a:xfrm>
            <a:off x="731520" y="2423160"/>
            <a:ext cx="6583680" cy="548640"/>
          </a:xfrm>
          <a:prstGeom prst="rect">
            <a:avLst/>
          </a:prstGeom>
          <a:noFill/>
          <a:ln/>
        </p:spPr>
        <p:txBody>
          <a:bodyPr wrap="square" lIns="0" tIns="0" rIns="0" bIns="0" rtlCol="0" anchor="t"/>
          <a:lstStyle/>
          <a:p>
            <a:pPr indent="0" marL="0">
              <a:buNone/>
            </a:pPr>
            <a:r>
              <a:rPr lang="en-US" sz="2200" b="1" dirty="0">
                <a:solidFill>
                  <a:schemeClr val="accent2"/>
                </a:solidFill>
                <a:latin typeface="Ebrima" pitchFamily="34" charset="0"/>
                <a:ea typeface="Ebrima" pitchFamily="34" charset="-122"/>
                <a:cs typeface="Ebrima" pitchFamily="34" charset="-120"/>
              </a:rPr>
              <a:t>የሰንበት ትምህርት ቤቱ ሁሉን አቀፍ ዲጂታል መተግበሪያ</a:t>
            </a:r>
            <a:endParaRPr lang="en-US" sz="2200" dirty="0"/>
          </a:p>
        </p:txBody>
      </p:sp>
      <p:sp>
        <p:nvSpPr>
          <p:cNvPr id="6" name="Text 3"/>
          <p:cNvSpPr txBox="1"/>
          <p:nvPr/>
        </p:nvSpPr>
        <p:spPr>
          <a:xfrm>
            <a:off x="731520" y="3063240"/>
            <a:ext cx="6400800" cy="914400"/>
          </a:xfrm>
          <a:prstGeom prst="rect">
            <a:avLst/>
          </a:prstGeom>
          <a:noFill/>
          <a:ln/>
        </p:spPr>
        <p:txBody>
          <a:bodyPr wrap="square" lIns="0" tIns="0" rIns="0" bIns="0" rtlCol="0" anchor="t"/>
          <a:lstStyle/>
          <a:p>
            <a:pPr indent="0" marL="0">
              <a:buNone/>
            </a:pPr>
            <a:r>
              <a:rPr lang="en-US" sz="1600" dirty="0">
                <a:solidFill>
                  <a:schemeClr val="bg1"/>
                </a:solidFill>
                <a:latin typeface="Ebrima" pitchFamily="34" charset="0"/>
                <a:ea typeface="Ebrima" pitchFamily="34" charset="-122"/>
                <a:cs typeface="Ebrima" pitchFamily="34" charset="-120"/>
              </a:rPr>
              <a:t>የሥርዓቱ አጠቃላይ ማብራሪያ — መዝሙር፣ ትምህርት፣ ፕሮግራሞችና መገኘት፣ የአገልግሎት ምርጫ፣ የአባላት አገልግሎቶችና አስተዳደር</a:t>
            </a:r>
            <a:endParaRPr lang="en-US" sz="1600" dirty="0"/>
          </a:p>
        </p:txBody>
      </p:sp>
      <p:sp>
        <p:nvSpPr>
          <p:cNvPr id="7" name="Text 4"/>
          <p:cNvSpPr txBox="1"/>
          <p:nvPr/>
        </p:nvSpPr>
        <p:spPr>
          <a:xfrm>
            <a:off x="731520" y="4572000"/>
            <a:ext cx="6583680" cy="731520"/>
          </a:xfrm>
          <a:prstGeom prst="rect">
            <a:avLst/>
          </a:prstGeom>
          <a:noFill/>
          <a:ln/>
        </p:spPr>
        <p:txBody>
          <a:bodyPr wrap="square" lIns="0" tIns="0" rIns="0" bIns="0" rtlCol="0" anchor="t"/>
          <a:lstStyle/>
          <a:p>
            <a:pPr indent="0" marL="0">
              <a:buNone/>
            </a:pPr>
            <a:r>
              <a:rPr lang="en-US" sz="1400" dirty="0">
                <a:solidFill>
                  <a:schemeClr val="bg1"/>
                </a:solidFill>
                <a:latin typeface="Ebrima" pitchFamily="34" charset="0"/>
                <a:ea typeface="Ebrima" pitchFamily="34" charset="-122"/>
                <a:cs typeface="Ebrima" pitchFamily="34" charset="-120"/>
              </a:rPr>
              <a:t>መሠረተ ሕይወት ሰንበት ትምህርት ቤት</a:t>
            </a:r>
            <a:endParaRPr lang="en-US" sz="1400" dirty="0"/>
          </a:p>
          <a:p>
            <a:pPr indent="0" marL="0">
              <a:buNone/>
            </a:pPr>
            <a:r>
              <a:rPr lang="en-US" sz="1400" dirty="0">
                <a:solidFill>
                  <a:schemeClr val="bg1"/>
                </a:solidFill>
                <a:latin typeface="Ebrima" pitchFamily="34" charset="0"/>
                <a:ea typeface="Ebrima" pitchFamily="34" charset="-122"/>
                <a:cs typeface="Ebrima" pitchFamily="34" charset="-120"/>
              </a:rPr>
              <a:t>ደብረ እንቁ ቅድስት ልደታ ለማርያም ቤተ ክርስቲያን</a:t>
            </a:r>
            <a:endParaRPr lang="en-US" sz="1400" dirty="0"/>
          </a:p>
        </p:txBody>
      </p:sp>
      <p:sp>
        <p:nvSpPr>
          <p:cNvPr id="8" name="Text 5"/>
          <p:cNvSpPr txBox="1"/>
          <p:nvPr/>
        </p:nvSpPr>
        <p:spPr>
          <a:xfrm>
            <a:off x="731520" y="5669280"/>
            <a:ext cx="6583680" cy="365760"/>
          </a:xfrm>
          <a:prstGeom prst="rect">
            <a:avLst/>
          </a:prstGeom>
          <a:noFill/>
          <a:ln/>
        </p:spPr>
        <p:txBody>
          <a:bodyPr wrap="square" lIns="0" tIns="0" rIns="0" bIns="0" rtlCol="0" anchor="t"/>
          <a:lstStyle/>
          <a:p>
            <a:pPr indent="0" marL="0">
              <a:buNone/>
            </a:pPr>
            <a:r>
              <a:rPr lang="en-US" sz="1300" dirty="0">
                <a:solidFill>
                  <a:schemeClr val="accent2"/>
                </a:solidFill>
                <a:latin typeface="Ebrima" pitchFamily="34" charset="0"/>
                <a:ea typeface="Ebrima" pitchFamily="34" charset="-122"/>
                <a:cs typeface="Ebrima" pitchFamily="34" charset="-120"/>
              </a:rPr>
              <a:t>ጥቅምት 6 ቀን 2019 ዓ.ም  ·  የመተግበሪያ ስሪት 1.5.3</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0241280" cy="777240"/>
          </a:xfrm>
          <a:prstGeom prst="rect">
            <a:avLst/>
          </a:prstGeom>
          <a:noFill/>
          <a:ln/>
        </p:spPr>
        <p:txBody>
          <a:bodyPr wrap="square" lIns="0" tIns="0" rIns="0" bIns="0" rtlCol="0" anchor="ctr"/>
          <a:lstStyle/>
          <a:p>
            <a:pPr algn="l" indent="0" marL="0">
              <a:buNone/>
            </a:pPr>
            <a:r>
              <a:rPr lang="en-US" sz="3400" dirty="0">
                <a:solidFill>
                  <a:schemeClr val="accent1"/>
                </a:solidFill>
                <a:latin typeface="Nyala" pitchFamily="34" charset="0"/>
                <a:ea typeface="Nyala" pitchFamily="34" charset="-122"/>
                <a:cs typeface="Nyala" pitchFamily="34" charset="-120"/>
              </a:rPr>
              <a:t>መግቢያና ዓላማ</a:t>
            </a:r>
            <a:endParaRPr lang="en-US" sz="3400" dirty="0"/>
          </a:p>
        </p:txBody>
      </p:sp>
      <p:sp>
        <p:nvSpPr>
          <p:cNvPr id="3" name="Text 1"/>
          <p:cNvSpPr txBox="1"/>
          <p:nvPr/>
        </p:nvSpPr>
        <p:spPr>
          <a:xfrm>
            <a:off x="548640" y="1325880"/>
            <a:ext cx="6675120" cy="822960"/>
          </a:xfrm>
          <a:prstGeom prst="rect">
            <a:avLst/>
          </a:prstGeom>
          <a:noFill/>
          <a:ln/>
        </p:spPr>
        <p:txBody>
          <a:bodyPr wrap="square" lIns="0" tIns="0" rIns="0" bIns="0" rtlCol="0" anchor="t"/>
          <a:lstStyle/>
          <a:p>
            <a:pPr indent="0" marL="0">
              <a:buNone/>
            </a:pPr>
            <a:r>
              <a:rPr lang="en-US" sz="1800" dirty="0">
                <a:solidFill>
                  <a:schemeClr val="tx1"/>
                </a:solidFill>
                <a:latin typeface="Ebrima" pitchFamily="34" charset="0"/>
                <a:ea typeface="Ebrima" pitchFamily="34" charset="-122"/>
                <a:cs typeface="Ebrima" pitchFamily="34" charset="-120"/>
              </a:rPr>
              <a:t>መሠረተ ሕይወት የሰንበት ትምህርት ቤቱን መንፈሳዊ አገልግሎት፣ ትምህርትና አስተዳደር በአንድ መድረክ የሚያገናኝ ዲጂታል መተግበሪያ ነው።</a:t>
            </a:r>
            <a:endParaRPr lang="en-US" sz="1800" dirty="0"/>
          </a:p>
        </p:txBody>
      </p:sp>
      <p:sp>
        <p:nvSpPr>
          <p:cNvPr id="4" name="Shape 2"/>
          <p:cNvSpPr/>
          <p:nvPr/>
        </p:nvSpPr>
        <p:spPr>
          <a:xfrm>
            <a:off x="548640" y="2377440"/>
            <a:ext cx="640080" cy="640080"/>
          </a:xfrm>
          <a:prstGeom prst="ellipse">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702259" y="2531059"/>
            <a:ext cx="332842" cy="332842"/>
          </a:xfrm>
          <a:prstGeom prst="rect">
            <a:avLst/>
          </a:prstGeom>
        </p:spPr>
      </p:pic>
      <p:sp>
        <p:nvSpPr>
          <p:cNvPr id="6" name="Text 3"/>
          <p:cNvSpPr txBox="1"/>
          <p:nvPr/>
        </p:nvSpPr>
        <p:spPr>
          <a:xfrm>
            <a:off x="1417320" y="2487168"/>
            <a:ext cx="5852160" cy="457200"/>
          </a:xfrm>
          <a:prstGeom prst="rect">
            <a:avLst/>
          </a:prstGeom>
          <a:noFill/>
          <a:ln/>
        </p:spPr>
        <p:txBody>
          <a:bodyPr wrap="square" lIns="0" tIns="0" rIns="0" bIns="0" rtlCol="0" anchor="ctr"/>
          <a:lstStyle/>
          <a:p>
            <a:pPr indent="0" marL="0">
              <a:buNone/>
            </a:pPr>
            <a:r>
              <a:rPr lang="en-US" sz="1700" dirty="0">
                <a:solidFill>
                  <a:schemeClr val="tx1"/>
                </a:solidFill>
                <a:latin typeface="Ebrima" pitchFamily="34" charset="0"/>
                <a:ea typeface="Ebrima" pitchFamily="34" charset="-122"/>
                <a:cs typeface="Ebrima" pitchFamily="34" charset="-120"/>
              </a:rPr>
              <a:t>መዝሙርና ትምህርትን ለእያንዳንዱ አባል በስልኩ ማድረስ</a:t>
            </a:r>
            <a:endParaRPr lang="en-US" sz="1700" dirty="0"/>
          </a:p>
        </p:txBody>
      </p:sp>
      <p:sp>
        <p:nvSpPr>
          <p:cNvPr id="7" name="Shape 4"/>
          <p:cNvSpPr/>
          <p:nvPr/>
        </p:nvSpPr>
        <p:spPr>
          <a:xfrm>
            <a:off x="548640" y="3310128"/>
            <a:ext cx="640080" cy="640080"/>
          </a:xfrm>
          <a:prstGeom prst="ellipse">
            <a:avLst/>
          </a:prstGeom>
          <a:solidFill>
            <a:schemeClr val="accent1"/>
          </a:solidFill>
          <a:ln/>
        </p:spPr>
      </p:sp>
      <p:pic>
        <p:nvPicPr>
          <p:cNvPr id="8" name="Image 1" descr="preencoded.png">    </p:cNvPr>
          <p:cNvPicPr>
            <a:picLocks noChangeAspect="1"/>
          </p:cNvPicPr>
          <p:nvPr/>
        </p:nvPicPr>
        <p:blipFill>
          <a:blip r:embed="rId2"/>
          <a:stretch>
            <a:fillRect/>
          </a:stretch>
        </p:blipFill>
        <p:spPr>
          <a:xfrm>
            <a:off x="702259" y="3463747"/>
            <a:ext cx="332842" cy="332842"/>
          </a:xfrm>
          <a:prstGeom prst="rect">
            <a:avLst/>
          </a:prstGeom>
        </p:spPr>
      </p:pic>
      <p:sp>
        <p:nvSpPr>
          <p:cNvPr id="9" name="Text 5"/>
          <p:cNvSpPr txBox="1"/>
          <p:nvPr/>
        </p:nvSpPr>
        <p:spPr>
          <a:xfrm>
            <a:off x="1417320" y="3419856"/>
            <a:ext cx="5852160" cy="457200"/>
          </a:xfrm>
          <a:prstGeom prst="rect">
            <a:avLst/>
          </a:prstGeom>
          <a:noFill/>
          <a:ln/>
        </p:spPr>
        <p:txBody>
          <a:bodyPr wrap="square" lIns="0" tIns="0" rIns="0" bIns="0" rtlCol="0" anchor="ctr"/>
          <a:lstStyle/>
          <a:p>
            <a:pPr indent="0" marL="0">
              <a:buNone/>
            </a:pPr>
            <a:r>
              <a:rPr lang="en-US" sz="1700" dirty="0">
                <a:solidFill>
                  <a:schemeClr val="tx1"/>
                </a:solidFill>
                <a:latin typeface="Ebrima" pitchFamily="34" charset="0"/>
                <a:ea typeface="Ebrima" pitchFamily="34" charset="-122"/>
                <a:cs typeface="Ebrima" pitchFamily="34" charset="-120"/>
              </a:rPr>
              <a:t>የመገኘት፣ የመዋጮና የንብረት መዛግብትን በታማኝነት መያዝ</a:t>
            </a:r>
            <a:endParaRPr lang="en-US" sz="1700" dirty="0"/>
          </a:p>
        </p:txBody>
      </p:sp>
      <p:sp>
        <p:nvSpPr>
          <p:cNvPr id="10" name="Shape 6"/>
          <p:cNvSpPr/>
          <p:nvPr/>
        </p:nvSpPr>
        <p:spPr>
          <a:xfrm>
            <a:off x="548640" y="4242816"/>
            <a:ext cx="640080" cy="640080"/>
          </a:xfrm>
          <a:prstGeom prst="ellipse">
            <a:avLst/>
          </a:prstGeom>
          <a:solidFill>
            <a:schemeClr val="accent1"/>
          </a:solidFill>
          <a:ln/>
        </p:spPr>
      </p:sp>
      <p:pic>
        <p:nvPicPr>
          <p:cNvPr id="11" name="Image 2" descr="preencoded.png">    </p:cNvPr>
          <p:cNvPicPr>
            <a:picLocks noChangeAspect="1"/>
          </p:cNvPicPr>
          <p:nvPr/>
        </p:nvPicPr>
        <p:blipFill>
          <a:blip r:embed="rId3"/>
          <a:stretch>
            <a:fillRect/>
          </a:stretch>
        </p:blipFill>
        <p:spPr>
          <a:xfrm>
            <a:off x="702259" y="4396435"/>
            <a:ext cx="332842" cy="332842"/>
          </a:xfrm>
          <a:prstGeom prst="rect">
            <a:avLst/>
          </a:prstGeom>
        </p:spPr>
      </p:pic>
      <p:sp>
        <p:nvSpPr>
          <p:cNvPr id="12" name="Text 7"/>
          <p:cNvSpPr txBox="1"/>
          <p:nvPr/>
        </p:nvSpPr>
        <p:spPr>
          <a:xfrm>
            <a:off x="1417320" y="4352544"/>
            <a:ext cx="5852160" cy="457200"/>
          </a:xfrm>
          <a:prstGeom prst="rect">
            <a:avLst/>
          </a:prstGeom>
          <a:noFill/>
          <a:ln/>
        </p:spPr>
        <p:txBody>
          <a:bodyPr wrap="square" lIns="0" tIns="0" rIns="0" bIns="0" rtlCol="0" anchor="ctr"/>
          <a:lstStyle/>
          <a:p>
            <a:pPr indent="0" marL="0">
              <a:buNone/>
            </a:pPr>
            <a:r>
              <a:rPr lang="en-US" sz="1700" dirty="0">
                <a:solidFill>
                  <a:schemeClr val="tx1"/>
                </a:solidFill>
                <a:latin typeface="Ebrima" pitchFamily="34" charset="0"/>
                <a:ea typeface="Ebrima" pitchFamily="34" charset="-122"/>
                <a:cs typeface="Ebrima" pitchFamily="34" charset="-120"/>
              </a:rPr>
              <a:t>ለመሪዎች ግልጽ ሪፖርትና የውሳኔ መረጃ ማቅረብ</a:t>
            </a:r>
            <a:endParaRPr lang="en-US" sz="1700" dirty="0"/>
          </a:p>
        </p:txBody>
      </p:sp>
      <p:sp>
        <p:nvSpPr>
          <p:cNvPr id="13" name="Shape 8"/>
          <p:cNvSpPr/>
          <p:nvPr/>
        </p:nvSpPr>
        <p:spPr>
          <a:xfrm>
            <a:off x="548640" y="5175504"/>
            <a:ext cx="640080" cy="640080"/>
          </a:xfrm>
          <a:prstGeom prst="ellipse">
            <a:avLst/>
          </a:prstGeom>
          <a:solidFill>
            <a:schemeClr val="accent1"/>
          </a:solidFill>
          <a:ln/>
        </p:spPr>
      </p:sp>
      <p:pic>
        <p:nvPicPr>
          <p:cNvPr id="14" name="Image 3" descr="preencoded.png">    </p:cNvPr>
          <p:cNvPicPr>
            <a:picLocks noChangeAspect="1"/>
          </p:cNvPicPr>
          <p:nvPr/>
        </p:nvPicPr>
        <p:blipFill>
          <a:blip r:embed="rId4"/>
          <a:stretch>
            <a:fillRect/>
          </a:stretch>
        </p:blipFill>
        <p:spPr>
          <a:xfrm>
            <a:off x="702259" y="5329123"/>
            <a:ext cx="332842" cy="332842"/>
          </a:xfrm>
          <a:prstGeom prst="rect">
            <a:avLst/>
          </a:prstGeom>
        </p:spPr>
      </p:pic>
      <p:sp>
        <p:nvSpPr>
          <p:cNvPr id="15" name="Text 9"/>
          <p:cNvSpPr txBox="1"/>
          <p:nvPr/>
        </p:nvSpPr>
        <p:spPr>
          <a:xfrm>
            <a:off x="1417320" y="5285232"/>
            <a:ext cx="5852160" cy="457200"/>
          </a:xfrm>
          <a:prstGeom prst="rect">
            <a:avLst/>
          </a:prstGeom>
          <a:noFill/>
          <a:ln/>
        </p:spPr>
        <p:txBody>
          <a:bodyPr wrap="square" lIns="0" tIns="0" rIns="0" bIns="0" rtlCol="0" anchor="ctr"/>
          <a:lstStyle/>
          <a:p>
            <a:pPr indent="0" marL="0">
              <a:buNone/>
            </a:pPr>
            <a:r>
              <a:rPr lang="en-US" sz="1700" dirty="0">
                <a:solidFill>
                  <a:schemeClr val="tx1"/>
                </a:solidFill>
                <a:latin typeface="Ebrima" pitchFamily="34" charset="0"/>
                <a:ea typeface="Ebrima" pitchFamily="34" charset="-122"/>
                <a:cs typeface="Ebrima" pitchFamily="34" charset="-120"/>
              </a:rPr>
              <a:t>የአባላትን የግል መረጃ በጥንቃቄ መጠበቅ</a:t>
            </a:r>
            <a:endParaRPr lang="en-US" sz="1700" dirty="0"/>
          </a:p>
        </p:txBody>
      </p:sp>
      <p:sp>
        <p:nvSpPr>
          <p:cNvPr id="16" name="Shape 10"/>
          <p:cNvSpPr/>
          <p:nvPr/>
        </p:nvSpPr>
        <p:spPr>
          <a:xfrm>
            <a:off x="7863840" y="1325880"/>
            <a:ext cx="3794760" cy="4800600"/>
          </a:xfrm>
          <a:prstGeom prst="roundRect">
            <a:avLst>
              <a:gd name="adj" fmla="val 2892"/>
            </a:avLst>
          </a:prstGeom>
          <a:solidFill>
            <a:schemeClr val="bg2">
              <a:alpha val="60000"/>
            </a:schemeClr>
          </a:solidFill>
          <a:ln/>
        </p:spPr>
      </p:sp>
      <p:sp>
        <p:nvSpPr>
          <p:cNvPr id="17" name="Text 11"/>
          <p:cNvSpPr txBox="1"/>
          <p:nvPr/>
        </p:nvSpPr>
        <p:spPr>
          <a:xfrm>
            <a:off x="8183880" y="1554480"/>
            <a:ext cx="3291840" cy="777240"/>
          </a:xfrm>
          <a:prstGeom prst="rect">
            <a:avLst/>
          </a:prstGeom>
          <a:noFill/>
          <a:ln/>
        </p:spPr>
        <p:txBody>
          <a:bodyPr wrap="square" lIns="0" tIns="0" rIns="0" bIns="0" rtlCol="0" anchor="t"/>
          <a:lstStyle/>
          <a:p>
            <a:pPr indent="0" marL="0">
              <a:buNone/>
            </a:pPr>
            <a:r>
              <a:rPr lang="en-US" sz="4000" b="1" dirty="0">
                <a:solidFill>
                  <a:schemeClr val="accent1"/>
                </a:solidFill>
                <a:latin typeface="Ebrima" pitchFamily="34" charset="0"/>
                <a:ea typeface="Ebrima" pitchFamily="34" charset="-122"/>
                <a:cs typeface="Ebrima" pitchFamily="34" charset="-120"/>
              </a:rPr>
              <a:t>1 መተግበሪያ</a:t>
            </a:r>
            <a:endParaRPr lang="en-US" sz="4000" dirty="0"/>
          </a:p>
        </p:txBody>
      </p:sp>
      <p:sp>
        <p:nvSpPr>
          <p:cNvPr id="18" name="Text 12"/>
          <p:cNvSpPr txBox="1"/>
          <p:nvPr/>
        </p:nvSpPr>
        <p:spPr>
          <a:xfrm>
            <a:off x="8183880" y="2331720"/>
            <a:ext cx="3291840" cy="548640"/>
          </a:xfrm>
          <a:prstGeom prst="rect">
            <a:avLst/>
          </a:prstGeom>
          <a:noFill/>
          <a:ln/>
        </p:spPr>
        <p:txBody>
          <a:bodyPr wrap="square" lIns="0" tIns="0" rIns="0" bIns="0" rtlCol="0" anchor="t"/>
          <a:lstStyle/>
          <a:p>
            <a:pPr indent="0" marL="0">
              <a:buNone/>
            </a:pPr>
            <a:r>
              <a:rPr lang="en-US" sz="1300" dirty="0">
                <a:solidFill>
                  <a:schemeClr val="tx1"/>
                </a:solidFill>
                <a:latin typeface="Ebrima" pitchFamily="34" charset="0"/>
                <a:ea typeface="Ebrima" pitchFamily="34" charset="-122"/>
                <a:cs typeface="Ebrima" pitchFamily="34" charset="-120"/>
              </a:rPr>
              <a:t>ለAndroid ስልኮችና ለድር (browser)</a:t>
            </a:r>
            <a:endParaRPr lang="en-US" sz="1300" dirty="0"/>
          </a:p>
        </p:txBody>
      </p:sp>
      <p:sp>
        <p:nvSpPr>
          <p:cNvPr id="19" name="Text 13"/>
          <p:cNvSpPr txBox="1"/>
          <p:nvPr/>
        </p:nvSpPr>
        <p:spPr>
          <a:xfrm>
            <a:off x="8183880" y="3063240"/>
            <a:ext cx="3291840" cy="777240"/>
          </a:xfrm>
          <a:prstGeom prst="rect">
            <a:avLst/>
          </a:prstGeom>
          <a:noFill/>
          <a:ln/>
        </p:spPr>
        <p:txBody>
          <a:bodyPr wrap="square" lIns="0" tIns="0" rIns="0" bIns="0" rtlCol="0" anchor="t"/>
          <a:lstStyle/>
          <a:p>
            <a:pPr indent="0" marL="0">
              <a:buNone/>
            </a:pPr>
            <a:r>
              <a:rPr lang="en-US" sz="4000" b="1" dirty="0">
                <a:solidFill>
                  <a:schemeClr val="accent1"/>
                </a:solidFill>
                <a:latin typeface="Ebrima" pitchFamily="34" charset="0"/>
                <a:ea typeface="Ebrima" pitchFamily="34" charset="-122"/>
                <a:cs typeface="Ebrima" pitchFamily="34" charset="-120"/>
              </a:rPr>
              <a:t>3 ዋና ክፍሎች</a:t>
            </a:r>
            <a:endParaRPr lang="en-US" sz="4000" dirty="0"/>
          </a:p>
        </p:txBody>
      </p:sp>
      <p:sp>
        <p:nvSpPr>
          <p:cNvPr id="20" name="Text 14"/>
          <p:cNvSpPr txBox="1"/>
          <p:nvPr/>
        </p:nvSpPr>
        <p:spPr>
          <a:xfrm>
            <a:off x="8183880" y="3840480"/>
            <a:ext cx="3291840" cy="548640"/>
          </a:xfrm>
          <a:prstGeom prst="rect">
            <a:avLst/>
          </a:prstGeom>
          <a:noFill/>
          <a:ln/>
        </p:spPr>
        <p:txBody>
          <a:bodyPr wrap="square" lIns="0" tIns="0" rIns="0" bIns="0" rtlCol="0" anchor="t"/>
          <a:lstStyle/>
          <a:p>
            <a:pPr indent="0" marL="0">
              <a:buNone/>
            </a:pPr>
            <a:r>
              <a:rPr lang="en-US" sz="1300" dirty="0">
                <a:solidFill>
                  <a:schemeClr val="tx1"/>
                </a:solidFill>
                <a:latin typeface="Ebrima" pitchFamily="34" charset="0"/>
                <a:ea typeface="Ebrima" pitchFamily="34" charset="-122"/>
                <a:cs typeface="Ebrima" pitchFamily="34" charset="-120"/>
              </a:rPr>
              <a:t>መዝሙር · ትምህርት · ስለ እኔ</a:t>
            </a:r>
            <a:endParaRPr lang="en-US" sz="1300" dirty="0"/>
          </a:p>
        </p:txBody>
      </p:sp>
      <p:sp>
        <p:nvSpPr>
          <p:cNvPr id="21" name="Text 15"/>
          <p:cNvSpPr txBox="1"/>
          <p:nvPr/>
        </p:nvSpPr>
        <p:spPr>
          <a:xfrm>
            <a:off x="8183880" y="4572000"/>
            <a:ext cx="3291840" cy="777240"/>
          </a:xfrm>
          <a:prstGeom prst="rect">
            <a:avLst/>
          </a:prstGeom>
          <a:noFill/>
          <a:ln/>
        </p:spPr>
        <p:txBody>
          <a:bodyPr wrap="square" lIns="0" tIns="0" rIns="0" bIns="0" rtlCol="0" anchor="t"/>
          <a:lstStyle/>
          <a:p>
            <a:pPr indent="0" marL="0">
              <a:buNone/>
            </a:pPr>
            <a:r>
              <a:rPr lang="en-US" sz="4000" b="1" dirty="0">
                <a:solidFill>
                  <a:schemeClr val="accent1"/>
                </a:solidFill>
                <a:latin typeface="Ebrima" pitchFamily="34" charset="0"/>
                <a:ea typeface="Ebrima" pitchFamily="34" charset="-122"/>
                <a:cs typeface="Ebrima" pitchFamily="34" charset="-120"/>
              </a:rPr>
              <a:t>2 ቋንቋዎች</a:t>
            </a:r>
            <a:endParaRPr lang="en-US" sz="4000" dirty="0"/>
          </a:p>
        </p:txBody>
      </p:sp>
      <p:sp>
        <p:nvSpPr>
          <p:cNvPr id="22" name="Text 16"/>
          <p:cNvSpPr txBox="1"/>
          <p:nvPr/>
        </p:nvSpPr>
        <p:spPr>
          <a:xfrm>
            <a:off x="8183880" y="5349240"/>
            <a:ext cx="3291840" cy="548640"/>
          </a:xfrm>
          <a:prstGeom prst="rect">
            <a:avLst/>
          </a:prstGeom>
          <a:noFill/>
          <a:ln/>
        </p:spPr>
        <p:txBody>
          <a:bodyPr wrap="square" lIns="0" tIns="0" rIns="0" bIns="0" rtlCol="0" anchor="t"/>
          <a:lstStyle/>
          <a:p>
            <a:pPr indent="0" marL="0">
              <a:buNone/>
            </a:pPr>
            <a:r>
              <a:rPr lang="en-US" sz="1300" dirty="0">
                <a:solidFill>
                  <a:schemeClr val="tx1"/>
                </a:solidFill>
                <a:latin typeface="Ebrima" pitchFamily="34" charset="0"/>
                <a:ea typeface="Ebrima" pitchFamily="34" charset="-122"/>
                <a:cs typeface="Ebrima" pitchFamily="34" charset="-120"/>
              </a:rPr>
              <a:t>አማርኛ (ዋና) እና እንግሊዝኛ</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Ebrima"/>
                <a:ea typeface="Ebrima"/>
                <a:cs typeface="Ebrima"/>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0241280" cy="777240"/>
          </a:xfrm>
          <a:prstGeom prst="rect">
            <a:avLst/>
          </a:prstGeom>
          <a:noFill/>
          <a:ln/>
        </p:spPr>
        <p:txBody>
          <a:bodyPr wrap="square" lIns="0" tIns="0" rIns="0" bIns="0" rtlCol="0" anchor="ctr"/>
          <a:lstStyle/>
          <a:p>
            <a:pPr algn="l" indent="0" marL="0">
              <a:buNone/>
            </a:pPr>
            <a:r>
              <a:rPr lang="en-US" sz="3400" dirty="0">
                <a:solidFill>
                  <a:schemeClr val="accent1"/>
                </a:solidFill>
                <a:latin typeface="Nyala" pitchFamily="34" charset="0"/>
                <a:ea typeface="Nyala" pitchFamily="34" charset="-122"/>
                <a:cs typeface="Nyala" pitchFamily="34" charset="-120"/>
              </a:rPr>
              <a:t>መተግበሪያው የሚፈታቸው ችግሮች</a:t>
            </a:r>
            <a:endParaRPr lang="en-US" sz="3400" dirty="0"/>
          </a:p>
        </p:txBody>
      </p:sp>
      <p:sp>
        <p:nvSpPr>
          <p:cNvPr id="3" name="Shape 1"/>
          <p:cNvSpPr/>
          <p:nvPr/>
        </p:nvSpPr>
        <p:spPr>
          <a:xfrm>
            <a:off x="548640" y="1325880"/>
            <a:ext cx="5257800" cy="4846320"/>
          </a:xfrm>
          <a:prstGeom prst="roundRect">
            <a:avLst>
              <a:gd name="adj" fmla="val 2264"/>
            </a:avLst>
          </a:prstGeom>
          <a:solidFill>
            <a:schemeClr val="bg2">
              <a:alpha val="45000"/>
            </a:schemeClr>
          </a:solidFill>
          <a:ln/>
        </p:spPr>
      </p:sp>
      <p:sp>
        <p:nvSpPr>
          <p:cNvPr id="4" name="Shape 2"/>
          <p:cNvSpPr/>
          <p:nvPr/>
        </p:nvSpPr>
        <p:spPr>
          <a:xfrm>
            <a:off x="6355080" y="1325880"/>
            <a:ext cx="5303520" cy="4846320"/>
          </a:xfrm>
          <a:prstGeom prst="roundRect">
            <a:avLst>
              <a:gd name="adj" fmla="val 2264"/>
            </a:avLst>
          </a:prstGeom>
          <a:solidFill>
            <a:schemeClr val="accent1"/>
          </a:solidFill>
          <a:ln/>
        </p:spPr>
      </p:sp>
      <p:sp>
        <p:nvSpPr>
          <p:cNvPr id="5" name="Text 3"/>
          <p:cNvSpPr txBox="1"/>
          <p:nvPr/>
        </p:nvSpPr>
        <p:spPr>
          <a:xfrm>
            <a:off x="868680" y="1508760"/>
            <a:ext cx="4572000" cy="457200"/>
          </a:xfrm>
          <a:prstGeom prst="rect">
            <a:avLst/>
          </a:prstGeom>
          <a:noFill/>
          <a:ln/>
        </p:spPr>
        <p:txBody>
          <a:bodyPr wrap="square" lIns="0" tIns="0" rIns="0" bIns="0" rtlCol="0" anchor="t"/>
          <a:lstStyle/>
          <a:p>
            <a:pPr indent="0" marL="0">
              <a:buNone/>
            </a:pPr>
            <a:r>
              <a:rPr lang="en-US" sz="2200" b="1" dirty="0">
                <a:solidFill>
                  <a:schemeClr val="accent4"/>
                </a:solidFill>
                <a:latin typeface="Ebrima" pitchFamily="34" charset="0"/>
                <a:ea typeface="Ebrima" pitchFamily="34" charset="-122"/>
                <a:cs typeface="Ebrima" pitchFamily="34" charset="-120"/>
              </a:rPr>
              <a:t>ቀድሞ</a:t>
            </a:r>
            <a:endParaRPr lang="en-US" sz="2200" dirty="0"/>
          </a:p>
        </p:txBody>
      </p:sp>
      <p:sp>
        <p:nvSpPr>
          <p:cNvPr id="6" name="Text 4"/>
          <p:cNvSpPr txBox="1"/>
          <p:nvPr/>
        </p:nvSpPr>
        <p:spPr>
          <a:xfrm>
            <a:off x="6675120" y="1508760"/>
            <a:ext cx="4572000" cy="457200"/>
          </a:xfrm>
          <a:prstGeom prst="rect">
            <a:avLst/>
          </a:prstGeom>
          <a:noFill/>
          <a:ln/>
        </p:spPr>
        <p:txBody>
          <a:bodyPr wrap="square" lIns="0" tIns="0" rIns="0" bIns="0" rtlCol="0" anchor="t"/>
          <a:lstStyle/>
          <a:p>
            <a:pPr indent="0" marL="0">
              <a:buNone/>
            </a:pPr>
            <a:r>
              <a:rPr lang="en-US" sz="2200" b="1" dirty="0">
                <a:solidFill>
                  <a:schemeClr val="accent2"/>
                </a:solidFill>
                <a:latin typeface="Ebrima" pitchFamily="34" charset="0"/>
                <a:ea typeface="Ebrima" pitchFamily="34" charset="-122"/>
                <a:cs typeface="Ebrima" pitchFamily="34" charset="-120"/>
              </a:rPr>
              <a:t>አሁን በመተግበሪያው</a:t>
            </a:r>
            <a:endParaRPr lang="en-US" sz="2200" dirty="0"/>
          </a:p>
        </p:txBody>
      </p:sp>
      <p:pic>
        <p:nvPicPr>
          <p:cNvPr id="7" name="Image 0" descr="preencoded.png">    </p:cNvPr>
          <p:cNvPicPr>
            <a:picLocks noChangeAspect="1"/>
          </p:cNvPicPr>
          <p:nvPr/>
        </p:nvPicPr>
        <p:blipFill>
          <a:blip r:embed="rId1"/>
          <a:stretch>
            <a:fillRect/>
          </a:stretch>
        </p:blipFill>
        <p:spPr>
          <a:xfrm>
            <a:off x="868680" y="2286000"/>
            <a:ext cx="292608" cy="292608"/>
          </a:xfrm>
          <a:prstGeom prst="rect">
            <a:avLst/>
          </a:prstGeom>
        </p:spPr>
      </p:pic>
      <p:sp>
        <p:nvSpPr>
          <p:cNvPr id="8" name="Text 5"/>
          <p:cNvSpPr txBox="1"/>
          <p:nvPr/>
        </p:nvSpPr>
        <p:spPr>
          <a:xfrm>
            <a:off x="1325880" y="2240280"/>
            <a:ext cx="4297680" cy="548640"/>
          </a:xfrm>
          <a:prstGeom prst="rect">
            <a:avLst/>
          </a:prstGeom>
          <a:noFill/>
          <a:ln/>
        </p:spPr>
        <p:txBody>
          <a:bodyPr wrap="square" lIns="0" tIns="0" rIns="0" bIns="0" rtlCol="0" anchor="t"/>
          <a:lstStyle/>
          <a:p>
            <a:pPr indent="0" marL="0">
              <a:buNone/>
            </a:pPr>
            <a:r>
              <a:rPr lang="en-US" sz="1550" dirty="0">
                <a:solidFill>
                  <a:schemeClr val="tx1"/>
                </a:solidFill>
                <a:latin typeface="Ebrima" pitchFamily="34" charset="0"/>
                <a:ea typeface="Ebrima" pitchFamily="34" charset="-122"/>
                <a:cs typeface="Ebrima" pitchFamily="34" charset="-120"/>
              </a:rPr>
              <a:t>በወረቀት የሚያዝ የመገኘት ዝርዝር</a:t>
            </a:r>
            <a:endParaRPr lang="en-US" sz="1550" dirty="0"/>
          </a:p>
        </p:txBody>
      </p:sp>
      <p:pic>
        <p:nvPicPr>
          <p:cNvPr id="9" name="Image 1" descr="preencoded.png">    </p:cNvPr>
          <p:cNvPicPr>
            <a:picLocks noChangeAspect="1"/>
          </p:cNvPicPr>
          <p:nvPr/>
        </p:nvPicPr>
        <p:blipFill>
          <a:blip r:embed="rId2"/>
          <a:stretch>
            <a:fillRect/>
          </a:stretch>
        </p:blipFill>
        <p:spPr>
          <a:xfrm>
            <a:off x="6675120" y="2286000"/>
            <a:ext cx="292608" cy="292608"/>
          </a:xfrm>
          <a:prstGeom prst="rect">
            <a:avLst/>
          </a:prstGeom>
        </p:spPr>
      </p:pic>
      <p:sp>
        <p:nvSpPr>
          <p:cNvPr id="10" name="Text 6"/>
          <p:cNvSpPr txBox="1"/>
          <p:nvPr/>
        </p:nvSpPr>
        <p:spPr>
          <a:xfrm>
            <a:off x="7132320" y="2240280"/>
            <a:ext cx="4343400" cy="548640"/>
          </a:xfrm>
          <a:prstGeom prst="rect">
            <a:avLst/>
          </a:prstGeom>
          <a:noFill/>
          <a:ln/>
        </p:spPr>
        <p:txBody>
          <a:bodyPr wrap="square" lIns="0" tIns="0" rIns="0" bIns="0" rtlCol="0" anchor="t"/>
          <a:lstStyle/>
          <a:p>
            <a:pPr indent="0" marL="0">
              <a:buNone/>
            </a:pPr>
            <a:r>
              <a:rPr lang="en-US" sz="1550" dirty="0">
                <a:solidFill>
                  <a:schemeClr val="bg1"/>
                </a:solidFill>
                <a:latin typeface="Ebrima" pitchFamily="34" charset="0"/>
                <a:ea typeface="Ebrima" pitchFamily="34" charset="-122"/>
                <a:cs typeface="Ebrima" pitchFamily="34" charset="-120"/>
              </a:rPr>
              <a:t>በQR እና በፊርማ የሚመዘገብ መገኘት — ያለ ኢንተርኔትም</a:t>
            </a:r>
            <a:endParaRPr lang="en-US" sz="1550" dirty="0"/>
          </a:p>
        </p:txBody>
      </p:sp>
      <p:pic>
        <p:nvPicPr>
          <p:cNvPr id="11" name="Image 2" descr="preencoded.png">    </p:cNvPr>
          <p:cNvPicPr>
            <a:picLocks noChangeAspect="1"/>
          </p:cNvPicPr>
          <p:nvPr/>
        </p:nvPicPr>
        <p:blipFill>
          <a:blip r:embed="rId3"/>
          <a:stretch>
            <a:fillRect/>
          </a:stretch>
        </p:blipFill>
        <p:spPr>
          <a:xfrm>
            <a:off x="868680" y="3054096"/>
            <a:ext cx="292608" cy="292608"/>
          </a:xfrm>
          <a:prstGeom prst="rect">
            <a:avLst/>
          </a:prstGeom>
        </p:spPr>
      </p:pic>
      <p:sp>
        <p:nvSpPr>
          <p:cNvPr id="12" name="Text 7"/>
          <p:cNvSpPr txBox="1"/>
          <p:nvPr/>
        </p:nvSpPr>
        <p:spPr>
          <a:xfrm>
            <a:off x="1325880" y="3008376"/>
            <a:ext cx="4297680" cy="548640"/>
          </a:xfrm>
          <a:prstGeom prst="rect">
            <a:avLst/>
          </a:prstGeom>
          <a:noFill/>
          <a:ln/>
        </p:spPr>
        <p:txBody>
          <a:bodyPr wrap="square" lIns="0" tIns="0" rIns="0" bIns="0" rtlCol="0" anchor="t"/>
          <a:lstStyle/>
          <a:p>
            <a:pPr indent="0" marL="0">
              <a:buNone/>
            </a:pPr>
            <a:r>
              <a:rPr lang="en-US" sz="1550" dirty="0">
                <a:solidFill>
                  <a:schemeClr val="tx1"/>
                </a:solidFill>
                <a:latin typeface="Ebrima" pitchFamily="34" charset="0"/>
                <a:ea typeface="Ebrima" pitchFamily="34" charset="-122"/>
                <a:cs typeface="Ebrima" pitchFamily="34" charset="-120"/>
              </a:rPr>
              <a:t>የተበታተኑ የመዝሙር ግጥሞችና ድምፆች</a:t>
            </a:r>
            <a:endParaRPr lang="en-US" sz="1550" dirty="0"/>
          </a:p>
        </p:txBody>
      </p:sp>
      <p:pic>
        <p:nvPicPr>
          <p:cNvPr id="13" name="Image 3" descr="preencoded.png">    </p:cNvPr>
          <p:cNvPicPr>
            <a:picLocks noChangeAspect="1"/>
          </p:cNvPicPr>
          <p:nvPr/>
        </p:nvPicPr>
        <p:blipFill>
          <a:blip r:embed="rId4"/>
          <a:stretch>
            <a:fillRect/>
          </a:stretch>
        </p:blipFill>
        <p:spPr>
          <a:xfrm>
            <a:off x="6675120" y="3054096"/>
            <a:ext cx="292608" cy="292608"/>
          </a:xfrm>
          <a:prstGeom prst="rect">
            <a:avLst/>
          </a:prstGeom>
        </p:spPr>
      </p:pic>
      <p:sp>
        <p:nvSpPr>
          <p:cNvPr id="14" name="Text 8"/>
          <p:cNvSpPr txBox="1"/>
          <p:nvPr/>
        </p:nvSpPr>
        <p:spPr>
          <a:xfrm>
            <a:off x="7132320" y="3008376"/>
            <a:ext cx="4343400" cy="548640"/>
          </a:xfrm>
          <a:prstGeom prst="rect">
            <a:avLst/>
          </a:prstGeom>
          <a:noFill/>
          <a:ln/>
        </p:spPr>
        <p:txBody>
          <a:bodyPr wrap="square" lIns="0" tIns="0" rIns="0" bIns="0" rtlCol="0" anchor="t"/>
          <a:lstStyle/>
          <a:p>
            <a:pPr indent="0" marL="0">
              <a:buNone/>
            </a:pPr>
            <a:r>
              <a:rPr lang="en-US" sz="1550" dirty="0">
                <a:solidFill>
                  <a:schemeClr val="bg1"/>
                </a:solidFill>
                <a:latin typeface="Ebrima" pitchFamily="34" charset="0"/>
                <a:ea typeface="Ebrima" pitchFamily="34" charset="-122"/>
                <a:cs typeface="Ebrima" pitchFamily="34" charset="-120"/>
              </a:rPr>
              <a:t>በምድብ የተደራጀ የመዝሙር ቤተ መጻሕፍትና ማጫወቻ</a:t>
            </a:r>
            <a:endParaRPr lang="en-US" sz="1550" dirty="0"/>
          </a:p>
        </p:txBody>
      </p:sp>
      <p:pic>
        <p:nvPicPr>
          <p:cNvPr id="15" name="Image 4" descr="preencoded.png">    </p:cNvPr>
          <p:cNvPicPr>
            <a:picLocks noChangeAspect="1"/>
          </p:cNvPicPr>
          <p:nvPr/>
        </p:nvPicPr>
        <p:blipFill>
          <a:blip r:embed="rId5"/>
          <a:stretch>
            <a:fillRect/>
          </a:stretch>
        </p:blipFill>
        <p:spPr>
          <a:xfrm>
            <a:off x="868680" y="3822192"/>
            <a:ext cx="292608" cy="292608"/>
          </a:xfrm>
          <a:prstGeom prst="rect">
            <a:avLst/>
          </a:prstGeom>
        </p:spPr>
      </p:pic>
      <p:sp>
        <p:nvSpPr>
          <p:cNvPr id="16" name="Text 9"/>
          <p:cNvSpPr txBox="1"/>
          <p:nvPr/>
        </p:nvSpPr>
        <p:spPr>
          <a:xfrm>
            <a:off x="1325880" y="3776472"/>
            <a:ext cx="4297680" cy="548640"/>
          </a:xfrm>
          <a:prstGeom prst="rect">
            <a:avLst/>
          </a:prstGeom>
          <a:noFill/>
          <a:ln/>
        </p:spPr>
        <p:txBody>
          <a:bodyPr wrap="square" lIns="0" tIns="0" rIns="0" bIns="0" rtlCol="0" anchor="t"/>
          <a:lstStyle/>
          <a:p>
            <a:pPr indent="0" marL="0">
              <a:buNone/>
            </a:pPr>
            <a:r>
              <a:rPr lang="en-US" sz="1550" dirty="0">
                <a:solidFill>
                  <a:schemeClr val="tx1"/>
                </a:solidFill>
                <a:latin typeface="Ebrima" pitchFamily="34" charset="0"/>
                <a:ea typeface="Ebrima" pitchFamily="34" charset="-122"/>
                <a:cs typeface="Ebrima" pitchFamily="34" charset="-120"/>
              </a:rPr>
              <a:t>በእጅ የሚሰላ የአገልግሎት ምርጫ ውጤት</a:t>
            </a:r>
            <a:endParaRPr lang="en-US" sz="1550" dirty="0"/>
          </a:p>
        </p:txBody>
      </p:sp>
      <p:pic>
        <p:nvPicPr>
          <p:cNvPr id="17" name="Image 5" descr="preencoded.png">    </p:cNvPr>
          <p:cNvPicPr>
            <a:picLocks noChangeAspect="1"/>
          </p:cNvPicPr>
          <p:nvPr/>
        </p:nvPicPr>
        <p:blipFill>
          <a:blip r:embed="rId6"/>
          <a:stretch>
            <a:fillRect/>
          </a:stretch>
        </p:blipFill>
        <p:spPr>
          <a:xfrm>
            <a:off x="6675120" y="3822192"/>
            <a:ext cx="292608" cy="292608"/>
          </a:xfrm>
          <a:prstGeom prst="rect">
            <a:avLst/>
          </a:prstGeom>
        </p:spPr>
      </p:pic>
      <p:sp>
        <p:nvSpPr>
          <p:cNvPr id="18" name="Text 10"/>
          <p:cNvSpPr txBox="1"/>
          <p:nvPr/>
        </p:nvSpPr>
        <p:spPr>
          <a:xfrm>
            <a:off x="7132320" y="3776472"/>
            <a:ext cx="4343400" cy="548640"/>
          </a:xfrm>
          <a:prstGeom prst="rect">
            <a:avLst/>
          </a:prstGeom>
          <a:noFill/>
          <a:ln/>
        </p:spPr>
        <p:txBody>
          <a:bodyPr wrap="square" lIns="0" tIns="0" rIns="0" bIns="0" rtlCol="0" anchor="t"/>
          <a:lstStyle/>
          <a:p>
            <a:pPr indent="0" marL="0">
              <a:buNone/>
            </a:pPr>
            <a:r>
              <a:rPr lang="en-US" sz="1550" dirty="0">
                <a:solidFill>
                  <a:schemeClr val="bg1"/>
                </a:solidFill>
                <a:latin typeface="Ebrima" pitchFamily="34" charset="0"/>
                <a:ea typeface="Ebrima" pitchFamily="34" charset="-122"/>
                <a:cs typeface="Ebrima" pitchFamily="34" charset="-120"/>
              </a:rPr>
              <a:t>በግልጽ ሕግ በራሱ የሚሰላ የምርጫ ውጤት</a:t>
            </a:r>
            <a:endParaRPr lang="en-US" sz="1550" dirty="0"/>
          </a:p>
        </p:txBody>
      </p:sp>
      <p:pic>
        <p:nvPicPr>
          <p:cNvPr id="19" name="Image 6" descr="preencoded.png">    </p:cNvPr>
          <p:cNvPicPr>
            <a:picLocks noChangeAspect="1"/>
          </p:cNvPicPr>
          <p:nvPr/>
        </p:nvPicPr>
        <p:blipFill>
          <a:blip r:embed="rId7"/>
          <a:stretch>
            <a:fillRect/>
          </a:stretch>
        </p:blipFill>
        <p:spPr>
          <a:xfrm>
            <a:off x="868680" y="4590288"/>
            <a:ext cx="292608" cy="292608"/>
          </a:xfrm>
          <a:prstGeom prst="rect">
            <a:avLst/>
          </a:prstGeom>
        </p:spPr>
      </p:pic>
      <p:sp>
        <p:nvSpPr>
          <p:cNvPr id="20" name="Text 11"/>
          <p:cNvSpPr txBox="1"/>
          <p:nvPr/>
        </p:nvSpPr>
        <p:spPr>
          <a:xfrm>
            <a:off x="1325880" y="4544568"/>
            <a:ext cx="4297680" cy="548640"/>
          </a:xfrm>
          <a:prstGeom prst="rect">
            <a:avLst/>
          </a:prstGeom>
          <a:noFill/>
          <a:ln/>
        </p:spPr>
        <p:txBody>
          <a:bodyPr wrap="square" lIns="0" tIns="0" rIns="0" bIns="0" rtlCol="0" anchor="t"/>
          <a:lstStyle/>
          <a:p>
            <a:pPr indent="0" marL="0">
              <a:buNone/>
            </a:pPr>
            <a:r>
              <a:rPr lang="en-US" sz="1550" dirty="0">
                <a:solidFill>
                  <a:schemeClr val="tx1"/>
                </a:solidFill>
                <a:latin typeface="Ebrima" pitchFamily="34" charset="0"/>
                <a:ea typeface="Ebrima" pitchFamily="34" charset="-122"/>
                <a:cs typeface="Ebrima" pitchFamily="34" charset="-120"/>
              </a:rPr>
              <a:t>ለመከታተል አስቸጋሪ የመዋጮና የንብረት መዛግብት</a:t>
            </a:r>
            <a:endParaRPr lang="en-US" sz="1550" dirty="0"/>
          </a:p>
        </p:txBody>
      </p:sp>
      <p:pic>
        <p:nvPicPr>
          <p:cNvPr id="21" name="Image 7" descr="preencoded.png">    </p:cNvPr>
          <p:cNvPicPr>
            <a:picLocks noChangeAspect="1"/>
          </p:cNvPicPr>
          <p:nvPr/>
        </p:nvPicPr>
        <p:blipFill>
          <a:blip r:embed="rId8"/>
          <a:stretch>
            <a:fillRect/>
          </a:stretch>
        </p:blipFill>
        <p:spPr>
          <a:xfrm>
            <a:off x="6675120" y="4590288"/>
            <a:ext cx="292608" cy="292608"/>
          </a:xfrm>
          <a:prstGeom prst="rect">
            <a:avLst/>
          </a:prstGeom>
        </p:spPr>
      </p:pic>
      <p:sp>
        <p:nvSpPr>
          <p:cNvPr id="22" name="Text 12"/>
          <p:cNvSpPr txBox="1"/>
          <p:nvPr/>
        </p:nvSpPr>
        <p:spPr>
          <a:xfrm>
            <a:off x="7132320" y="4544568"/>
            <a:ext cx="4343400" cy="548640"/>
          </a:xfrm>
          <a:prstGeom prst="rect">
            <a:avLst/>
          </a:prstGeom>
          <a:noFill/>
          <a:ln/>
        </p:spPr>
        <p:txBody>
          <a:bodyPr wrap="square" lIns="0" tIns="0" rIns="0" bIns="0" rtlCol="0" anchor="t"/>
          <a:lstStyle/>
          <a:p>
            <a:pPr indent="0" marL="0">
              <a:buNone/>
            </a:pPr>
            <a:r>
              <a:rPr lang="en-US" sz="1550" dirty="0">
                <a:solidFill>
                  <a:schemeClr val="bg1"/>
                </a:solidFill>
                <a:latin typeface="Ebrima" pitchFamily="34" charset="0"/>
                <a:ea typeface="Ebrima" pitchFamily="34" charset="-122"/>
                <a:cs typeface="Ebrima" pitchFamily="34" charset="-120"/>
              </a:rPr>
              <a:t>በኢትዮጵያ ወር የሚመዘገብ መዋጮና የውሰት ክትትል</a:t>
            </a:r>
            <a:endParaRPr lang="en-US" sz="1550" dirty="0"/>
          </a:p>
        </p:txBody>
      </p:sp>
      <p:pic>
        <p:nvPicPr>
          <p:cNvPr id="23" name="Image 8" descr="preencoded.png">    </p:cNvPr>
          <p:cNvPicPr>
            <a:picLocks noChangeAspect="1"/>
          </p:cNvPicPr>
          <p:nvPr/>
        </p:nvPicPr>
        <p:blipFill>
          <a:blip r:embed="rId9"/>
          <a:stretch>
            <a:fillRect/>
          </a:stretch>
        </p:blipFill>
        <p:spPr>
          <a:xfrm>
            <a:off x="868680" y="5358384"/>
            <a:ext cx="292608" cy="292608"/>
          </a:xfrm>
          <a:prstGeom prst="rect">
            <a:avLst/>
          </a:prstGeom>
        </p:spPr>
      </p:pic>
      <p:sp>
        <p:nvSpPr>
          <p:cNvPr id="24" name="Text 13"/>
          <p:cNvSpPr txBox="1"/>
          <p:nvPr/>
        </p:nvSpPr>
        <p:spPr>
          <a:xfrm>
            <a:off x="1325880" y="5312664"/>
            <a:ext cx="4297680" cy="548640"/>
          </a:xfrm>
          <a:prstGeom prst="rect">
            <a:avLst/>
          </a:prstGeom>
          <a:noFill/>
          <a:ln/>
        </p:spPr>
        <p:txBody>
          <a:bodyPr wrap="square" lIns="0" tIns="0" rIns="0" bIns="0" rtlCol="0" anchor="t"/>
          <a:lstStyle/>
          <a:p>
            <a:pPr indent="0" marL="0">
              <a:buNone/>
            </a:pPr>
            <a:r>
              <a:rPr lang="en-US" sz="1550" dirty="0">
                <a:solidFill>
                  <a:schemeClr val="tx1"/>
                </a:solidFill>
                <a:latin typeface="Ebrima" pitchFamily="34" charset="0"/>
                <a:ea typeface="Ebrima" pitchFamily="34" charset="-122"/>
                <a:cs typeface="Ebrima" pitchFamily="34" charset="-120"/>
              </a:rPr>
              <a:t>በተለያዩ መንገዶች የሚበተኑ መልእክቶች</a:t>
            </a:r>
            <a:endParaRPr lang="en-US" sz="1550" dirty="0"/>
          </a:p>
        </p:txBody>
      </p:sp>
      <p:pic>
        <p:nvPicPr>
          <p:cNvPr id="25" name="Image 9" descr="preencoded.png">    </p:cNvPr>
          <p:cNvPicPr>
            <a:picLocks noChangeAspect="1"/>
          </p:cNvPicPr>
          <p:nvPr/>
        </p:nvPicPr>
        <p:blipFill>
          <a:blip r:embed="rId10"/>
          <a:stretch>
            <a:fillRect/>
          </a:stretch>
        </p:blipFill>
        <p:spPr>
          <a:xfrm>
            <a:off x="6675120" y="5358384"/>
            <a:ext cx="292608" cy="292608"/>
          </a:xfrm>
          <a:prstGeom prst="rect">
            <a:avLst/>
          </a:prstGeom>
        </p:spPr>
      </p:pic>
      <p:sp>
        <p:nvSpPr>
          <p:cNvPr id="26" name="Text 14"/>
          <p:cNvSpPr txBox="1"/>
          <p:nvPr/>
        </p:nvSpPr>
        <p:spPr>
          <a:xfrm>
            <a:off x="7132320" y="5312664"/>
            <a:ext cx="4343400" cy="548640"/>
          </a:xfrm>
          <a:prstGeom prst="rect">
            <a:avLst/>
          </a:prstGeom>
          <a:noFill/>
          <a:ln/>
        </p:spPr>
        <p:txBody>
          <a:bodyPr wrap="square" lIns="0" tIns="0" rIns="0" bIns="0" rtlCol="0" anchor="t"/>
          <a:lstStyle/>
          <a:p>
            <a:pPr indent="0" marL="0">
              <a:buNone/>
            </a:pPr>
            <a:r>
              <a:rPr lang="en-US" sz="1550" dirty="0">
                <a:solidFill>
                  <a:schemeClr val="bg1"/>
                </a:solidFill>
                <a:latin typeface="Ebrima" pitchFamily="34" charset="0"/>
                <a:ea typeface="Ebrima" pitchFamily="34" charset="-122"/>
                <a:cs typeface="Ebrima" pitchFamily="34" charset="-120"/>
              </a:rPr>
              <a:t>በአንድ የማሳወቂያ ማዕከል የሚደርስ መልእክት</a:t>
            </a:r>
            <a:endParaRPr lang="en-US" sz="155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Ebrima"/>
                <a:ea typeface="Ebrima"/>
                <a:cs typeface="Ebrima"/>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0241280" cy="777240"/>
          </a:xfrm>
          <a:prstGeom prst="rect">
            <a:avLst/>
          </a:prstGeom>
          <a:noFill/>
          <a:ln/>
        </p:spPr>
        <p:txBody>
          <a:bodyPr wrap="square" lIns="0" tIns="0" rIns="0" bIns="0" rtlCol="0" anchor="ctr"/>
          <a:lstStyle/>
          <a:p>
            <a:pPr algn="l" indent="0" marL="0">
              <a:buNone/>
            </a:pPr>
            <a:r>
              <a:rPr lang="en-US" sz="3400" dirty="0">
                <a:solidFill>
                  <a:schemeClr val="accent1"/>
                </a:solidFill>
                <a:latin typeface="Nyala" pitchFamily="34" charset="0"/>
                <a:ea typeface="Nyala" pitchFamily="34" charset="-122"/>
                <a:cs typeface="Nyala" pitchFamily="34" charset="-120"/>
              </a:rPr>
              <a:t>የሥርዓቱ አጠቃላይ ገጽታ</a:t>
            </a:r>
            <a:endParaRPr lang="en-US" sz="3400" dirty="0"/>
          </a:p>
        </p:txBody>
      </p:sp>
      <p:sp>
        <p:nvSpPr>
          <p:cNvPr id="3" name="Shape 1"/>
          <p:cNvSpPr/>
          <p:nvPr/>
        </p:nvSpPr>
        <p:spPr>
          <a:xfrm>
            <a:off x="4270248" y="1280160"/>
            <a:ext cx="3657600" cy="868680"/>
          </a:xfrm>
          <a:prstGeom prst="roundRect">
            <a:avLst>
              <a:gd name="adj" fmla="val 12632"/>
            </a:avLst>
          </a:prstGeom>
          <a:solidFill>
            <a:schemeClr val="accent1"/>
          </a:solidFill>
          <a:ln/>
        </p:spPr>
      </p:sp>
      <p:sp>
        <p:nvSpPr>
          <p:cNvPr id="4" name="Text 2"/>
          <p:cNvSpPr txBox="1"/>
          <p:nvPr/>
        </p:nvSpPr>
        <p:spPr>
          <a:xfrm>
            <a:off x="4270248" y="1325880"/>
            <a:ext cx="3657600" cy="411480"/>
          </a:xfrm>
          <a:prstGeom prst="rect">
            <a:avLst/>
          </a:prstGeom>
          <a:noFill/>
          <a:ln/>
        </p:spPr>
        <p:txBody>
          <a:bodyPr wrap="square" lIns="0" tIns="0" rIns="0" bIns="0" rtlCol="0" anchor="t"/>
          <a:lstStyle/>
          <a:p>
            <a:pPr algn="ctr" indent="0" marL="0">
              <a:buNone/>
            </a:pPr>
            <a:r>
              <a:rPr lang="en-US" sz="1800" b="1" dirty="0">
                <a:solidFill>
                  <a:schemeClr val="bg1"/>
                </a:solidFill>
                <a:latin typeface="Ebrima" pitchFamily="34" charset="0"/>
                <a:ea typeface="Ebrima" pitchFamily="34" charset="-122"/>
                <a:cs typeface="Ebrima" pitchFamily="34" charset="-120"/>
              </a:rPr>
              <a:t>መነሻ ገጽ (Hub)</a:t>
            </a:r>
            <a:endParaRPr lang="en-US" sz="1800" dirty="0"/>
          </a:p>
        </p:txBody>
      </p:sp>
      <p:sp>
        <p:nvSpPr>
          <p:cNvPr id="5" name="Text 3"/>
          <p:cNvSpPr txBox="1"/>
          <p:nvPr/>
        </p:nvSpPr>
        <p:spPr>
          <a:xfrm>
            <a:off x="4270248" y="1719072"/>
            <a:ext cx="3657600" cy="365760"/>
          </a:xfrm>
          <a:prstGeom prst="rect">
            <a:avLst/>
          </a:prstGeom>
          <a:noFill/>
          <a:ln/>
        </p:spPr>
        <p:txBody>
          <a:bodyPr wrap="square" lIns="0" tIns="0" rIns="0" bIns="0" rtlCol="0" anchor="t"/>
          <a:lstStyle/>
          <a:p>
            <a:pPr algn="ctr" indent="0" marL="0">
              <a:buNone/>
            </a:pPr>
            <a:r>
              <a:rPr lang="en-US" sz="1250" dirty="0">
                <a:solidFill>
                  <a:schemeClr val="bg1"/>
                </a:solidFill>
                <a:latin typeface="Ebrima" pitchFamily="34" charset="0"/>
                <a:ea typeface="Ebrima" pitchFamily="34" charset="-122"/>
                <a:cs typeface="Ebrima" pitchFamily="34" charset="-120"/>
              </a:rPr>
              <a:t>ከመግቢያ በኋላ አባሉ ክፍሉን ይመርጣል</a:t>
            </a:r>
            <a:endParaRPr lang="en-US" sz="1250" dirty="0"/>
          </a:p>
        </p:txBody>
      </p:sp>
      <p:sp>
        <p:nvSpPr>
          <p:cNvPr id="6" name="Shape 4"/>
          <p:cNvSpPr/>
          <p:nvPr/>
        </p:nvSpPr>
        <p:spPr>
          <a:xfrm>
            <a:off x="548640" y="2606040"/>
            <a:ext cx="3520440" cy="1737360"/>
          </a:xfrm>
          <a:prstGeom prst="roundRect">
            <a:avLst>
              <a:gd name="adj" fmla="val 6316"/>
            </a:avLst>
          </a:prstGeom>
          <a:solidFill>
            <a:schemeClr val="bg2">
              <a:alpha val="65000"/>
            </a:schemeClr>
          </a:solidFill>
          <a:ln/>
        </p:spPr>
      </p:sp>
      <p:sp>
        <p:nvSpPr>
          <p:cNvPr id="7" name="Shape 5"/>
          <p:cNvSpPr/>
          <p:nvPr/>
        </p:nvSpPr>
        <p:spPr>
          <a:xfrm>
            <a:off x="777240" y="2834640"/>
            <a:ext cx="685800" cy="685800"/>
          </a:xfrm>
          <a:prstGeom prst="ellipse">
            <a:avLst/>
          </a:prstGeom>
          <a:solidFill>
            <a:schemeClr val="accent1"/>
          </a:solidFill>
          <a:ln/>
        </p:spPr>
      </p:sp>
      <p:pic>
        <p:nvPicPr>
          <p:cNvPr id="8" name="Image 0" descr="preencoded.png">    </p:cNvPr>
          <p:cNvPicPr>
            <a:picLocks noChangeAspect="1"/>
          </p:cNvPicPr>
          <p:nvPr/>
        </p:nvPicPr>
        <p:blipFill>
          <a:blip r:embed="rId1"/>
          <a:stretch>
            <a:fillRect/>
          </a:stretch>
        </p:blipFill>
        <p:spPr>
          <a:xfrm>
            <a:off x="941832" y="2999232"/>
            <a:ext cx="356616" cy="356616"/>
          </a:xfrm>
          <a:prstGeom prst="rect">
            <a:avLst/>
          </a:prstGeom>
        </p:spPr>
      </p:pic>
      <p:sp>
        <p:nvSpPr>
          <p:cNvPr id="9" name="Text 6"/>
          <p:cNvSpPr txBox="1"/>
          <p:nvPr/>
        </p:nvSpPr>
        <p:spPr>
          <a:xfrm>
            <a:off x="1645920" y="2852928"/>
            <a:ext cx="2286000" cy="457200"/>
          </a:xfrm>
          <a:prstGeom prst="rect">
            <a:avLst/>
          </a:prstGeom>
          <a:noFill/>
          <a:ln/>
        </p:spPr>
        <p:txBody>
          <a:bodyPr wrap="square" lIns="0" tIns="0" rIns="0" bIns="0" rtlCol="0" anchor="t"/>
          <a:lstStyle/>
          <a:p>
            <a:pPr indent="0" marL="0">
              <a:buNone/>
            </a:pPr>
            <a:r>
              <a:rPr lang="en-US" sz="2000" b="1" dirty="0">
                <a:solidFill>
                  <a:schemeClr val="accent1"/>
                </a:solidFill>
                <a:latin typeface="Ebrima" pitchFamily="34" charset="0"/>
                <a:ea typeface="Ebrima" pitchFamily="34" charset="-122"/>
                <a:cs typeface="Ebrima" pitchFamily="34" charset="-120"/>
              </a:rPr>
              <a:t>መዝሙር</a:t>
            </a:r>
            <a:endParaRPr lang="en-US" sz="2000" dirty="0"/>
          </a:p>
        </p:txBody>
      </p:sp>
      <p:sp>
        <p:nvSpPr>
          <p:cNvPr id="10" name="Text 7"/>
          <p:cNvSpPr txBox="1"/>
          <p:nvPr/>
        </p:nvSpPr>
        <p:spPr>
          <a:xfrm>
            <a:off x="1645920" y="3291840"/>
            <a:ext cx="2286000" cy="960120"/>
          </a:xfrm>
          <a:prstGeom prst="rect">
            <a:avLst/>
          </a:prstGeom>
          <a:noFill/>
          <a:ln/>
        </p:spPr>
        <p:txBody>
          <a:bodyPr wrap="square" lIns="0" tIns="0" rIns="0" bIns="0" rtlCol="0" anchor="t"/>
          <a:lstStyle/>
          <a:p>
            <a:pPr indent="0" marL="0">
              <a:buNone/>
            </a:pPr>
            <a:r>
              <a:rPr lang="en-US" sz="1300" dirty="0">
                <a:solidFill>
                  <a:schemeClr val="tx1"/>
                </a:solidFill>
                <a:latin typeface="Ebrima" pitchFamily="34" charset="0"/>
                <a:ea typeface="Ebrima" pitchFamily="34" charset="-122"/>
                <a:cs typeface="Ebrima" pitchFamily="34" charset="-120"/>
              </a:rPr>
              <a:t>መዝሙራት፣ ፕሮግራሞች፣ ቤተ መጻሕፍትና ማሳወቂያዎች</a:t>
            </a:r>
            <a:endParaRPr lang="en-US" sz="1300" dirty="0"/>
          </a:p>
        </p:txBody>
      </p:sp>
      <p:sp>
        <p:nvSpPr>
          <p:cNvPr id="11" name="Shape 8"/>
          <p:cNvSpPr/>
          <p:nvPr/>
        </p:nvSpPr>
        <p:spPr>
          <a:xfrm>
            <a:off x="4297680" y="2606040"/>
            <a:ext cx="3520440" cy="1737360"/>
          </a:xfrm>
          <a:prstGeom prst="roundRect">
            <a:avLst>
              <a:gd name="adj" fmla="val 6316"/>
            </a:avLst>
          </a:prstGeom>
          <a:solidFill>
            <a:schemeClr val="bg2">
              <a:alpha val="65000"/>
            </a:schemeClr>
          </a:solidFill>
          <a:ln/>
        </p:spPr>
      </p:sp>
      <p:sp>
        <p:nvSpPr>
          <p:cNvPr id="12" name="Shape 9"/>
          <p:cNvSpPr/>
          <p:nvPr/>
        </p:nvSpPr>
        <p:spPr>
          <a:xfrm>
            <a:off x="4526280" y="2834640"/>
            <a:ext cx="685800" cy="685800"/>
          </a:xfrm>
          <a:prstGeom prst="ellipse">
            <a:avLst/>
          </a:prstGeom>
          <a:solidFill>
            <a:schemeClr val="accent1"/>
          </a:solidFill>
          <a:ln/>
        </p:spPr>
      </p:sp>
      <p:pic>
        <p:nvPicPr>
          <p:cNvPr id="13" name="Image 1" descr="preencoded.png">    </p:cNvPr>
          <p:cNvPicPr>
            <a:picLocks noChangeAspect="1"/>
          </p:cNvPicPr>
          <p:nvPr/>
        </p:nvPicPr>
        <p:blipFill>
          <a:blip r:embed="rId2"/>
          <a:stretch>
            <a:fillRect/>
          </a:stretch>
        </p:blipFill>
        <p:spPr>
          <a:xfrm>
            <a:off x="4690872" y="2999232"/>
            <a:ext cx="356616" cy="356616"/>
          </a:xfrm>
          <a:prstGeom prst="rect">
            <a:avLst/>
          </a:prstGeom>
        </p:spPr>
      </p:pic>
      <p:sp>
        <p:nvSpPr>
          <p:cNvPr id="14" name="Text 10"/>
          <p:cNvSpPr txBox="1"/>
          <p:nvPr/>
        </p:nvSpPr>
        <p:spPr>
          <a:xfrm>
            <a:off x="5394960" y="2852928"/>
            <a:ext cx="2286000" cy="457200"/>
          </a:xfrm>
          <a:prstGeom prst="rect">
            <a:avLst/>
          </a:prstGeom>
          <a:noFill/>
          <a:ln/>
        </p:spPr>
        <p:txBody>
          <a:bodyPr wrap="square" lIns="0" tIns="0" rIns="0" bIns="0" rtlCol="0" anchor="t"/>
          <a:lstStyle/>
          <a:p>
            <a:pPr indent="0" marL="0">
              <a:buNone/>
            </a:pPr>
            <a:r>
              <a:rPr lang="en-US" sz="2000" b="1" dirty="0">
                <a:solidFill>
                  <a:schemeClr val="accent1"/>
                </a:solidFill>
                <a:latin typeface="Ebrima" pitchFamily="34" charset="0"/>
                <a:ea typeface="Ebrima" pitchFamily="34" charset="-122"/>
                <a:cs typeface="Ebrima" pitchFamily="34" charset="-120"/>
              </a:rPr>
              <a:t>ትምህርት</a:t>
            </a:r>
            <a:endParaRPr lang="en-US" sz="2000" dirty="0"/>
          </a:p>
        </p:txBody>
      </p:sp>
      <p:sp>
        <p:nvSpPr>
          <p:cNvPr id="15" name="Text 11"/>
          <p:cNvSpPr txBox="1"/>
          <p:nvPr/>
        </p:nvSpPr>
        <p:spPr>
          <a:xfrm>
            <a:off x="5394960" y="3291840"/>
            <a:ext cx="2286000" cy="960120"/>
          </a:xfrm>
          <a:prstGeom prst="rect">
            <a:avLst/>
          </a:prstGeom>
          <a:noFill/>
          <a:ln/>
        </p:spPr>
        <p:txBody>
          <a:bodyPr wrap="square" lIns="0" tIns="0" rIns="0" bIns="0" rtlCol="0" anchor="t"/>
          <a:lstStyle/>
          <a:p>
            <a:pPr indent="0" marL="0">
              <a:buNone/>
            </a:pPr>
            <a:r>
              <a:rPr lang="en-US" sz="1300" dirty="0">
                <a:solidFill>
                  <a:schemeClr val="tx1"/>
                </a:solidFill>
                <a:latin typeface="Ebrima" pitchFamily="34" charset="0"/>
                <a:ea typeface="Ebrima" pitchFamily="34" charset="-122"/>
                <a:cs typeface="Ebrima" pitchFamily="34" charset="-120"/>
              </a:rPr>
              <a:t>ክፍሎች፣ የመማሪያ መድረክ፣ መገኘት፣ የቤት ሥራና ውጤት</a:t>
            </a:r>
            <a:endParaRPr lang="en-US" sz="1300" dirty="0"/>
          </a:p>
        </p:txBody>
      </p:sp>
      <p:sp>
        <p:nvSpPr>
          <p:cNvPr id="16" name="Shape 12"/>
          <p:cNvSpPr/>
          <p:nvPr/>
        </p:nvSpPr>
        <p:spPr>
          <a:xfrm>
            <a:off x="8046720" y="2606040"/>
            <a:ext cx="3520440" cy="1737360"/>
          </a:xfrm>
          <a:prstGeom prst="roundRect">
            <a:avLst>
              <a:gd name="adj" fmla="val 6316"/>
            </a:avLst>
          </a:prstGeom>
          <a:solidFill>
            <a:schemeClr val="bg2">
              <a:alpha val="65000"/>
            </a:schemeClr>
          </a:solidFill>
          <a:ln/>
        </p:spPr>
      </p:sp>
      <p:sp>
        <p:nvSpPr>
          <p:cNvPr id="17" name="Shape 13"/>
          <p:cNvSpPr/>
          <p:nvPr/>
        </p:nvSpPr>
        <p:spPr>
          <a:xfrm>
            <a:off x="8275320" y="2834640"/>
            <a:ext cx="685800" cy="685800"/>
          </a:xfrm>
          <a:prstGeom prst="ellipse">
            <a:avLst/>
          </a:prstGeom>
          <a:solidFill>
            <a:schemeClr val="accent1"/>
          </a:solidFill>
          <a:ln/>
        </p:spPr>
      </p:sp>
      <p:pic>
        <p:nvPicPr>
          <p:cNvPr id="18" name="Image 2" descr="preencoded.png">    </p:cNvPr>
          <p:cNvPicPr>
            <a:picLocks noChangeAspect="1"/>
          </p:cNvPicPr>
          <p:nvPr/>
        </p:nvPicPr>
        <p:blipFill>
          <a:blip r:embed="rId3"/>
          <a:stretch>
            <a:fillRect/>
          </a:stretch>
        </p:blipFill>
        <p:spPr>
          <a:xfrm>
            <a:off x="8439912" y="2999232"/>
            <a:ext cx="356616" cy="356616"/>
          </a:xfrm>
          <a:prstGeom prst="rect">
            <a:avLst/>
          </a:prstGeom>
        </p:spPr>
      </p:pic>
      <p:sp>
        <p:nvSpPr>
          <p:cNvPr id="19" name="Text 14"/>
          <p:cNvSpPr txBox="1"/>
          <p:nvPr/>
        </p:nvSpPr>
        <p:spPr>
          <a:xfrm>
            <a:off x="9144000" y="2852928"/>
            <a:ext cx="2286000" cy="457200"/>
          </a:xfrm>
          <a:prstGeom prst="rect">
            <a:avLst/>
          </a:prstGeom>
          <a:noFill/>
          <a:ln/>
        </p:spPr>
        <p:txBody>
          <a:bodyPr wrap="square" lIns="0" tIns="0" rIns="0" bIns="0" rtlCol="0" anchor="t"/>
          <a:lstStyle/>
          <a:p>
            <a:pPr indent="0" marL="0">
              <a:buNone/>
            </a:pPr>
            <a:r>
              <a:rPr lang="en-US" sz="2000" b="1" dirty="0">
                <a:solidFill>
                  <a:schemeClr val="accent1"/>
                </a:solidFill>
                <a:latin typeface="Ebrima" pitchFamily="34" charset="0"/>
                <a:ea typeface="Ebrima" pitchFamily="34" charset="-122"/>
                <a:cs typeface="Ebrima" pitchFamily="34" charset="-120"/>
              </a:rPr>
              <a:t>ስለ እኔ</a:t>
            </a:r>
            <a:endParaRPr lang="en-US" sz="2000" dirty="0"/>
          </a:p>
        </p:txBody>
      </p:sp>
      <p:sp>
        <p:nvSpPr>
          <p:cNvPr id="20" name="Text 15"/>
          <p:cNvSpPr txBox="1"/>
          <p:nvPr/>
        </p:nvSpPr>
        <p:spPr>
          <a:xfrm>
            <a:off x="9144000" y="3291840"/>
            <a:ext cx="2286000" cy="960120"/>
          </a:xfrm>
          <a:prstGeom prst="rect">
            <a:avLst/>
          </a:prstGeom>
          <a:noFill/>
          <a:ln/>
        </p:spPr>
        <p:txBody>
          <a:bodyPr wrap="square" lIns="0" tIns="0" rIns="0" bIns="0" rtlCol="0" anchor="t"/>
          <a:lstStyle/>
          <a:p>
            <a:pPr indent="0" marL="0">
              <a:buNone/>
            </a:pPr>
            <a:r>
              <a:rPr lang="en-US" sz="1300" dirty="0">
                <a:solidFill>
                  <a:schemeClr val="tx1"/>
                </a:solidFill>
                <a:latin typeface="Ebrima" pitchFamily="34" charset="0"/>
                <a:ea typeface="Ebrima" pitchFamily="34" charset="-122"/>
                <a:cs typeface="Ebrima" pitchFamily="34" charset="-120"/>
              </a:rPr>
              <a:t>መታወቂያዬ፣ የሥራ ክፍሎቼ፣ ወርሃዊ መዋጮዬና መገኘቴ</a:t>
            </a:r>
            <a:endParaRPr lang="en-US" sz="1300" dirty="0"/>
          </a:p>
        </p:txBody>
      </p:sp>
      <p:sp>
        <p:nvSpPr>
          <p:cNvPr id="21" name="Shape 16"/>
          <p:cNvSpPr/>
          <p:nvPr/>
        </p:nvSpPr>
        <p:spPr>
          <a:xfrm>
            <a:off x="2304288" y="2377440"/>
            <a:ext cx="7589520" cy="0"/>
          </a:xfrm>
          <a:prstGeom prst="line">
            <a:avLst/>
          </a:prstGeom>
          <a:noFill/>
          <a:ln w="19050">
            <a:solidFill>
              <a:schemeClr val="accent2"/>
            </a:solidFill>
            <a:prstDash val="solid"/>
          </a:ln>
        </p:spPr>
      </p:sp>
      <p:sp>
        <p:nvSpPr>
          <p:cNvPr id="22" name="Shape 17"/>
          <p:cNvSpPr/>
          <p:nvPr/>
        </p:nvSpPr>
        <p:spPr>
          <a:xfrm>
            <a:off x="2304288" y="2377440"/>
            <a:ext cx="0" cy="219456"/>
          </a:xfrm>
          <a:prstGeom prst="line">
            <a:avLst/>
          </a:prstGeom>
          <a:noFill/>
          <a:ln w="25400">
            <a:solidFill>
              <a:schemeClr val="accent2"/>
            </a:solidFill>
            <a:prstDash val="solid"/>
            <a:tailEnd type="triangle"/>
          </a:ln>
        </p:spPr>
      </p:sp>
      <p:sp>
        <p:nvSpPr>
          <p:cNvPr id="23" name="Shape 18"/>
          <p:cNvSpPr/>
          <p:nvPr/>
        </p:nvSpPr>
        <p:spPr>
          <a:xfrm>
            <a:off x="6099048" y="2377440"/>
            <a:ext cx="0" cy="219456"/>
          </a:xfrm>
          <a:prstGeom prst="line">
            <a:avLst/>
          </a:prstGeom>
          <a:noFill/>
          <a:ln w="25400">
            <a:solidFill>
              <a:schemeClr val="accent2"/>
            </a:solidFill>
            <a:prstDash val="solid"/>
            <a:tailEnd type="triangle"/>
          </a:ln>
        </p:spPr>
      </p:sp>
      <p:sp>
        <p:nvSpPr>
          <p:cNvPr id="24" name="Shape 19"/>
          <p:cNvSpPr/>
          <p:nvPr/>
        </p:nvSpPr>
        <p:spPr>
          <a:xfrm>
            <a:off x="9893808" y="2377440"/>
            <a:ext cx="0" cy="219456"/>
          </a:xfrm>
          <a:prstGeom prst="line">
            <a:avLst/>
          </a:prstGeom>
          <a:noFill/>
          <a:ln w="25400">
            <a:solidFill>
              <a:schemeClr val="accent2"/>
            </a:solidFill>
            <a:prstDash val="solid"/>
            <a:tailEnd type="triangle"/>
          </a:ln>
        </p:spPr>
      </p:sp>
      <p:sp>
        <p:nvSpPr>
          <p:cNvPr id="25" name="Shape 20"/>
          <p:cNvSpPr/>
          <p:nvPr/>
        </p:nvSpPr>
        <p:spPr>
          <a:xfrm>
            <a:off x="6099048" y="2148840"/>
            <a:ext cx="0" cy="228600"/>
          </a:xfrm>
          <a:prstGeom prst="line">
            <a:avLst/>
          </a:prstGeom>
          <a:noFill/>
          <a:ln w="25400">
            <a:solidFill>
              <a:schemeClr val="accent2"/>
            </a:solidFill>
            <a:prstDash val="solid"/>
            <a:tailEnd type="triangle"/>
          </a:ln>
        </p:spPr>
      </p:sp>
      <p:sp>
        <p:nvSpPr>
          <p:cNvPr id="26" name="Shape 21"/>
          <p:cNvSpPr/>
          <p:nvPr/>
        </p:nvSpPr>
        <p:spPr>
          <a:xfrm>
            <a:off x="548640" y="4572000"/>
            <a:ext cx="11109960" cy="731520"/>
          </a:xfrm>
          <a:prstGeom prst="roundRect">
            <a:avLst>
              <a:gd name="adj" fmla="val 15000"/>
            </a:avLst>
          </a:prstGeom>
          <a:solidFill>
            <a:schemeClr val="accent2">
              <a:alpha val="25000"/>
            </a:schemeClr>
          </a:solidFill>
          <a:ln/>
        </p:spPr>
      </p:sp>
      <p:sp>
        <p:nvSpPr>
          <p:cNvPr id="27" name="Shape 22"/>
          <p:cNvSpPr/>
          <p:nvPr/>
        </p:nvSpPr>
        <p:spPr>
          <a:xfrm>
            <a:off x="731520" y="4645152"/>
            <a:ext cx="566928" cy="566928"/>
          </a:xfrm>
          <a:prstGeom prst="ellipse">
            <a:avLst/>
          </a:prstGeom>
          <a:solidFill>
            <a:schemeClr val="accent2"/>
          </a:solidFill>
          <a:ln/>
        </p:spPr>
      </p:sp>
      <p:pic>
        <p:nvPicPr>
          <p:cNvPr id="28" name="Image 3" descr="preencoded.png">    </p:cNvPr>
          <p:cNvPicPr>
            <a:picLocks noChangeAspect="1"/>
          </p:cNvPicPr>
          <p:nvPr/>
        </p:nvPicPr>
        <p:blipFill>
          <a:blip r:embed="rId4"/>
          <a:stretch>
            <a:fillRect/>
          </a:stretch>
        </p:blipFill>
        <p:spPr>
          <a:xfrm>
            <a:off x="867583" y="4781215"/>
            <a:ext cx="294803" cy="294803"/>
          </a:xfrm>
          <a:prstGeom prst="rect">
            <a:avLst/>
          </a:prstGeom>
        </p:spPr>
      </p:pic>
      <p:sp>
        <p:nvSpPr>
          <p:cNvPr id="29" name="Text 23"/>
          <p:cNvSpPr txBox="1"/>
          <p:nvPr/>
        </p:nvSpPr>
        <p:spPr>
          <a:xfrm>
            <a:off x="1463040" y="4681728"/>
            <a:ext cx="9966960" cy="502920"/>
          </a:xfrm>
          <a:prstGeom prst="rect">
            <a:avLst/>
          </a:prstGeom>
          <a:noFill/>
          <a:ln/>
        </p:spPr>
        <p:txBody>
          <a:bodyPr wrap="square" lIns="0" tIns="0" rIns="0" bIns="0" rtlCol="0" anchor="ctr"/>
          <a:lstStyle/>
          <a:p>
            <a:pPr indent="0" marL="0">
              <a:buNone/>
            </a:pPr>
            <a:r>
              <a:rPr lang="en-US" sz="1600" b="1" dirty="0">
                <a:solidFill>
                  <a:schemeClr val="tx1"/>
                </a:solidFill>
                <a:latin typeface="Ebrima" pitchFamily="34" charset="0"/>
                <a:ea typeface="Ebrima" pitchFamily="34" charset="-122"/>
                <a:cs typeface="Ebrima" pitchFamily="34" charset="-120"/>
              </a:rPr>
              <a:t>የአስተዳዳሪ ፓነል — በተሰጠው ፈቃድ መሠረት ብቻ የሚታዩ 10 የአስተዳደር ቡድኖች</a:t>
            </a:r>
            <a:endParaRPr lang="en-US" sz="1600" dirty="0"/>
          </a:p>
        </p:txBody>
      </p:sp>
      <p:sp>
        <p:nvSpPr>
          <p:cNvPr id="30" name="Shape 24"/>
          <p:cNvSpPr/>
          <p:nvPr/>
        </p:nvSpPr>
        <p:spPr>
          <a:xfrm>
            <a:off x="548640" y="5440680"/>
            <a:ext cx="11109960" cy="731520"/>
          </a:xfrm>
          <a:prstGeom prst="roundRect">
            <a:avLst>
              <a:gd name="adj" fmla="val 15000"/>
            </a:avLst>
          </a:prstGeom>
          <a:solidFill>
            <a:schemeClr val="accent6"/>
          </a:solidFill>
          <a:ln/>
        </p:spPr>
      </p:sp>
      <p:sp>
        <p:nvSpPr>
          <p:cNvPr id="31" name="Shape 25"/>
          <p:cNvSpPr/>
          <p:nvPr/>
        </p:nvSpPr>
        <p:spPr>
          <a:xfrm>
            <a:off x="731520" y="5513832"/>
            <a:ext cx="566928" cy="566928"/>
          </a:xfrm>
          <a:prstGeom prst="ellipse">
            <a:avLst/>
          </a:prstGeom>
          <a:solidFill>
            <a:schemeClr val="accent2"/>
          </a:solidFill>
          <a:ln/>
        </p:spPr>
      </p:sp>
      <p:pic>
        <p:nvPicPr>
          <p:cNvPr id="32" name="Image 4" descr="preencoded.png">    </p:cNvPr>
          <p:cNvPicPr>
            <a:picLocks noChangeAspect="1"/>
          </p:cNvPicPr>
          <p:nvPr/>
        </p:nvPicPr>
        <p:blipFill>
          <a:blip r:embed="rId5"/>
          <a:stretch>
            <a:fillRect/>
          </a:stretch>
        </p:blipFill>
        <p:spPr>
          <a:xfrm>
            <a:off x="867583" y="5649895"/>
            <a:ext cx="294803" cy="294803"/>
          </a:xfrm>
          <a:prstGeom prst="rect">
            <a:avLst/>
          </a:prstGeom>
        </p:spPr>
      </p:pic>
      <p:sp>
        <p:nvSpPr>
          <p:cNvPr id="33" name="Text 26"/>
          <p:cNvSpPr txBox="1"/>
          <p:nvPr/>
        </p:nvSpPr>
        <p:spPr>
          <a:xfrm>
            <a:off x="1463040" y="5550408"/>
            <a:ext cx="9966960" cy="502920"/>
          </a:xfrm>
          <a:prstGeom prst="rect">
            <a:avLst/>
          </a:prstGeom>
          <a:noFill/>
          <a:ln/>
        </p:spPr>
        <p:txBody>
          <a:bodyPr wrap="square" lIns="0" tIns="0" rIns="0" bIns="0" rtlCol="0" anchor="ctr"/>
          <a:lstStyle/>
          <a:p>
            <a:pPr indent="0" marL="0">
              <a:buNone/>
            </a:pPr>
            <a:r>
              <a:rPr lang="en-US" sz="1500" dirty="0">
                <a:solidFill>
                  <a:schemeClr val="bg1"/>
                </a:solidFill>
                <a:latin typeface="Ebrima" pitchFamily="34" charset="0"/>
                <a:ea typeface="Ebrima" pitchFamily="34" charset="-122"/>
                <a:cs typeface="Ebrima" pitchFamily="34" charset="-120"/>
              </a:rPr>
              <a:t>አንድ የጋራ አገልጋይ (server) እና የመረጃ ቋት ሁሉንም ክፍሎች ያገናኛል — መረጃው አንድ ጊዜ ገብቶ በሁሉም ቦታ ይታያል</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Ebrima"/>
                <a:ea typeface="Ebrima"/>
                <a:cs typeface="Ebrima"/>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0241280" cy="777240"/>
          </a:xfrm>
          <a:prstGeom prst="rect">
            <a:avLst/>
          </a:prstGeom>
          <a:noFill/>
          <a:ln/>
        </p:spPr>
        <p:txBody>
          <a:bodyPr wrap="square" lIns="0" tIns="0" rIns="0" bIns="0" rtlCol="0" anchor="ctr"/>
          <a:lstStyle/>
          <a:p>
            <a:pPr algn="l" indent="0" marL="0">
              <a:buNone/>
            </a:pPr>
            <a:r>
              <a:rPr lang="en-US" sz="3400" dirty="0">
                <a:solidFill>
                  <a:schemeClr val="accent1"/>
                </a:solidFill>
                <a:latin typeface="Nyala" pitchFamily="34" charset="0"/>
                <a:ea typeface="Nyala" pitchFamily="34" charset="-122"/>
                <a:cs typeface="Nyala" pitchFamily="34" charset="-120"/>
              </a:rPr>
              <a:t>ዋና ዋና አገልግሎቶች በአንድ እይታ</a:t>
            </a:r>
            <a:endParaRPr lang="en-US" sz="3400" dirty="0"/>
          </a:p>
        </p:txBody>
      </p:sp>
      <p:sp>
        <p:nvSpPr>
          <p:cNvPr id="3" name="Shape 1"/>
          <p:cNvSpPr/>
          <p:nvPr/>
        </p:nvSpPr>
        <p:spPr>
          <a:xfrm>
            <a:off x="548640" y="1325880"/>
            <a:ext cx="2624328" cy="1444752"/>
          </a:xfrm>
          <a:prstGeom prst="roundRect">
            <a:avLst>
              <a:gd name="adj" fmla="val 7595"/>
            </a:avLst>
          </a:prstGeom>
          <a:solidFill>
            <a:schemeClr val="bg2">
              <a:alpha val="55000"/>
            </a:schemeClr>
          </a:solidFill>
          <a:ln/>
        </p:spPr>
      </p:sp>
      <p:sp>
        <p:nvSpPr>
          <p:cNvPr id="4" name="Shape 2"/>
          <p:cNvSpPr/>
          <p:nvPr/>
        </p:nvSpPr>
        <p:spPr>
          <a:xfrm>
            <a:off x="731520" y="1527048"/>
            <a:ext cx="566928" cy="566928"/>
          </a:xfrm>
          <a:prstGeom prst="ellipse">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867583" y="1663111"/>
            <a:ext cx="294803" cy="294803"/>
          </a:xfrm>
          <a:prstGeom prst="rect">
            <a:avLst/>
          </a:prstGeom>
        </p:spPr>
      </p:pic>
      <p:sp>
        <p:nvSpPr>
          <p:cNvPr id="6" name="Text 3"/>
          <p:cNvSpPr txBox="1"/>
          <p:nvPr/>
        </p:nvSpPr>
        <p:spPr>
          <a:xfrm>
            <a:off x="1417320" y="1508760"/>
            <a:ext cx="1664208" cy="685800"/>
          </a:xfrm>
          <a:prstGeom prst="rect">
            <a:avLst/>
          </a:prstGeom>
          <a:noFill/>
          <a:ln/>
        </p:spPr>
        <p:txBody>
          <a:bodyPr wrap="square" lIns="0" tIns="0" rIns="0" bIns="0" rtlCol="0" anchor="ctr"/>
          <a:lstStyle/>
          <a:p>
            <a:pPr indent="0" marL="0">
              <a:buNone/>
            </a:pPr>
            <a:r>
              <a:rPr lang="en-US" sz="1500" b="1" dirty="0">
                <a:solidFill>
                  <a:schemeClr val="accent1"/>
                </a:solidFill>
                <a:latin typeface="Ebrima" pitchFamily="34" charset="0"/>
                <a:ea typeface="Ebrima" pitchFamily="34" charset="-122"/>
                <a:cs typeface="Ebrima" pitchFamily="34" charset="-120"/>
              </a:rPr>
              <a:t>መዝሙር</a:t>
            </a:r>
            <a:endParaRPr lang="en-US" sz="1500" dirty="0"/>
          </a:p>
        </p:txBody>
      </p:sp>
      <p:sp>
        <p:nvSpPr>
          <p:cNvPr id="7" name="Text 4"/>
          <p:cNvSpPr txBox="1"/>
          <p:nvPr/>
        </p:nvSpPr>
        <p:spPr>
          <a:xfrm>
            <a:off x="731520" y="2221992"/>
            <a:ext cx="2286000" cy="457200"/>
          </a:xfrm>
          <a:prstGeom prst="rect">
            <a:avLst/>
          </a:prstGeom>
          <a:noFill/>
          <a:ln/>
        </p:spPr>
        <p:txBody>
          <a:bodyPr wrap="square" lIns="0" tIns="0" rIns="0" bIns="0" rtlCol="0" anchor="t"/>
          <a:lstStyle/>
          <a:p>
            <a:pPr indent="0" marL="0">
              <a:buNone/>
            </a:pPr>
            <a:r>
              <a:rPr lang="en-US" sz="1250" dirty="0">
                <a:solidFill>
                  <a:schemeClr val="tx1"/>
                </a:solidFill>
                <a:latin typeface="Ebrima" pitchFamily="34" charset="0"/>
                <a:ea typeface="Ebrima" pitchFamily="34" charset="-122"/>
                <a:cs typeface="Ebrima" pitchFamily="34" charset="-120"/>
              </a:rPr>
              <a:t>ግጥም፣ ድምፅና ማውረድ</a:t>
            </a:r>
            <a:endParaRPr lang="en-US" sz="1250" dirty="0"/>
          </a:p>
        </p:txBody>
      </p:sp>
      <p:sp>
        <p:nvSpPr>
          <p:cNvPr id="8" name="Shape 5"/>
          <p:cNvSpPr/>
          <p:nvPr/>
        </p:nvSpPr>
        <p:spPr>
          <a:xfrm>
            <a:off x="3355848" y="1325880"/>
            <a:ext cx="2624328" cy="1444752"/>
          </a:xfrm>
          <a:prstGeom prst="roundRect">
            <a:avLst>
              <a:gd name="adj" fmla="val 7595"/>
            </a:avLst>
          </a:prstGeom>
          <a:solidFill>
            <a:schemeClr val="bg2">
              <a:alpha val="55000"/>
            </a:schemeClr>
          </a:solidFill>
          <a:ln/>
        </p:spPr>
      </p:sp>
      <p:sp>
        <p:nvSpPr>
          <p:cNvPr id="9" name="Shape 6"/>
          <p:cNvSpPr/>
          <p:nvPr/>
        </p:nvSpPr>
        <p:spPr>
          <a:xfrm>
            <a:off x="3538728" y="1527048"/>
            <a:ext cx="566928" cy="566928"/>
          </a:xfrm>
          <a:prstGeom prst="ellipse">
            <a:avLst/>
          </a:prstGeom>
          <a:solidFill>
            <a:schemeClr val="accent1"/>
          </a:solidFill>
          <a:ln/>
        </p:spPr>
      </p:sp>
      <p:pic>
        <p:nvPicPr>
          <p:cNvPr id="10" name="Image 1" descr="preencoded.png">    </p:cNvPr>
          <p:cNvPicPr>
            <a:picLocks noChangeAspect="1"/>
          </p:cNvPicPr>
          <p:nvPr/>
        </p:nvPicPr>
        <p:blipFill>
          <a:blip r:embed="rId2"/>
          <a:stretch>
            <a:fillRect/>
          </a:stretch>
        </p:blipFill>
        <p:spPr>
          <a:xfrm>
            <a:off x="3674791" y="1663111"/>
            <a:ext cx="294803" cy="294803"/>
          </a:xfrm>
          <a:prstGeom prst="rect">
            <a:avLst/>
          </a:prstGeom>
        </p:spPr>
      </p:pic>
      <p:sp>
        <p:nvSpPr>
          <p:cNvPr id="11" name="Text 7"/>
          <p:cNvSpPr txBox="1"/>
          <p:nvPr/>
        </p:nvSpPr>
        <p:spPr>
          <a:xfrm>
            <a:off x="4224528" y="1508760"/>
            <a:ext cx="1664208" cy="685800"/>
          </a:xfrm>
          <a:prstGeom prst="rect">
            <a:avLst/>
          </a:prstGeom>
          <a:noFill/>
          <a:ln/>
        </p:spPr>
        <p:txBody>
          <a:bodyPr wrap="square" lIns="0" tIns="0" rIns="0" bIns="0" rtlCol="0" anchor="ctr"/>
          <a:lstStyle/>
          <a:p>
            <a:pPr indent="0" marL="0">
              <a:buNone/>
            </a:pPr>
            <a:r>
              <a:rPr lang="en-US" sz="1500" b="1" dirty="0">
                <a:solidFill>
                  <a:schemeClr val="accent1"/>
                </a:solidFill>
                <a:latin typeface="Ebrima" pitchFamily="34" charset="0"/>
                <a:ea typeface="Ebrima" pitchFamily="34" charset="-122"/>
                <a:cs typeface="Ebrima" pitchFamily="34" charset="-120"/>
              </a:rPr>
              <a:t>ትምህርት</a:t>
            </a:r>
            <a:endParaRPr lang="en-US" sz="1500" dirty="0"/>
          </a:p>
        </p:txBody>
      </p:sp>
      <p:sp>
        <p:nvSpPr>
          <p:cNvPr id="12" name="Text 8"/>
          <p:cNvSpPr txBox="1"/>
          <p:nvPr/>
        </p:nvSpPr>
        <p:spPr>
          <a:xfrm>
            <a:off x="3538728" y="2221992"/>
            <a:ext cx="2286000" cy="457200"/>
          </a:xfrm>
          <a:prstGeom prst="rect">
            <a:avLst/>
          </a:prstGeom>
          <a:noFill/>
          <a:ln/>
        </p:spPr>
        <p:txBody>
          <a:bodyPr wrap="square" lIns="0" tIns="0" rIns="0" bIns="0" rtlCol="0" anchor="t"/>
          <a:lstStyle/>
          <a:p>
            <a:pPr indent="0" marL="0">
              <a:buNone/>
            </a:pPr>
            <a:r>
              <a:rPr lang="en-US" sz="1250" dirty="0">
                <a:solidFill>
                  <a:schemeClr val="tx1"/>
                </a:solidFill>
                <a:latin typeface="Ebrima" pitchFamily="34" charset="0"/>
                <a:ea typeface="Ebrima" pitchFamily="34" charset="-122"/>
                <a:cs typeface="Ebrima" pitchFamily="34" charset="-120"/>
              </a:rPr>
              <a:t>ክፍሎች፣ ውጤትና የመማሪያ መድረክ</a:t>
            </a:r>
            <a:endParaRPr lang="en-US" sz="1250" dirty="0"/>
          </a:p>
        </p:txBody>
      </p:sp>
      <p:sp>
        <p:nvSpPr>
          <p:cNvPr id="13" name="Shape 9"/>
          <p:cNvSpPr/>
          <p:nvPr/>
        </p:nvSpPr>
        <p:spPr>
          <a:xfrm>
            <a:off x="6163056" y="1325880"/>
            <a:ext cx="2624328" cy="1444752"/>
          </a:xfrm>
          <a:prstGeom prst="roundRect">
            <a:avLst>
              <a:gd name="adj" fmla="val 7595"/>
            </a:avLst>
          </a:prstGeom>
          <a:solidFill>
            <a:schemeClr val="bg2">
              <a:alpha val="55000"/>
            </a:schemeClr>
          </a:solidFill>
          <a:ln/>
        </p:spPr>
      </p:sp>
      <p:sp>
        <p:nvSpPr>
          <p:cNvPr id="14" name="Shape 10"/>
          <p:cNvSpPr/>
          <p:nvPr/>
        </p:nvSpPr>
        <p:spPr>
          <a:xfrm>
            <a:off x="6345936" y="1527048"/>
            <a:ext cx="566928" cy="566928"/>
          </a:xfrm>
          <a:prstGeom prst="ellipse">
            <a:avLst/>
          </a:prstGeom>
          <a:solidFill>
            <a:schemeClr val="accent1"/>
          </a:solidFill>
          <a:ln/>
        </p:spPr>
      </p:sp>
      <p:pic>
        <p:nvPicPr>
          <p:cNvPr id="15" name="Image 2" descr="preencoded.png">    </p:cNvPr>
          <p:cNvPicPr>
            <a:picLocks noChangeAspect="1"/>
          </p:cNvPicPr>
          <p:nvPr/>
        </p:nvPicPr>
        <p:blipFill>
          <a:blip r:embed="rId3"/>
          <a:stretch>
            <a:fillRect/>
          </a:stretch>
        </p:blipFill>
        <p:spPr>
          <a:xfrm>
            <a:off x="6481999" y="1663111"/>
            <a:ext cx="294803" cy="294803"/>
          </a:xfrm>
          <a:prstGeom prst="rect">
            <a:avLst/>
          </a:prstGeom>
        </p:spPr>
      </p:pic>
      <p:sp>
        <p:nvSpPr>
          <p:cNvPr id="16" name="Text 11"/>
          <p:cNvSpPr txBox="1"/>
          <p:nvPr/>
        </p:nvSpPr>
        <p:spPr>
          <a:xfrm>
            <a:off x="7031736" y="1508760"/>
            <a:ext cx="1664208" cy="685800"/>
          </a:xfrm>
          <a:prstGeom prst="rect">
            <a:avLst/>
          </a:prstGeom>
          <a:noFill/>
          <a:ln/>
        </p:spPr>
        <p:txBody>
          <a:bodyPr wrap="square" lIns="0" tIns="0" rIns="0" bIns="0" rtlCol="0" anchor="ctr"/>
          <a:lstStyle/>
          <a:p>
            <a:pPr indent="0" marL="0">
              <a:buNone/>
            </a:pPr>
            <a:r>
              <a:rPr lang="en-US" sz="1500" b="1" dirty="0">
                <a:solidFill>
                  <a:schemeClr val="accent1"/>
                </a:solidFill>
                <a:latin typeface="Ebrima" pitchFamily="34" charset="0"/>
                <a:ea typeface="Ebrima" pitchFamily="34" charset="-122"/>
                <a:cs typeface="Ebrima" pitchFamily="34" charset="-120"/>
              </a:rPr>
              <a:t>ፕሮግራሞች</a:t>
            </a:r>
            <a:endParaRPr lang="en-US" sz="1500" dirty="0"/>
          </a:p>
        </p:txBody>
      </p:sp>
      <p:sp>
        <p:nvSpPr>
          <p:cNvPr id="17" name="Text 12"/>
          <p:cNvSpPr txBox="1"/>
          <p:nvPr/>
        </p:nvSpPr>
        <p:spPr>
          <a:xfrm>
            <a:off x="6345936" y="2221992"/>
            <a:ext cx="2286000" cy="457200"/>
          </a:xfrm>
          <a:prstGeom prst="rect">
            <a:avLst/>
          </a:prstGeom>
          <a:noFill/>
          <a:ln/>
        </p:spPr>
        <p:txBody>
          <a:bodyPr wrap="square" lIns="0" tIns="0" rIns="0" bIns="0" rtlCol="0" anchor="t"/>
          <a:lstStyle/>
          <a:p>
            <a:pPr indent="0" marL="0">
              <a:buNone/>
            </a:pPr>
            <a:r>
              <a:rPr lang="en-US" sz="1250" dirty="0">
                <a:solidFill>
                  <a:schemeClr val="tx1"/>
                </a:solidFill>
                <a:latin typeface="Ebrima" pitchFamily="34" charset="0"/>
                <a:ea typeface="Ebrima" pitchFamily="34" charset="-122"/>
                <a:cs typeface="Ebrima" pitchFamily="34" charset="-120"/>
              </a:rPr>
              <a:t>የጊዜ ሰሌዳና አስታዋሾች</a:t>
            </a:r>
            <a:endParaRPr lang="en-US" sz="1250" dirty="0"/>
          </a:p>
        </p:txBody>
      </p:sp>
      <p:sp>
        <p:nvSpPr>
          <p:cNvPr id="18" name="Shape 13"/>
          <p:cNvSpPr/>
          <p:nvPr/>
        </p:nvSpPr>
        <p:spPr>
          <a:xfrm>
            <a:off x="8970264" y="1325880"/>
            <a:ext cx="2624328" cy="1444752"/>
          </a:xfrm>
          <a:prstGeom prst="roundRect">
            <a:avLst>
              <a:gd name="adj" fmla="val 7595"/>
            </a:avLst>
          </a:prstGeom>
          <a:solidFill>
            <a:schemeClr val="bg2">
              <a:alpha val="55000"/>
            </a:schemeClr>
          </a:solidFill>
          <a:ln/>
        </p:spPr>
      </p:sp>
      <p:sp>
        <p:nvSpPr>
          <p:cNvPr id="19" name="Shape 14"/>
          <p:cNvSpPr/>
          <p:nvPr/>
        </p:nvSpPr>
        <p:spPr>
          <a:xfrm>
            <a:off x="9153144" y="1527048"/>
            <a:ext cx="566928" cy="566928"/>
          </a:xfrm>
          <a:prstGeom prst="ellipse">
            <a:avLst/>
          </a:prstGeom>
          <a:solidFill>
            <a:schemeClr val="accent1"/>
          </a:solidFill>
          <a:ln/>
        </p:spPr>
      </p:sp>
      <p:pic>
        <p:nvPicPr>
          <p:cNvPr id="20" name="Image 3" descr="preencoded.png">    </p:cNvPr>
          <p:cNvPicPr>
            <a:picLocks noChangeAspect="1"/>
          </p:cNvPicPr>
          <p:nvPr/>
        </p:nvPicPr>
        <p:blipFill>
          <a:blip r:embed="rId4"/>
          <a:stretch>
            <a:fillRect/>
          </a:stretch>
        </p:blipFill>
        <p:spPr>
          <a:xfrm>
            <a:off x="9289207" y="1663111"/>
            <a:ext cx="294803" cy="294803"/>
          </a:xfrm>
          <a:prstGeom prst="rect">
            <a:avLst/>
          </a:prstGeom>
        </p:spPr>
      </p:pic>
      <p:sp>
        <p:nvSpPr>
          <p:cNvPr id="21" name="Text 15"/>
          <p:cNvSpPr txBox="1"/>
          <p:nvPr/>
        </p:nvSpPr>
        <p:spPr>
          <a:xfrm>
            <a:off x="9838944" y="1508760"/>
            <a:ext cx="1664208" cy="685800"/>
          </a:xfrm>
          <a:prstGeom prst="rect">
            <a:avLst/>
          </a:prstGeom>
          <a:noFill/>
          <a:ln/>
        </p:spPr>
        <p:txBody>
          <a:bodyPr wrap="square" lIns="0" tIns="0" rIns="0" bIns="0" rtlCol="0" anchor="ctr"/>
          <a:lstStyle/>
          <a:p>
            <a:pPr indent="0" marL="0">
              <a:buNone/>
            </a:pPr>
            <a:r>
              <a:rPr lang="en-US" sz="1500" b="1" dirty="0">
                <a:solidFill>
                  <a:schemeClr val="accent1"/>
                </a:solidFill>
                <a:latin typeface="Ebrima" pitchFamily="34" charset="0"/>
                <a:ea typeface="Ebrima" pitchFamily="34" charset="-122"/>
                <a:cs typeface="Ebrima" pitchFamily="34" charset="-120"/>
              </a:rPr>
              <a:t>መገኘት</a:t>
            </a:r>
            <a:endParaRPr lang="en-US" sz="1500" dirty="0"/>
          </a:p>
        </p:txBody>
      </p:sp>
      <p:sp>
        <p:nvSpPr>
          <p:cNvPr id="22" name="Text 16"/>
          <p:cNvSpPr txBox="1"/>
          <p:nvPr/>
        </p:nvSpPr>
        <p:spPr>
          <a:xfrm>
            <a:off x="9153144" y="2221992"/>
            <a:ext cx="2286000" cy="457200"/>
          </a:xfrm>
          <a:prstGeom prst="rect">
            <a:avLst/>
          </a:prstGeom>
          <a:noFill/>
          <a:ln/>
        </p:spPr>
        <p:txBody>
          <a:bodyPr wrap="square" lIns="0" tIns="0" rIns="0" bIns="0" rtlCol="0" anchor="t"/>
          <a:lstStyle/>
          <a:p>
            <a:pPr indent="0" marL="0">
              <a:buNone/>
            </a:pPr>
            <a:r>
              <a:rPr lang="en-US" sz="1250" dirty="0">
                <a:solidFill>
                  <a:schemeClr val="tx1"/>
                </a:solidFill>
                <a:latin typeface="Ebrima" pitchFamily="34" charset="0"/>
                <a:ea typeface="Ebrima" pitchFamily="34" charset="-122"/>
                <a:cs typeface="Ebrima" pitchFamily="34" charset="-120"/>
              </a:rPr>
              <a:t>በQR፣ በፊርማና ያለ ኢንተርኔት</a:t>
            </a:r>
            <a:endParaRPr lang="en-US" sz="1250" dirty="0"/>
          </a:p>
        </p:txBody>
      </p:sp>
      <p:sp>
        <p:nvSpPr>
          <p:cNvPr id="23" name="Shape 17"/>
          <p:cNvSpPr/>
          <p:nvPr/>
        </p:nvSpPr>
        <p:spPr>
          <a:xfrm>
            <a:off x="548640" y="2953512"/>
            <a:ext cx="2624328" cy="1444752"/>
          </a:xfrm>
          <a:prstGeom prst="roundRect">
            <a:avLst>
              <a:gd name="adj" fmla="val 7595"/>
            </a:avLst>
          </a:prstGeom>
          <a:solidFill>
            <a:schemeClr val="bg2">
              <a:alpha val="55000"/>
            </a:schemeClr>
          </a:solidFill>
          <a:ln/>
        </p:spPr>
      </p:sp>
      <p:sp>
        <p:nvSpPr>
          <p:cNvPr id="24" name="Shape 18"/>
          <p:cNvSpPr/>
          <p:nvPr/>
        </p:nvSpPr>
        <p:spPr>
          <a:xfrm>
            <a:off x="731520" y="3154680"/>
            <a:ext cx="566928" cy="566928"/>
          </a:xfrm>
          <a:prstGeom prst="ellipse">
            <a:avLst/>
          </a:prstGeom>
          <a:solidFill>
            <a:schemeClr val="accent2"/>
          </a:solidFill>
          <a:ln/>
        </p:spPr>
      </p:sp>
      <p:pic>
        <p:nvPicPr>
          <p:cNvPr id="25" name="Image 4" descr="preencoded.png">    </p:cNvPr>
          <p:cNvPicPr>
            <a:picLocks noChangeAspect="1"/>
          </p:cNvPicPr>
          <p:nvPr/>
        </p:nvPicPr>
        <p:blipFill>
          <a:blip r:embed="rId5"/>
          <a:stretch>
            <a:fillRect/>
          </a:stretch>
        </p:blipFill>
        <p:spPr>
          <a:xfrm>
            <a:off x="867583" y="3290743"/>
            <a:ext cx="294803" cy="294803"/>
          </a:xfrm>
          <a:prstGeom prst="rect">
            <a:avLst/>
          </a:prstGeom>
        </p:spPr>
      </p:pic>
      <p:sp>
        <p:nvSpPr>
          <p:cNvPr id="26" name="Text 19"/>
          <p:cNvSpPr txBox="1"/>
          <p:nvPr/>
        </p:nvSpPr>
        <p:spPr>
          <a:xfrm>
            <a:off x="1417320" y="3136392"/>
            <a:ext cx="1664208" cy="685800"/>
          </a:xfrm>
          <a:prstGeom prst="rect">
            <a:avLst/>
          </a:prstGeom>
          <a:noFill/>
          <a:ln/>
        </p:spPr>
        <p:txBody>
          <a:bodyPr wrap="square" lIns="0" tIns="0" rIns="0" bIns="0" rtlCol="0" anchor="ctr"/>
          <a:lstStyle/>
          <a:p>
            <a:pPr indent="0" marL="0">
              <a:buNone/>
            </a:pPr>
            <a:r>
              <a:rPr lang="en-US" sz="1500" b="1" dirty="0">
                <a:solidFill>
                  <a:schemeClr val="accent1"/>
                </a:solidFill>
                <a:latin typeface="Ebrima" pitchFamily="34" charset="0"/>
                <a:ea typeface="Ebrima" pitchFamily="34" charset="-122"/>
                <a:cs typeface="Ebrima" pitchFamily="34" charset="-120"/>
              </a:rPr>
              <a:t>የበዓል አገልግሎት ምርጫ</a:t>
            </a:r>
            <a:endParaRPr lang="en-US" sz="1500" dirty="0"/>
          </a:p>
        </p:txBody>
      </p:sp>
      <p:sp>
        <p:nvSpPr>
          <p:cNvPr id="27" name="Text 20"/>
          <p:cNvSpPr txBox="1"/>
          <p:nvPr/>
        </p:nvSpPr>
        <p:spPr>
          <a:xfrm>
            <a:off x="731520" y="3849624"/>
            <a:ext cx="2286000" cy="457200"/>
          </a:xfrm>
          <a:prstGeom prst="rect">
            <a:avLst/>
          </a:prstGeom>
          <a:noFill/>
          <a:ln/>
        </p:spPr>
        <p:txBody>
          <a:bodyPr wrap="square" lIns="0" tIns="0" rIns="0" bIns="0" rtlCol="0" anchor="t"/>
          <a:lstStyle/>
          <a:p>
            <a:pPr indent="0" marL="0">
              <a:buNone/>
            </a:pPr>
            <a:r>
              <a:rPr lang="en-US" sz="1250" dirty="0">
                <a:solidFill>
                  <a:schemeClr val="tx1"/>
                </a:solidFill>
                <a:latin typeface="Ebrima" pitchFamily="34" charset="0"/>
                <a:ea typeface="Ebrima" pitchFamily="34" charset="-122"/>
                <a:cs typeface="Ebrima" pitchFamily="34" charset="-120"/>
              </a:rPr>
              <a:t>በግልጽ ሕግ የሚሰላ ውጤት</a:t>
            </a:r>
            <a:endParaRPr lang="en-US" sz="1250" dirty="0"/>
          </a:p>
        </p:txBody>
      </p:sp>
      <p:sp>
        <p:nvSpPr>
          <p:cNvPr id="28" name="Shape 21"/>
          <p:cNvSpPr/>
          <p:nvPr/>
        </p:nvSpPr>
        <p:spPr>
          <a:xfrm>
            <a:off x="3355848" y="2953512"/>
            <a:ext cx="2624328" cy="1444752"/>
          </a:xfrm>
          <a:prstGeom prst="roundRect">
            <a:avLst>
              <a:gd name="adj" fmla="val 7595"/>
            </a:avLst>
          </a:prstGeom>
          <a:solidFill>
            <a:schemeClr val="bg2">
              <a:alpha val="55000"/>
            </a:schemeClr>
          </a:solidFill>
          <a:ln/>
        </p:spPr>
      </p:sp>
      <p:sp>
        <p:nvSpPr>
          <p:cNvPr id="29" name="Shape 22"/>
          <p:cNvSpPr/>
          <p:nvPr/>
        </p:nvSpPr>
        <p:spPr>
          <a:xfrm>
            <a:off x="3538728" y="3154680"/>
            <a:ext cx="566928" cy="566928"/>
          </a:xfrm>
          <a:prstGeom prst="ellipse">
            <a:avLst/>
          </a:prstGeom>
          <a:solidFill>
            <a:schemeClr val="accent2"/>
          </a:solidFill>
          <a:ln/>
        </p:spPr>
      </p:sp>
      <p:pic>
        <p:nvPicPr>
          <p:cNvPr id="30" name="Image 5" descr="preencoded.png">    </p:cNvPr>
          <p:cNvPicPr>
            <a:picLocks noChangeAspect="1"/>
          </p:cNvPicPr>
          <p:nvPr/>
        </p:nvPicPr>
        <p:blipFill>
          <a:blip r:embed="rId6"/>
          <a:stretch>
            <a:fillRect/>
          </a:stretch>
        </p:blipFill>
        <p:spPr>
          <a:xfrm>
            <a:off x="3674791" y="3290743"/>
            <a:ext cx="294803" cy="294803"/>
          </a:xfrm>
          <a:prstGeom prst="rect">
            <a:avLst/>
          </a:prstGeom>
        </p:spPr>
      </p:pic>
      <p:sp>
        <p:nvSpPr>
          <p:cNvPr id="31" name="Text 23"/>
          <p:cNvSpPr txBox="1"/>
          <p:nvPr/>
        </p:nvSpPr>
        <p:spPr>
          <a:xfrm>
            <a:off x="4224528" y="3136392"/>
            <a:ext cx="1664208" cy="685800"/>
          </a:xfrm>
          <a:prstGeom prst="rect">
            <a:avLst/>
          </a:prstGeom>
          <a:noFill/>
          <a:ln/>
        </p:spPr>
        <p:txBody>
          <a:bodyPr wrap="square" lIns="0" tIns="0" rIns="0" bIns="0" rtlCol="0" anchor="ctr"/>
          <a:lstStyle/>
          <a:p>
            <a:pPr indent="0" marL="0">
              <a:buNone/>
            </a:pPr>
            <a:r>
              <a:rPr lang="en-US" sz="1500" b="1" dirty="0">
                <a:solidFill>
                  <a:schemeClr val="accent1"/>
                </a:solidFill>
                <a:latin typeface="Ebrima" pitchFamily="34" charset="0"/>
                <a:ea typeface="Ebrima" pitchFamily="34" charset="-122"/>
                <a:cs typeface="Ebrima" pitchFamily="34" charset="-120"/>
              </a:rPr>
              <a:t>ወርሃዊ መዋጮ</a:t>
            </a:r>
            <a:endParaRPr lang="en-US" sz="1500" dirty="0"/>
          </a:p>
        </p:txBody>
      </p:sp>
      <p:sp>
        <p:nvSpPr>
          <p:cNvPr id="32" name="Text 24"/>
          <p:cNvSpPr txBox="1"/>
          <p:nvPr/>
        </p:nvSpPr>
        <p:spPr>
          <a:xfrm>
            <a:off x="3538728" y="3849624"/>
            <a:ext cx="2286000" cy="457200"/>
          </a:xfrm>
          <a:prstGeom prst="rect">
            <a:avLst/>
          </a:prstGeom>
          <a:noFill/>
          <a:ln/>
        </p:spPr>
        <p:txBody>
          <a:bodyPr wrap="square" lIns="0" tIns="0" rIns="0" bIns="0" rtlCol="0" anchor="t"/>
          <a:lstStyle/>
          <a:p>
            <a:pPr indent="0" marL="0">
              <a:buNone/>
            </a:pPr>
            <a:r>
              <a:rPr lang="en-US" sz="1250" dirty="0">
                <a:solidFill>
                  <a:schemeClr val="tx1"/>
                </a:solidFill>
                <a:latin typeface="Ebrima" pitchFamily="34" charset="0"/>
                <a:ea typeface="Ebrima" pitchFamily="34" charset="-122"/>
                <a:cs typeface="Ebrima" pitchFamily="34" charset="-120"/>
              </a:rPr>
              <a:t>በኢትዮጵያ ወር የሚመዘገብ</a:t>
            </a:r>
            <a:endParaRPr lang="en-US" sz="1250" dirty="0"/>
          </a:p>
        </p:txBody>
      </p:sp>
      <p:sp>
        <p:nvSpPr>
          <p:cNvPr id="33" name="Shape 25"/>
          <p:cNvSpPr/>
          <p:nvPr/>
        </p:nvSpPr>
        <p:spPr>
          <a:xfrm>
            <a:off x="6163056" y="2953512"/>
            <a:ext cx="2624328" cy="1444752"/>
          </a:xfrm>
          <a:prstGeom prst="roundRect">
            <a:avLst>
              <a:gd name="adj" fmla="val 7595"/>
            </a:avLst>
          </a:prstGeom>
          <a:solidFill>
            <a:schemeClr val="bg2">
              <a:alpha val="55000"/>
            </a:schemeClr>
          </a:solidFill>
          <a:ln/>
        </p:spPr>
      </p:sp>
      <p:sp>
        <p:nvSpPr>
          <p:cNvPr id="34" name="Shape 26"/>
          <p:cNvSpPr/>
          <p:nvPr/>
        </p:nvSpPr>
        <p:spPr>
          <a:xfrm>
            <a:off x="6345936" y="3154680"/>
            <a:ext cx="566928" cy="566928"/>
          </a:xfrm>
          <a:prstGeom prst="ellipse">
            <a:avLst/>
          </a:prstGeom>
          <a:solidFill>
            <a:schemeClr val="accent2"/>
          </a:solidFill>
          <a:ln/>
        </p:spPr>
      </p:sp>
      <p:pic>
        <p:nvPicPr>
          <p:cNvPr id="35" name="Image 6" descr="preencoded.png">    </p:cNvPr>
          <p:cNvPicPr>
            <a:picLocks noChangeAspect="1"/>
          </p:cNvPicPr>
          <p:nvPr/>
        </p:nvPicPr>
        <p:blipFill>
          <a:blip r:embed="rId7"/>
          <a:stretch>
            <a:fillRect/>
          </a:stretch>
        </p:blipFill>
        <p:spPr>
          <a:xfrm>
            <a:off x="6481999" y="3290743"/>
            <a:ext cx="294803" cy="294803"/>
          </a:xfrm>
          <a:prstGeom prst="rect">
            <a:avLst/>
          </a:prstGeom>
        </p:spPr>
      </p:pic>
      <p:sp>
        <p:nvSpPr>
          <p:cNvPr id="36" name="Text 27"/>
          <p:cNvSpPr txBox="1"/>
          <p:nvPr/>
        </p:nvSpPr>
        <p:spPr>
          <a:xfrm>
            <a:off x="7031736" y="3136392"/>
            <a:ext cx="1664208" cy="685800"/>
          </a:xfrm>
          <a:prstGeom prst="rect">
            <a:avLst/>
          </a:prstGeom>
          <a:noFill/>
          <a:ln/>
        </p:spPr>
        <p:txBody>
          <a:bodyPr wrap="square" lIns="0" tIns="0" rIns="0" bIns="0" rtlCol="0" anchor="ctr"/>
          <a:lstStyle/>
          <a:p>
            <a:pPr indent="0" marL="0">
              <a:buNone/>
            </a:pPr>
            <a:r>
              <a:rPr lang="en-US" sz="1500" b="1" dirty="0">
                <a:solidFill>
                  <a:schemeClr val="accent1"/>
                </a:solidFill>
                <a:latin typeface="Ebrima" pitchFamily="34" charset="0"/>
                <a:ea typeface="Ebrima" pitchFamily="34" charset="-122"/>
                <a:cs typeface="Ebrima" pitchFamily="34" charset="-120"/>
              </a:rPr>
              <a:t>ንብረትና ውሰት</a:t>
            </a:r>
            <a:endParaRPr lang="en-US" sz="1500" dirty="0"/>
          </a:p>
        </p:txBody>
      </p:sp>
      <p:sp>
        <p:nvSpPr>
          <p:cNvPr id="37" name="Text 28"/>
          <p:cNvSpPr txBox="1"/>
          <p:nvPr/>
        </p:nvSpPr>
        <p:spPr>
          <a:xfrm>
            <a:off x="6345936" y="3849624"/>
            <a:ext cx="2286000" cy="457200"/>
          </a:xfrm>
          <a:prstGeom prst="rect">
            <a:avLst/>
          </a:prstGeom>
          <a:noFill/>
          <a:ln/>
        </p:spPr>
        <p:txBody>
          <a:bodyPr wrap="square" lIns="0" tIns="0" rIns="0" bIns="0" rtlCol="0" anchor="t"/>
          <a:lstStyle/>
          <a:p>
            <a:pPr indent="0" marL="0">
              <a:buNone/>
            </a:pPr>
            <a:r>
              <a:rPr lang="en-US" sz="1250" dirty="0">
                <a:solidFill>
                  <a:schemeClr val="tx1"/>
                </a:solidFill>
                <a:latin typeface="Ebrima" pitchFamily="34" charset="0"/>
                <a:ea typeface="Ebrima" pitchFamily="34" charset="-122"/>
                <a:cs typeface="Ebrima" pitchFamily="34" charset="-120"/>
              </a:rPr>
              <a:t>ፊርማና ቅጣትን ጨምሮ</a:t>
            </a:r>
            <a:endParaRPr lang="en-US" sz="1250" dirty="0"/>
          </a:p>
        </p:txBody>
      </p:sp>
      <p:sp>
        <p:nvSpPr>
          <p:cNvPr id="38" name="Shape 29"/>
          <p:cNvSpPr/>
          <p:nvPr/>
        </p:nvSpPr>
        <p:spPr>
          <a:xfrm>
            <a:off x="8970264" y="2953512"/>
            <a:ext cx="2624328" cy="1444752"/>
          </a:xfrm>
          <a:prstGeom prst="roundRect">
            <a:avLst>
              <a:gd name="adj" fmla="val 7595"/>
            </a:avLst>
          </a:prstGeom>
          <a:solidFill>
            <a:schemeClr val="bg2">
              <a:alpha val="55000"/>
            </a:schemeClr>
          </a:solidFill>
          <a:ln/>
        </p:spPr>
      </p:sp>
      <p:sp>
        <p:nvSpPr>
          <p:cNvPr id="39" name="Shape 30"/>
          <p:cNvSpPr/>
          <p:nvPr/>
        </p:nvSpPr>
        <p:spPr>
          <a:xfrm>
            <a:off x="9153144" y="3154680"/>
            <a:ext cx="566928" cy="566928"/>
          </a:xfrm>
          <a:prstGeom prst="ellipse">
            <a:avLst/>
          </a:prstGeom>
          <a:solidFill>
            <a:schemeClr val="accent2"/>
          </a:solidFill>
          <a:ln/>
        </p:spPr>
      </p:sp>
      <p:pic>
        <p:nvPicPr>
          <p:cNvPr id="40" name="Image 7" descr="preencoded.png">    </p:cNvPr>
          <p:cNvPicPr>
            <a:picLocks noChangeAspect="1"/>
          </p:cNvPicPr>
          <p:nvPr/>
        </p:nvPicPr>
        <p:blipFill>
          <a:blip r:embed="rId8"/>
          <a:stretch>
            <a:fillRect/>
          </a:stretch>
        </p:blipFill>
        <p:spPr>
          <a:xfrm>
            <a:off x="9289207" y="3290743"/>
            <a:ext cx="294803" cy="294803"/>
          </a:xfrm>
          <a:prstGeom prst="rect">
            <a:avLst/>
          </a:prstGeom>
        </p:spPr>
      </p:pic>
      <p:sp>
        <p:nvSpPr>
          <p:cNvPr id="41" name="Text 31"/>
          <p:cNvSpPr txBox="1"/>
          <p:nvPr/>
        </p:nvSpPr>
        <p:spPr>
          <a:xfrm>
            <a:off x="9838944" y="3136392"/>
            <a:ext cx="1664208" cy="685800"/>
          </a:xfrm>
          <a:prstGeom prst="rect">
            <a:avLst/>
          </a:prstGeom>
          <a:noFill/>
          <a:ln/>
        </p:spPr>
        <p:txBody>
          <a:bodyPr wrap="square" lIns="0" tIns="0" rIns="0" bIns="0" rtlCol="0" anchor="ctr"/>
          <a:lstStyle/>
          <a:p>
            <a:pPr indent="0" marL="0">
              <a:buNone/>
            </a:pPr>
            <a:r>
              <a:rPr lang="en-US" sz="1500" b="1" dirty="0">
                <a:solidFill>
                  <a:schemeClr val="accent1"/>
                </a:solidFill>
                <a:latin typeface="Ebrima" pitchFamily="34" charset="0"/>
                <a:ea typeface="Ebrima" pitchFamily="34" charset="-122"/>
                <a:cs typeface="Ebrima" pitchFamily="34" charset="-120"/>
              </a:rPr>
              <a:t>ፕሮጀክቶችና ተግባራት</a:t>
            </a:r>
            <a:endParaRPr lang="en-US" sz="1500" dirty="0"/>
          </a:p>
        </p:txBody>
      </p:sp>
      <p:sp>
        <p:nvSpPr>
          <p:cNvPr id="42" name="Text 32"/>
          <p:cNvSpPr txBox="1"/>
          <p:nvPr/>
        </p:nvSpPr>
        <p:spPr>
          <a:xfrm>
            <a:off x="9153144" y="3849624"/>
            <a:ext cx="2286000" cy="457200"/>
          </a:xfrm>
          <a:prstGeom prst="rect">
            <a:avLst/>
          </a:prstGeom>
          <a:noFill/>
          <a:ln/>
        </p:spPr>
        <p:txBody>
          <a:bodyPr wrap="square" lIns="0" tIns="0" rIns="0" bIns="0" rtlCol="0" anchor="t"/>
          <a:lstStyle/>
          <a:p>
            <a:pPr indent="0" marL="0">
              <a:buNone/>
            </a:pPr>
            <a:r>
              <a:rPr lang="en-US" sz="1250" dirty="0">
                <a:solidFill>
                  <a:schemeClr val="tx1"/>
                </a:solidFill>
                <a:latin typeface="Ebrima" pitchFamily="34" charset="0"/>
                <a:ea typeface="Ebrima" pitchFamily="34" charset="-122"/>
                <a:cs typeface="Ebrima" pitchFamily="34" charset="-120"/>
              </a:rPr>
              <a:t>በጀት፣ ወጪና ሪፖርት</a:t>
            </a:r>
            <a:endParaRPr lang="en-US" sz="1250" dirty="0"/>
          </a:p>
        </p:txBody>
      </p:sp>
      <p:sp>
        <p:nvSpPr>
          <p:cNvPr id="43" name="Shape 33"/>
          <p:cNvSpPr/>
          <p:nvPr/>
        </p:nvSpPr>
        <p:spPr>
          <a:xfrm>
            <a:off x="548640" y="4581144"/>
            <a:ext cx="2624328" cy="1444752"/>
          </a:xfrm>
          <a:prstGeom prst="roundRect">
            <a:avLst>
              <a:gd name="adj" fmla="val 7595"/>
            </a:avLst>
          </a:prstGeom>
          <a:solidFill>
            <a:schemeClr val="bg2">
              <a:alpha val="55000"/>
            </a:schemeClr>
          </a:solidFill>
          <a:ln/>
        </p:spPr>
      </p:sp>
      <p:sp>
        <p:nvSpPr>
          <p:cNvPr id="44" name="Shape 34"/>
          <p:cNvSpPr/>
          <p:nvPr/>
        </p:nvSpPr>
        <p:spPr>
          <a:xfrm>
            <a:off x="731520" y="4782312"/>
            <a:ext cx="566928" cy="566928"/>
          </a:xfrm>
          <a:prstGeom prst="ellipse">
            <a:avLst/>
          </a:prstGeom>
          <a:solidFill>
            <a:schemeClr val="accent1"/>
          </a:solidFill>
          <a:ln/>
        </p:spPr>
      </p:sp>
      <p:pic>
        <p:nvPicPr>
          <p:cNvPr id="45" name="Image 8" descr="preencoded.png">    </p:cNvPr>
          <p:cNvPicPr>
            <a:picLocks noChangeAspect="1"/>
          </p:cNvPicPr>
          <p:nvPr/>
        </p:nvPicPr>
        <p:blipFill>
          <a:blip r:embed="rId9"/>
          <a:stretch>
            <a:fillRect/>
          </a:stretch>
        </p:blipFill>
        <p:spPr>
          <a:xfrm>
            <a:off x="867583" y="4918375"/>
            <a:ext cx="294803" cy="294803"/>
          </a:xfrm>
          <a:prstGeom prst="rect">
            <a:avLst/>
          </a:prstGeom>
        </p:spPr>
      </p:pic>
      <p:sp>
        <p:nvSpPr>
          <p:cNvPr id="46" name="Text 35"/>
          <p:cNvSpPr txBox="1"/>
          <p:nvPr/>
        </p:nvSpPr>
        <p:spPr>
          <a:xfrm>
            <a:off x="1417320" y="4764024"/>
            <a:ext cx="1664208" cy="685800"/>
          </a:xfrm>
          <a:prstGeom prst="rect">
            <a:avLst/>
          </a:prstGeom>
          <a:noFill/>
          <a:ln/>
        </p:spPr>
        <p:txBody>
          <a:bodyPr wrap="square" lIns="0" tIns="0" rIns="0" bIns="0" rtlCol="0" anchor="ctr"/>
          <a:lstStyle/>
          <a:p>
            <a:pPr indent="0" marL="0">
              <a:buNone/>
            </a:pPr>
            <a:r>
              <a:rPr lang="en-US" sz="1500" b="1" dirty="0">
                <a:solidFill>
                  <a:schemeClr val="accent1"/>
                </a:solidFill>
                <a:latin typeface="Ebrima" pitchFamily="34" charset="0"/>
                <a:ea typeface="Ebrima" pitchFamily="34" charset="-122"/>
                <a:cs typeface="Ebrima" pitchFamily="34" charset="-120"/>
              </a:rPr>
              <a:t>የክፍል ውይይት</a:t>
            </a:r>
            <a:endParaRPr lang="en-US" sz="1500" dirty="0"/>
          </a:p>
        </p:txBody>
      </p:sp>
      <p:sp>
        <p:nvSpPr>
          <p:cNvPr id="47" name="Text 36"/>
          <p:cNvSpPr txBox="1"/>
          <p:nvPr/>
        </p:nvSpPr>
        <p:spPr>
          <a:xfrm>
            <a:off x="731520" y="5477256"/>
            <a:ext cx="2286000" cy="457200"/>
          </a:xfrm>
          <a:prstGeom prst="rect">
            <a:avLst/>
          </a:prstGeom>
          <a:noFill/>
          <a:ln/>
        </p:spPr>
        <p:txBody>
          <a:bodyPr wrap="square" lIns="0" tIns="0" rIns="0" bIns="0" rtlCol="0" anchor="t"/>
          <a:lstStyle/>
          <a:p>
            <a:pPr indent="0" marL="0">
              <a:buNone/>
            </a:pPr>
            <a:r>
              <a:rPr lang="en-US" sz="1250" dirty="0">
                <a:solidFill>
                  <a:schemeClr val="tx1"/>
                </a:solidFill>
                <a:latin typeface="Ebrima" pitchFamily="34" charset="0"/>
                <a:ea typeface="Ebrima" pitchFamily="34" charset="-122"/>
                <a:cs typeface="Ebrima" pitchFamily="34" charset="-120"/>
              </a:rPr>
              <a:t>የቡድንና የግል መልእክት</a:t>
            </a:r>
            <a:endParaRPr lang="en-US" sz="1250" dirty="0"/>
          </a:p>
        </p:txBody>
      </p:sp>
      <p:sp>
        <p:nvSpPr>
          <p:cNvPr id="48" name="Shape 37"/>
          <p:cNvSpPr/>
          <p:nvPr/>
        </p:nvSpPr>
        <p:spPr>
          <a:xfrm>
            <a:off x="3355848" y="4581144"/>
            <a:ext cx="2624328" cy="1444752"/>
          </a:xfrm>
          <a:prstGeom prst="roundRect">
            <a:avLst>
              <a:gd name="adj" fmla="val 7595"/>
            </a:avLst>
          </a:prstGeom>
          <a:solidFill>
            <a:schemeClr val="bg2">
              <a:alpha val="55000"/>
            </a:schemeClr>
          </a:solidFill>
          <a:ln/>
        </p:spPr>
      </p:sp>
      <p:sp>
        <p:nvSpPr>
          <p:cNvPr id="49" name="Shape 38"/>
          <p:cNvSpPr/>
          <p:nvPr/>
        </p:nvSpPr>
        <p:spPr>
          <a:xfrm>
            <a:off x="3538728" y="4782312"/>
            <a:ext cx="566928" cy="566928"/>
          </a:xfrm>
          <a:prstGeom prst="ellipse">
            <a:avLst/>
          </a:prstGeom>
          <a:solidFill>
            <a:schemeClr val="accent1"/>
          </a:solidFill>
          <a:ln/>
        </p:spPr>
      </p:sp>
      <p:pic>
        <p:nvPicPr>
          <p:cNvPr id="50" name="Image 9" descr="preencoded.png">    </p:cNvPr>
          <p:cNvPicPr>
            <a:picLocks noChangeAspect="1"/>
          </p:cNvPicPr>
          <p:nvPr/>
        </p:nvPicPr>
        <p:blipFill>
          <a:blip r:embed="rId10"/>
          <a:stretch>
            <a:fillRect/>
          </a:stretch>
        </p:blipFill>
        <p:spPr>
          <a:xfrm>
            <a:off x="3674791" y="4918375"/>
            <a:ext cx="294803" cy="294803"/>
          </a:xfrm>
          <a:prstGeom prst="rect">
            <a:avLst/>
          </a:prstGeom>
        </p:spPr>
      </p:pic>
      <p:sp>
        <p:nvSpPr>
          <p:cNvPr id="51" name="Text 39"/>
          <p:cNvSpPr txBox="1"/>
          <p:nvPr/>
        </p:nvSpPr>
        <p:spPr>
          <a:xfrm>
            <a:off x="4224528" y="4764024"/>
            <a:ext cx="1664208" cy="685800"/>
          </a:xfrm>
          <a:prstGeom prst="rect">
            <a:avLst/>
          </a:prstGeom>
          <a:noFill/>
          <a:ln/>
        </p:spPr>
        <p:txBody>
          <a:bodyPr wrap="square" lIns="0" tIns="0" rIns="0" bIns="0" rtlCol="0" anchor="ctr"/>
          <a:lstStyle/>
          <a:p>
            <a:pPr indent="0" marL="0">
              <a:buNone/>
            </a:pPr>
            <a:r>
              <a:rPr lang="en-US" sz="1500" b="1" dirty="0">
                <a:solidFill>
                  <a:schemeClr val="accent1"/>
                </a:solidFill>
                <a:latin typeface="Ebrima" pitchFamily="34" charset="0"/>
                <a:ea typeface="Ebrima" pitchFamily="34" charset="-122"/>
                <a:cs typeface="Ebrima" pitchFamily="34" charset="-120"/>
              </a:rPr>
              <a:t>ማሳወቂያዎች</a:t>
            </a:r>
            <a:endParaRPr lang="en-US" sz="1500" dirty="0"/>
          </a:p>
        </p:txBody>
      </p:sp>
      <p:sp>
        <p:nvSpPr>
          <p:cNvPr id="52" name="Text 40"/>
          <p:cNvSpPr txBox="1"/>
          <p:nvPr/>
        </p:nvSpPr>
        <p:spPr>
          <a:xfrm>
            <a:off x="3538728" y="5477256"/>
            <a:ext cx="2286000" cy="457200"/>
          </a:xfrm>
          <a:prstGeom prst="rect">
            <a:avLst/>
          </a:prstGeom>
          <a:noFill/>
          <a:ln/>
        </p:spPr>
        <p:txBody>
          <a:bodyPr wrap="square" lIns="0" tIns="0" rIns="0" bIns="0" rtlCol="0" anchor="t"/>
          <a:lstStyle/>
          <a:p>
            <a:pPr indent="0" marL="0">
              <a:buNone/>
            </a:pPr>
            <a:r>
              <a:rPr lang="en-US" sz="1250" dirty="0">
                <a:solidFill>
                  <a:schemeClr val="tx1"/>
                </a:solidFill>
                <a:latin typeface="Ebrima" pitchFamily="34" charset="0"/>
                <a:ea typeface="Ebrima" pitchFamily="34" charset="-122"/>
                <a:cs typeface="Ebrima" pitchFamily="34" charset="-120"/>
              </a:rPr>
              <a:t>በመተግበሪያ፣ Push፣ ኢሜይልና ቴሌግራም</a:t>
            </a:r>
            <a:endParaRPr lang="en-US" sz="1250" dirty="0"/>
          </a:p>
        </p:txBody>
      </p:sp>
      <p:sp>
        <p:nvSpPr>
          <p:cNvPr id="53" name="Shape 41"/>
          <p:cNvSpPr/>
          <p:nvPr/>
        </p:nvSpPr>
        <p:spPr>
          <a:xfrm>
            <a:off x="6163056" y="4581144"/>
            <a:ext cx="2624328" cy="1444752"/>
          </a:xfrm>
          <a:prstGeom prst="roundRect">
            <a:avLst>
              <a:gd name="adj" fmla="val 7595"/>
            </a:avLst>
          </a:prstGeom>
          <a:solidFill>
            <a:schemeClr val="bg2">
              <a:alpha val="55000"/>
            </a:schemeClr>
          </a:solidFill>
          <a:ln/>
        </p:spPr>
      </p:sp>
      <p:sp>
        <p:nvSpPr>
          <p:cNvPr id="54" name="Shape 42"/>
          <p:cNvSpPr/>
          <p:nvPr/>
        </p:nvSpPr>
        <p:spPr>
          <a:xfrm>
            <a:off x="6345936" y="4782312"/>
            <a:ext cx="566928" cy="566928"/>
          </a:xfrm>
          <a:prstGeom prst="ellipse">
            <a:avLst/>
          </a:prstGeom>
          <a:solidFill>
            <a:schemeClr val="accent1"/>
          </a:solidFill>
          <a:ln/>
        </p:spPr>
      </p:sp>
      <p:pic>
        <p:nvPicPr>
          <p:cNvPr id="55" name="Image 10" descr="preencoded.png">    </p:cNvPr>
          <p:cNvPicPr>
            <a:picLocks noChangeAspect="1"/>
          </p:cNvPicPr>
          <p:nvPr/>
        </p:nvPicPr>
        <p:blipFill>
          <a:blip r:embed="rId11"/>
          <a:stretch>
            <a:fillRect/>
          </a:stretch>
        </p:blipFill>
        <p:spPr>
          <a:xfrm>
            <a:off x="6481999" y="4918375"/>
            <a:ext cx="294803" cy="294803"/>
          </a:xfrm>
          <a:prstGeom prst="rect">
            <a:avLst/>
          </a:prstGeom>
        </p:spPr>
      </p:pic>
      <p:sp>
        <p:nvSpPr>
          <p:cNvPr id="56" name="Text 43"/>
          <p:cNvSpPr txBox="1"/>
          <p:nvPr/>
        </p:nvSpPr>
        <p:spPr>
          <a:xfrm>
            <a:off x="7031736" y="4764024"/>
            <a:ext cx="1664208" cy="685800"/>
          </a:xfrm>
          <a:prstGeom prst="rect">
            <a:avLst/>
          </a:prstGeom>
          <a:noFill/>
          <a:ln/>
        </p:spPr>
        <p:txBody>
          <a:bodyPr wrap="square" lIns="0" tIns="0" rIns="0" bIns="0" rtlCol="0" anchor="ctr"/>
          <a:lstStyle/>
          <a:p>
            <a:pPr indent="0" marL="0">
              <a:buNone/>
            </a:pPr>
            <a:r>
              <a:rPr lang="en-US" sz="1500" b="1" dirty="0">
                <a:solidFill>
                  <a:schemeClr val="accent1"/>
                </a:solidFill>
                <a:latin typeface="Ebrima" pitchFamily="34" charset="0"/>
                <a:ea typeface="Ebrima" pitchFamily="34" charset="-122"/>
                <a:cs typeface="Ebrima" pitchFamily="34" charset="-120"/>
              </a:rPr>
              <a:t>ሪፖርትና ኦዲት</a:t>
            </a:r>
            <a:endParaRPr lang="en-US" sz="1500" dirty="0"/>
          </a:p>
        </p:txBody>
      </p:sp>
      <p:sp>
        <p:nvSpPr>
          <p:cNvPr id="57" name="Text 44"/>
          <p:cNvSpPr txBox="1"/>
          <p:nvPr/>
        </p:nvSpPr>
        <p:spPr>
          <a:xfrm>
            <a:off x="6345936" y="5477256"/>
            <a:ext cx="2286000" cy="457200"/>
          </a:xfrm>
          <a:prstGeom prst="rect">
            <a:avLst/>
          </a:prstGeom>
          <a:noFill/>
          <a:ln/>
        </p:spPr>
        <p:txBody>
          <a:bodyPr wrap="square" lIns="0" tIns="0" rIns="0" bIns="0" rtlCol="0" anchor="t"/>
          <a:lstStyle/>
          <a:p>
            <a:pPr indent="0" marL="0">
              <a:buNone/>
            </a:pPr>
            <a:r>
              <a:rPr lang="en-US" sz="1250" dirty="0">
                <a:solidFill>
                  <a:schemeClr val="tx1"/>
                </a:solidFill>
                <a:latin typeface="Ebrima" pitchFamily="34" charset="0"/>
                <a:ea typeface="Ebrima" pitchFamily="34" charset="-122"/>
                <a:cs typeface="Ebrima" pitchFamily="34" charset="-120"/>
              </a:rPr>
              <a:t>PDF፣ Excel እና CSV</a:t>
            </a:r>
            <a:endParaRPr lang="en-US" sz="1250" dirty="0"/>
          </a:p>
        </p:txBody>
      </p:sp>
      <p:sp>
        <p:nvSpPr>
          <p:cNvPr id="58" name="Shape 45"/>
          <p:cNvSpPr/>
          <p:nvPr/>
        </p:nvSpPr>
        <p:spPr>
          <a:xfrm>
            <a:off x="8970264" y="4581144"/>
            <a:ext cx="2624328" cy="1444752"/>
          </a:xfrm>
          <a:prstGeom prst="roundRect">
            <a:avLst>
              <a:gd name="adj" fmla="val 7595"/>
            </a:avLst>
          </a:prstGeom>
          <a:solidFill>
            <a:schemeClr val="bg2">
              <a:alpha val="55000"/>
            </a:schemeClr>
          </a:solidFill>
          <a:ln/>
        </p:spPr>
      </p:sp>
      <p:sp>
        <p:nvSpPr>
          <p:cNvPr id="59" name="Shape 46"/>
          <p:cNvSpPr/>
          <p:nvPr/>
        </p:nvSpPr>
        <p:spPr>
          <a:xfrm>
            <a:off x="9153144" y="4782312"/>
            <a:ext cx="566928" cy="566928"/>
          </a:xfrm>
          <a:prstGeom prst="ellipse">
            <a:avLst/>
          </a:prstGeom>
          <a:solidFill>
            <a:schemeClr val="accent1"/>
          </a:solidFill>
          <a:ln/>
        </p:spPr>
      </p:sp>
      <p:pic>
        <p:nvPicPr>
          <p:cNvPr id="60" name="Image 11" descr="preencoded.png">    </p:cNvPr>
          <p:cNvPicPr>
            <a:picLocks noChangeAspect="1"/>
          </p:cNvPicPr>
          <p:nvPr/>
        </p:nvPicPr>
        <p:blipFill>
          <a:blip r:embed="rId12"/>
          <a:stretch>
            <a:fillRect/>
          </a:stretch>
        </p:blipFill>
        <p:spPr>
          <a:xfrm>
            <a:off x="9289207" y="4918375"/>
            <a:ext cx="294803" cy="294803"/>
          </a:xfrm>
          <a:prstGeom prst="rect">
            <a:avLst/>
          </a:prstGeom>
        </p:spPr>
      </p:pic>
      <p:sp>
        <p:nvSpPr>
          <p:cNvPr id="61" name="Text 47"/>
          <p:cNvSpPr txBox="1"/>
          <p:nvPr/>
        </p:nvSpPr>
        <p:spPr>
          <a:xfrm>
            <a:off x="9838944" y="4764024"/>
            <a:ext cx="1664208" cy="685800"/>
          </a:xfrm>
          <a:prstGeom prst="rect">
            <a:avLst/>
          </a:prstGeom>
          <a:noFill/>
          <a:ln/>
        </p:spPr>
        <p:txBody>
          <a:bodyPr wrap="square" lIns="0" tIns="0" rIns="0" bIns="0" rtlCol="0" anchor="ctr"/>
          <a:lstStyle/>
          <a:p>
            <a:pPr indent="0" marL="0">
              <a:buNone/>
            </a:pPr>
            <a:r>
              <a:rPr lang="en-US" sz="1500" b="1" dirty="0">
                <a:solidFill>
                  <a:schemeClr val="accent1"/>
                </a:solidFill>
                <a:latin typeface="Ebrima" pitchFamily="34" charset="0"/>
                <a:ea typeface="Ebrima" pitchFamily="34" charset="-122"/>
                <a:cs typeface="Ebrima" pitchFamily="34" charset="-120"/>
              </a:rPr>
              <a:t>መመሪያና እገዛ</a:t>
            </a:r>
            <a:endParaRPr lang="en-US" sz="1500" dirty="0"/>
          </a:p>
        </p:txBody>
      </p:sp>
      <p:sp>
        <p:nvSpPr>
          <p:cNvPr id="62" name="Text 48"/>
          <p:cNvSpPr txBox="1"/>
          <p:nvPr/>
        </p:nvSpPr>
        <p:spPr>
          <a:xfrm>
            <a:off x="9153144" y="5477256"/>
            <a:ext cx="2286000" cy="457200"/>
          </a:xfrm>
          <a:prstGeom prst="rect">
            <a:avLst/>
          </a:prstGeom>
          <a:noFill/>
          <a:ln/>
        </p:spPr>
        <p:txBody>
          <a:bodyPr wrap="square" lIns="0" tIns="0" rIns="0" bIns="0" rtlCol="0" anchor="t"/>
          <a:lstStyle/>
          <a:p>
            <a:pPr indent="0" marL="0">
              <a:buNone/>
            </a:pPr>
            <a:r>
              <a:rPr lang="en-US" sz="1250" dirty="0">
                <a:solidFill>
                  <a:schemeClr val="tx1"/>
                </a:solidFill>
                <a:latin typeface="Ebrima" pitchFamily="34" charset="0"/>
                <a:ea typeface="Ebrima" pitchFamily="34" charset="-122"/>
                <a:cs typeface="Ebrima" pitchFamily="34" charset="-120"/>
              </a:rPr>
              <a:t>56 መመሪያዎችና የጉብኝት መሪዎች</a:t>
            </a:r>
            <a:endParaRPr lang="en-US" sz="125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Ebrima"/>
                <a:ea typeface="Ebrima"/>
                <a:cs typeface="Ebrima"/>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0241280" cy="777240"/>
          </a:xfrm>
          <a:prstGeom prst="rect">
            <a:avLst/>
          </a:prstGeom>
          <a:noFill/>
          <a:ln/>
        </p:spPr>
        <p:txBody>
          <a:bodyPr wrap="square" lIns="0" tIns="0" rIns="0" bIns="0" rtlCol="0" anchor="ctr"/>
          <a:lstStyle/>
          <a:p>
            <a:pPr algn="l" indent="0" marL="0">
              <a:buNone/>
            </a:pPr>
            <a:r>
              <a:rPr lang="en-US" sz="3400" dirty="0">
                <a:solidFill>
                  <a:schemeClr val="accent1"/>
                </a:solidFill>
                <a:latin typeface="Nyala" pitchFamily="34" charset="0"/>
                <a:ea typeface="Nyala" pitchFamily="34" charset="-122"/>
                <a:cs typeface="Nyala" pitchFamily="34" charset="-120"/>
              </a:rPr>
              <a:t>የተጠቃሚ ተሞክሮ</a:t>
            </a:r>
            <a:endParaRPr lang="en-US" sz="3400" dirty="0"/>
          </a:p>
        </p:txBody>
      </p:sp>
      <p:sp>
        <p:nvSpPr>
          <p:cNvPr id="3" name="Shape 1"/>
          <p:cNvSpPr/>
          <p:nvPr/>
        </p:nvSpPr>
        <p:spPr>
          <a:xfrm>
            <a:off x="667512" y="1261872"/>
            <a:ext cx="2071299" cy="4334256"/>
          </a:xfrm>
          <a:prstGeom prst="roundRect">
            <a:avLst>
              <a:gd name="adj" fmla="val 7946"/>
            </a:avLst>
          </a:prstGeom>
          <a:solidFill>
            <a:schemeClr val="accent6"/>
          </a:solidFill>
          <a:ln/>
          <a:effectLst>
            <a:outerShdw sx="100000" sy="100000" kx="0" ky="0" algn="bl" rotWithShape="0" blurRad="101600" dist="38100" dir="5400000">
              <a:srgbClr val="3D2E31">
                <a:alpha val="30000"/>
              </a:srgbClr>
            </a:outerShdw>
          </a:effectLst>
        </p:spPr>
      </p:sp>
      <p:pic>
        <p:nvPicPr>
          <p:cNvPr id="4" name="Image 0" descr="C:\Users\HP\Documents\MH-app-1.5.3\mobile\mobile\build\screenshots\login.png">    </p:cNvPr>
          <p:cNvPicPr>
            <a:picLocks noChangeAspect="1"/>
          </p:cNvPicPr>
          <p:nvPr/>
        </p:nvPicPr>
        <p:blipFill>
          <a:blip r:embed="rId1"/>
          <a:stretch>
            <a:fillRect/>
          </a:stretch>
        </p:blipFill>
        <p:spPr>
          <a:xfrm>
            <a:off x="731520" y="1325880"/>
            <a:ext cx="1943283" cy="4206240"/>
          </a:xfrm>
          <a:prstGeom prst="rect">
            <a:avLst/>
          </a:prstGeom>
        </p:spPr>
      </p:pic>
      <p:sp>
        <p:nvSpPr>
          <p:cNvPr id="5" name="Text 2"/>
          <p:cNvSpPr txBox="1"/>
          <p:nvPr/>
        </p:nvSpPr>
        <p:spPr>
          <a:xfrm>
            <a:off x="548640" y="5641848"/>
            <a:ext cx="2309043" cy="274320"/>
          </a:xfrm>
          <a:prstGeom prst="rect">
            <a:avLst/>
          </a:prstGeom>
          <a:noFill/>
          <a:ln/>
        </p:spPr>
        <p:txBody>
          <a:bodyPr wrap="square" lIns="0" tIns="0" rIns="0" bIns="0" rtlCol="0" anchor="t"/>
          <a:lstStyle/>
          <a:p>
            <a:pPr algn="ctr" indent="0" marL="0">
              <a:buNone/>
            </a:pPr>
            <a:r>
              <a:rPr lang="en-US" sz="1100" dirty="0">
                <a:solidFill>
                  <a:schemeClr val="accent4"/>
                </a:solidFill>
                <a:latin typeface="Ebrima" pitchFamily="34" charset="0"/>
                <a:ea typeface="Ebrima" pitchFamily="34" charset="-122"/>
                <a:cs typeface="Ebrima" pitchFamily="34" charset="-120"/>
              </a:rPr>
              <a:t>መግቢያ</a:t>
            </a:r>
            <a:endParaRPr lang="en-US" sz="1100" dirty="0"/>
          </a:p>
        </p:txBody>
      </p:sp>
      <p:sp>
        <p:nvSpPr>
          <p:cNvPr id="6" name="Shape 3"/>
          <p:cNvSpPr/>
          <p:nvPr/>
        </p:nvSpPr>
        <p:spPr>
          <a:xfrm>
            <a:off x="3136392" y="1261872"/>
            <a:ext cx="2071299" cy="4334256"/>
          </a:xfrm>
          <a:prstGeom prst="roundRect">
            <a:avLst>
              <a:gd name="adj" fmla="val 7946"/>
            </a:avLst>
          </a:prstGeom>
          <a:solidFill>
            <a:schemeClr val="accent6"/>
          </a:solidFill>
          <a:ln/>
          <a:effectLst>
            <a:outerShdw sx="100000" sy="100000" kx="0" ky="0" algn="bl" rotWithShape="0" blurRad="101600" dist="38100" dir="5400000">
              <a:srgbClr val="3D2E31">
                <a:alpha val="30000"/>
              </a:srgbClr>
            </a:outerShdw>
          </a:effectLst>
        </p:spPr>
      </p:sp>
      <p:pic>
        <p:nvPicPr>
          <p:cNvPr id="7" name="Image 1" descr="C:\Users\HP\Documents\MH-app-1.5.3\mobile\mobile\build\screenshots\01_home.png">    </p:cNvPr>
          <p:cNvPicPr>
            <a:picLocks noChangeAspect="1"/>
          </p:cNvPicPr>
          <p:nvPr/>
        </p:nvPicPr>
        <p:blipFill>
          <a:blip r:embed="rId2"/>
          <a:stretch>
            <a:fillRect/>
          </a:stretch>
        </p:blipFill>
        <p:spPr>
          <a:xfrm>
            <a:off x="3200400" y="1325880"/>
            <a:ext cx="1943283" cy="4206240"/>
          </a:xfrm>
          <a:prstGeom prst="rect">
            <a:avLst/>
          </a:prstGeom>
        </p:spPr>
      </p:pic>
      <p:sp>
        <p:nvSpPr>
          <p:cNvPr id="8" name="Text 4"/>
          <p:cNvSpPr txBox="1"/>
          <p:nvPr/>
        </p:nvSpPr>
        <p:spPr>
          <a:xfrm>
            <a:off x="3017520" y="5641848"/>
            <a:ext cx="2309043" cy="274320"/>
          </a:xfrm>
          <a:prstGeom prst="rect">
            <a:avLst/>
          </a:prstGeom>
          <a:noFill/>
          <a:ln/>
        </p:spPr>
        <p:txBody>
          <a:bodyPr wrap="square" lIns="0" tIns="0" rIns="0" bIns="0" rtlCol="0" anchor="t"/>
          <a:lstStyle/>
          <a:p>
            <a:pPr algn="ctr" indent="0" marL="0">
              <a:buNone/>
            </a:pPr>
            <a:r>
              <a:rPr lang="en-US" sz="1100" dirty="0">
                <a:solidFill>
                  <a:schemeClr val="accent4"/>
                </a:solidFill>
                <a:latin typeface="Ebrima" pitchFamily="34" charset="0"/>
                <a:ea typeface="Ebrima" pitchFamily="34" charset="-122"/>
                <a:cs typeface="Ebrima" pitchFamily="34" charset="-120"/>
              </a:rPr>
              <a:t>የመዝሙር መነሻ</a:t>
            </a:r>
            <a:endParaRPr lang="en-US" sz="1100" dirty="0"/>
          </a:p>
        </p:txBody>
      </p:sp>
      <p:sp>
        <p:nvSpPr>
          <p:cNvPr id="9" name="Shape 5"/>
          <p:cNvSpPr/>
          <p:nvPr/>
        </p:nvSpPr>
        <p:spPr>
          <a:xfrm>
            <a:off x="5605272" y="1261872"/>
            <a:ext cx="2071299" cy="4334256"/>
          </a:xfrm>
          <a:prstGeom prst="roundRect">
            <a:avLst>
              <a:gd name="adj" fmla="val 7946"/>
            </a:avLst>
          </a:prstGeom>
          <a:solidFill>
            <a:schemeClr val="accent6"/>
          </a:solidFill>
          <a:ln/>
          <a:effectLst>
            <a:outerShdw sx="100000" sy="100000" kx="0" ky="0" algn="bl" rotWithShape="0" blurRad="101600" dist="38100" dir="5400000">
              <a:srgbClr val="3D2E31">
                <a:alpha val="30000"/>
              </a:srgbClr>
            </a:outerShdw>
          </a:effectLst>
        </p:spPr>
      </p:sp>
      <p:pic>
        <p:nvPicPr>
          <p:cNvPr id="10" name="Image 2" descr="C:\Users\HP\Documents\MH-app-1.5.3\mobile\mobile\build\screenshots\05_settings.png">    </p:cNvPr>
          <p:cNvPicPr>
            <a:picLocks noChangeAspect="1"/>
          </p:cNvPicPr>
          <p:nvPr/>
        </p:nvPicPr>
        <p:blipFill>
          <a:blip r:embed="rId3"/>
          <a:stretch>
            <a:fillRect/>
          </a:stretch>
        </p:blipFill>
        <p:spPr>
          <a:xfrm>
            <a:off x="5669280" y="1325880"/>
            <a:ext cx="1943283" cy="4206240"/>
          </a:xfrm>
          <a:prstGeom prst="rect">
            <a:avLst/>
          </a:prstGeom>
        </p:spPr>
      </p:pic>
      <p:sp>
        <p:nvSpPr>
          <p:cNvPr id="11" name="Text 6"/>
          <p:cNvSpPr txBox="1"/>
          <p:nvPr/>
        </p:nvSpPr>
        <p:spPr>
          <a:xfrm>
            <a:off x="5486400" y="5641848"/>
            <a:ext cx="2309043" cy="274320"/>
          </a:xfrm>
          <a:prstGeom prst="rect">
            <a:avLst/>
          </a:prstGeom>
          <a:noFill/>
          <a:ln/>
        </p:spPr>
        <p:txBody>
          <a:bodyPr wrap="square" lIns="0" tIns="0" rIns="0" bIns="0" rtlCol="0" anchor="t"/>
          <a:lstStyle/>
          <a:p>
            <a:pPr algn="ctr" indent="0" marL="0">
              <a:buNone/>
            </a:pPr>
            <a:r>
              <a:rPr lang="en-US" sz="1100" dirty="0">
                <a:solidFill>
                  <a:schemeClr val="accent4"/>
                </a:solidFill>
                <a:latin typeface="Ebrima" pitchFamily="34" charset="0"/>
                <a:ea typeface="Ebrima" pitchFamily="34" charset="-122"/>
                <a:cs typeface="Ebrima" pitchFamily="34" charset="-120"/>
              </a:rPr>
              <a:t>ማስተካከያ</a:t>
            </a:r>
            <a:endParaRPr lang="en-US" sz="1100" dirty="0"/>
          </a:p>
        </p:txBody>
      </p:sp>
      <p:sp>
        <p:nvSpPr>
          <p:cNvPr id="12" name="Shape 7"/>
          <p:cNvSpPr/>
          <p:nvPr/>
        </p:nvSpPr>
        <p:spPr>
          <a:xfrm>
            <a:off x="8229600" y="1417320"/>
            <a:ext cx="548640" cy="548640"/>
          </a:xfrm>
          <a:prstGeom prst="ellipse">
            <a:avLst/>
          </a:prstGeom>
          <a:solidFill>
            <a:schemeClr val="accent1"/>
          </a:solidFill>
          <a:ln/>
        </p:spPr>
      </p:sp>
      <p:pic>
        <p:nvPicPr>
          <p:cNvPr id="13" name="Image 3" descr="preencoded.png">    </p:cNvPr>
          <p:cNvPicPr>
            <a:picLocks noChangeAspect="1"/>
          </p:cNvPicPr>
          <p:nvPr/>
        </p:nvPicPr>
        <p:blipFill>
          <a:blip r:embed="rId4"/>
          <a:stretch>
            <a:fillRect/>
          </a:stretch>
        </p:blipFill>
        <p:spPr>
          <a:xfrm>
            <a:off x="8361274" y="1548994"/>
            <a:ext cx="285293" cy="285293"/>
          </a:xfrm>
          <a:prstGeom prst="rect">
            <a:avLst/>
          </a:prstGeom>
        </p:spPr>
      </p:pic>
      <p:sp>
        <p:nvSpPr>
          <p:cNvPr id="14" name="Text 8"/>
          <p:cNvSpPr txBox="1"/>
          <p:nvPr/>
        </p:nvSpPr>
        <p:spPr>
          <a:xfrm>
            <a:off x="8915400" y="1435608"/>
            <a:ext cx="2788920" cy="685800"/>
          </a:xfrm>
          <a:prstGeom prst="rect">
            <a:avLst/>
          </a:prstGeom>
          <a:noFill/>
          <a:ln/>
        </p:spPr>
        <p:txBody>
          <a:bodyPr wrap="square" lIns="0" tIns="0" rIns="0" bIns="0" rtlCol="0" anchor="ctr"/>
          <a:lstStyle/>
          <a:p>
            <a:pPr indent="0" marL="0">
              <a:buNone/>
            </a:pPr>
            <a:r>
              <a:rPr lang="en-US" sz="1350" dirty="0">
                <a:solidFill>
                  <a:schemeClr val="tx1"/>
                </a:solidFill>
                <a:latin typeface="Ebrima" pitchFamily="34" charset="0"/>
                <a:ea typeface="Ebrima" pitchFamily="34" charset="-122"/>
                <a:cs typeface="Ebrima" pitchFamily="34" charset="-120"/>
              </a:rPr>
              <a:t>ቀላል መግቢያ — በስልክ ቁጥር እና በ4 ወይም 6 አሃዝ ፒን</a:t>
            </a:r>
            <a:endParaRPr lang="en-US" sz="1350" dirty="0"/>
          </a:p>
        </p:txBody>
      </p:sp>
      <p:sp>
        <p:nvSpPr>
          <p:cNvPr id="15" name="Shape 9"/>
          <p:cNvSpPr/>
          <p:nvPr/>
        </p:nvSpPr>
        <p:spPr>
          <a:xfrm>
            <a:off x="8229600" y="2313432"/>
            <a:ext cx="548640" cy="548640"/>
          </a:xfrm>
          <a:prstGeom prst="ellipse">
            <a:avLst/>
          </a:prstGeom>
          <a:solidFill>
            <a:schemeClr val="accent2"/>
          </a:solidFill>
          <a:ln/>
        </p:spPr>
      </p:sp>
      <p:pic>
        <p:nvPicPr>
          <p:cNvPr id="16" name="Image 4" descr="preencoded.png">    </p:cNvPr>
          <p:cNvPicPr>
            <a:picLocks noChangeAspect="1"/>
          </p:cNvPicPr>
          <p:nvPr/>
        </p:nvPicPr>
        <p:blipFill>
          <a:blip r:embed="rId5"/>
          <a:stretch>
            <a:fillRect/>
          </a:stretch>
        </p:blipFill>
        <p:spPr>
          <a:xfrm>
            <a:off x="8361274" y="2445106"/>
            <a:ext cx="285293" cy="285293"/>
          </a:xfrm>
          <a:prstGeom prst="rect">
            <a:avLst/>
          </a:prstGeom>
        </p:spPr>
      </p:pic>
      <p:sp>
        <p:nvSpPr>
          <p:cNvPr id="17" name="Text 10"/>
          <p:cNvSpPr txBox="1"/>
          <p:nvPr/>
        </p:nvSpPr>
        <p:spPr>
          <a:xfrm>
            <a:off x="8915400" y="2331720"/>
            <a:ext cx="2788920" cy="685800"/>
          </a:xfrm>
          <a:prstGeom prst="rect">
            <a:avLst/>
          </a:prstGeom>
          <a:noFill/>
          <a:ln/>
        </p:spPr>
        <p:txBody>
          <a:bodyPr wrap="square" lIns="0" tIns="0" rIns="0" bIns="0" rtlCol="0" anchor="ctr"/>
          <a:lstStyle/>
          <a:p>
            <a:pPr indent="0" marL="0">
              <a:buNone/>
            </a:pPr>
            <a:r>
              <a:rPr lang="en-US" sz="1350" dirty="0">
                <a:solidFill>
                  <a:schemeClr val="tx1"/>
                </a:solidFill>
                <a:latin typeface="Ebrima" pitchFamily="34" charset="0"/>
                <a:ea typeface="Ebrima" pitchFamily="34" charset="-122"/>
                <a:cs typeface="Ebrima" pitchFamily="34" charset="-120"/>
              </a:rPr>
              <a:t>የቤተ ክርስቲያኑ ቀለማትና ዓርማ፤ ብርሃንና ጨለማ ገጽታ</a:t>
            </a:r>
            <a:endParaRPr lang="en-US" sz="1350" dirty="0"/>
          </a:p>
        </p:txBody>
      </p:sp>
      <p:sp>
        <p:nvSpPr>
          <p:cNvPr id="18" name="Shape 11"/>
          <p:cNvSpPr/>
          <p:nvPr/>
        </p:nvSpPr>
        <p:spPr>
          <a:xfrm>
            <a:off x="8229600" y="3209544"/>
            <a:ext cx="548640" cy="548640"/>
          </a:xfrm>
          <a:prstGeom prst="ellipse">
            <a:avLst/>
          </a:prstGeom>
          <a:solidFill>
            <a:schemeClr val="accent1"/>
          </a:solidFill>
          <a:ln/>
        </p:spPr>
      </p:sp>
      <p:pic>
        <p:nvPicPr>
          <p:cNvPr id="19" name="Image 5" descr="preencoded.png">    </p:cNvPr>
          <p:cNvPicPr>
            <a:picLocks noChangeAspect="1"/>
          </p:cNvPicPr>
          <p:nvPr/>
        </p:nvPicPr>
        <p:blipFill>
          <a:blip r:embed="rId6"/>
          <a:stretch>
            <a:fillRect/>
          </a:stretch>
        </p:blipFill>
        <p:spPr>
          <a:xfrm>
            <a:off x="8361274" y="3341218"/>
            <a:ext cx="285293" cy="285293"/>
          </a:xfrm>
          <a:prstGeom prst="rect">
            <a:avLst/>
          </a:prstGeom>
        </p:spPr>
      </p:pic>
      <p:sp>
        <p:nvSpPr>
          <p:cNvPr id="20" name="Text 12"/>
          <p:cNvSpPr txBox="1"/>
          <p:nvPr/>
        </p:nvSpPr>
        <p:spPr>
          <a:xfrm>
            <a:off x="8915400" y="3227832"/>
            <a:ext cx="2788920" cy="685800"/>
          </a:xfrm>
          <a:prstGeom prst="rect">
            <a:avLst/>
          </a:prstGeom>
          <a:noFill/>
          <a:ln/>
        </p:spPr>
        <p:txBody>
          <a:bodyPr wrap="square" lIns="0" tIns="0" rIns="0" bIns="0" rtlCol="0" anchor="ctr"/>
          <a:lstStyle/>
          <a:p>
            <a:pPr indent="0" marL="0">
              <a:buNone/>
            </a:pPr>
            <a:r>
              <a:rPr lang="en-US" sz="1350" dirty="0">
                <a:solidFill>
                  <a:schemeClr val="tx1"/>
                </a:solidFill>
                <a:latin typeface="Ebrima" pitchFamily="34" charset="0"/>
                <a:ea typeface="Ebrima" pitchFamily="34" charset="-122"/>
                <a:cs typeface="Ebrima" pitchFamily="34" charset="-120"/>
              </a:rPr>
              <a:t>አማርኛ ዋና ቋንቋ፤ እንግሊዝኛም አለ</a:t>
            </a:r>
            <a:endParaRPr lang="en-US" sz="1350" dirty="0"/>
          </a:p>
        </p:txBody>
      </p:sp>
      <p:sp>
        <p:nvSpPr>
          <p:cNvPr id="21" name="Shape 13"/>
          <p:cNvSpPr/>
          <p:nvPr/>
        </p:nvSpPr>
        <p:spPr>
          <a:xfrm>
            <a:off x="8229600" y="4105656"/>
            <a:ext cx="548640" cy="548640"/>
          </a:xfrm>
          <a:prstGeom prst="ellipse">
            <a:avLst/>
          </a:prstGeom>
          <a:solidFill>
            <a:schemeClr val="accent2"/>
          </a:solidFill>
          <a:ln/>
        </p:spPr>
      </p:sp>
      <p:pic>
        <p:nvPicPr>
          <p:cNvPr id="22" name="Image 6" descr="preencoded.png">    </p:cNvPr>
          <p:cNvPicPr>
            <a:picLocks noChangeAspect="1"/>
          </p:cNvPicPr>
          <p:nvPr/>
        </p:nvPicPr>
        <p:blipFill>
          <a:blip r:embed="rId7"/>
          <a:stretch>
            <a:fillRect/>
          </a:stretch>
        </p:blipFill>
        <p:spPr>
          <a:xfrm>
            <a:off x="8361274" y="4237330"/>
            <a:ext cx="285293" cy="285293"/>
          </a:xfrm>
          <a:prstGeom prst="rect">
            <a:avLst/>
          </a:prstGeom>
        </p:spPr>
      </p:pic>
      <p:sp>
        <p:nvSpPr>
          <p:cNvPr id="23" name="Text 14"/>
          <p:cNvSpPr txBox="1"/>
          <p:nvPr/>
        </p:nvSpPr>
        <p:spPr>
          <a:xfrm>
            <a:off x="8915400" y="4123944"/>
            <a:ext cx="2788920" cy="685800"/>
          </a:xfrm>
          <a:prstGeom prst="rect">
            <a:avLst/>
          </a:prstGeom>
          <a:noFill/>
          <a:ln/>
        </p:spPr>
        <p:txBody>
          <a:bodyPr wrap="square" lIns="0" tIns="0" rIns="0" bIns="0" rtlCol="0" anchor="ctr"/>
          <a:lstStyle/>
          <a:p>
            <a:pPr indent="0" marL="0">
              <a:buNone/>
            </a:pPr>
            <a:r>
              <a:rPr lang="en-US" sz="1350" dirty="0">
                <a:solidFill>
                  <a:schemeClr val="tx1"/>
                </a:solidFill>
                <a:latin typeface="Ebrima" pitchFamily="34" charset="0"/>
                <a:ea typeface="Ebrima" pitchFamily="34" charset="-122"/>
                <a:cs typeface="Ebrima" pitchFamily="34" charset="-120"/>
              </a:rPr>
              <a:t>በእያንዳንዱ ዋና ገጽ ዐውዳዊ እገዛና የጉብኝት መሪ</a:t>
            </a:r>
            <a:endParaRPr lang="en-US" sz="1350" dirty="0"/>
          </a:p>
        </p:txBody>
      </p:sp>
      <p:sp>
        <p:nvSpPr>
          <p:cNvPr id="24" name="Shape 15"/>
          <p:cNvSpPr/>
          <p:nvPr/>
        </p:nvSpPr>
        <p:spPr>
          <a:xfrm>
            <a:off x="8229600" y="5001768"/>
            <a:ext cx="548640" cy="548640"/>
          </a:xfrm>
          <a:prstGeom prst="ellipse">
            <a:avLst/>
          </a:prstGeom>
          <a:solidFill>
            <a:schemeClr val="accent1"/>
          </a:solidFill>
          <a:ln/>
        </p:spPr>
      </p:sp>
      <p:pic>
        <p:nvPicPr>
          <p:cNvPr id="25" name="Image 7" descr="preencoded.png">    </p:cNvPr>
          <p:cNvPicPr>
            <a:picLocks noChangeAspect="1"/>
          </p:cNvPicPr>
          <p:nvPr/>
        </p:nvPicPr>
        <p:blipFill>
          <a:blip r:embed="rId8"/>
          <a:stretch>
            <a:fillRect/>
          </a:stretch>
        </p:blipFill>
        <p:spPr>
          <a:xfrm>
            <a:off x="8361274" y="5133442"/>
            <a:ext cx="285293" cy="285293"/>
          </a:xfrm>
          <a:prstGeom prst="rect">
            <a:avLst/>
          </a:prstGeom>
        </p:spPr>
      </p:pic>
      <p:sp>
        <p:nvSpPr>
          <p:cNvPr id="26" name="Text 16"/>
          <p:cNvSpPr txBox="1"/>
          <p:nvPr/>
        </p:nvSpPr>
        <p:spPr>
          <a:xfrm>
            <a:off x="8915400" y="5020056"/>
            <a:ext cx="2788920" cy="685800"/>
          </a:xfrm>
          <a:prstGeom prst="rect">
            <a:avLst/>
          </a:prstGeom>
          <a:noFill/>
          <a:ln/>
        </p:spPr>
        <p:txBody>
          <a:bodyPr wrap="square" lIns="0" tIns="0" rIns="0" bIns="0" rtlCol="0" anchor="ctr"/>
          <a:lstStyle/>
          <a:p>
            <a:pPr indent="0" marL="0">
              <a:buNone/>
            </a:pPr>
            <a:r>
              <a:rPr lang="en-US" sz="1350" dirty="0">
                <a:solidFill>
                  <a:schemeClr val="tx1"/>
                </a:solidFill>
                <a:latin typeface="Ebrima" pitchFamily="34" charset="0"/>
                <a:ea typeface="Ebrima" pitchFamily="34" charset="-122"/>
                <a:cs typeface="Ebrima" pitchFamily="34" charset="-120"/>
              </a:rPr>
              <a:t>በጣት አሻራ መቆለፍ ይቻላል</a:t>
            </a:r>
            <a:endParaRPr lang="en-US" sz="1350" dirty="0"/>
          </a:p>
        </p:txBody>
      </p:sp>
      <p:sp>
        <p:nvSpPr>
          <p:cNvPr id="27" name="Text 17"/>
          <p:cNvSpPr txBox="1"/>
          <p:nvPr/>
        </p:nvSpPr>
        <p:spPr>
          <a:xfrm>
            <a:off x="548640" y="6053328"/>
            <a:ext cx="7498080" cy="274320"/>
          </a:xfrm>
          <a:prstGeom prst="rect">
            <a:avLst/>
          </a:prstGeom>
          <a:noFill/>
          <a:ln/>
        </p:spPr>
        <p:txBody>
          <a:bodyPr wrap="square" lIns="0" tIns="0" rIns="0" bIns="0" rtlCol="0" anchor="t"/>
          <a:lstStyle/>
          <a:p>
            <a:pPr indent="0" marL="0">
              <a:buNone/>
            </a:pPr>
            <a:r>
              <a:rPr lang="en-US" sz="1050" i="1" dirty="0">
                <a:solidFill>
                  <a:schemeClr val="accent4"/>
                </a:solidFill>
                <a:latin typeface="Ebrima" pitchFamily="34" charset="0"/>
                <a:ea typeface="Ebrima" pitchFamily="34" charset="-122"/>
                <a:cs typeface="Ebrima" pitchFamily="34" charset="-120"/>
              </a:rPr>
              <a:t>ምስሎቹ ከመተግበሪያው ራሱ በናሙና መረጃ የተወሰዱ ናቸው</a:t>
            </a:r>
            <a:endParaRPr lang="en-US" sz="105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Ebrima"/>
                <a:ea typeface="Ebrima"/>
                <a:cs typeface="Ebrima"/>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0241280" cy="777240"/>
          </a:xfrm>
          <a:prstGeom prst="rect">
            <a:avLst/>
          </a:prstGeom>
          <a:noFill/>
          <a:ln/>
        </p:spPr>
        <p:txBody>
          <a:bodyPr wrap="square" lIns="0" tIns="0" rIns="0" bIns="0" rtlCol="0" anchor="ctr"/>
          <a:lstStyle/>
          <a:p>
            <a:pPr algn="l" indent="0" marL="0">
              <a:buNone/>
            </a:pPr>
            <a:r>
              <a:rPr lang="en-US" sz="3400" dirty="0">
                <a:solidFill>
                  <a:schemeClr val="accent1"/>
                </a:solidFill>
                <a:latin typeface="Nyala" pitchFamily="34" charset="0"/>
                <a:ea typeface="Nyala" pitchFamily="34" charset="-122"/>
                <a:cs typeface="Nyala" pitchFamily="34" charset="-120"/>
              </a:rPr>
              <a:t>የመዝሙር ቤተ መጻሕፍት</a:t>
            </a:r>
            <a:endParaRPr lang="en-US" sz="3400" dirty="0"/>
          </a:p>
        </p:txBody>
      </p:sp>
      <p:sp>
        <p:nvSpPr>
          <p:cNvPr id="3" name="Shape 1"/>
          <p:cNvSpPr/>
          <p:nvPr/>
        </p:nvSpPr>
        <p:spPr>
          <a:xfrm>
            <a:off x="667512" y="1261872"/>
            <a:ext cx="2134667" cy="4471416"/>
          </a:xfrm>
          <a:prstGeom prst="roundRect">
            <a:avLst>
              <a:gd name="adj" fmla="val 7710"/>
            </a:avLst>
          </a:prstGeom>
          <a:solidFill>
            <a:schemeClr val="accent6"/>
          </a:solidFill>
          <a:ln/>
          <a:effectLst>
            <a:outerShdw sx="100000" sy="100000" kx="0" ky="0" algn="bl" rotWithShape="0" blurRad="101600" dist="38100" dir="5400000">
              <a:srgbClr val="3D2E31">
                <a:alpha val="30000"/>
              </a:srgbClr>
            </a:outerShdw>
          </a:effectLst>
        </p:spPr>
      </p:sp>
      <p:pic>
        <p:nvPicPr>
          <p:cNvPr id="4" name="Image 0" descr="C:\Users\HP\Documents\MH-app-1.5.3\mobile\mobile\build\screenshots\02_category.png">    </p:cNvPr>
          <p:cNvPicPr>
            <a:picLocks noChangeAspect="1"/>
          </p:cNvPicPr>
          <p:nvPr/>
        </p:nvPicPr>
        <p:blipFill>
          <a:blip r:embed="rId1"/>
          <a:stretch>
            <a:fillRect/>
          </a:stretch>
        </p:blipFill>
        <p:spPr>
          <a:xfrm>
            <a:off x="731520" y="1325880"/>
            <a:ext cx="2006651" cy="4343400"/>
          </a:xfrm>
          <a:prstGeom prst="rect">
            <a:avLst/>
          </a:prstGeom>
        </p:spPr>
      </p:pic>
      <p:sp>
        <p:nvSpPr>
          <p:cNvPr id="5" name="Text 2"/>
          <p:cNvSpPr txBox="1"/>
          <p:nvPr/>
        </p:nvSpPr>
        <p:spPr>
          <a:xfrm>
            <a:off x="548640" y="5779008"/>
            <a:ext cx="2372411" cy="274320"/>
          </a:xfrm>
          <a:prstGeom prst="rect">
            <a:avLst/>
          </a:prstGeom>
          <a:noFill/>
          <a:ln/>
        </p:spPr>
        <p:txBody>
          <a:bodyPr wrap="square" lIns="0" tIns="0" rIns="0" bIns="0" rtlCol="0" anchor="t"/>
          <a:lstStyle/>
          <a:p>
            <a:pPr algn="ctr" indent="0" marL="0">
              <a:buNone/>
            </a:pPr>
            <a:r>
              <a:rPr lang="en-US" sz="1100" dirty="0">
                <a:solidFill>
                  <a:schemeClr val="accent4"/>
                </a:solidFill>
                <a:latin typeface="Ebrima" pitchFamily="34" charset="0"/>
                <a:ea typeface="Ebrima" pitchFamily="34" charset="-122"/>
                <a:cs typeface="Ebrima" pitchFamily="34" charset="-120"/>
              </a:rPr>
              <a:t>የምድብ ገጽ</a:t>
            </a:r>
            <a:endParaRPr lang="en-US" sz="1100" dirty="0"/>
          </a:p>
        </p:txBody>
      </p:sp>
      <p:sp>
        <p:nvSpPr>
          <p:cNvPr id="6" name="Shape 3"/>
          <p:cNvSpPr/>
          <p:nvPr/>
        </p:nvSpPr>
        <p:spPr>
          <a:xfrm>
            <a:off x="3383280" y="1371600"/>
            <a:ext cx="603504" cy="603504"/>
          </a:xfrm>
          <a:prstGeom prst="ellipse">
            <a:avLst/>
          </a:prstGeom>
          <a:solidFill>
            <a:schemeClr val="accent1"/>
          </a:solidFill>
          <a:ln/>
        </p:spPr>
      </p:sp>
      <p:pic>
        <p:nvPicPr>
          <p:cNvPr id="7" name="Image 1" descr="preencoded.png">    </p:cNvPr>
          <p:cNvPicPr>
            <a:picLocks noChangeAspect="1"/>
          </p:cNvPicPr>
          <p:nvPr/>
        </p:nvPicPr>
        <p:blipFill>
          <a:blip r:embed="rId2"/>
          <a:stretch>
            <a:fillRect/>
          </a:stretch>
        </p:blipFill>
        <p:spPr>
          <a:xfrm>
            <a:off x="3528121" y="1516441"/>
            <a:ext cx="313822" cy="313822"/>
          </a:xfrm>
          <a:prstGeom prst="rect">
            <a:avLst/>
          </a:prstGeom>
        </p:spPr>
      </p:pic>
      <p:sp>
        <p:nvSpPr>
          <p:cNvPr id="8" name="Text 4"/>
          <p:cNvSpPr txBox="1"/>
          <p:nvPr/>
        </p:nvSpPr>
        <p:spPr>
          <a:xfrm>
            <a:off x="4133088" y="1389888"/>
            <a:ext cx="3291840" cy="603504"/>
          </a:xfrm>
          <a:prstGeom prst="rect">
            <a:avLst/>
          </a:prstGeom>
          <a:noFill/>
          <a:ln/>
        </p:spPr>
        <p:txBody>
          <a:bodyPr wrap="square" lIns="0" tIns="0" rIns="0" bIns="0" rtlCol="0" anchor="ctr"/>
          <a:lstStyle/>
          <a:p>
            <a:pPr indent="0" marL="0">
              <a:buNone/>
            </a:pPr>
            <a:r>
              <a:rPr lang="en-US" sz="1500" dirty="0">
                <a:solidFill>
                  <a:schemeClr val="tx1"/>
                </a:solidFill>
                <a:latin typeface="Ebrima" pitchFamily="34" charset="0"/>
                <a:ea typeface="Ebrima" pitchFamily="34" charset="-122"/>
                <a:cs typeface="Ebrima" pitchFamily="34" charset="-120"/>
              </a:rPr>
              <a:t>በደረጃ የተደራጁ ምድቦችና የዕለቱ ምድብ</a:t>
            </a:r>
            <a:endParaRPr lang="en-US" sz="1500" dirty="0"/>
          </a:p>
        </p:txBody>
      </p:sp>
      <p:sp>
        <p:nvSpPr>
          <p:cNvPr id="9" name="Shape 5"/>
          <p:cNvSpPr/>
          <p:nvPr/>
        </p:nvSpPr>
        <p:spPr>
          <a:xfrm>
            <a:off x="7589520" y="1371600"/>
            <a:ext cx="603504" cy="603504"/>
          </a:xfrm>
          <a:prstGeom prst="ellipse">
            <a:avLst/>
          </a:prstGeom>
          <a:solidFill>
            <a:schemeClr val="accent1"/>
          </a:solidFill>
          <a:ln/>
        </p:spPr>
      </p:sp>
      <p:pic>
        <p:nvPicPr>
          <p:cNvPr id="10" name="Image 2" descr="preencoded.png">    </p:cNvPr>
          <p:cNvPicPr>
            <a:picLocks noChangeAspect="1"/>
          </p:cNvPicPr>
          <p:nvPr/>
        </p:nvPicPr>
        <p:blipFill>
          <a:blip r:embed="rId3"/>
          <a:stretch>
            <a:fillRect/>
          </a:stretch>
        </p:blipFill>
        <p:spPr>
          <a:xfrm>
            <a:off x="7734361" y="1516441"/>
            <a:ext cx="313822" cy="313822"/>
          </a:xfrm>
          <a:prstGeom prst="rect">
            <a:avLst/>
          </a:prstGeom>
        </p:spPr>
      </p:pic>
      <p:sp>
        <p:nvSpPr>
          <p:cNvPr id="11" name="Text 6"/>
          <p:cNvSpPr txBox="1"/>
          <p:nvPr/>
        </p:nvSpPr>
        <p:spPr>
          <a:xfrm>
            <a:off x="8339328" y="1389888"/>
            <a:ext cx="3291840" cy="603504"/>
          </a:xfrm>
          <a:prstGeom prst="rect">
            <a:avLst/>
          </a:prstGeom>
          <a:noFill/>
          <a:ln/>
        </p:spPr>
        <p:txBody>
          <a:bodyPr wrap="square" lIns="0" tIns="0" rIns="0" bIns="0" rtlCol="0" anchor="ctr"/>
          <a:lstStyle/>
          <a:p>
            <a:pPr indent="0" marL="0">
              <a:buNone/>
            </a:pPr>
            <a:r>
              <a:rPr lang="en-US" sz="1500" dirty="0">
                <a:solidFill>
                  <a:schemeClr val="tx1"/>
                </a:solidFill>
                <a:latin typeface="Ebrima" pitchFamily="34" charset="0"/>
                <a:ea typeface="Ebrima" pitchFamily="34" charset="-122"/>
                <a:cs typeface="Ebrima" pitchFamily="34" charset="-120"/>
              </a:rPr>
              <a:t>ፍለጋ፣ የቅርብ ጊዜና ተወዳጅ መዝሙራት</a:t>
            </a:r>
            <a:endParaRPr lang="en-US" sz="1500" dirty="0"/>
          </a:p>
        </p:txBody>
      </p:sp>
      <p:sp>
        <p:nvSpPr>
          <p:cNvPr id="12" name="Shape 7"/>
          <p:cNvSpPr/>
          <p:nvPr/>
        </p:nvSpPr>
        <p:spPr>
          <a:xfrm>
            <a:off x="3383280" y="2468880"/>
            <a:ext cx="603504" cy="603504"/>
          </a:xfrm>
          <a:prstGeom prst="ellipse">
            <a:avLst/>
          </a:prstGeom>
          <a:solidFill>
            <a:schemeClr val="accent1"/>
          </a:solidFill>
          <a:ln/>
        </p:spPr>
      </p:sp>
      <p:pic>
        <p:nvPicPr>
          <p:cNvPr id="13" name="Image 3" descr="preencoded.png">    </p:cNvPr>
          <p:cNvPicPr>
            <a:picLocks noChangeAspect="1"/>
          </p:cNvPicPr>
          <p:nvPr/>
        </p:nvPicPr>
        <p:blipFill>
          <a:blip r:embed="rId4"/>
          <a:stretch>
            <a:fillRect/>
          </a:stretch>
        </p:blipFill>
        <p:spPr>
          <a:xfrm>
            <a:off x="3528121" y="2613721"/>
            <a:ext cx="313822" cy="313822"/>
          </a:xfrm>
          <a:prstGeom prst="rect">
            <a:avLst/>
          </a:prstGeom>
        </p:spPr>
      </p:pic>
      <p:sp>
        <p:nvSpPr>
          <p:cNvPr id="14" name="Text 8"/>
          <p:cNvSpPr txBox="1"/>
          <p:nvPr/>
        </p:nvSpPr>
        <p:spPr>
          <a:xfrm>
            <a:off x="4133088" y="2487168"/>
            <a:ext cx="3291840" cy="603504"/>
          </a:xfrm>
          <a:prstGeom prst="rect">
            <a:avLst/>
          </a:prstGeom>
          <a:noFill/>
          <a:ln/>
        </p:spPr>
        <p:txBody>
          <a:bodyPr wrap="square" lIns="0" tIns="0" rIns="0" bIns="0" rtlCol="0" anchor="ctr"/>
          <a:lstStyle/>
          <a:p>
            <a:pPr indent="0" marL="0">
              <a:buNone/>
            </a:pPr>
            <a:r>
              <a:rPr lang="en-US" sz="1500" dirty="0">
                <a:solidFill>
                  <a:schemeClr val="tx1"/>
                </a:solidFill>
                <a:latin typeface="Ebrima" pitchFamily="34" charset="0"/>
                <a:ea typeface="Ebrima" pitchFamily="34" charset="-122"/>
                <a:cs typeface="Ebrima" pitchFamily="34" charset="-120"/>
              </a:rPr>
              <a:t>ግጥም በሚስተካከል የፊደል መጠን</a:t>
            </a:r>
            <a:endParaRPr lang="en-US" sz="1500" dirty="0"/>
          </a:p>
        </p:txBody>
      </p:sp>
      <p:sp>
        <p:nvSpPr>
          <p:cNvPr id="15" name="Shape 9"/>
          <p:cNvSpPr/>
          <p:nvPr/>
        </p:nvSpPr>
        <p:spPr>
          <a:xfrm>
            <a:off x="7589520" y="2468880"/>
            <a:ext cx="603504" cy="603504"/>
          </a:xfrm>
          <a:prstGeom prst="ellipse">
            <a:avLst/>
          </a:prstGeom>
          <a:solidFill>
            <a:schemeClr val="accent1"/>
          </a:solidFill>
          <a:ln/>
        </p:spPr>
      </p:sp>
      <p:pic>
        <p:nvPicPr>
          <p:cNvPr id="16" name="Image 4" descr="preencoded.png">    </p:cNvPr>
          <p:cNvPicPr>
            <a:picLocks noChangeAspect="1"/>
          </p:cNvPicPr>
          <p:nvPr/>
        </p:nvPicPr>
        <p:blipFill>
          <a:blip r:embed="rId5"/>
          <a:stretch>
            <a:fillRect/>
          </a:stretch>
        </p:blipFill>
        <p:spPr>
          <a:xfrm>
            <a:off x="7734361" y="2613721"/>
            <a:ext cx="313822" cy="313822"/>
          </a:xfrm>
          <a:prstGeom prst="rect">
            <a:avLst/>
          </a:prstGeom>
        </p:spPr>
      </p:pic>
      <p:sp>
        <p:nvSpPr>
          <p:cNvPr id="17" name="Text 10"/>
          <p:cNvSpPr txBox="1"/>
          <p:nvPr/>
        </p:nvSpPr>
        <p:spPr>
          <a:xfrm>
            <a:off x="8339328" y="2487168"/>
            <a:ext cx="3291840" cy="603504"/>
          </a:xfrm>
          <a:prstGeom prst="rect">
            <a:avLst/>
          </a:prstGeom>
          <a:noFill/>
          <a:ln/>
        </p:spPr>
        <p:txBody>
          <a:bodyPr wrap="square" lIns="0" tIns="0" rIns="0" bIns="0" rtlCol="0" anchor="ctr"/>
          <a:lstStyle/>
          <a:p>
            <a:pPr indent="0" marL="0">
              <a:buNone/>
            </a:pPr>
            <a:r>
              <a:rPr lang="en-US" sz="1500" dirty="0">
                <a:solidFill>
                  <a:schemeClr val="tx1"/>
                </a:solidFill>
                <a:latin typeface="Ebrima" pitchFamily="34" charset="0"/>
                <a:ea typeface="Ebrima" pitchFamily="34" charset="-122"/>
                <a:cs typeface="Ebrima" pitchFamily="34" charset="-120"/>
              </a:rPr>
              <a:t>ከድምፁ ጋር አብሮ የሚሄድ ግጥም (LRC)</a:t>
            </a:r>
            <a:endParaRPr lang="en-US" sz="1500" dirty="0"/>
          </a:p>
        </p:txBody>
      </p:sp>
      <p:sp>
        <p:nvSpPr>
          <p:cNvPr id="18" name="Shape 11"/>
          <p:cNvSpPr/>
          <p:nvPr/>
        </p:nvSpPr>
        <p:spPr>
          <a:xfrm>
            <a:off x="3383280" y="3566160"/>
            <a:ext cx="603504" cy="603504"/>
          </a:xfrm>
          <a:prstGeom prst="ellipse">
            <a:avLst/>
          </a:prstGeom>
          <a:solidFill>
            <a:schemeClr val="accent1"/>
          </a:solidFill>
          <a:ln/>
        </p:spPr>
      </p:sp>
      <p:pic>
        <p:nvPicPr>
          <p:cNvPr id="19" name="Image 5" descr="preencoded.png">    </p:cNvPr>
          <p:cNvPicPr>
            <a:picLocks noChangeAspect="1"/>
          </p:cNvPicPr>
          <p:nvPr/>
        </p:nvPicPr>
        <p:blipFill>
          <a:blip r:embed="rId6"/>
          <a:stretch>
            <a:fillRect/>
          </a:stretch>
        </p:blipFill>
        <p:spPr>
          <a:xfrm>
            <a:off x="3528121" y="3711001"/>
            <a:ext cx="313822" cy="313822"/>
          </a:xfrm>
          <a:prstGeom prst="rect">
            <a:avLst/>
          </a:prstGeom>
        </p:spPr>
      </p:pic>
      <p:sp>
        <p:nvSpPr>
          <p:cNvPr id="20" name="Text 12"/>
          <p:cNvSpPr txBox="1"/>
          <p:nvPr/>
        </p:nvSpPr>
        <p:spPr>
          <a:xfrm>
            <a:off x="4133088" y="3584448"/>
            <a:ext cx="3291840" cy="603504"/>
          </a:xfrm>
          <a:prstGeom prst="rect">
            <a:avLst/>
          </a:prstGeom>
          <a:noFill/>
          <a:ln/>
        </p:spPr>
        <p:txBody>
          <a:bodyPr wrap="square" lIns="0" tIns="0" rIns="0" bIns="0" rtlCol="0" anchor="ctr"/>
          <a:lstStyle/>
          <a:p>
            <a:pPr indent="0" marL="0">
              <a:buNone/>
            </a:pPr>
            <a:r>
              <a:rPr lang="en-US" sz="1500" dirty="0">
                <a:solidFill>
                  <a:schemeClr val="tx1"/>
                </a:solidFill>
                <a:latin typeface="Ebrima" pitchFamily="34" charset="0"/>
                <a:ea typeface="Ebrima" pitchFamily="34" charset="-122"/>
                <a:cs typeface="Ebrima" pitchFamily="34" charset="-120"/>
              </a:rPr>
              <a:t>ተወዳጆችና ያለ ኢንተርኔት ለመጠቀም ማውረድ</a:t>
            </a:r>
            <a:endParaRPr lang="en-US" sz="1500" dirty="0"/>
          </a:p>
        </p:txBody>
      </p:sp>
      <p:sp>
        <p:nvSpPr>
          <p:cNvPr id="21" name="Shape 13"/>
          <p:cNvSpPr/>
          <p:nvPr/>
        </p:nvSpPr>
        <p:spPr>
          <a:xfrm>
            <a:off x="7589520" y="3566160"/>
            <a:ext cx="603504" cy="603504"/>
          </a:xfrm>
          <a:prstGeom prst="ellipse">
            <a:avLst/>
          </a:prstGeom>
          <a:solidFill>
            <a:schemeClr val="accent1"/>
          </a:solidFill>
          <a:ln/>
        </p:spPr>
      </p:sp>
      <p:pic>
        <p:nvPicPr>
          <p:cNvPr id="22" name="Image 6" descr="preencoded.png">    </p:cNvPr>
          <p:cNvPicPr>
            <a:picLocks noChangeAspect="1"/>
          </p:cNvPicPr>
          <p:nvPr/>
        </p:nvPicPr>
        <p:blipFill>
          <a:blip r:embed="rId7"/>
          <a:stretch>
            <a:fillRect/>
          </a:stretch>
        </p:blipFill>
        <p:spPr>
          <a:xfrm>
            <a:off x="7734361" y="3711001"/>
            <a:ext cx="313822" cy="313822"/>
          </a:xfrm>
          <a:prstGeom prst="rect">
            <a:avLst/>
          </a:prstGeom>
        </p:spPr>
      </p:pic>
      <p:sp>
        <p:nvSpPr>
          <p:cNvPr id="23" name="Text 14"/>
          <p:cNvSpPr txBox="1"/>
          <p:nvPr/>
        </p:nvSpPr>
        <p:spPr>
          <a:xfrm>
            <a:off x="8339328" y="3584448"/>
            <a:ext cx="3291840" cy="603504"/>
          </a:xfrm>
          <a:prstGeom prst="rect">
            <a:avLst/>
          </a:prstGeom>
          <a:noFill/>
          <a:ln/>
        </p:spPr>
        <p:txBody>
          <a:bodyPr wrap="square" lIns="0" tIns="0" rIns="0" bIns="0" rtlCol="0" anchor="ctr"/>
          <a:lstStyle/>
          <a:p>
            <a:pPr indent="0" marL="0">
              <a:buNone/>
            </a:pPr>
            <a:r>
              <a:rPr lang="en-US" sz="1500" dirty="0">
                <a:solidFill>
                  <a:schemeClr val="tx1"/>
                </a:solidFill>
                <a:latin typeface="Ebrima" pitchFamily="34" charset="0"/>
                <a:ea typeface="Ebrima" pitchFamily="34" charset="-122"/>
                <a:cs typeface="Ebrima" pitchFamily="34" charset="-120"/>
              </a:rPr>
              <a:t>የYouTube ማገናኛና ለሌሎች ማጋራት</a:t>
            </a:r>
            <a:endParaRPr lang="en-US" sz="1500" dirty="0"/>
          </a:p>
        </p:txBody>
      </p:sp>
      <p:sp>
        <p:nvSpPr>
          <p:cNvPr id="24" name="Shape 15"/>
          <p:cNvSpPr/>
          <p:nvPr/>
        </p:nvSpPr>
        <p:spPr>
          <a:xfrm>
            <a:off x="3383280" y="4800600"/>
            <a:ext cx="8275320" cy="1325880"/>
          </a:xfrm>
          <a:prstGeom prst="roundRect">
            <a:avLst>
              <a:gd name="adj" fmla="val 8276"/>
            </a:avLst>
          </a:prstGeom>
          <a:solidFill>
            <a:schemeClr val="accent2">
              <a:alpha val="22000"/>
            </a:schemeClr>
          </a:solidFill>
          <a:ln/>
        </p:spPr>
      </p:sp>
      <p:sp>
        <p:nvSpPr>
          <p:cNvPr id="25" name="Text 16"/>
          <p:cNvSpPr txBox="1"/>
          <p:nvPr/>
        </p:nvSpPr>
        <p:spPr>
          <a:xfrm>
            <a:off x="3611880" y="4919472"/>
            <a:ext cx="7863840" cy="365760"/>
          </a:xfrm>
          <a:prstGeom prst="rect">
            <a:avLst/>
          </a:prstGeom>
          <a:noFill/>
          <a:ln/>
        </p:spPr>
        <p:txBody>
          <a:bodyPr wrap="square" lIns="0" tIns="0" rIns="0" bIns="0" rtlCol="0" anchor="t"/>
          <a:lstStyle/>
          <a:p>
            <a:pPr indent="0" marL="0">
              <a:buNone/>
            </a:pPr>
            <a:r>
              <a:rPr lang="en-US" sz="1500" b="1" dirty="0">
                <a:solidFill>
                  <a:schemeClr val="accent1"/>
                </a:solidFill>
                <a:latin typeface="Ebrima" pitchFamily="34" charset="0"/>
                <a:ea typeface="Ebrima" pitchFamily="34" charset="-122"/>
                <a:cs typeface="Ebrima" pitchFamily="34" charset="-120"/>
              </a:rPr>
              <a:t>ለአስተዳዳሪዎች</a:t>
            </a:r>
            <a:endParaRPr lang="en-US" sz="1500" dirty="0"/>
          </a:p>
        </p:txBody>
      </p:sp>
      <p:sp>
        <p:nvSpPr>
          <p:cNvPr id="26" name="Text 17"/>
          <p:cNvSpPr txBox="1"/>
          <p:nvPr/>
        </p:nvSpPr>
        <p:spPr>
          <a:xfrm>
            <a:off x="3611880" y="5303520"/>
            <a:ext cx="7863840" cy="731520"/>
          </a:xfrm>
          <a:prstGeom prst="rect">
            <a:avLst/>
          </a:prstGeom>
          <a:noFill/>
          <a:ln/>
        </p:spPr>
        <p:txBody>
          <a:bodyPr wrap="square" lIns="0" tIns="0" rIns="0" bIns="0" rtlCol="0" anchor="t"/>
          <a:lstStyle/>
          <a:p>
            <a:pPr indent="0" marL="0">
              <a:buNone/>
            </a:pPr>
            <a:r>
              <a:rPr lang="en-US" sz="1350" dirty="0">
                <a:solidFill>
                  <a:schemeClr val="tx1"/>
                </a:solidFill>
                <a:latin typeface="Ebrima" pitchFamily="34" charset="0"/>
                <a:ea typeface="Ebrima" pitchFamily="34" charset="-122"/>
                <a:cs typeface="Ebrima" pitchFamily="34" charset="-120"/>
              </a:rPr>
              <a:t>መዝሙር ማስገባትና ማሳተም፣ ድምፅና የሽፋን ምስል መጫን፣ የግጥም ሰዓት ማዘጋጃ (LRC maker)፣ ምድብ በጅምላ መመደብና ከExcel በጅምላ ማስገባት</a:t>
            </a:r>
            <a:endParaRPr lang="en-US" sz="135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Ebrima"/>
                <a:ea typeface="Ebrima"/>
                <a:cs typeface="Ebrima"/>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0241280" cy="777240"/>
          </a:xfrm>
          <a:prstGeom prst="rect">
            <a:avLst/>
          </a:prstGeom>
          <a:noFill/>
          <a:ln/>
        </p:spPr>
        <p:txBody>
          <a:bodyPr wrap="square" lIns="0" tIns="0" rIns="0" bIns="0" rtlCol="0" anchor="ctr"/>
          <a:lstStyle/>
          <a:p>
            <a:pPr algn="l" indent="0" marL="0">
              <a:buNone/>
            </a:pPr>
            <a:r>
              <a:rPr lang="en-US" sz="3400" dirty="0">
                <a:solidFill>
                  <a:schemeClr val="accent1"/>
                </a:solidFill>
                <a:latin typeface="Nyala" pitchFamily="34" charset="0"/>
                <a:ea typeface="Nyala" pitchFamily="34" charset="-122"/>
                <a:cs typeface="Nyala" pitchFamily="34" charset="-120"/>
              </a:rPr>
              <a:t>የድምፅ ማጫወቻና መቆጣጠሪያዎች</a:t>
            </a:r>
            <a:endParaRPr lang="en-US" sz="3400" dirty="0"/>
          </a:p>
        </p:txBody>
      </p:sp>
      <p:sp>
        <p:nvSpPr>
          <p:cNvPr id="3" name="Shape 1"/>
          <p:cNvSpPr/>
          <p:nvPr/>
        </p:nvSpPr>
        <p:spPr>
          <a:xfrm>
            <a:off x="548640" y="1417320"/>
            <a:ext cx="2624328" cy="2148840"/>
          </a:xfrm>
          <a:prstGeom prst="roundRect">
            <a:avLst>
              <a:gd name="adj" fmla="val 5106"/>
            </a:avLst>
          </a:prstGeom>
          <a:solidFill>
            <a:schemeClr val="bg2">
              <a:alpha val="40000"/>
            </a:schemeClr>
          </a:solidFill>
          <a:ln/>
        </p:spPr>
      </p:sp>
      <p:sp>
        <p:nvSpPr>
          <p:cNvPr id="4" name="Shape 2"/>
          <p:cNvSpPr/>
          <p:nvPr/>
        </p:nvSpPr>
        <p:spPr>
          <a:xfrm>
            <a:off x="1481328" y="1645920"/>
            <a:ext cx="749808" cy="749808"/>
          </a:xfrm>
          <a:prstGeom prst="ellipse">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1661282" y="1825874"/>
            <a:ext cx="389900" cy="389900"/>
          </a:xfrm>
          <a:prstGeom prst="rect">
            <a:avLst/>
          </a:prstGeom>
        </p:spPr>
      </p:pic>
      <p:sp>
        <p:nvSpPr>
          <p:cNvPr id="6" name="Text 3"/>
          <p:cNvSpPr txBox="1"/>
          <p:nvPr/>
        </p:nvSpPr>
        <p:spPr>
          <a:xfrm>
            <a:off x="685800" y="2532888"/>
            <a:ext cx="2350008" cy="411480"/>
          </a:xfrm>
          <a:prstGeom prst="rect">
            <a:avLst/>
          </a:prstGeom>
          <a:noFill/>
          <a:ln/>
        </p:spPr>
        <p:txBody>
          <a:bodyPr wrap="square" lIns="0" tIns="0" rIns="0" bIns="0" rtlCol="0" anchor="t"/>
          <a:lstStyle/>
          <a:p>
            <a:pPr algn="ctr" indent="0" marL="0">
              <a:buNone/>
            </a:pPr>
            <a:r>
              <a:rPr lang="en-US" sz="1500" b="1" dirty="0">
                <a:solidFill>
                  <a:schemeClr val="accent1"/>
                </a:solidFill>
                <a:latin typeface="Ebrima" pitchFamily="34" charset="0"/>
                <a:ea typeface="Ebrima" pitchFamily="34" charset="-122"/>
                <a:cs typeface="Ebrima" pitchFamily="34" charset="-120"/>
              </a:rPr>
              <a:t>ከበስተጀርባ ማጫወት</a:t>
            </a:r>
            <a:endParaRPr lang="en-US" sz="1500" dirty="0"/>
          </a:p>
        </p:txBody>
      </p:sp>
      <p:sp>
        <p:nvSpPr>
          <p:cNvPr id="7" name="Text 4"/>
          <p:cNvSpPr txBox="1"/>
          <p:nvPr/>
        </p:nvSpPr>
        <p:spPr>
          <a:xfrm>
            <a:off x="685800" y="2953512"/>
            <a:ext cx="2350008" cy="548640"/>
          </a:xfrm>
          <a:prstGeom prst="rect">
            <a:avLst/>
          </a:prstGeom>
          <a:noFill/>
          <a:ln/>
        </p:spPr>
        <p:txBody>
          <a:bodyPr wrap="square" lIns="0" tIns="0" rIns="0" bIns="0" rtlCol="0" anchor="t"/>
          <a:lstStyle/>
          <a:p>
            <a:pPr algn="ctr" indent="0" marL="0">
              <a:buNone/>
            </a:pPr>
            <a:r>
              <a:rPr lang="en-US" sz="1250" dirty="0">
                <a:solidFill>
                  <a:schemeClr val="tx1"/>
                </a:solidFill>
                <a:latin typeface="Ebrima" pitchFamily="34" charset="0"/>
                <a:ea typeface="Ebrima" pitchFamily="34" charset="-122"/>
                <a:cs typeface="Ebrima" pitchFamily="34" charset="-120"/>
              </a:rPr>
              <a:t>ሌላ መተግበሪያ ሲከፈትም ይቀጥላል</a:t>
            </a:r>
            <a:endParaRPr lang="en-US" sz="1250" dirty="0"/>
          </a:p>
        </p:txBody>
      </p:sp>
      <p:sp>
        <p:nvSpPr>
          <p:cNvPr id="8" name="Shape 5"/>
          <p:cNvSpPr/>
          <p:nvPr/>
        </p:nvSpPr>
        <p:spPr>
          <a:xfrm>
            <a:off x="3355848" y="1417320"/>
            <a:ext cx="2624328" cy="2148840"/>
          </a:xfrm>
          <a:prstGeom prst="roundRect">
            <a:avLst>
              <a:gd name="adj" fmla="val 5106"/>
            </a:avLst>
          </a:prstGeom>
          <a:solidFill>
            <a:schemeClr val="bg2">
              <a:alpha val="40000"/>
            </a:schemeClr>
          </a:solidFill>
          <a:ln/>
        </p:spPr>
      </p:sp>
      <p:sp>
        <p:nvSpPr>
          <p:cNvPr id="9" name="Shape 6"/>
          <p:cNvSpPr/>
          <p:nvPr/>
        </p:nvSpPr>
        <p:spPr>
          <a:xfrm>
            <a:off x="4288536" y="1645920"/>
            <a:ext cx="749808" cy="749808"/>
          </a:xfrm>
          <a:prstGeom prst="ellipse">
            <a:avLst/>
          </a:prstGeom>
          <a:solidFill>
            <a:schemeClr val="accent1"/>
          </a:solidFill>
          <a:ln/>
        </p:spPr>
      </p:sp>
      <p:pic>
        <p:nvPicPr>
          <p:cNvPr id="10" name="Image 1" descr="preencoded.png">    </p:cNvPr>
          <p:cNvPicPr>
            <a:picLocks noChangeAspect="1"/>
          </p:cNvPicPr>
          <p:nvPr/>
        </p:nvPicPr>
        <p:blipFill>
          <a:blip r:embed="rId2"/>
          <a:stretch>
            <a:fillRect/>
          </a:stretch>
        </p:blipFill>
        <p:spPr>
          <a:xfrm>
            <a:off x="4468490" y="1825874"/>
            <a:ext cx="389900" cy="389900"/>
          </a:xfrm>
          <a:prstGeom prst="rect">
            <a:avLst/>
          </a:prstGeom>
        </p:spPr>
      </p:pic>
      <p:sp>
        <p:nvSpPr>
          <p:cNvPr id="11" name="Text 7"/>
          <p:cNvSpPr txBox="1"/>
          <p:nvPr/>
        </p:nvSpPr>
        <p:spPr>
          <a:xfrm>
            <a:off x="3493008" y="2532888"/>
            <a:ext cx="2350008" cy="411480"/>
          </a:xfrm>
          <a:prstGeom prst="rect">
            <a:avLst/>
          </a:prstGeom>
          <a:noFill/>
          <a:ln/>
        </p:spPr>
        <p:txBody>
          <a:bodyPr wrap="square" lIns="0" tIns="0" rIns="0" bIns="0" rtlCol="0" anchor="t"/>
          <a:lstStyle/>
          <a:p>
            <a:pPr algn="ctr" indent="0" marL="0">
              <a:buNone/>
            </a:pPr>
            <a:r>
              <a:rPr lang="en-US" sz="1500" b="1" dirty="0">
                <a:solidFill>
                  <a:schemeClr val="accent1"/>
                </a:solidFill>
                <a:latin typeface="Ebrima" pitchFamily="34" charset="0"/>
                <a:ea typeface="Ebrima" pitchFamily="34" charset="-122"/>
                <a:cs typeface="Ebrima" pitchFamily="34" charset="-120"/>
              </a:rPr>
              <a:t>የመቆለፊያ ገጽ መቆጣጠሪያ</a:t>
            </a:r>
            <a:endParaRPr lang="en-US" sz="1500" dirty="0"/>
          </a:p>
        </p:txBody>
      </p:sp>
      <p:sp>
        <p:nvSpPr>
          <p:cNvPr id="12" name="Text 8"/>
          <p:cNvSpPr txBox="1"/>
          <p:nvPr/>
        </p:nvSpPr>
        <p:spPr>
          <a:xfrm>
            <a:off x="3493008" y="2953512"/>
            <a:ext cx="2350008" cy="548640"/>
          </a:xfrm>
          <a:prstGeom prst="rect">
            <a:avLst/>
          </a:prstGeom>
          <a:noFill/>
          <a:ln/>
        </p:spPr>
        <p:txBody>
          <a:bodyPr wrap="square" lIns="0" tIns="0" rIns="0" bIns="0" rtlCol="0" anchor="t"/>
          <a:lstStyle/>
          <a:p>
            <a:pPr algn="ctr" indent="0" marL="0">
              <a:buNone/>
            </a:pPr>
            <a:r>
              <a:rPr lang="en-US" sz="1250" dirty="0">
                <a:solidFill>
                  <a:schemeClr val="tx1"/>
                </a:solidFill>
                <a:latin typeface="Ebrima" pitchFamily="34" charset="0"/>
                <a:ea typeface="Ebrima" pitchFamily="34" charset="-122"/>
                <a:cs typeface="Ebrima" pitchFamily="34" charset="-120"/>
              </a:rPr>
              <a:t>ስልኩ ተቆልፎም መቆጣጠር ይቻላል</a:t>
            </a:r>
            <a:endParaRPr lang="en-US" sz="1250" dirty="0"/>
          </a:p>
        </p:txBody>
      </p:sp>
      <p:sp>
        <p:nvSpPr>
          <p:cNvPr id="13" name="Shape 9"/>
          <p:cNvSpPr/>
          <p:nvPr/>
        </p:nvSpPr>
        <p:spPr>
          <a:xfrm>
            <a:off x="6163056" y="1417320"/>
            <a:ext cx="2624328" cy="2148840"/>
          </a:xfrm>
          <a:prstGeom prst="roundRect">
            <a:avLst>
              <a:gd name="adj" fmla="val 5106"/>
            </a:avLst>
          </a:prstGeom>
          <a:solidFill>
            <a:schemeClr val="bg2">
              <a:alpha val="40000"/>
            </a:schemeClr>
          </a:solidFill>
          <a:ln/>
        </p:spPr>
      </p:sp>
      <p:sp>
        <p:nvSpPr>
          <p:cNvPr id="14" name="Shape 10"/>
          <p:cNvSpPr/>
          <p:nvPr/>
        </p:nvSpPr>
        <p:spPr>
          <a:xfrm>
            <a:off x="7095744" y="1645920"/>
            <a:ext cx="749808" cy="749808"/>
          </a:xfrm>
          <a:prstGeom prst="ellipse">
            <a:avLst/>
          </a:prstGeom>
          <a:solidFill>
            <a:schemeClr val="accent1"/>
          </a:solidFill>
          <a:ln/>
        </p:spPr>
      </p:sp>
      <p:pic>
        <p:nvPicPr>
          <p:cNvPr id="15" name="Image 2" descr="preencoded.png">    </p:cNvPr>
          <p:cNvPicPr>
            <a:picLocks noChangeAspect="1"/>
          </p:cNvPicPr>
          <p:nvPr/>
        </p:nvPicPr>
        <p:blipFill>
          <a:blip r:embed="rId3"/>
          <a:stretch>
            <a:fillRect/>
          </a:stretch>
        </p:blipFill>
        <p:spPr>
          <a:xfrm>
            <a:off x="7275698" y="1825874"/>
            <a:ext cx="389900" cy="389900"/>
          </a:xfrm>
          <a:prstGeom prst="rect">
            <a:avLst/>
          </a:prstGeom>
        </p:spPr>
      </p:pic>
      <p:sp>
        <p:nvSpPr>
          <p:cNvPr id="16" name="Text 11"/>
          <p:cNvSpPr txBox="1"/>
          <p:nvPr/>
        </p:nvSpPr>
        <p:spPr>
          <a:xfrm>
            <a:off x="6300216" y="2532888"/>
            <a:ext cx="2350008" cy="411480"/>
          </a:xfrm>
          <a:prstGeom prst="rect">
            <a:avLst/>
          </a:prstGeom>
          <a:noFill/>
          <a:ln/>
        </p:spPr>
        <p:txBody>
          <a:bodyPr wrap="square" lIns="0" tIns="0" rIns="0" bIns="0" rtlCol="0" anchor="t"/>
          <a:lstStyle/>
          <a:p>
            <a:pPr algn="ctr" indent="0" marL="0">
              <a:buNone/>
            </a:pPr>
            <a:r>
              <a:rPr lang="en-US" sz="1500" b="1" dirty="0">
                <a:solidFill>
                  <a:schemeClr val="accent1"/>
                </a:solidFill>
                <a:latin typeface="Ebrima" pitchFamily="34" charset="0"/>
                <a:ea typeface="Ebrima" pitchFamily="34" charset="-122"/>
                <a:cs typeface="Ebrima" pitchFamily="34" charset="-120"/>
              </a:rPr>
              <a:t>የመዝሙር ተራ (Queue)</a:t>
            </a:r>
            <a:endParaRPr lang="en-US" sz="1500" dirty="0"/>
          </a:p>
        </p:txBody>
      </p:sp>
      <p:sp>
        <p:nvSpPr>
          <p:cNvPr id="17" name="Text 12"/>
          <p:cNvSpPr txBox="1"/>
          <p:nvPr/>
        </p:nvSpPr>
        <p:spPr>
          <a:xfrm>
            <a:off x="6300216" y="2953512"/>
            <a:ext cx="2350008" cy="548640"/>
          </a:xfrm>
          <a:prstGeom prst="rect">
            <a:avLst/>
          </a:prstGeom>
          <a:noFill/>
          <a:ln/>
        </p:spPr>
        <p:txBody>
          <a:bodyPr wrap="square" lIns="0" tIns="0" rIns="0" bIns="0" rtlCol="0" anchor="t"/>
          <a:lstStyle/>
          <a:p>
            <a:pPr algn="ctr" indent="0" marL="0">
              <a:buNone/>
            </a:pPr>
            <a:r>
              <a:rPr lang="en-US" sz="1250" dirty="0">
                <a:solidFill>
                  <a:schemeClr val="tx1"/>
                </a:solidFill>
                <a:latin typeface="Ebrima" pitchFamily="34" charset="0"/>
                <a:ea typeface="Ebrima" pitchFamily="34" charset="-122"/>
                <a:cs typeface="Ebrima" pitchFamily="34" charset="-120"/>
              </a:rPr>
              <a:t>የሚቀጥሉትን መዝሙራት ማዘጋጀት</a:t>
            </a:r>
            <a:endParaRPr lang="en-US" sz="1250" dirty="0"/>
          </a:p>
        </p:txBody>
      </p:sp>
      <p:sp>
        <p:nvSpPr>
          <p:cNvPr id="18" name="Shape 13"/>
          <p:cNvSpPr/>
          <p:nvPr/>
        </p:nvSpPr>
        <p:spPr>
          <a:xfrm>
            <a:off x="8970264" y="1417320"/>
            <a:ext cx="2624328" cy="2148840"/>
          </a:xfrm>
          <a:prstGeom prst="roundRect">
            <a:avLst>
              <a:gd name="adj" fmla="val 5106"/>
            </a:avLst>
          </a:prstGeom>
          <a:solidFill>
            <a:schemeClr val="bg2">
              <a:alpha val="40000"/>
            </a:schemeClr>
          </a:solidFill>
          <a:ln/>
        </p:spPr>
      </p:sp>
      <p:sp>
        <p:nvSpPr>
          <p:cNvPr id="19" name="Shape 14"/>
          <p:cNvSpPr/>
          <p:nvPr/>
        </p:nvSpPr>
        <p:spPr>
          <a:xfrm>
            <a:off x="9902952" y="1645920"/>
            <a:ext cx="749808" cy="749808"/>
          </a:xfrm>
          <a:prstGeom prst="ellipse">
            <a:avLst/>
          </a:prstGeom>
          <a:solidFill>
            <a:schemeClr val="accent1"/>
          </a:solidFill>
          <a:ln/>
        </p:spPr>
      </p:sp>
      <p:pic>
        <p:nvPicPr>
          <p:cNvPr id="20" name="Image 3" descr="preencoded.png">    </p:cNvPr>
          <p:cNvPicPr>
            <a:picLocks noChangeAspect="1"/>
          </p:cNvPicPr>
          <p:nvPr/>
        </p:nvPicPr>
        <p:blipFill>
          <a:blip r:embed="rId4"/>
          <a:stretch>
            <a:fillRect/>
          </a:stretch>
        </p:blipFill>
        <p:spPr>
          <a:xfrm>
            <a:off x="10082906" y="1825874"/>
            <a:ext cx="389900" cy="389900"/>
          </a:xfrm>
          <a:prstGeom prst="rect">
            <a:avLst/>
          </a:prstGeom>
        </p:spPr>
      </p:pic>
      <p:sp>
        <p:nvSpPr>
          <p:cNvPr id="21" name="Text 15"/>
          <p:cNvSpPr txBox="1"/>
          <p:nvPr/>
        </p:nvSpPr>
        <p:spPr>
          <a:xfrm>
            <a:off x="9107424" y="2532888"/>
            <a:ext cx="2350008" cy="411480"/>
          </a:xfrm>
          <a:prstGeom prst="rect">
            <a:avLst/>
          </a:prstGeom>
          <a:noFill/>
          <a:ln/>
        </p:spPr>
        <p:txBody>
          <a:bodyPr wrap="square" lIns="0" tIns="0" rIns="0" bIns="0" rtlCol="0" anchor="t"/>
          <a:lstStyle/>
          <a:p>
            <a:pPr algn="ctr" indent="0" marL="0">
              <a:buNone/>
            </a:pPr>
            <a:r>
              <a:rPr lang="en-US" sz="1500" b="1" dirty="0">
                <a:solidFill>
                  <a:schemeClr val="accent1"/>
                </a:solidFill>
                <a:latin typeface="Ebrima" pitchFamily="34" charset="0"/>
                <a:ea typeface="Ebrima" pitchFamily="34" charset="-122"/>
                <a:cs typeface="Ebrima" pitchFamily="34" charset="-120"/>
              </a:rPr>
              <a:t>በዘፈቀደ ማጫወት</a:t>
            </a:r>
            <a:endParaRPr lang="en-US" sz="1500" dirty="0"/>
          </a:p>
        </p:txBody>
      </p:sp>
      <p:sp>
        <p:nvSpPr>
          <p:cNvPr id="22" name="Text 16"/>
          <p:cNvSpPr txBox="1"/>
          <p:nvPr/>
        </p:nvSpPr>
        <p:spPr>
          <a:xfrm>
            <a:off x="9107424" y="2953512"/>
            <a:ext cx="2350008" cy="548640"/>
          </a:xfrm>
          <a:prstGeom prst="rect">
            <a:avLst/>
          </a:prstGeom>
          <a:noFill/>
          <a:ln/>
        </p:spPr>
        <p:txBody>
          <a:bodyPr wrap="square" lIns="0" tIns="0" rIns="0" bIns="0" rtlCol="0" anchor="t"/>
          <a:lstStyle/>
          <a:p>
            <a:pPr algn="ctr" indent="0" marL="0">
              <a:buNone/>
            </a:pPr>
            <a:r>
              <a:rPr lang="en-US" sz="1250" dirty="0">
                <a:solidFill>
                  <a:schemeClr val="tx1"/>
                </a:solidFill>
                <a:latin typeface="Ebrima" pitchFamily="34" charset="0"/>
                <a:ea typeface="Ebrima" pitchFamily="34" charset="-122"/>
                <a:cs typeface="Ebrima" pitchFamily="34" charset="-120"/>
              </a:rPr>
              <a:t>ተራውን መቀላቀል</a:t>
            </a:r>
            <a:endParaRPr lang="en-US" sz="1250" dirty="0"/>
          </a:p>
        </p:txBody>
      </p:sp>
      <p:sp>
        <p:nvSpPr>
          <p:cNvPr id="23" name="Shape 17"/>
          <p:cNvSpPr/>
          <p:nvPr/>
        </p:nvSpPr>
        <p:spPr>
          <a:xfrm>
            <a:off x="548640" y="3794760"/>
            <a:ext cx="2624328" cy="2148840"/>
          </a:xfrm>
          <a:prstGeom prst="roundRect">
            <a:avLst>
              <a:gd name="adj" fmla="val 5106"/>
            </a:avLst>
          </a:prstGeom>
          <a:solidFill>
            <a:schemeClr val="bg2">
              <a:alpha val="55000"/>
            </a:schemeClr>
          </a:solidFill>
          <a:ln/>
        </p:spPr>
      </p:sp>
      <p:sp>
        <p:nvSpPr>
          <p:cNvPr id="24" name="Shape 18"/>
          <p:cNvSpPr/>
          <p:nvPr/>
        </p:nvSpPr>
        <p:spPr>
          <a:xfrm>
            <a:off x="1481328" y="4023360"/>
            <a:ext cx="749808" cy="749808"/>
          </a:xfrm>
          <a:prstGeom prst="ellipse">
            <a:avLst/>
          </a:prstGeom>
          <a:solidFill>
            <a:schemeClr val="accent2"/>
          </a:solidFill>
          <a:ln/>
        </p:spPr>
      </p:sp>
      <p:pic>
        <p:nvPicPr>
          <p:cNvPr id="25" name="Image 4" descr="preencoded.png">    </p:cNvPr>
          <p:cNvPicPr>
            <a:picLocks noChangeAspect="1"/>
          </p:cNvPicPr>
          <p:nvPr/>
        </p:nvPicPr>
        <p:blipFill>
          <a:blip r:embed="rId5"/>
          <a:stretch>
            <a:fillRect/>
          </a:stretch>
        </p:blipFill>
        <p:spPr>
          <a:xfrm>
            <a:off x="1661282" y="4203314"/>
            <a:ext cx="389900" cy="389900"/>
          </a:xfrm>
          <a:prstGeom prst="rect">
            <a:avLst/>
          </a:prstGeom>
        </p:spPr>
      </p:pic>
      <p:sp>
        <p:nvSpPr>
          <p:cNvPr id="26" name="Text 19"/>
          <p:cNvSpPr txBox="1"/>
          <p:nvPr/>
        </p:nvSpPr>
        <p:spPr>
          <a:xfrm>
            <a:off x="685800" y="4910328"/>
            <a:ext cx="2350008" cy="411480"/>
          </a:xfrm>
          <a:prstGeom prst="rect">
            <a:avLst/>
          </a:prstGeom>
          <a:noFill/>
          <a:ln/>
        </p:spPr>
        <p:txBody>
          <a:bodyPr wrap="square" lIns="0" tIns="0" rIns="0" bIns="0" rtlCol="0" anchor="t"/>
          <a:lstStyle/>
          <a:p>
            <a:pPr algn="ctr" indent="0" marL="0">
              <a:buNone/>
            </a:pPr>
            <a:r>
              <a:rPr lang="en-US" sz="1500" b="1" dirty="0">
                <a:solidFill>
                  <a:schemeClr val="accent1"/>
                </a:solidFill>
                <a:latin typeface="Ebrima" pitchFamily="34" charset="0"/>
                <a:ea typeface="Ebrima" pitchFamily="34" charset="-122"/>
                <a:cs typeface="Ebrima" pitchFamily="34" charset="-120"/>
              </a:rPr>
              <a:t>መድገም</a:t>
            </a:r>
            <a:endParaRPr lang="en-US" sz="1500" dirty="0"/>
          </a:p>
        </p:txBody>
      </p:sp>
      <p:sp>
        <p:nvSpPr>
          <p:cNvPr id="27" name="Text 20"/>
          <p:cNvSpPr txBox="1"/>
          <p:nvPr/>
        </p:nvSpPr>
        <p:spPr>
          <a:xfrm>
            <a:off x="685800" y="5330952"/>
            <a:ext cx="2350008" cy="548640"/>
          </a:xfrm>
          <a:prstGeom prst="rect">
            <a:avLst/>
          </a:prstGeom>
          <a:noFill/>
          <a:ln/>
        </p:spPr>
        <p:txBody>
          <a:bodyPr wrap="square" lIns="0" tIns="0" rIns="0" bIns="0" rtlCol="0" anchor="t"/>
          <a:lstStyle/>
          <a:p>
            <a:pPr algn="ctr" indent="0" marL="0">
              <a:buNone/>
            </a:pPr>
            <a:r>
              <a:rPr lang="en-US" sz="1250" dirty="0">
                <a:solidFill>
                  <a:schemeClr val="tx1"/>
                </a:solidFill>
                <a:latin typeface="Ebrima" pitchFamily="34" charset="0"/>
                <a:ea typeface="Ebrima" pitchFamily="34" charset="-122"/>
                <a:cs typeface="Ebrima" pitchFamily="34" charset="-120"/>
              </a:rPr>
              <a:t>አንድ መዝሙር ወይም ሁሉንም</a:t>
            </a:r>
            <a:endParaRPr lang="en-US" sz="1250" dirty="0"/>
          </a:p>
        </p:txBody>
      </p:sp>
      <p:sp>
        <p:nvSpPr>
          <p:cNvPr id="28" name="Shape 21"/>
          <p:cNvSpPr/>
          <p:nvPr/>
        </p:nvSpPr>
        <p:spPr>
          <a:xfrm>
            <a:off x="3355848" y="3794760"/>
            <a:ext cx="2624328" cy="2148840"/>
          </a:xfrm>
          <a:prstGeom prst="roundRect">
            <a:avLst>
              <a:gd name="adj" fmla="val 5106"/>
            </a:avLst>
          </a:prstGeom>
          <a:solidFill>
            <a:schemeClr val="bg2">
              <a:alpha val="55000"/>
            </a:schemeClr>
          </a:solidFill>
          <a:ln/>
        </p:spPr>
      </p:sp>
      <p:sp>
        <p:nvSpPr>
          <p:cNvPr id="29" name="Shape 22"/>
          <p:cNvSpPr/>
          <p:nvPr/>
        </p:nvSpPr>
        <p:spPr>
          <a:xfrm>
            <a:off x="4288536" y="4023360"/>
            <a:ext cx="749808" cy="749808"/>
          </a:xfrm>
          <a:prstGeom prst="ellipse">
            <a:avLst/>
          </a:prstGeom>
          <a:solidFill>
            <a:schemeClr val="accent2"/>
          </a:solidFill>
          <a:ln/>
        </p:spPr>
      </p:sp>
      <p:pic>
        <p:nvPicPr>
          <p:cNvPr id="30" name="Image 5" descr="preencoded.png">    </p:cNvPr>
          <p:cNvPicPr>
            <a:picLocks noChangeAspect="1"/>
          </p:cNvPicPr>
          <p:nvPr/>
        </p:nvPicPr>
        <p:blipFill>
          <a:blip r:embed="rId6"/>
          <a:stretch>
            <a:fillRect/>
          </a:stretch>
        </p:blipFill>
        <p:spPr>
          <a:xfrm>
            <a:off x="4468490" y="4203314"/>
            <a:ext cx="389900" cy="389900"/>
          </a:xfrm>
          <a:prstGeom prst="rect">
            <a:avLst/>
          </a:prstGeom>
        </p:spPr>
      </p:pic>
      <p:sp>
        <p:nvSpPr>
          <p:cNvPr id="31" name="Text 23"/>
          <p:cNvSpPr txBox="1"/>
          <p:nvPr/>
        </p:nvSpPr>
        <p:spPr>
          <a:xfrm>
            <a:off x="3493008" y="4910328"/>
            <a:ext cx="2350008" cy="411480"/>
          </a:xfrm>
          <a:prstGeom prst="rect">
            <a:avLst/>
          </a:prstGeom>
          <a:noFill/>
          <a:ln/>
        </p:spPr>
        <p:txBody>
          <a:bodyPr wrap="square" lIns="0" tIns="0" rIns="0" bIns="0" rtlCol="0" anchor="t"/>
          <a:lstStyle/>
          <a:p>
            <a:pPr algn="ctr" indent="0" marL="0">
              <a:buNone/>
            </a:pPr>
            <a:r>
              <a:rPr lang="en-US" sz="1500" b="1" dirty="0">
                <a:solidFill>
                  <a:schemeClr val="accent1"/>
                </a:solidFill>
                <a:latin typeface="Ebrima" pitchFamily="34" charset="0"/>
                <a:ea typeface="Ebrima" pitchFamily="34" charset="-122"/>
                <a:cs typeface="Ebrima" pitchFamily="34" charset="-120"/>
              </a:rPr>
              <a:t>የማጫወቻ ፍጥነት</a:t>
            </a:r>
            <a:endParaRPr lang="en-US" sz="1500" dirty="0"/>
          </a:p>
        </p:txBody>
      </p:sp>
      <p:sp>
        <p:nvSpPr>
          <p:cNvPr id="32" name="Text 24"/>
          <p:cNvSpPr txBox="1"/>
          <p:nvPr/>
        </p:nvSpPr>
        <p:spPr>
          <a:xfrm>
            <a:off x="3493008" y="5330952"/>
            <a:ext cx="2350008" cy="548640"/>
          </a:xfrm>
          <a:prstGeom prst="rect">
            <a:avLst/>
          </a:prstGeom>
          <a:noFill/>
          <a:ln/>
        </p:spPr>
        <p:txBody>
          <a:bodyPr wrap="square" lIns="0" tIns="0" rIns="0" bIns="0" rtlCol="0" anchor="t"/>
          <a:lstStyle/>
          <a:p>
            <a:pPr algn="ctr" indent="0" marL="0">
              <a:buNone/>
            </a:pPr>
            <a:r>
              <a:rPr lang="en-US" sz="1250" dirty="0">
                <a:solidFill>
                  <a:schemeClr val="tx1"/>
                </a:solidFill>
                <a:latin typeface="Ebrima" pitchFamily="34" charset="0"/>
                <a:ea typeface="Ebrima" pitchFamily="34" charset="-122"/>
                <a:cs typeface="Ebrima" pitchFamily="34" charset="-120"/>
              </a:rPr>
              <a:t>ለመለማመድ ቀስ ብሎ ማዳመጥ</a:t>
            </a:r>
            <a:endParaRPr lang="en-US" sz="1250" dirty="0"/>
          </a:p>
        </p:txBody>
      </p:sp>
      <p:sp>
        <p:nvSpPr>
          <p:cNvPr id="33" name="Shape 25"/>
          <p:cNvSpPr/>
          <p:nvPr/>
        </p:nvSpPr>
        <p:spPr>
          <a:xfrm>
            <a:off x="6163056" y="3794760"/>
            <a:ext cx="2624328" cy="2148840"/>
          </a:xfrm>
          <a:prstGeom prst="roundRect">
            <a:avLst>
              <a:gd name="adj" fmla="val 5106"/>
            </a:avLst>
          </a:prstGeom>
          <a:solidFill>
            <a:schemeClr val="bg2">
              <a:alpha val="55000"/>
            </a:schemeClr>
          </a:solidFill>
          <a:ln/>
        </p:spPr>
      </p:sp>
      <p:sp>
        <p:nvSpPr>
          <p:cNvPr id="34" name="Shape 26"/>
          <p:cNvSpPr/>
          <p:nvPr/>
        </p:nvSpPr>
        <p:spPr>
          <a:xfrm>
            <a:off x="7095744" y="4023360"/>
            <a:ext cx="749808" cy="749808"/>
          </a:xfrm>
          <a:prstGeom prst="ellipse">
            <a:avLst/>
          </a:prstGeom>
          <a:solidFill>
            <a:schemeClr val="accent2"/>
          </a:solidFill>
          <a:ln/>
        </p:spPr>
      </p:sp>
      <p:pic>
        <p:nvPicPr>
          <p:cNvPr id="35" name="Image 6" descr="preencoded.png">    </p:cNvPr>
          <p:cNvPicPr>
            <a:picLocks noChangeAspect="1"/>
          </p:cNvPicPr>
          <p:nvPr/>
        </p:nvPicPr>
        <p:blipFill>
          <a:blip r:embed="rId7"/>
          <a:stretch>
            <a:fillRect/>
          </a:stretch>
        </p:blipFill>
        <p:spPr>
          <a:xfrm>
            <a:off x="7275698" y="4203314"/>
            <a:ext cx="389900" cy="389900"/>
          </a:xfrm>
          <a:prstGeom prst="rect">
            <a:avLst/>
          </a:prstGeom>
        </p:spPr>
      </p:pic>
      <p:sp>
        <p:nvSpPr>
          <p:cNvPr id="36" name="Text 27"/>
          <p:cNvSpPr txBox="1"/>
          <p:nvPr/>
        </p:nvSpPr>
        <p:spPr>
          <a:xfrm>
            <a:off x="6300216" y="4910328"/>
            <a:ext cx="2350008" cy="411480"/>
          </a:xfrm>
          <a:prstGeom prst="rect">
            <a:avLst/>
          </a:prstGeom>
          <a:noFill/>
          <a:ln/>
        </p:spPr>
        <p:txBody>
          <a:bodyPr wrap="square" lIns="0" tIns="0" rIns="0" bIns="0" rtlCol="0" anchor="t"/>
          <a:lstStyle/>
          <a:p>
            <a:pPr algn="ctr" indent="0" marL="0">
              <a:buNone/>
            </a:pPr>
            <a:r>
              <a:rPr lang="en-US" sz="1500" b="1" dirty="0">
                <a:solidFill>
                  <a:schemeClr val="accent1"/>
                </a:solidFill>
                <a:latin typeface="Ebrima" pitchFamily="34" charset="0"/>
                <a:ea typeface="Ebrima" pitchFamily="34" charset="-122"/>
                <a:cs typeface="Ebrima" pitchFamily="34" charset="-120"/>
              </a:rPr>
              <a:t>የእንቅልፍ ሰዓት ቆጣሪ</a:t>
            </a:r>
            <a:endParaRPr lang="en-US" sz="1500" dirty="0"/>
          </a:p>
        </p:txBody>
      </p:sp>
      <p:sp>
        <p:nvSpPr>
          <p:cNvPr id="37" name="Text 28"/>
          <p:cNvSpPr txBox="1"/>
          <p:nvPr/>
        </p:nvSpPr>
        <p:spPr>
          <a:xfrm>
            <a:off x="6300216" y="5330952"/>
            <a:ext cx="2350008" cy="548640"/>
          </a:xfrm>
          <a:prstGeom prst="rect">
            <a:avLst/>
          </a:prstGeom>
          <a:noFill/>
          <a:ln/>
        </p:spPr>
        <p:txBody>
          <a:bodyPr wrap="square" lIns="0" tIns="0" rIns="0" bIns="0" rtlCol="0" anchor="t"/>
          <a:lstStyle/>
          <a:p>
            <a:pPr algn="ctr" indent="0" marL="0">
              <a:buNone/>
            </a:pPr>
            <a:r>
              <a:rPr lang="en-US" sz="1250" dirty="0">
                <a:solidFill>
                  <a:schemeClr val="tx1"/>
                </a:solidFill>
                <a:latin typeface="Ebrima" pitchFamily="34" charset="0"/>
                <a:ea typeface="Ebrima" pitchFamily="34" charset="-122"/>
                <a:cs typeface="Ebrima" pitchFamily="34" charset="-120"/>
              </a:rPr>
              <a:t>በተወሰነ ሰዓት ወይም መዝሙሩ ሲያበቃ</a:t>
            </a:r>
            <a:endParaRPr lang="en-US" sz="1250" dirty="0"/>
          </a:p>
        </p:txBody>
      </p:sp>
      <p:sp>
        <p:nvSpPr>
          <p:cNvPr id="38" name="Shape 29"/>
          <p:cNvSpPr/>
          <p:nvPr/>
        </p:nvSpPr>
        <p:spPr>
          <a:xfrm>
            <a:off x="8970264" y="3794760"/>
            <a:ext cx="2624328" cy="2148840"/>
          </a:xfrm>
          <a:prstGeom prst="roundRect">
            <a:avLst>
              <a:gd name="adj" fmla="val 5106"/>
            </a:avLst>
          </a:prstGeom>
          <a:solidFill>
            <a:schemeClr val="bg2">
              <a:alpha val="55000"/>
            </a:schemeClr>
          </a:solidFill>
          <a:ln/>
        </p:spPr>
      </p:sp>
      <p:sp>
        <p:nvSpPr>
          <p:cNvPr id="39" name="Shape 30"/>
          <p:cNvSpPr/>
          <p:nvPr/>
        </p:nvSpPr>
        <p:spPr>
          <a:xfrm>
            <a:off x="9902952" y="4023360"/>
            <a:ext cx="749808" cy="749808"/>
          </a:xfrm>
          <a:prstGeom prst="ellipse">
            <a:avLst/>
          </a:prstGeom>
          <a:solidFill>
            <a:schemeClr val="accent2"/>
          </a:solidFill>
          <a:ln/>
        </p:spPr>
      </p:sp>
      <p:pic>
        <p:nvPicPr>
          <p:cNvPr id="40" name="Image 7" descr="preencoded.png">    </p:cNvPr>
          <p:cNvPicPr>
            <a:picLocks noChangeAspect="1"/>
          </p:cNvPicPr>
          <p:nvPr/>
        </p:nvPicPr>
        <p:blipFill>
          <a:blip r:embed="rId8"/>
          <a:stretch>
            <a:fillRect/>
          </a:stretch>
        </p:blipFill>
        <p:spPr>
          <a:xfrm>
            <a:off x="10082906" y="4203314"/>
            <a:ext cx="389900" cy="389900"/>
          </a:xfrm>
          <a:prstGeom prst="rect">
            <a:avLst/>
          </a:prstGeom>
        </p:spPr>
      </p:pic>
      <p:sp>
        <p:nvSpPr>
          <p:cNvPr id="41" name="Text 31"/>
          <p:cNvSpPr txBox="1"/>
          <p:nvPr/>
        </p:nvSpPr>
        <p:spPr>
          <a:xfrm>
            <a:off x="9107424" y="4910328"/>
            <a:ext cx="2350008" cy="411480"/>
          </a:xfrm>
          <a:prstGeom prst="rect">
            <a:avLst/>
          </a:prstGeom>
          <a:noFill/>
          <a:ln/>
        </p:spPr>
        <p:txBody>
          <a:bodyPr wrap="square" lIns="0" tIns="0" rIns="0" bIns="0" rtlCol="0" anchor="t"/>
          <a:lstStyle/>
          <a:p>
            <a:pPr algn="ctr" indent="0" marL="0">
              <a:buNone/>
            </a:pPr>
            <a:r>
              <a:rPr lang="en-US" sz="1500" b="1" dirty="0">
                <a:solidFill>
                  <a:schemeClr val="accent1"/>
                </a:solidFill>
                <a:latin typeface="Ebrima" pitchFamily="34" charset="0"/>
                <a:ea typeface="Ebrima" pitchFamily="34" charset="-122"/>
                <a:cs typeface="Ebrima" pitchFamily="34" charset="-120"/>
              </a:rPr>
              <a:t>ሚኒ ማጫወቻ</a:t>
            </a:r>
            <a:endParaRPr lang="en-US" sz="1500" dirty="0"/>
          </a:p>
        </p:txBody>
      </p:sp>
      <p:sp>
        <p:nvSpPr>
          <p:cNvPr id="42" name="Text 32"/>
          <p:cNvSpPr txBox="1"/>
          <p:nvPr/>
        </p:nvSpPr>
        <p:spPr>
          <a:xfrm>
            <a:off x="9107424" y="5330952"/>
            <a:ext cx="2350008" cy="548640"/>
          </a:xfrm>
          <a:prstGeom prst="rect">
            <a:avLst/>
          </a:prstGeom>
          <a:noFill/>
          <a:ln/>
        </p:spPr>
        <p:txBody>
          <a:bodyPr wrap="square" lIns="0" tIns="0" rIns="0" bIns="0" rtlCol="0" anchor="t"/>
          <a:lstStyle/>
          <a:p>
            <a:pPr algn="ctr" indent="0" marL="0">
              <a:buNone/>
            </a:pPr>
            <a:r>
              <a:rPr lang="en-US" sz="1250" dirty="0">
                <a:solidFill>
                  <a:schemeClr val="tx1"/>
                </a:solidFill>
                <a:latin typeface="Ebrima" pitchFamily="34" charset="0"/>
                <a:ea typeface="Ebrima" pitchFamily="34" charset="-122"/>
                <a:cs typeface="Ebrima" pitchFamily="34" charset="-120"/>
              </a:rPr>
              <a:t>በሁሉም ገጾች ላይ ይታያል</a:t>
            </a:r>
            <a:endParaRPr lang="en-US" sz="125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Ebrima"/>
                <a:ea typeface="Ebrima"/>
                <a:cs typeface="Ebrima"/>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0241280" cy="777240"/>
          </a:xfrm>
          <a:prstGeom prst="rect">
            <a:avLst/>
          </a:prstGeom>
          <a:noFill/>
          <a:ln/>
        </p:spPr>
        <p:txBody>
          <a:bodyPr wrap="square" lIns="0" tIns="0" rIns="0" bIns="0" rtlCol="0" anchor="ctr"/>
          <a:lstStyle/>
          <a:p>
            <a:pPr algn="l" indent="0" marL="0">
              <a:buNone/>
            </a:pPr>
            <a:r>
              <a:rPr lang="en-US" sz="3400" dirty="0">
                <a:solidFill>
                  <a:schemeClr val="accent1"/>
                </a:solidFill>
                <a:latin typeface="Nyala" pitchFamily="34" charset="0"/>
                <a:ea typeface="Nyala" pitchFamily="34" charset="-122"/>
                <a:cs typeface="Nyala" pitchFamily="34" charset="-120"/>
              </a:rPr>
              <a:t>የተጠቃሚ መለያ፣ መገለጫ፣ ቡድኖችና ደህንነት</a:t>
            </a:r>
            <a:endParaRPr lang="en-US" sz="3400" dirty="0"/>
          </a:p>
        </p:txBody>
      </p:sp>
      <p:sp>
        <p:nvSpPr>
          <p:cNvPr id="3" name="Shape 1"/>
          <p:cNvSpPr/>
          <p:nvPr/>
        </p:nvSpPr>
        <p:spPr>
          <a:xfrm>
            <a:off x="548640" y="1325880"/>
            <a:ext cx="5486400" cy="4846320"/>
          </a:xfrm>
          <a:prstGeom prst="roundRect">
            <a:avLst>
              <a:gd name="adj" fmla="val 2264"/>
            </a:avLst>
          </a:prstGeom>
          <a:solidFill>
            <a:schemeClr val="bg2">
              <a:alpha val="55000"/>
            </a:schemeClr>
          </a:solidFill>
          <a:ln/>
        </p:spPr>
      </p:sp>
      <p:sp>
        <p:nvSpPr>
          <p:cNvPr id="4" name="Text 2"/>
          <p:cNvSpPr txBox="1"/>
          <p:nvPr/>
        </p:nvSpPr>
        <p:spPr>
          <a:xfrm>
            <a:off x="822960" y="1481328"/>
            <a:ext cx="4937760" cy="411480"/>
          </a:xfrm>
          <a:prstGeom prst="rect">
            <a:avLst/>
          </a:prstGeom>
          <a:noFill/>
          <a:ln/>
        </p:spPr>
        <p:txBody>
          <a:bodyPr wrap="square" lIns="0" tIns="0" rIns="0" bIns="0" rtlCol="0" anchor="t"/>
          <a:lstStyle/>
          <a:p>
            <a:pPr indent="0" marL="0">
              <a:buNone/>
            </a:pPr>
            <a:r>
              <a:rPr lang="en-US" sz="1800" b="1" dirty="0">
                <a:solidFill>
                  <a:schemeClr val="accent1"/>
                </a:solidFill>
                <a:latin typeface="Ebrima" pitchFamily="34" charset="0"/>
                <a:ea typeface="Ebrima" pitchFamily="34" charset="-122"/>
                <a:cs typeface="Ebrima" pitchFamily="34" charset="-120"/>
              </a:rPr>
              <a:t>መለያና መገለጫ</a:t>
            </a:r>
            <a:endParaRPr lang="en-US" sz="1800" dirty="0"/>
          </a:p>
        </p:txBody>
      </p:sp>
      <p:sp>
        <p:nvSpPr>
          <p:cNvPr id="5" name="Text 3"/>
          <p:cNvSpPr txBox="1"/>
          <p:nvPr/>
        </p:nvSpPr>
        <p:spPr>
          <a:xfrm>
            <a:off x="822960" y="1965960"/>
            <a:ext cx="5029200" cy="2651760"/>
          </a:xfrm>
          <a:prstGeom prst="rect">
            <a:avLst/>
          </a:prstGeom>
          <a:noFill/>
          <a:ln/>
        </p:spPr>
        <p:txBody>
          <a:bodyPr wrap="square" lIns="0" tIns="0" rIns="0" bIns="0" rtlCol="0" anchor="t"/>
          <a:lstStyle/>
          <a:p>
            <a:pPr marL="342900" indent="-342900">
              <a:spcAft>
                <a:spcPts val="600"/>
              </a:spcAft>
              <a:buSzPct val="100000"/>
              <a:buChar char="●"/>
            </a:pPr>
            <a:r>
              <a:rPr lang="en-US" sz="1450" dirty="0">
                <a:solidFill>
                  <a:schemeClr val="tx1"/>
                </a:solidFill>
                <a:latin typeface="Ebrima" pitchFamily="34" charset="0"/>
                <a:ea typeface="Ebrima" pitchFamily="34" charset="-122"/>
                <a:cs typeface="Ebrima" pitchFamily="34" charset="-120"/>
              </a:rPr>
              <a:t>ምዝገባ በስልክ ቁጥርና በፒን፤ የአባል ዓይነትና የአባልነት ቅጽ</a:t>
            </a:r>
            <a:endParaRPr lang="en-US" sz="1450" dirty="0"/>
          </a:p>
          <a:p>
            <a:pPr marL="342900" indent="-342900">
              <a:spcAft>
                <a:spcPts val="600"/>
              </a:spcAft>
              <a:buSzPct val="100000"/>
              <a:buChar char="●"/>
            </a:pPr>
            <a:r>
              <a:rPr lang="en-US" sz="1450" dirty="0">
                <a:solidFill>
                  <a:schemeClr val="tx1"/>
                </a:solidFill>
                <a:latin typeface="Ebrima" pitchFamily="34" charset="0"/>
                <a:ea typeface="Ebrima" pitchFamily="34" charset="-122"/>
                <a:cs typeface="Ebrima" pitchFamily="34" charset="-120"/>
              </a:rPr>
              <a:t>ቋሚ የአባል መለያ ቁጥርና QR ያለው ዲጂታል መታወቂያ (ያለ ኢንተርኔትም ይታያል)</a:t>
            </a:r>
            <a:endParaRPr lang="en-US" sz="1450" dirty="0"/>
          </a:p>
          <a:p>
            <a:pPr marL="342900" indent="-342900">
              <a:spcAft>
                <a:spcPts val="600"/>
              </a:spcAft>
              <a:buSzPct val="100000"/>
              <a:buChar char="●"/>
            </a:pPr>
            <a:r>
              <a:rPr lang="en-US" sz="1450" dirty="0">
                <a:solidFill>
                  <a:schemeClr val="tx1"/>
                </a:solidFill>
                <a:latin typeface="Ebrima" pitchFamily="34" charset="0"/>
                <a:ea typeface="Ebrima" pitchFamily="34" charset="-122"/>
                <a:cs typeface="Ebrima" pitchFamily="34" charset="-120"/>
              </a:rPr>
              <a:t>የመገለጫ ለውጥ በአስተዳዳሪ ይጸድቃል፤ የለውጡ ታሪክ ይቀመጣል</a:t>
            </a:r>
            <a:endParaRPr lang="en-US" sz="1450" dirty="0"/>
          </a:p>
          <a:p>
            <a:pPr marL="342900" indent="-342900">
              <a:spcAft>
                <a:spcPts val="600"/>
              </a:spcAft>
              <a:buSzPct val="100000"/>
              <a:buChar char="●"/>
            </a:pPr>
            <a:r>
              <a:rPr lang="en-US" sz="1450" dirty="0">
                <a:solidFill>
                  <a:schemeClr val="tx1"/>
                </a:solidFill>
                <a:latin typeface="Ebrima" pitchFamily="34" charset="0"/>
                <a:ea typeface="Ebrima" pitchFamily="34" charset="-122"/>
                <a:cs typeface="Ebrima" pitchFamily="34" charset="-120"/>
              </a:rPr>
              <a:t>አስተዳዳሪዎች አባላትን መመዝገብና ማስተዳደር ይችላሉ</a:t>
            </a:r>
            <a:endParaRPr lang="en-US" sz="1450" dirty="0"/>
          </a:p>
        </p:txBody>
      </p:sp>
      <p:sp>
        <p:nvSpPr>
          <p:cNvPr id="6" name="Text 4"/>
          <p:cNvSpPr txBox="1"/>
          <p:nvPr/>
        </p:nvSpPr>
        <p:spPr>
          <a:xfrm>
            <a:off x="822960" y="4709160"/>
            <a:ext cx="4937760" cy="365760"/>
          </a:xfrm>
          <a:prstGeom prst="rect">
            <a:avLst/>
          </a:prstGeom>
          <a:noFill/>
          <a:ln/>
        </p:spPr>
        <p:txBody>
          <a:bodyPr wrap="square" lIns="0" tIns="0" rIns="0" bIns="0" rtlCol="0" anchor="t"/>
          <a:lstStyle/>
          <a:p>
            <a:pPr indent="0" marL="0">
              <a:buNone/>
            </a:pPr>
            <a:r>
              <a:rPr lang="en-US" sz="1500" b="1" dirty="0">
                <a:solidFill>
                  <a:schemeClr val="accent1"/>
                </a:solidFill>
                <a:latin typeface="Ebrima" pitchFamily="34" charset="0"/>
                <a:ea typeface="Ebrima" pitchFamily="34" charset="-122"/>
                <a:cs typeface="Ebrima" pitchFamily="34" charset="-120"/>
              </a:rPr>
              <a:t>የአባላት ዓይነቶች</a:t>
            </a:r>
            <a:endParaRPr lang="en-US" sz="1500" dirty="0"/>
          </a:p>
        </p:txBody>
      </p:sp>
      <p:sp>
        <p:nvSpPr>
          <p:cNvPr id="7" name="Shape 5"/>
          <p:cNvSpPr/>
          <p:nvPr/>
        </p:nvSpPr>
        <p:spPr>
          <a:xfrm>
            <a:off x="822960" y="5166360"/>
            <a:ext cx="914400" cy="438912"/>
          </a:xfrm>
          <a:prstGeom prst="roundRect">
            <a:avLst>
              <a:gd name="adj" fmla="val 41667"/>
            </a:avLst>
          </a:prstGeom>
          <a:solidFill>
            <a:schemeClr val="accent1"/>
          </a:solidFill>
          <a:ln/>
        </p:spPr>
      </p:sp>
      <p:sp>
        <p:nvSpPr>
          <p:cNvPr id="8" name="Text 6"/>
          <p:cNvSpPr txBox="1"/>
          <p:nvPr/>
        </p:nvSpPr>
        <p:spPr>
          <a:xfrm>
            <a:off x="822960" y="5166360"/>
            <a:ext cx="914400" cy="438912"/>
          </a:xfrm>
          <a:prstGeom prst="rect">
            <a:avLst/>
          </a:prstGeom>
          <a:noFill/>
          <a:ln/>
        </p:spPr>
        <p:txBody>
          <a:bodyPr wrap="square" lIns="0" tIns="0" rIns="0" bIns="0" rtlCol="0" anchor="ctr"/>
          <a:lstStyle/>
          <a:p>
            <a:pPr algn="ctr" indent="0" marL="0">
              <a:buNone/>
            </a:pPr>
            <a:r>
              <a:rPr lang="en-US" sz="1200" dirty="0">
                <a:solidFill>
                  <a:schemeClr val="bg1"/>
                </a:solidFill>
                <a:latin typeface="Ebrima" pitchFamily="34" charset="0"/>
                <a:ea typeface="Ebrima" pitchFamily="34" charset="-122"/>
                <a:cs typeface="Ebrima" pitchFamily="34" charset="-120"/>
              </a:rPr>
              <a:t>ሕጻናት</a:t>
            </a:r>
            <a:endParaRPr lang="en-US" sz="1200" dirty="0"/>
          </a:p>
        </p:txBody>
      </p:sp>
      <p:sp>
        <p:nvSpPr>
          <p:cNvPr id="9" name="Shape 7"/>
          <p:cNvSpPr/>
          <p:nvPr/>
        </p:nvSpPr>
        <p:spPr>
          <a:xfrm>
            <a:off x="1828800" y="5166360"/>
            <a:ext cx="1828800" cy="438912"/>
          </a:xfrm>
          <a:prstGeom prst="roundRect">
            <a:avLst>
              <a:gd name="adj" fmla="val 41667"/>
            </a:avLst>
          </a:prstGeom>
          <a:solidFill>
            <a:schemeClr val="accent1"/>
          </a:solidFill>
          <a:ln/>
        </p:spPr>
      </p:sp>
      <p:sp>
        <p:nvSpPr>
          <p:cNvPr id="10" name="Text 8"/>
          <p:cNvSpPr txBox="1"/>
          <p:nvPr/>
        </p:nvSpPr>
        <p:spPr>
          <a:xfrm>
            <a:off x="1828800" y="5166360"/>
            <a:ext cx="1828800" cy="438912"/>
          </a:xfrm>
          <a:prstGeom prst="rect">
            <a:avLst/>
          </a:prstGeom>
          <a:noFill/>
          <a:ln/>
        </p:spPr>
        <p:txBody>
          <a:bodyPr wrap="square" lIns="0" tIns="0" rIns="0" bIns="0" rtlCol="0" anchor="ctr"/>
          <a:lstStyle/>
          <a:p>
            <a:pPr algn="ctr" indent="0" marL="0">
              <a:buNone/>
            </a:pPr>
            <a:r>
              <a:rPr lang="en-US" sz="1200" dirty="0">
                <a:solidFill>
                  <a:schemeClr val="bg1"/>
                </a:solidFill>
                <a:latin typeface="Ebrima" pitchFamily="34" charset="0"/>
                <a:ea typeface="Ebrima" pitchFamily="34" charset="-122"/>
                <a:cs typeface="Ebrima" pitchFamily="34" charset="-120"/>
              </a:rPr>
              <a:t>ወጣቶች እና አዋቂዎች</a:t>
            </a:r>
            <a:endParaRPr lang="en-US" sz="1200" dirty="0"/>
          </a:p>
        </p:txBody>
      </p:sp>
      <p:sp>
        <p:nvSpPr>
          <p:cNvPr id="11" name="Shape 9"/>
          <p:cNvSpPr/>
          <p:nvPr/>
        </p:nvSpPr>
        <p:spPr>
          <a:xfrm>
            <a:off x="3749040" y="5166360"/>
            <a:ext cx="1143000" cy="438912"/>
          </a:xfrm>
          <a:prstGeom prst="roundRect">
            <a:avLst>
              <a:gd name="adj" fmla="val 41667"/>
            </a:avLst>
          </a:prstGeom>
          <a:solidFill>
            <a:schemeClr val="accent1"/>
          </a:solidFill>
          <a:ln/>
        </p:spPr>
      </p:sp>
      <p:sp>
        <p:nvSpPr>
          <p:cNvPr id="12" name="Text 10"/>
          <p:cNvSpPr txBox="1"/>
          <p:nvPr/>
        </p:nvSpPr>
        <p:spPr>
          <a:xfrm>
            <a:off x="3749040" y="5166360"/>
            <a:ext cx="1143000" cy="438912"/>
          </a:xfrm>
          <a:prstGeom prst="rect">
            <a:avLst/>
          </a:prstGeom>
          <a:noFill/>
          <a:ln/>
        </p:spPr>
        <p:txBody>
          <a:bodyPr wrap="square" lIns="0" tIns="0" rIns="0" bIns="0" rtlCol="0" anchor="ctr"/>
          <a:lstStyle/>
          <a:p>
            <a:pPr algn="ctr" indent="0" marL="0">
              <a:buNone/>
            </a:pPr>
            <a:r>
              <a:rPr lang="en-US" sz="1200" dirty="0">
                <a:solidFill>
                  <a:schemeClr val="bg1"/>
                </a:solidFill>
                <a:latin typeface="Ebrima" pitchFamily="34" charset="0"/>
                <a:ea typeface="Ebrima" pitchFamily="34" charset="-122"/>
                <a:cs typeface="Ebrima" pitchFamily="34" charset="-120"/>
              </a:rPr>
              <a:t>ባለትዳሮች</a:t>
            </a:r>
            <a:endParaRPr lang="en-US" sz="1200" dirty="0"/>
          </a:p>
        </p:txBody>
      </p:sp>
      <p:sp>
        <p:nvSpPr>
          <p:cNvPr id="13" name="Shape 11"/>
          <p:cNvSpPr/>
          <p:nvPr/>
        </p:nvSpPr>
        <p:spPr>
          <a:xfrm>
            <a:off x="4983480" y="5166360"/>
            <a:ext cx="914400" cy="438912"/>
          </a:xfrm>
          <a:prstGeom prst="roundRect">
            <a:avLst>
              <a:gd name="adj" fmla="val 41667"/>
            </a:avLst>
          </a:prstGeom>
          <a:solidFill>
            <a:schemeClr val="accent1"/>
          </a:solidFill>
          <a:ln/>
        </p:spPr>
      </p:sp>
      <p:sp>
        <p:nvSpPr>
          <p:cNvPr id="14" name="Text 12"/>
          <p:cNvSpPr txBox="1"/>
          <p:nvPr/>
        </p:nvSpPr>
        <p:spPr>
          <a:xfrm>
            <a:off x="4983480" y="5166360"/>
            <a:ext cx="914400" cy="438912"/>
          </a:xfrm>
          <a:prstGeom prst="rect">
            <a:avLst/>
          </a:prstGeom>
          <a:noFill/>
          <a:ln/>
        </p:spPr>
        <p:txBody>
          <a:bodyPr wrap="square" lIns="0" tIns="0" rIns="0" bIns="0" rtlCol="0" anchor="ctr"/>
          <a:lstStyle/>
          <a:p>
            <a:pPr algn="ctr" indent="0" marL="0">
              <a:buNone/>
            </a:pPr>
            <a:r>
              <a:rPr lang="en-US" sz="1200" dirty="0">
                <a:solidFill>
                  <a:schemeClr val="bg1"/>
                </a:solidFill>
                <a:latin typeface="Ebrima" pitchFamily="34" charset="0"/>
                <a:ea typeface="Ebrima" pitchFamily="34" charset="-122"/>
                <a:cs typeface="Ebrima" pitchFamily="34" charset="-120"/>
              </a:rPr>
              <a:t>የርቀት</a:t>
            </a:r>
            <a:endParaRPr lang="en-US" sz="1200" dirty="0"/>
          </a:p>
        </p:txBody>
      </p:sp>
      <p:sp>
        <p:nvSpPr>
          <p:cNvPr id="15" name="Text 13"/>
          <p:cNvSpPr txBox="1"/>
          <p:nvPr/>
        </p:nvSpPr>
        <p:spPr>
          <a:xfrm>
            <a:off x="6400800" y="1481328"/>
            <a:ext cx="5120640" cy="411480"/>
          </a:xfrm>
          <a:prstGeom prst="rect">
            <a:avLst/>
          </a:prstGeom>
          <a:noFill/>
          <a:ln/>
        </p:spPr>
        <p:txBody>
          <a:bodyPr wrap="square" lIns="0" tIns="0" rIns="0" bIns="0" rtlCol="0" anchor="t"/>
          <a:lstStyle/>
          <a:p>
            <a:pPr indent="0" marL="0">
              <a:buNone/>
            </a:pPr>
            <a:r>
              <a:rPr lang="en-US" sz="1800" b="1" dirty="0">
                <a:solidFill>
                  <a:schemeClr val="accent1"/>
                </a:solidFill>
                <a:latin typeface="Ebrima" pitchFamily="34" charset="0"/>
                <a:ea typeface="Ebrima" pitchFamily="34" charset="-122"/>
                <a:cs typeface="Ebrima" pitchFamily="34" charset="-120"/>
              </a:rPr>
              <a:t>የመለያ ደህንነት</a:t>
            </a:r>
            <a:endParaRPr lang="en-US" sz="1800" dirty="0"/>
          </a:p>
        </p:txBody>
      </p:sp>
      <p:sp>
        <p:nvSpPr>
          <p:cNvPr id="16" name="Shape 14"/>
          <p:cNvSpPr/>
          <p:nvPr/>
        </p:nvSpPr>
        <p:spPr>
          <a:xfrm>
            <a:off x="6400800" y="2011680"/>
            <a:ext cx="548640" cy="548640"/>
          </a:xfrm>
          <a:prstGeom prst="ellipse">
            <a:avLst/>
          </a:prstGeom>
          <a:solidFill>
            <a:schemeClr val="accent2"/>
          </a:solidFill>
          <a:ln/>
        </p:spPr>
      </p:sp>
      <p:pic>
        <p:nvPicPr>
          <p:cNvPr id="17" name="Image 0" descr="preencoded.png">    </p:cNvPr>
          <p:cNvPicPr>
            <a:picLocks noChangeAspect="1"/>
          </p:cNvPicPr>
          <p:nvPr/>
        </p:nvPicPr>
        <p:blipFill>
          <a:blip r:embed="rId1"/>
          <a:stretch>
            <a:fillRect/>
          </a:stretch>
        </p:blipFill>
        <p:spPr>
          <a:xfrm>
            <a:off x="6532474" y="2143354"/>
            <a:ext cx="285293" cy="285293"/>
          </a:xfrm>
          <a:prstGeom prst="rect">
            <a:avLst/>
          </a:prstGeom>
        </p:spPr>
      </p:pic>
      <p:sp>
        <p:nvSpPr>
          <p:cNvPr id="18" name="Text 15"/>
          <p:cNvSpPr txBox="1"/>
          <p:nvPr/>
        </p:nvSpPr>
        <p:spPr>
          <a:xfrm>
            <a:off x="7132320" y="2029968"/>
            <a:ext cx="4480560" cy="548640"/>
          </a:xfrm>
          <a:prstGeom prst="rect">
            <a:avLst/>
          </a:prstGeom>
          <a:noFill/>
          <a:ln/>
        </p:spPr>
        <p:txBody>
          <a:bodyPr wrap="square" lIns="0" tIns="0" rIns="0" bIns="0" rtlCol="0" anchor="ctr"/>
          <a:lstStyle/>
          <a:p>
            <a:pPr indent="0" marL="0">
              <a:buNone/>
            </a:pPr>
            <a:r>
              <a:rPr lang="en-US" sz="1500" dirty="0">
                <a:solidFill>
                  <a:schemeClr val="tx1"/>
                </a:solidFill>
                <a:latin typeface="Ebrima" pitchFamily="34" charset="0"/>
                <a:ea typeface="Ebrima" pitchFamily="34" charset="-122"/>
                <a:cs typeface="Ebrima" pitchFamily="34" charset="-120"/>
              </a:rPr>
              <a:t>አንድ አባል — አንድ የታመነ ስልክ</a:t>
            </a:r>
            <a:endParaRPr lang="en-US" sz="1500" dirty="0"/>
          </a:p>
        </p:txBody>
      </p:sp>
      <p:sp>
        <p:nvSpPr>
          <p:cNvPr id="19" name="Shape 16"/>
          <p:cNvSpPr/>
          <p:nvPr/>
        </p:nvSpPr>
        <p:spPr>
          <a:xfrm>
            <a:off x="6400800" y="2834640"/>
            <a:ext cx="548640" cy="548640"/>
          </a:xfrm>
          <a:prstGeom prst="ellipse">
            <a:avLst/>
          </a:prstGeom>
          <a:solidFill>
            <a:schemeClr val="accent2"/>
          </a:solidFill>
          <a:ln/>
        </p:spPr>
      </p:sp>
      <p:pic>
        <p:nvPicPr>
          <p:cNvPr id="20" name="Image 1" descr="preencoded.png">    </p:cNvPr>
          <p:cNvPicPr>
            <a:picLocks noChangeAspect="1"/>
          </p:cNvPicPr>
          <p:nvPr/>
        </p:nvPicPr>
        <p:blipFill>
          <a:blip r:embed="rId2"/>
          <a:stretch>
            <a:fillRect/>
          </a:stretch>
        </p:blipFill>
        <p:spPr>
          <a:xfrm>
            <a:off x="6532474" y="2966314"/>
            <a:ext cx="285293" cy="285293"/>
          </a:xfrm>
          <a:prstGeom prst="rect">
            <a:avLst/>
          </a:prstGeom>
        </p:spPr>
      </p:pic>
      <p:sp>
        <p:nvSpPr>
          <p:cNvPr id="21" name="Text 17"/>
          <p:cNvSpPr txBox="1"/>
          <p:nvPr/>
        </p:nvSpPr>
        <p:spPr>
          <a:xfrm>
            <a:off x="7132320" y="2852928"/>
            <a:ext cx="4480560" cy="548640"/>
          </a:xfrm>
          <a:prstGeom prst="rect">
            <a:avLst/>
          </a:prstGeom>
          <a:noFill/>
          <a:ln/>
        </p:spPr>
        <p:txBody>
          <a:bodyPr wrap="square" lIns="0" tIns="0" rIns="0" bIns="0" rtlCol="0" anchor="ctr"/>
          <a:lstStyle/>
          <a:p>
            <a:pPr indent="0" marL="0">
              <a:buNone/>
            </a:pPr>
            <a:r>
              <a:rPr lang="en-US" sz="1500" dirty="0">
                <a:solidFill>
                  <a:schemeClr val="tx1"/>
                </a:solidFill>
                <a:latin typeface="Ebrima" pitchFamily="34" charset="0"/>
                <a:ea typeface="Ebrima" pitchFamily="34" charset="-122"/>
                <a:cs typeface="Ebrima" pitchFamily="34" charset="-120"/>
              </a:rPr>
              <a:t>5 የተሳሳቱ ሙከራዎች → ለ15 ደቂቃ ይቆለፋል</a:t>
            </a:r>
            <a:endParaRPr lang="en-US" sz="1500" dirty="0"/>
          </a:p>
        </p:txBody>
      </p:sp>
      <p:sp>
        <p:nvSpPr>
          <p:cNvPr id="22" name="Shape 18"/>
          <p:cNvSpPr/>
          <p:nvPr/>
        </p:nvSpPr>
        <p:spPr>
          <a:xfrm>
            <a:off x="6400800" y="3657600"/>
            <a:ext cx="548640" cy="548640"/>
          </a:xfrm>
          <a:prstGeom prst="ellipse">
            <a:avLst/>
          </a:prstGeom>
          <a:solidFill>
            <a:schemeClr val="accent2"/>
          </a:solidFill>
          <a:ln/>
        </p:spPr>
      </p:sp>
      <p:pic>
        <p:nvPicPr>
          <p:cNvPr id="23" name="Image 2" descr="preencoded.png">    </p:cNvPr>
          <p:cNvPicPr>
            <a:picLocks noChangeAspect="1"/>
          </p:cNvPicPr>
          <p:nvPr/>
        </p:nvPicPr>
        <p:blipFill>
          <a:blip r:embed="rId3"/>
          <a:stretch>
            <a:fillRect/>
          </a:stretch>
        </p:blipFill>
        <p:spPr>
          <a:xfrm>
            <a:off x="6532474" y="3789274"/>
            <a:ext cx="285293" cy="285293"/>
          </a:xfrm>
          <a:prstGeom prst="rect">
            <a:avLst/>
          </a:prstGeom>
        </p:spPr>
      </p:pic>
      <p:sp>
        <p:nvSpPr>
          <p:cNvPr id="24" name="Text 19"/>
          <p:cNvSpPr txBox="1"/>
          <p:nvPr/>
        </p:nvSpPr>
        <p:spPr>
          <a:xfrm>
            <a:off x="7132320" y="3675888"/>
            <a:ext cx="4480560" cy="548640"/>
          </a:xfrm>
          <a:prstGeom prst="rect">
            <a:avLst/>
          </a:prstGeom>
          <a:noFill/>
          <a:ln/>
        </p:spPr>
        <p:txBody>
          <a:bodyPr wrap="square" lIns="0" tIns="0" rIns="0" bIns="0" rtlCol="0" anchor="ctr"/>
          <a:lstStyle/>
          <a:p>
            <a:pPr indent="0" marL="0">
              <a:buNone/>
            </a:pPr>
            <a:r>
              <a:rPr lang="en-US" sz="1500" dirty="0">
                <a:solidFill>
                  <a:schemeClr val="tx1"/>
                </a:solidFill>
                <a:latin typeface="Ebrima" pitchFamily="34" charset="0"/>
                <a:ea typeface="Ebrima" pitchFamily="34" charset="-122"/>
                <a:cs typeface="Ebrima" pitchFamily="34" charset="-120"/>
              </a:rPr>
              <a:t>ፒን ከተረሳ ኮድ በቴሌግራም ወይም በኢሜይል</a:t>
            </a:r>
            <a:endParaRPr lang="en-US" sz="1500" dirty="0"/>
          </a:p>
        </p:txBody>
      </p:sp>
      <p:sp>
        <p:nvSpPr>
          <p:cNvPr id="25" name="Shape 20"/>
          <p:cNvSpPr/>
          <p:nvPr/>
        </p:nvSpPr>
        <p:spPr>
          <a:xfrm>
            <a:off x="6400800" y="4480560"/>
            <a:ext cx="548640" cy="548640"/>
          </a:xfrm>
          <a:prstGeom prst="ellipse">
            <a:avLst/>
          </a:prstGeom>
          <a:solidFill>
            <a:schemeClr val="accent2"/>
          </a:solidFill>
          <a:ln/>
        </p:spPr>
      </p:sp>
      <p:pic>
        <p:nvPicPr>
          <p:cNvPr id="26" name="Image 3" descr="preencoded.png">    </p:cNvPr>
          <p:cNvPicPr>
            <a:picLocks noChangeAspect="1"/>
          </p:cNvPicPr>
          <p:nvPr/>
        </p:nvPicPr>
        <p:blipFill>
          <a:blip r:embed="rId4"/>
          <a:stretch>
            <a:fillRect/>
          </a:stretch>
        </p:blipFill>
        <p:spPr>
          <a:xfrm>
            <a:off x="6532474" y="4612234"/>
            <a:ext cx="285293" cy="285293"/>
          </a:xfrm>
          <a:prstGeom prst="rect">
            <a:avLst/>
          </a:prstGeom>
        </p:spPr>
      </p:pic>
      <p:sp>
        <p:nvSpPr>
          <p:cNvPr id="27" name="Text 21"/>
          <p:cNvSpPr txBox="1"/>
          <p:nvPr/>
        </p:nvSpPr>
        <p:spPr>
          <a:xfrm>
            <a:off x="7132320" y="4498848"/>
            <a:ext cx="4480560" cy="548640"/>
          </a:xfrm>
          <a:prstGeom prst="rect">
            <a:avLst/>
          </a:prstGeom>
          <a:noFill/>
          <a:ln/>
        </p:spPr>
        <p:txBody>
          <a:bodyPr wrap="square" lIns="0" tIns="0" rIns="0" bIns="0" rtlCol="0" anchor="ctr"/>
          <a:lstStyle/>
          <a:p>
            <a:pPr indent="0" marL="0">
              <a:buNone/>
            </a:pPr>
            <a:r>
              <a:rPr lang="en-US" sz="1500" dirty="0">
                <a:solidFill>
                  <a:schemeClr val="tx1"/>
                </a:solidFill>
                <a:latin typeface="Ebrima" pitchFamily="34" charset="0"/>
                <a:ea typeface="Ebrima" pitchFamily="34" charset="-122"/>
                <a:cs typeface="Ebrima" pitchFamily="34" charset="-120"/>
              </a:rPr>
              <a:t>የግል ገጾችን ስክሪንሾት ማንሳት አይቻልም</a:t>
            </a:r>
            <a:endParaRPr lang="en-US" sz="1500" dirty="0"/>
          </a:p>
        </p:txBody>
      </p:sp>
      <p:sp>
        <p:nvSpPr>
          <p:cNvPr id="28" name="Shape 22"/>
          <p:cNvSpPr/>
          <p:nvPr/>
        </p:nvSpPr>
        <p:spPr>
          <a:xfrm>
            <a:off x="6400800" y="5303520"/>
            <a:ext cx="548640" cy="548640"/>
          </a:xfrm>
          <a:prstGeom prst="ellipse">
            <a:avLst/>
          </a:prstGeom>
          <a:solidFill>
            <a:schemeClr val="accent2"/>
          </a:solidFill>
          <a:ln/>
        </p:spPr>
      </p:sp>
      <p:pic>
        <p:nvPicPr>
          <p:cNvPr id="29" name="Image 4" descr="preencoded.png">    </p:cNvPr>
          <p:cNvPicPr>
            <a:picLocks noChangeAspect="1"/>
          </p:cNvPicPr>
          <p:nvPr/>
        </p:nvPicPr>
        <p:blipFill>
          <a:blip r:embed="rId5"/>
          <a:stretch>
            <a:fillRect/>
          </a:stretch>
        </p:blipFill>
        <p:spPr>
          <a:xfrm>
            <a:off x="6532474" y="5435194"/>
            <a:ext cx="285293" cy="285293"/>
          </a:xfrm>
          <a:prstGeom prst="rect">
            <a:avLst/>
          </a:prstGeom>
        </p:spPr>
      </p:pic>
      <p:sp>
        <p:nvSpPr>
          <p:cNvPr id="30" name="Text 23"/>
          <p:cNvSpPr txBox="1"/>
          <p:nvPr/>
        </p:nvSpPr>
        <p:spPr>
          <a:xfrm>
            <a:off x="7132320" y="5321808"/>
            <a:ext cx="4480560" cy="548640"/>
          </a:xfrm>
          <a:prstGeom prst="rect">
            <a:avLst/>
          </a:prstGeom>
          <a:noFill/>
          <a:ln/>
        </p:spPr>
        <p:txBody>
          <a:bodyPr wrap="square" lIns="0" tIns="0" rIns="0" bIns="0" rtlCol="0" anchor="ctr"/>
          <a:lstStyle/>
          <a:p>
            <a:pPr indent="0" marL="0">
              <a:buNone/>
            </a:pPr>
            <a:r>
              <a:rPr lang="en-US" sz="1500" dirty="0">
                <a:solidFill>
                  <a:schemeClr val="tx1"/>
                </a:solidFill>
                <a:latin typeface="Ebrima" pitchFamily="34" charset="0"/>
                <a:ea typeface="Ebrima" pitchFamily="34" charset="-122"/>
                <a:cs typeface="Ebrima" pitchFamily="34" charset="-120"/>
              </a:rPr>
              <a:t>የገቡባቸውን ስልኮች ማየትና ማቋረጥ</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Ebrima"/>
                <a:ea typeface="Ebrima"/>
                <a:cs typeface="Ebrima"/>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0241280" cy="777240"/>
          </a:xfrm>
          <a:prstGeom prst="rect">
            <a:avLst/>
          </a:prstGeom>
          <a:noFill/>
          <a:ln/>
        </p:spPr>
        <p:txBody>
          <a:bodyPr wrap="square" lIns="0" tIns="0" rIns="0" bIns="0" rtlCol="0" anchor="ctr"/>
          <a:lstStyle/>
          <a:p>
            <a:pPr algn="l" indent="0" marL="0">
              <a:buNone/>
            </a:pPr>
            <a:r>
              <a:rPr lang="en-US" sz="3400" dirty="0">
                <a:solidFill>
                  <a:schemeClr val="accent1"/>
                </a:solidFill>
                <a:latin typeface="Nyala" pitchFamily="34" charset="0"/>
                <a:ea typeface="Nyala" pitchFamily="34" charset="-122"/>
                <a:cs typeface="Nyala" pitchFamily="34" charset="-120"/>
              </a:rPr>
              <a:t>ፕሮግራሞችና ዝግጅቶች</a:t>
            </a:r>
            <a:endParaRPr lang="en-US" sz="3400" dirty="0"/>
          </a:p>
        </p:txBody>
      </p:sp>
      <p:sp>
        <p:nvSpPr>
          <p:cNvPr id="3" name="Text 1"/>
          <p:cNvSpPr txBox="1"/>
          <p:nvPr/>
        </p:nvSpPr>
        <p:spPr>
          <a:xfrm>
            <a:off x="548640" y="1325880"/>
            <a:ext cx="5486400" cy="365760"/>
          </a:xfrm>
          <a:prstGeom prst="rect">
            <a:avLst/>
          </a:prstGeom>
          <a:noFill/>
          <a:ln/>
        </p:spPr>
        <p:txBody>
          <a:bodyPr wrap="square" lIns="0" tIns="0" rIns="0" bIns="0" rtlCol="0" anchor="t"/>
          <a:lstStyle/>
          <a:p>
            <a:pPr indent="0" marL="0">
              <a:buNone/>
            </a:pPr>
            <a:r>
              <a:rPr lang="en-US" sz="1600" b="1" dirty="0">
                <a:solidFill>
                  <a:schemeClr val="accent1"/>
                </a:solidFill>
                <a:latin typeface="Ebrima" pitchFamily="34" charset="0"/>
                <a:ea typeface="Ebrima" pitchFamily="34" charset="-122"/>
                <a:cs typeface="Ebrima" pitchFamily="34" charset="-120"/>
              </a:rPr>
              <a:t>የድግግሞሽ ዓይነቶች</a:t>
            </a:r>
            <a:endParaRPr lang="en-US" sz="1600" dirty="0"/>
          </a:p>
        </p:txBody>
      </p:sp>
      <p:sp>
        <p:nvSpPr>
          <p:cNvPr id="4" name="Shape 2"/>
          <p:cNvSpPr/>
          <p:nvPr/>
        </p:nvSpPr>
        <p:spPr>
          <a:xfrm>
            <a:off x="548640" y="1783080"/>
            <a:ext cx="2057400" cy="1051560"/>
          </a:xfrm>
          <a:prstGeom prst="roundRect">
            <a:avLst>
              <a:gd name="adj" fmla="val 10435"/>
            </a:avLst>
          </a:prstGeom>
          <a:solidFill>
            <a:schemeClr val="bg2">
              <a:alpha val="60000"/>
            </a:schemeClr>
          </a:solidFill>
          <a:ln/>
        </p:spPr>
      </p:sp>
      <p:sp>
        <p:nvSpPr>
          <p:cNvPr id="5" name="Text 3"/>
          <p:cNvSpPr txBox="1"/>
          <p:nvPr/>
        </p:nvSpPr>
        <p:spPr>
          <a:xfrm>
            <a:off x="685800" y="1874520"/>
            <a:ext cx="1783080" cy="411480"/>
          </a:xfrm>
          <a:prstGeom prst="rect">
            <a:avLst/>
          </a:prstGeom>
          <a:noFill/>
          <a:ln/>
        </p:spPr>
        <p:txBody>
          <a:bodyPr wrap="square" lIns="0" tIns="0" rIns="0" bIns="0" rtlCol="0" anchor="t"/>
          <a:lstStyle/>
          <a:p>
            <a:pPr algn="ctr" indent="0" marL="0">
              <a:buNone/>
            </a:pPr>
            <a:r>
              <a:rPr lang="en-US" sz="1600" b="1" dirty="0">
                <a:solidFill>
                  <a:schemeClr val="accent1"/>
                </a:solidFill>
                <a:latin typeface="Ebrima" pitchFamily="34" charset="0"/>
                <a:ea typeface="Ebrima" pitchFamily="34" charset="-122"/>
                <a:cs typeface="Ebrima" pitchFamily="34" charset="-120"/>
              </a:rPr>
              <a:t>አንድ ጊዜ</a:t>
            </a:r>
            <a:endParaRPr lang="en-US" sz="1600" dirty="0"/>
          </a:p>
        </p:txBody>
      </p:sp>
      <p:sp>
        <p:nvSpPr>
          <p:cNvPr id="6" name="Text 4"/>
          <p:cNvSpPr txBox="1"/>
          <p:nvPr/>
        </p:nvSpPr>
        <p:spPr>
          <a:xfrm>
            <a:off x="685800" y="2304288"/>
            <a:ext cx="1783080" cy="411480"/>
          </a:xfrm>
          <a:prstGeom prst="rect">
            <a:avLst/>
          </a:prstGeom>
          <a:noFill/>
          <a:ln/>
        </p:spPr>
        <p:txBody>
          <a:bodyPr wrap="square" lIns="0" tIns="0" rIns="0" bIns="0" rtlCol="0" anchor="t"/>
          <a:lstStyle/>
          <a:p>
            <a:pPr algn="ctr" indent="0" marL="0">
              <a:buNone/>
            </a:pPr>
            <a:r>
              <a:rPr lang="en-US" sz="1250" dirty="0">
                <a:solidFill>
                  <a:schemeClr val="tx1"/>
                </a:solidFill>
                <a:latin typeface="Ebrima" pitchFamily="34" charset="0"/>
                <a:ea typeface="Ebrima" pitchFamily="34" charset="-122"/>
                <a:cs typeface="Ebrima" pitchFamily="34" charset="-120"/>
              </a:rPr>
              <a:t>ልዩ ዝግጅት</a:t>
            </a:r>
            <a:endParaRPr lang="en-US" sz="1250" dirty="0"/>
          </a:p>
        </p:txBody>
      </p:sp>
      <p:sp>
        <p:nvSpPr>
          <p:cNvPr id="7" name="Shape 5"/>
          <p:cNvSpPr/>
          <p:nvPr/>
        </p:nvSpPr>
        <p:spPr>
          <a:xfrm>
            <a:off x="2788920" y="1783080"/>
            <a:ext cx="2057400" cy="1051560"/>
          </a:xfrm>
          <a:prstGeom prst="roundRect">
            <a:avLst>
              <a:gd name="adj" fmla="val 10435"/>
            </a:avLst>
          </a:prstGeom>
          <a:solidFill>
            <a:schemeClr val="bg2">
              <a:alpha val="60000"/>
            </a:schemeClr>
          </a:solidFill>
          <a:ln/>
        </p:spPr>
      </p:sp>
      <p:sp>
        <p:nvSpPr>
          <p:cNvPr id="8" name="Text 6"/>
          <p:cNvSpPr txBox="1"/>
          <p:nvPr/>
        </p:nvSpPr>
        <p:spPr>
          <a:xfrm>
            <a:off x="2926080" y="1874520"/>
            <a:ext cx="1783080" cy="411480"/>
          </a:xfrm>
          <a:prstGeom prst="rect">
            <a:avLst/>
          </a:prstGeom>
          <a:noFill/>
          <a:ln/>
        </p:spPr>
        <p:txBody>
          <a:bodyPr wrap="square" lIns="0" tIns="0" rIns="0" bIns="0" rtlCol="0" anchor="t"/>
          <a:lstStyle/>
          <a:p>
            <a:pPr algn="ctr" indent="0" marL="0">
              <a:buNone/>
            </a:pPr>
            <a:r>
              <a:rPr lang="en-US" sz="1600" b="1" dirty="0">
                <a:solidFill>
                  <a:schemeClr val="accent1"/>
                </a:solidFill>
                <a:latin typeface="Ebrima" pitchFamily="34" charset="0"/>
                <a:ea typeface="Ebrima" pitchFamily="34" charset="-122"/>
                <a:cs typeface="Ebrima" pitchFamily="34" charset="-120"/>
              </a:rPr>
              <a:t>ሳምንታዊ</a:t>
            </a:r>
            <a:endParaRPr lang="en-US" sz="1600" dirty="0"/>
          </a:p>
        </p:txBody>
      </p:sp>
      <p:sp>
        <p:nvSpPr>
          <p:cNvPr id="9" name="Text 7"/>
          <p:cNvSpPr txBox="1"/>
          <p:nvPr/>
        </p:nvSpPr>
        <p:spPr>
          <a:xfrm>
            <a:off x="2926080" y="2304288"/>
            <a:ext cx="1783080" cy="411480"/>
          </a:xfrm>
          <a:prstGeom prst="rect">
            <a:avLst/>
          </a:prstGeom>
          <a:noFill/>
          <a:ln/>
        </p:spPr>
        <p:txBody>
          <a:bodyPr wrap="square" lIns="0" tIns="0" rIns="0" bIns="0" rtlCol="0" anchor="t"/>
          <a:lstStyle/>
          <a:p>
            <a:pPr algn="ctr" indent="0" marL="0">
              <a:buNone/>
            </a:pPr>
            <a:r>
              <a:rPr lang="en-US" sz="1250" dirty="0">
                <a:solidFill>
                  <a:schemeClr val="tx1"/>
                </a:solidFill>
                <a:latin typeface="Ebrima" pitchFamily="34" charset="0"/>
                <a:ea typeface="Ebrima" pitchFamily="34" charset="-122"/>
                <a:cs typeface="Ebrima" pitchFamily="34" charset="-120"/>
              </a:rPr>
              <a:t>ለምሳሌ የእሑድ ትምህርት</a:t>
            </a:r>
            <a:endParaRPr lang="en-US" sz="1250" dirty="0"/>
          </a:p>
        </p:txBody>
      </p:sp>
      <p:sp>
        <p:nvSpPr>
          <p:cNvPr id="10" name="Shape 8"/>
          <p:cNvSpPr/>
          <p:nvPr/>
        </p:nvSpPr>
        <p:spPr>
          <a:xfrm>
            <a:off x="5029200" y="1783080"/>
            <a:ext cx="2057400" cy="1051560"/>
          </a:xfrm>
          <a:prstGeom prst="roundRect">
            <a:avLst>
              <a:gd name="adj" fmla="val 10435"/>
            </a:avLst>
          </a:prstGeom>
          <a:solidFill>
            <a:schemeClr val="bg2">
              <a:alpha val="60000"/>
            </a:schemeClr>
          </a:solidFill>
          <a:ln/>
        </p:spPr>
      </p:sp>
      <p:sp>
        <p:nvSpPr>
          <p:cNvPr id="11" name="Text 9"/>
          <p:cNvSpPr txBox="1"/>
          <p:nvPr/>
        </p:nvSpPr>
        <p:spPr>
          <a:xfrm>
            <a:off x="5166360" y="1874520"/>
            <a:ext cx="1783080" cy="411480"/>
          </a:xfrm>
          <a:prstGeom prst="rect">
            <a:avLst/>
          </a:prstGeom>
          <a:noFill/>
          <a:ln/>
        </p:spPr>
        <p:txBody>
          <a:bodyPr wrap="square" lIns="0" tIns="0" rIns="0" bIns="0" rtlCol="0" anchor="t"/>
          <a:lstStyle/>
          <a:p>
            <a:pPr algn="ctr" indent="0" marL="0">
              <a:buNone/>
            </a:pPr>
            <a:r>
              <a:rPr lang="en-US" sz="1600" b="1" dirty="0">
                <a:solidFill>
                  <a:schemeClr val="accent1"/>
                </a:solidFill>
                <a:latin typeface="Ebrima" pitchFamily="34" charset="0"/>
                <a:ea typeface="Ebrima" pitchFamily="34" charset="-122"/>
                <a:cs typeface="Ebrima" pitchFamily="34" charset="-120"/>
              </a:rPr>
              <a:t>ወርሃዊ</a:t>
            </a:r>
            <a:endParaRPr lang="en-US" sz="1600" dirty="0"/>
          </a:p>
        </p:txBody>
      </p:sp>
      <p:sp>
        <p:nvSpPr>
          <p:cNvPr id="12" name="Text 10"/>
          <p:cNvSpPr txBox="1"/>
          <p:nvPr/>
        </p:nvSpPr>
        <p:spPr>
          <a:xfrm>
            <a:off x="5166360" y="2304288"/>
            <a:ext cx="1783080" cy="411480"/>
          </a:xfrm>
          <a:prstGeom prst="rect">
            <a:avLst/>
          </a:prstGeom>
          <a:noFill/>
          <a:ln/>
        </p:spPr>
        <p:txBody>
          <a:bodyPr wrap="square" lIns="0" tIns="0" rIns="0" bIns="0" rtlCol="0" anchor="t"/>
          <a:lstStyle/>
          <a:p>
            <a:pPr algn="ctr" indent="0" marL="0">
              <a:buNone/>
            </a:pPr>
            <a:r>
              <a:rPr lang="en-US" sz="1250" dirty="0">
                <a:solidFill>
                  <a:schemeClr val="tx1"/>
                </a:solidFill>
                <a:latin typeface="Ebrima" pitchFamily="34" charset="0"/>
                <a:ea typeface="Ebrima" pitchFamily="34" charset="-122"/>
                <a:cs typeface="Ebrima" pitchFamily="34" charset="-120"/>
              </a:rPr>
              <a:t>በቀን ወይም በሳምንቱ ቀን</a:t>
            </a:r>
            <a:endParaRPr lang="en-US" sz="1250" dirty="0"/>
          </a:p>
        </p:txBody>
      </p:sp>
      <p:sp>
        <p:nvSpPr>
          <p:cNvPr id="13" name="Shape 11"/>
          <p:cNvSpPr/>
          <p:nvPr/>
        </p:nvSpPr>
        <p:spPr>
          <a:xfrm>
            <a:off x="7269480" y="1783080"/>
            <a:ext cx="2057400" cy="1051560"/>
          </a:xfrm>
          <a:prstGeom prst="roundRect">
            <a:avLst>
              <a:gd name="adj" fmla="val 10435"/>
            </a:avLst>
          </a:prstGeom>
          <a:solidFill>
            <a:schemeClr val="bg2">
              <a:alpha val="60000"/>
            </a:schemeClr>
          </a:solidFill>
          <a:ln/>
        </p:spPr>
      </p:sp>
      <p:sp>
        <p:nvSpPr>
          <p:cNvPr id="14" name="Text 12"/>
          <p:cNvSpPr txBox="1"/>
          <p:nvPr/>
        </p:nvSpPr>
        <p:spPr>
          <a:xfrm>
            <a:off x="7406640" y="1874520"/>
            <a:ext cx="1783080" cy="411480"/>
          </a:xfrm>
          <a:prstGeom prst="rect">
            <a:avLst/>
          </a:prstGeom>
          <a:noFill/>
          <a:ln/>
        </p:spPr>
        <p:txBody>
          <a:bodyPr wrap="square" lIns="0" tIns="0" rIns="0" bIns="0" rtlCol="0" anchor="t"/>
          <a:lstStyle/>
          <a:p>
            <a:pPr algn="ctr" indent="0" marL="0">
              <a:buNone/>
            </a:pPr>
            <a:r>
              <a:rPr lang="en-US" sz="1600" b="1" dirty="0">
                <a:solidFill>
                  <a:schemeClr val="accent1"/>
                </a:solidFill>
                <a:latin typeface="Ebrima" pitchFamily="34" charset="0"/>
                <a:ea typeface="Ebrima" pitchFamily="34" charset="-122"/>
                <a:cs typeface="Ebrima" pitchFamily="34" charset="-120"/>
              </a:rPr>
              <a:t>በወር 2 ጊዜ</a:t>
            </a:r>
            <a:endParaRPr lang="en-US" sz="1600" dirty="0"/>
          </a:p>
        </p:txBody>
      </p:sp>
      <p:sp>
        <p:nvSpPr>
          <p:cNvPr id="15" name="Text 13"/>
          <p:cNvSpPr txBox="1"/>
          <p:nvPr/>
        </p:nvSpPr>
        <p:spPr>
          <a:xfrm>
            <a:off x="7406640" y="2304288"/>
            <a:ext cx="1783080" cy="411480"/>
          </a:xfrm>
          <a:prstGeom prst="rect">
            <a:avLst/>
          </a:prstGeom>
          <a:noFill/>
          <a:ln/>
        </p:spPr>
        <p:txBody>
          <a:bodyPr wrap="square" lIns="0" tIns="0" rIns="0" bIns="0" rtlCol="0" anchor="t"/>
          <a:lstStyle/>
          <a:p>
            <a:pPr algn="ctr" indent="0" marL="0">
              <a:buNone/>
            </a:pPr>
            <a:r>
              <a:rPr lang="en-US" sz="1250" dirty="0">
                <a:solidFill>
                  <a:schemeClr val="tx1"/>
                </a:solidFill>
                <a:latin typeface="Ebrima" pitchFamily="34" charset="0"/>
                <a:ea typeface="Ebrima" pitchFamily="34" charset="-122"/>
                <a:cs typeface="Ebrima" pitchFamily="34" charset="-120"/>
              </a:rPr>
              <a:t>በየ2 ሳምንቱ</a:t>
            </a:r>
            <a:endParaRPr lang="en-US" sz="1250" dirty="0"/>
          </a:p>
        </p:txBody>
      </p:sp>
      <p:sp>
        <p:nvSpPr>
          <p:cNvPr id="16" name="Shape 14"/>
          <p:cNvSpPr/>
          <p:nvPr/>
        </p:nvSpPr>
        <p:spPr>
          <a:xfrm>
            <a:off x="9509760" y="1783080"/>
            <a:ext cx="2057400" cy="1051560"/>
          </a:xfrm>
          <a:prstGeom prst="roundRect">
            <a:avLst>
              <a:gd name="adj" fmla="val 10435"/>
            </a:avLst>
          </a:prstGeom>
          <a:solidFill>
            <a:schemeClr val="accent1"/>
          </a:solidFill>
          <a:ln/>
        </p:spPr>
      </p:sp>
      <p:sp>
        <p:nvSpPr>
          <p:cNvPr id="17" name="Text 15"/>
          <p:cNvSpPr txBox="1"/>
          <p:nvPr/>
        </p:nvSpPr>
        <p:spPr>
          <a:xfrm>
            <a:off x="9646920" y="1874520"/>
            <a:ext cx="1783080" cy="411480"/>
          </a:xfrm>
          <a:prstGeom prst="rect">
            <a:avLst/>
          </a:prstGeom>
          <a:noFill/>
          <a:ln/>
        </p:spPr>
        <p:txBody>
          <a:bodyPr wrap="square" lIns="0" tIns="0" rIns="0" bIns="0" rtlCol="0" anchor="t"/>
          <a:lstStyle/>
          <a:p>
            <a:pPr algn="ctr" indent="0" marL="0">
              <a:buNone/>
            </a:pPr>
            <a:r>
              <a:rPr lang="en-US" sz="1600" b="1" dirty="0">
                <a:solidFill>
                  <a:schemeClr val="accent2"/>
                </a:solidFill>
                <a:latin typeface="Ebrima" pitchFamily="34" charset="0"/>
                <a:ea typeface="Ebrima" pitchFamily="34" charset="-122"/>
                <a:cs typeface="Ebrima" pitchFamily="34" charset="-120"/>
              </a:rPr>
              <a:t>በኢትዮጵያ ቀናት</a:t>
            </a:r>
            <a:endParaRPr lang="en-US" sz="1600" dirty="0"/>
          </a:p>
        </p:txBody>
      </p:sp>
      <p:sp>
        <p:nvSpPr>
          <p:cNvPr id="18" name="Text 16"/>
          <p:cNvSpPr txBox="1"/>
          <p:nvPr/>
        </p:nvSpPr>
        <p:spPr>
          <a:xfrm>
            <a:off x="9646920" y="2304288"/>
            <a:ext cx="1783080" cy="411480"/>
          </a:xfrm>
          <a:prstGeom prst="rect">
            <a:avLst/>
          </a:prstGeom>
          <a:noFill/>
          <a:ln/>
        </p:spPr>
        <p:txBody>
          <a:bodyPr wrap="square" lIns="0" tIns="0" rIns="0" bIns="0" rtlCol="0" anchor="t"/>
          <a:lstStyle/>
          <a:p>
            <a:pPr algn="ctr" indent="0" marL="0">
              <a:buNone/>
            </a:pPr>
            <a:r>
              <a:rPr lang="en-US" sz="1250" dirty="0">
                <a:solidFill>
                  <a:schemeClr val="bg1"/>
                </a:solidFill>
                <a:latin typeface="Ebrima" pitchFamily="34" charset="0"/>
                <a:ea typeface="Ebrima" pitchFamily="34" charset="-122"/>
                <a:cs typeface="Ebrima" pitchFamily="34" charset="-120"/>
              </a:rPr>
              <a:t>ለምሳሌ የወር በዓላት</a:t>
            </a:r>
            <a:endParaRPr lang="en-US" sz="1250" dirty="0"/>
          </a:p>
        </p:txBody>
      </p:sp>
      <p:sp>
        <p:nvSpPr>
          <p:cNvPr id="19" name="Shape 17"/>
          <p:cNvSpPr/>
          <p:nvPr/>
        </p:nvSpPr>
        <p:spPr>
          <a:xfrm>
            <a:off x="548640" y="3200400"/>
            <a:ext cx="566928" cy="566928"/>
          </a:xfrm>
          <a:prstGeom prst="ellipse">
            <a:avLst/>
          </a:prstGeom>
          <a:solidFill>
            <a:schemeClr val="accent1"/>
          </a:solidFill>
          <a:ln/>
        </p:spPr>
      </p:sp>
      <p:pic>
        <p:nvPicPr>
          <p:cNvPr id="20" name="Image 0" descr="preencoded.png">    </p:cNvPr>
          <p:cNvPicPr>
            <a:picLocks noChangeAspect="1"/>
          </p:cNvPicPr>
          <p:nvPr/>
        </p:nvPicPr>
        <p:blipFill>
          <a:blip r:embed="rId1"/>
          <a:stretch>
            <a:fillRect/>
          </a:stretch>
        </p:blipFill>
        <p:spPr>
          <a:xfrm>
            <a:off x="684703" y="3336463"/>
            <a:ext cx="294803" cy="294803"/>
          </a:xfrm>
          <a:prstGeom prst="rect">
            <a:avLst/>
          </a:prstGeom>
        </p:spPr>
      </p:pic>
      <p:sp>
        <p:nvSpPr>
          <p:cNvPr id="21" name="Text 18"/>
          <p:cNvSpPr txBox="1"/>
          <p:nvPr/>
        </p:nvSpPr>
        <p:spPr>
          <a:xfrm>
            <a:off x="1280160" y="3200400"/>
            <a:ext cx="4754880" cy="603504"/>
          </a:xfrm>
          <a:prstGeom prst="rect">
            <a:avLst/>
          </a:prstGeom>
          <a:noFill/>
          <a:ln/>
        </p:spPr>
        <p:txBody>
          <a:bodyPr wrap="square" lIns="0" tIns="0" rIns="0" bIns="0" rtlCol="0" anchor="ctr"/>
          <a:lstStyle/>
          <a:p>
            <a:pPr indent="0" marL="0">
              <a:buNone/>
            </a:pPr>
            <a:r>
              <a:rPr lang="en-US" sz="1450" dirty="0">
                <a:solidFill>
                  <a:schemeClr val="tx1"/>
                </a:solidFill>
                <a:latin typeface="Ebrima" pitchFamily="34" charset="0"/>
                <a:ea typeface="Ebrima" pitchFamily="34" charset="-122"/>
                <a:cs typeface="Ebrima" pitchFamily="34" charset="-120"/>
              </a:rPr>
              <a:t>ለሁሉም አባላት ወይም ለተጋበዙ ብቻ፤ ምዝገባና የቦታ ገደብ</a:t>
            </a:r>
            <a:endParaRPr lang="en-US" sz="1450" dirty="0"/>
          </a:p>
        </p:txBody>
      </p:sp>
      <p:sp>
        <p:nvSpPr>
          <p:cNvPr id="22" name="Shape 19"/>
          <p:cNvSpPr/>
          <p:nvPr/>
        </p:nvSpPr>
        <p:spPr>
          <a:xfrm>
            <a:off x="6172200" y="3200400"/>
            <a:ext cx="566928" cy="566928"/>
          </a:xfrm>
          <a:prstGeom prst="ellipse">
            <a:avLst/>
          </a:prstGeom>
          <a:solidFill>
            <a:schemeClr val="accent2"/>
          </a:solidFill>
          <a:ln/>
        </p:spPr>
      </p:sp>
      <p:pic>
        <p:nvPicPr>
          <p:cNvPr id="23" name="Image 1" descr="preencoded.png">    </p:cNvPr>
          <p:cNvPicPr>
            <a:picLocks noChangeAspect="1"/>
          </p:cNvPicPr>
          <p:nvPr/>
        </p:nvPicPr>
        <p:blipFill>
          <a:blip r:embed="rId2"/>
          <a:stretch>
            <a:fillRect/>
          </a:stretch>
        </p:blipFill>
        <p:spPr>
          <a:xfrm>
            <a:off x="6308263" y="3336463"/>
            <a:ext cx="294803" cy="294803"/>
          </a:xfrm>
          <a:prstGeom prst="rect">
            <a:avLst/>
          </a:prstGeom>
        </p:spPr>
      </p:pic>
      <p:sp>
        <p:nvSpPr>
          <p:cNvPr id="24" name="Text 20"/>
          <p:cNvSpPr txBox="1"/>
          <p:nvPr/>
        </p:nvSpPr>
        <p:spPr>
          <a:xfrm>
            <a:off x="6903720" y="3200400"/>
            <a:ext cx="4754880" cy="603504"/>
          </a:xfrm>
          <a:prstGeom prst="rect">
            <a:avLst/>
          </a:prstGeom>
          <a:noFill/>
          <a:ln/>
        </p:spPr>
        <p:txBody>
          <a:bodyPr wrap="square" lIns="0" tIns="0" rIns="0" bIns="0" rtlCol="0" anchor="ctr"/>
          <a:lstStyle/>
          <a:p>
            <a:pPr indent="0" marL="0">
              <a:buNone/>
            </a:pPr>
            <a:r>
              <a:rPr lang="en-US" sz="1450" dirty="0">
                <a:solidFill>
                  <a:schemeClr val="tx1"/>
                </a:solidFill>
                <a:latin typeface="Ebrima" pitchFamily="34" charset="0"/>
                <a:ea typeface="Ebrima" pitchFamily="34" charset="-122"/>
                <a:cs typeface="Ebrima" pitchFamily="34" charset="-120"/>
              </a:rPr>
              <a:t>አስታዋሽ ከ2 ቀን፣ 1 ቀን፣ 6 ሰዓት ወይም 1 ሰዓት በፊት</a:t>
            </a:r>
            <a:endParaRPr lang="en-US" sz="1450" dirty="0"/>
          </a:p>
        </p:txBody>
      </p:sp>
      <p:sp>
        <p:nvSpPr>
          <p:cNvPr id="25" name="Shape 21"/>
          <p:cNvSpPr/>
          <p:nvPr/>
        </p:nvSpPr>
        <p:spPr>
          <a:xfrm>
            <a:off x="548640" y="4187952"/>
            <a:ext cx="566928" cy="566928"/>
          </a:xfrm>
          <a:prstGeom prst="ellipse">
            <a:avLst/>
          </a:prstGeom>
          <a:solidFill>
            <a:schemeClr val="accent1"/>
          </a:solidFill>
          <a:ln/>
        </p:spPr>
      </p:sp>
      <p:pic>
        <p:nvPicPr>
          <p:cNvPr id="26" name="Image 2" descr="preencoded.png">    </p:cNvPr>
          <p:cNvPicPr>
            <a:picLocks noChangeAspect="1"/>
          </p:cNvPicPr>
          <p:nvPr/>
        </p:nvPicPr>
        <p:blipFill>
          <a:blip r:embed="rId3"/>
          <a:stretch>
            <a:fillRect/>
          </a:stretch>
        </p:blipFill>
        <p:spPr>
          <a:xfrm>
            <a:off x="684703" y="4324015"/>
            <a:ext cx="294803" cy="294803"/>
          </a:xfrm>
          <a:prstGeom prst="rect">
            <a:avLst/>
          </a:prstGeom>
        </p:spPr>
      </p:pic>
      <p:sp>
        <p:nvSpPr>
          <p:cNvPr id="27" name="Text 22"/>
          <p:cNvSpPr txBox="1"/>
          <p:nvPr/>
        </p:nvSpPr>
        <p:spPr>
          <a:xfrm>
            <a:off x="1280160" y="4187952"/>
            <a:ext cx="4754880" cy="603504"/>
          </a:xfrm>
          <a:prstGeom prst="rect">
            <a:avLst/>
          </a:prstGeom>
          <a:noFill/>
          <a:ln/>
        </p:spPr>
        <p:txBody>
          <a:bodyPr wrap="square" lIns="0" tIns="0" rIns="0" bIns="0" rtlCol="0" anchor="ctr"/>
          <a:lstStyle/>
          <a:p>
            <a:pPr indent="0" marL="0">
              <a:buNone/>
            </a:pPr>
            <a:r>
              <a:rPr lang="en-US" sz="1450" dirty="0">
                <a:solidFill>
                  <a:schemeClr val="tx1"/>
                </a:solidFill>
                <a:latin typeface="Ebrima" pitchFamily="34" charset="0"/>
                <a:ea typeface="Ebrima" pitchFamily="34" charset="-122"/>
                <a:cs typeface="Ebrima" pitchFamily="34" charset="-120"/>
              </a:rPr>
              <a:t>በየ15 ቀኑ የሚደገም አስታዋሽ፤ አስገዳጅ አስታዋሾች</a:t>
            </a:r>
            <a:endParaRPr lang="en-US" sz="1450" dirty="0"/>
          </a:p>
        </p:txBody>
      </p:sp>
      <p:sp>
        <p:nvSpPr>
          <p:cNvPr id="28" name="Shape 23"/>
          <p:cNvSpPr/>
          <p:nvPr/>
        </p:nvSpPr>
        <p:spPr>
          <a:xfrm>
            <a:off x="6172200" y="4187952"/>
            <a:ext cx="566928" cy="566928"/>
          </a:xfrm>
          <a:prstGeom prst="ellipse">
            <a:avLst/>
          </a:prstGeom>
          <a:solidFill>
            <a:schemeClr val="accent2"/>
          </a:solidFill>
          <a:ln/>
        </p:spPr>
      </p:sp>
      <p:pic>
        <p:nvPicPr>
          <p:cNvPr id="29" name="Image 3" descr="preencoded.png">    </p:cNvPr>
          <p:cNvPicPr>
            <a:picLocks noChangeAspect="1"/>
          </p:cNvPicPr>
          <p:nvPr/>
        </p:nvPicPr>
        <p:blipFill>
          <a:blip r:embed="rId4"/>
          <a:stretch>
            <a:fillRect/>
          </a:stretch>
        </p:blipFill>
        <p:spPr>
          <a:xfrm>
            <a:off x="6308263" y="4324015"/>
            <a:ext cx="294803" cy="294803"/>
          </a:xfrm>
          <a:prstGeom prst="rect">
            <a:avLst/>
          </a:prstGeom>
        </p:spPr>
      </p:pic>
      <p:sp>
        <p:nvSpPr>
          <p:cNvPr id="30" name="Text 24"/>
          <p:cNvSpPr txBox="1"/>
          <p:nvPr/>
        </p:nvSpPr>
        <p:spPr>
          <a:xfrm>
            <a:off x="6903720" y="4187952"/>
            <a:ext cx="4754880" cy="603504"/>
          </a:xfrm>
          <a:prstGeom prst="rect">
            <a:avLst/>
          </a:prstGeom>
          <a:noFill/>
          <a:ln/>
        </p:spPr>
        <p:txBody>
          <a:bodyPr wrap="square" lIns="0" tIns="0" rIns="0" bIns="0" rtlCol="0" anchor="ctr"/>
          <a:lstStyle/>
          <a:p>
            <a:pPr indent="0" marL="0">
              <a:buNone/>
            </a:pPr>
            <a:r>
              <a:rPr lang="en-US" sz="1450" dirty="0">
                <a:solidFill>
                  <a:schemeClr val="tx1"/>
                </a:solidFill>
                <a:latin typeface="Ebrima" pitchFamily="34" charset="0"/>
                <a:ea typeface="Ebrima" pitchFamily="34" charset="-122"/>
                <a:cs typeface="Ebrima" pitchFamily="34" charset="-120"/>
              </a:rPr>
              <a:t>ያለ ኢንተርኔት የሚሠራ የስልክ ማንቂያ (snooze ጨምሮ)</a:t>
            </a:r>
            <a:endParaRPr lang="en-US" sz="1450" dirty="0"/>
          </a:p>
        </p:txBody>
      </p:sp>
      <p:sp>
        <p:nvSpPr>
          <p:cNvPr id="31" name="Shape 25"/>
          <p:cNvSpPr/>
          <p:nvPr/>
        </p:nvSpPr>
        <p:spPr>
          <a:xfrm>
            <a:off x="548640" y="5175504"/>
            <a:ext cx="566928" cy="566928"/>
          </a:xfrm>
          <a:prstGeom prst="ellipse">
            <a:avLst/>
          </a:prstGeom>
          <a:solidFill>
            <a:schemeClr val="accent1"/>
          </a:solidFill>
          <a:ln/>
        </p:spPr>
      </p:sp>
      <p:pic>
        <p:nvPicPr>
          <p:cNvPr id="32" name="Image 4" descr="preencoded.png">    </p:cNvPr>
          <p:cNvPicPr>
            <a:picLocks noChangeAspect="1"/>
          </p:cNvPicPr>
          <p:nvPr/>
        </p:nvPicPr>
        <p:blipFill>
          <a:blip r:embed="rId5"/>
          <a:stretch>
            <a:fillRect/>
          </a:stretch>
        </p:blipFill>
        <p:spPr>
          <a:xfrm>
            <a:off x="684703" y="5311567"/>
            <a:ext cx="294803" cy="294803"/>
          </a:xfrm>
          <a:prstGeom prst="rect">
            <a:avLst/>
          </a:prstGeom>
        </p:spPr>
      </p:pic>
      <p:sp>
        <p:nvSpPr>
          <p:cNvPr id="33" name="Text 26"/>
          <p:cNvSpPr txBox="1"/>
          <p:nvPr/>
        </p:nvSpPr>
        <p:spPr>
          <a:xfrm>
            <a:off x="1280160" y="5175504"/>
            <a:ext cx="4754880" cy="603504"/>
          </a:xfrm>
          <a:prstGeom prst="rect">
            <a:avLst/>
          </a:prstGeom>
          <a:noFill/>
          <a:ln/>
        </p:spPr>
        <p:txBody>
          <a:bodyPr wrap="square" lIns="0" tIns="0" rIns="0" bIns="0" rtlCol="0" anchor="ctr"/>
          <a:lstStyle/>
          <a:p>
            <a:pPr indent="0" marL="0">
              <a:buNone/>
            </a:pPr>
            <a:r>
              <a:rPr lang="en-US" sz="1450" dirty="0">
                <a:solidFill>
                  <a:schemeClr val="tx1"/>
                </a:solidFill>
                <a:latin typeface="Ebrima" pitchFamily="34" charset="0"/>
                <a:ea typeface="Ebrima" pitchFamily="34" charset="-122"/>
                <a:cs typeface="Ebrima" pitchFamily="34" charset="-120"/>
              </a:rPr>
              <a:t>አንድን ቀን መሰረዝ ወይም ማዛወር ይቻላል</a:t>
            </a:r>
            <a:endParaRPr lang="en-US" sz="1450" dirty="0"/>
          </a:p>
        </p:txBody>
      </p:sp>
      <p:sp>
        <p:nvSpPr>
          <p:cNvPr id="34" name="Shape 27"/>
          <p:cNvSpPr/>
          <p:nvPr/>
        </p:nvSpPr>
        <p:spPr>
          <a:xfrm>
            <a:off x="6172200" y="5175504"/>
            <a:ext cx="566928" cy="566928"/>
          </a:xfrm>
          <a:prstGeom prst="ellipse">
            <a:avLst/>
          </a:prstGeom>
          <a:solidFill>
            <a:schemeClr val="accent2"/>
          </a:solidFill>
          <a:ln/>
        </p:spPr>
      </p:sp>
      <p:pic>
        <p:nvPicPr>
          <p:cNvPr id="35" name="Image 5" descr="preencoded.png">    </p:cNvPr>
          <p:cNvPicPr>
            <a:picLocks noChangeAspect="1"/>
          </p:cNvPicPr>
          <p:nvPr/>
        </p:nvPicPr>
        <p:blipFill>
          <a:blip r:embed="rId6"/>
          <a:stretch>
            <a:fillRect/>
          </a:stretch>
        </p:blipFill>
        <p:spPr>
          <a:xfrm>
            <a:off x="6308263" y="5311567"/>
            <a:ext cx="294803" cy="294803"/>
          </a:xfrm>
          <a:prstGeom prst="rect">
            <a:avLst/>
          </a:prstGeom>
        </p:spPr>
      </p:pic>
      <p:sp>
        <p:nvSpPr>
          <p:cNvPr id="36" name="Text 28"/>
          <p:cNvSpPr txBox="1"/>
          <p:nvPr/>
        </p:nvSpPr>
        <p:spPr>
          <a:xfrm>
            <a:off x="6903720" y="5175504"/>
            <a:ext cx="4754880" cy="603504"/>
          </a:xfrm>
          <a:prstGeom prst="rect">
            <a:avLst/>
          </a:prstGeom>
          <a:noFill/>
          <a:ln/>
        </p:spPr>
        <p:txBody>
          <a:bodyPr wrap="square" lIns="0" tIns="0" rIns="0" bIns="0" rtlCol="0" anchor="ctr"/>
          <a:lstStyle/>
          <a:p>
            <a:pPr indent="0" marL="0">
              <a:buNone/>
            </a:pPr>
            <a:r>
              <a:rPr lang="en-US" sz="1450" dirty="0">
                <a:solidFill>
                  <a:schemeClr val="tx1"/>
                </a:solidFill>
                <a:latin typeface="Ebrima" pitchFamily="34" charset="0"/>
                <a:ea typeface="Ebrima" pitchFamily="34" charset="-122"/>
                <a:cs typeface="Ebrima" pitchFamily="34" charset="-120"/>
              </a:rPr>
              <a:t>ምድቦች፦ አጠቃላይ · ትምህርት እና ሥልጠና · መዝሙር እና ሥነ-ጥበብ · መ/ግ እና ጉባኤ</a:t>
            </a:r>
            <a:endParaRPr lang="en-US" sz="145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Ebrima"/>
                <a:ea typeface="Ebrima"/>
                <a:cs typeface="Ebrima"/>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0241280" cy="777240"/>
          </a:xfrm>
          <a:prstGeom prst="rect">
            <a:avLst/>
          </a:prstGeom>
          <a:noFill/>
          <a:ln/>
        </p:spPr>
        <p:txBody>
          <a:bodyPr wrap="square" lIns="0" tIns="0" rIns="0" bIns="0" rtlCol="0" anchor="ctr"/>
          <a:lstStyle/>
          <a:p>
            <a:pPr algn="l" indent="0" marL="0">
              <a:buNone/>
            </a:pPr>
            <a:r>
              <a:rPr lang="en-US" sz="3400" dirty="0">
                <a:solidFill>
                  <a:schemeClr val="accent1"/>
                </a:solidFill>
                <a:latin typeface="Nyala" pitchFamily="34" charset="0"/>
                <a:ea typeface="Nyala" pitchFamily="34" charset="-122"/>
                <a:cs typeface="Nyala" pitchFamily="34" charset="-120"/>
              </a:rPr>
              <a:t>መገኘት እንዴት ይመዘገባል</a:t>
            </a:r>
            <a:endParaRPr lang="en-US" sz="3400" dirty="0"/>
          </a:p>
        </p:txBody>
      </p:sp>
      <p:sp>
        <p:nvSpPr>
          <p:cNvPr id="3" name="Shape 1"/>
          <p:cNvSpPr/>
          <p:nvPr/>
        </p:nvSpPr>
        <p:spPr>
          <a:xfrm>
            <a:off x="548640" y="1417320"/>
            <a:ext cx="1987906" cy="2514600"/>
          </a:xfrm>
          <a:prstGeom prst="roundRect">
            <a:avLst>
              <a:gd name="adj" fmla="val 4600"/>
            </a:avLst>
          </a:prstGeom>
          <a:solidFill>
            <a:schemeClr val="accent1"/>
          </a:solidFill>
          <a:ln/>
        </p:spPr>
      </p:sp>
      <p:sp>
        <p:nvSpPr>
          <p:cNvPr id="4" name="Text 2"/>
          <p:cNvSpPr txBox="1"/>
          <p:nvPr/>
        </p:nvSpPr>
        <p:spPr>
          <a:xfrm>
            <a:off x="685800" y="1527048"/>
            <a:ext cx="457200" cy="365760"/>
          </a:xfrm>
          <a:prstGeom prst="rect">
            <a:avLst/>
          </a:prstGeom>
          <a:noFill/>
          <a:ln/>
        </p:spPr>
        <p:txBody>
          <a:bodyPr wrap="square" lIns="0" tIns="0" rIns="0" bIns="0" rtlCol="0" anchor="t"/>
          <a:lstStyle/>
          <a:p>
            <a:pPr indent="0" marL="0">
              <a:buNone/>
            </a:pPr>
            <a:r>
              <a:rPr lang="en-US" sz="2000" b="1" dirty="0">
                <a:solidFill>
                  <a:schemeClr val="accent2"/>
                </a:solidFill>
                <a:latin typeface="Ebrima" pitchFamily="34" charset="0"/>
                <a:ea typeface="Ebrima" pitchFamily="34" charset="-122"/>
                <a:cs typeface="Ebrima" pitchFamily="34" charset="-120"/>
              </a:rPr>
              <a:t>1</a:t>
            </a:r>
            <a:endParaRPr lang="en-US" sz="2000" dirty="0"/>
          </a:p>
        </p:txBody>
      </p:sp>
      <p:sp>
        <p:nvSpPr>
          <p:cNvPr id="5" name="Text 3"/>
          <p:cNvSpPr txBox="1"/>
          <p:nvPr/>
        </p:nvSpPr>
        <p:spPr>
          <a:xfrm>
            <a:off x="685800" y="1874520"/>
            <a:ext cx="1713586" cy="731520"/>
          </a:xfrm>
          <a:prstGeom prst="rect">
            <a:avLst/>
          </a:prstGeom>
          <a:noFill/>
          <a:ln/>
        </p:spPr>
        <p:txBody>
          <a:bodyPr wrap="square" lIns="0" tIns="0" rIns="0" bIns="0" rtlCol="0" anchor="t"/>
          <a:lstStyle/>
          <a:p>
            <a:pPr indent="0" marL="0">
              <a:buNone/>
            </a:pPr>
            <a:r>
              <a:rPr lang="en-US" sz="1600" b="1" dirty="0">
                <a:solidFill>
                  <a:schemeClr val="bg1"/>
                </a:solidFill>
                <a:latin typeface="Ebrima" pitchFamily="34" charset="0"/>
                <a:ea typeface="Ebrima" pitchFamily="34" charset="-122"/>
                <a:cs typeface="Ebrima" pitchFamily="34" charset="-120"/>
              </a:rPr>
              <a:t>መዝጋቢ ይመደባል</a:t>
            </a:r>
            <a:endParaRPr lang="en-US" sz="1600" dirty="0"/>
          </a:p>
        </p:txBody>
      </p:sp>
      <p:sp>
        <p:nvSpPr>
          <p:cNvPr id="6" name="Text 4"/>
          <p:cNvSpPr txBox="1"/>
          <p:nvPr/>
        </p:nvSpPr>
        <p:spPr>
          <a:xfrm>
            <a:off x="685800" y="2606040"/>
            <a:ext cx="1713586" cy="1234440"/>
          </a:xfrm>
          <a:prstGeom prst="rect">
            <a:avLst/>
          </a:prstGeom>
          <a:noFill/>
          <a:ln/>
        </p:spPr>
        <p:txBody>
          <a:bodyPr wrap="square" lIns="0" tIns="0" rIns="0" bIns="0" rtlCol="0" anchor="t"/>
          <a:lstStyle/>
          <a:p>
            <a:pPr indent="0" marL="0">
              <a:buNone/>
            </a:pPr>
            <a:r>
              <a:rPr lang="en-US" sz="1350" dirty="0">
                <a:solidFill>
                  <a:schemeClr val="bg1"/>
                </a:solidFill>
                <a:latin typeface="Ebrima" pitchFamily="34" charset="0"/>
                <a:ea typeface="Ebrima" pitchFamily="34" charset="-122"/>
                <a:cs typeface="Ebrima" pitchFamily="34" charset="-120"/>
              </a:rPr>
              <a:t>የሰው ሀብት (HR) ለእያንዳንዱ የፕሮግራም ቀን አንድ መዝጋቢ ይመድባል</a:t>
            </a:r>
            <a:endParaRPr lang="en-US" sz="1350" dirty="0"/>
          </a:p>
        </p:txBody>
      </p:sp>
      <p:sp>
        <p:nvSpPr>
          <p:cNvPr id="7" name="Shape 5"/>
          <p:cNvSpPr/>
          <p:nvPr/>
        </p:nvSpPr>
        <p:spPr>
          <a:xfrm rot="5400000">
            <a:off x="2563978" y="2610246"/>
            <a:ext cx="237744" cy="128748"/>
          </a:xfrm>
          <a:prstGeom prst="triangle">
            <a:avLst/>
          </a:prstGeom>
          <a:solidFill>
            <a:schemeClr val="accent2"/>
          </a:solidFill>
          <a:ln/>
        </p:spPr>
      </p:sp>
      <p:sp>
        <p:nvSpPr>
          <p:cNvPr id="8" name="Shape 6"/>
          <p:cNvSpPr/>
          <p:nvPr/>
        </p:nvSpPr>
        <p:spPr>
          <a:xfrm>
            <a:off x="2829154" y="1417320"/>
            <a:ext cx="1987906" cy="2514600"/>
          </a:xfrm>
          <a:prstGeom prst="roundRect">
            <a:avLst>
              <a:gd name="adj" fmla="val 4600"/>
            </a:avLst>
          </a:prstGeom>
          <a:solidFill>
            <a:schemeClr val="bg2">
              <a:alpha val="80000"/>
            </a:schemeClr>
          </a:solidFill>
          <a:ln/>
        </p:spPr>
      </p:sp>
      <p:sp>
        <p:nvSpPr>
          <p:cNvPr id="9" name="Text 7"/>
          <p:cNvSpPr txBox="1"/>
          <p:nvPr/>
        </p:nvSpPr>
        <p:spPr>
          <a:xfrm>
            <a:off x="2966314" y="1527048"/>
            <a:ext cx="457200" cy="365760"/>
          </a:xfrm>
          <a:prstGeom prst="rect">
            <a:avLst/>
          </a:prstGeom>
          <a:noFill/>
          <a:ln/>
        </p:spPr>
        <p:txBody>
          <a:bodyPr wrap="square" lIns="0" tIns="0" rIns="0" bIns="0" rtlCol="0" anchor="t"/>
          <a:lstStyle/>
          <a:p>
            <a:pPr indent="0" marL="0">
              <a:buNone/>
            </a:pPr>
            <a:r>
              <a:rPr lang="en-US" sz="2000" b="1" dirty="0">
                <a:solidFill>
                  <a:schemeClr val="accent1"/>
                </a:solidFill>
                <a:latin typeface="Ebrima" pitchFamily="34" charset="0"/>
                <a:ea typeface="Ebrima" pitchFamily="34" charset="-122"/>
                <a:cs typeface="Ebrima" pitchFamily="34" charset="-120"/>
              </a:rPr>
              <a:t>2</a:t>
            </a:r>
            <a:endParaRPr lang="en-US" sz="2000" dirty="0"/>
          </a:p>
        </p:txBody>
      </p:sp>
      <p:sp>
        <p:nvSpPr>
          <p:cNvPr id="10" name="Text 8"/>
          <p:cNvSpPr txBox="1"/>
          <p:nvPr/>
        </p:nvSpPr>
        <p:spPr>
          <a:xfrm>
            <a:off x="2966314" y="1874520"/>
            <a:ext cx="1713586" cy="731520"/>
          </a:xfrm>
          <a:prstGeom prst="rect">
            <a:avLst/>
          </a:prstGeom>
          <a:noFill/>
          <a:ln/>
        </p:spPr>
        <p:txBody>
          <a:bodyPr wrap="square" lIns="0" tIns="0" rIns="0" bIns="0" rtlCol="0" anchor="t"/>
          <a:lstStyle/>
          <a:p>
            <a:pPr indent="0" marL="0">
              <a:buNone/>
            </a:pPr>
            <a:r>
              <a:rPr lang="en-US" sz="1600" b="1" dirty="0">
                <a:solidFill>
                  <a:schemeClr val="accent1"/>
                </a:solidFill>
                <a:latin typeface="Ebrima" pitchFamily="34" charset="0"/>
                <a:ea typeface="Ebrima" pitchFamily="34" charset="-122"/>
                <a:cs typeface="Ebrima" pitchFamily="34" charset="-120"/>
              </a:rPr>
              <a:t>ይከፈታል</a:t>
            </a:r>
            <a:endParaRPr lang="en-US" sz="1600" dirty="0"/>
          </a:p>
        </p:txBody>
      </p:sp>
      <p:sp>
        <p:nvSpPr>
          <p:cNvPr id="11" name="Text 9"/>
          <p:cNvSpPr txBox="1"/>
          <p:nvPr/>
        </p:nvSpPr>
        <p:spPr>
          <a:xfrm>
            <a:off x="2966314" y="2606040"/>
            <a:ext cx="1713586" cy="1234440"/>
          </a:xfrm>
          <a:prstGeom prst="rect">
            <a:avLst/>
          </a:prstGeom>
          <a:noFill/>
          <a:ln/>
        </p:spPr>
        <p:txBody>
          <a:bodyPr wrap="square" lIns="0" tIns="0" rIns="0" bIns="0" rtlCol="0" anchor="t"/>
          <a:lstStyle/>
          <a:p>
            <a:pPr indent="0" marL="0">
              <a:buNone/>
            </a:pPr>
            <a:r>
              <a:rPr lang="en-US" sz="1350" dirty="0">
                <a:solidFill>
                  <a:schemeClr val="tx1"/>
                </a:solidFill>
                <a:latin typeface="Ebrima" pitchFamily="34" charset="0"/>
                <a:ea typeface="Ebrima" pitchFamily="34" charset="-122"/>
                <a:cs typeface="Ebrima" pitchFamily="34" charset="-120"/>
              </a:rPr>
              <a:t>ክፍለ ጊዜው ፕሮግራሙ ከመጀመሩ 15 ደቂቃ በፊት ይከፈታል</a:t>
            </a:r>
            <a:endParaRPr lang="en-US" sz="1350" dirty="0"/>
          </a:p>
        </p:txBody>
      </p:sp>
      <p:sp>
        <p:nvSpPr>
          <p:cNvPr id="12" name="Shape 10"/>
          <p:cNvSpPr/>
          <p:nvPr/>
        </p:nvSpPr>
        <p:spPr>
          <a:xfrm rot="5400000">
            <a:off x="4844491" y="2610246"/>
            <a:ext cx="237744" cy="128748"/>
          </a:xfrm>
          <a:prstGeom prst="triangle">
            <a:avLst/>
          </a:prstGeom>
          <a:solidFill>
            <a:schemeClr val="accent2"/>
          </a:solidFill>
          <a:ln/>
        </p:spPr>
      </p:sp>
      <p:sp>
        <p:nvSpPr>
          <p:cNvPr id="13" name="Shape 11"/>
          <p:cNvSpPr/>
          <p:nvPr/>
        </p:nvSpPr>
        <p:spPr>
          <a:xfrm>
            <a:off x="5109667" y="1417320"/>
            <a:ext cx="1987906" cy="2514600"/>
          </a:xfrm>
          <a:prstGeom prst="roundRect">
            <a:avLst>
              <a:gd name="adj" fmla="val 4600"/>
            </a:avLst>
          </a:prstGeom>
          <a:solidFill>
            <a:schemeClr val="bg2">
              <a:alpha val="80000"/>
            </a:schemeClr>
          </a:solidFill>
          <a:ln/>
        </p:spPr>
      </p:sp>
      <p:sp>
        <p:nvSpPr>
          <p:cNvPr id="14" name="Text 12"/>
          <p:cNvSpPr txBox="1"/>
          <p:nvPr/>
        </p:nvSpPr>
        <p:spPr>
          <a:xfrm>
            <a:off x="5246827" y="1527048"/>
            <a:ext cx="457200" cy="365760"/>
          </a:xfrm>
          <a:prstGeom prst="rect">
            <a:avLst/>
          </a:prstGeom>
          <a:noFill/>
          <a:ln/>
        </p:spPr>
        <p:txBody>
          <a:bodyPr wrap="square" lIns="0" tIns="0" rIns="0" bIns="0" rtlCol="0" anchor="t"/>
          <a:lstStyle/>
          <a:p>
            <a:pPr indent="0" marL="0">
              <a:buNone/>
            </a:pPr>
            <a:r>
              <a:rPr lang="en-US" sz="2000" b="1" dirty="0">
                <a:solidFill>
                  <a:schemeClr val="accent1"/>
                </a:solidFill>
                <a:latin typeface="Ebrima" pitchFamily="34" charset="0"/>
                <a:ea typeface="Ebrima" pitchFamily="34" charset="-122"/>
                <a:cs typeface="Ebrima" pitchFamily="34" charset="-120"/>
              </a:rPr>
              <a:t>3</a:t>
            </a:r>
            <a:endParaRPr lang="en-US" sz="2000" dirty="0"/>
          </a:p>
        </p:txBody>
      </p:sp>
      <p:sp>
        <p:nvSpPr>
          <p:cNvPr id="15" name="Text 13"/>
          <p:cNvSpPr txBox="1"/>
          <p:nvPr/>
        </p:nvSpPr>
        <p:spPr>
          <a:xfrm>
            <a:off x="5246827" y="1874520"/>
            <a:ext cx="1713586" cy="731520"/>
          </a:xfrm>
          <a:prstGeom prst="rect">
            <a:avLst/>
          </a:prstGeom>
          <a:noFill/>
          <a:ln/>
        </p:spPr>
        <p:txBody>
          <a:bodyPr wrap="square" lIns="0" tIns="0" rIns="0" bIns="0" rtlCol="0" anchor="t"/>
          <a:lstStyle/>
          <a:p>
            <a:pPr indent="0" marL="0">
              <a:buNone/>
            </a:pPr>
            <a:r>
              <a:rPr lang="en-US" sz="1600" b="1" dirty="0">
                <a:solidFill>
                  <a:schemeClr val="accent1"/>
                </a:solidFill>
                <a:latin typeface="Ebrima" pitchFamily="34" charset="0"/>
                <a:ea typeface="Ebrima" pitchFamily="34" charset="-122"/>
                <a:cs typeface="Ebrima" pitchFamily="34" charset="-120"/>
              </a:rPr>
              <a:t>«ጀምር»</a:t>
            </a:r>
            <a:endParaRPr lang="en-US" sz="1600" dirty="0"/>
          </a:p>
        </p:txBody>
      </p:sp>
      <p:sp>
        <p:nvSpPr>
          <p:cNvPr id="16" name="Text 14"/>
          <p:cNvSpPr txBox="1"/>
          <p:nvPr/>
        </p:nvSpPr>
        <p:spPr>
          <a:xfrm>
            <a:off x="5246827" y="2606040"/>
            <a:ext cx="1713586" cy="1234440"/>
          </a:xfrm>
          <a:prstGeom prst="rect">
            <a:avLst/>
          </a:prstGeom>
          <a:noFill/>
          <a:ln/>
        </p:spPr>
        <p:txBody>
          <a:bodyPr wrap="square" lIns="0" tIns="0" rIns="0" bIns="0" rtlCol="0" anchor="t"/>
          <a:lstStyle/>
          <a:p>
            <a:pPr indent="0" marL="0">
              <a:buNone/>
            </a:pPr>
            <a:r>
              <a:rPr lang="en-US" sz="1350" dirty="0">
                <a:solidFill>
                  <a:schemeClr val="tx1"/>
                </a:solidFill>
                <a:latin typeface="Ebrima" pitchFamily="34" charset="0"/>
                <a:ea typeface="Ebrima" pitchFamily="34" charset="-122"/>
                <a:cs typeface="Ebrima" pitchFamily="34" charset="-120"/>
              </a:rPr>
              <a:t>መዝጋቢው ሲጫን ሰዓቱ መቆጠር ይጀምራል</a:t>
            </a:r>
            <a:endParaRPr lang="en-US" sz="1350" dirty="0"/>
          </a:p>
        </p:txBody>
      </p:sp>
      <p:sp>
        <p:nvSpPr>
          <p:cNvPr id="17" name="Shape 15"/>
          <p:cNvSpPr/>
          <p:nvPr/>
        </p:nvSpPr>
        <p:spPr>
          <a:xfrm rot="5400000">
            <a:off x="7125005" y="2610246"/>
            <a:ext cx="237744" cy="128748"/>
          </a:xfrm>
          <a:prstGeom prst="triangle">
            <a:avLst/>
          </a:prstGeom>
          <a:solidFill>
            <a:schemeClr val="accent2"/>
          </a:solidFill>
          <a:ln/>
        </p:spPr>
      </p:sp>
      <p:sp>
        <p:nvSpPr>
          <p:cNvPr id="18" name="Shape 16"/>
          <p:cNvSpPr/>
          <p:nvPr/>
        </p:nvSpPr>
        <p:spPr>
          <a:xfrm>
            <a:off x="7390181" y="1417320"/>
            <a:ext cx="1987906" cy="2514600"/>
          </a:xfrm>
          <a:prstGeom prst="roundRect">
            <a:avLst>
              <a:gd name="adj" fmla="val 4600"/>
            </a:avLst>
          </a:prstGeom>
          <a:solidFill>
            <a:schemeClr val="bg2">
              <a:alpha val="80000"/>
            </a:schemeClr>
          </a:solidFill>
          <a:ln/>
        </p:spPr>
      </p:sp>
      <p:sp>
        <p:nvSpPr>
          <p:cNvPr id="19" name="Text 17"/>
          <p:cNvSpPr txBox="1"/>
          <p:nvPr/>
        </p:nvSpPr>
        <p:spPr>
          <a:xfrm>
            <a:off x="7527341" y="1527048"/>
            <a:ext cx="457200" cy="365760"/>
          </a:xfrm>
          <a:prstGeom prst="rect">
            <a:avLst/>
          </a:prstGeom>
          <a:noFill/>
          <a:ln/>
        </p:spPr>
        <p:txBody>
          <a:bodyPr wrap="square" lIns="0" tIns="0" rIns="0" bIns="0" rtlCol="0" anchor="t"/>
          <a:lstStyle/>
          <a:p>
            <a:pPr indent="0" marL="0">
              <a:buNone/>
            </a:pPr>
            <a:r>
              <a:rPr lang="en-US" sz="2000" b="1" dirty="0">
                <a:solidFill>
                  <a:schemeClr val="accent1"/>
                </a:solidFill>
                <a:latin typeface="Ebrima" pitchFamily="34" charset="0"/>
                <a:ea typeface="Ebrima" pitchFamily="34" charset="-122"/>
                <a:cs typeface="Ebrima" pitchFamily="34" charset="-120"/>
              </a:rPr>
              <a:t>4</a:t>
            </a:r>
            <a:endParaRPr lang="en-US" sz="2000" dirty="0"/>
          </a:p>
        </p:txBody>
      </p:sp>
      <p:sp>
        <p:nvSpPr>
          <p:cNvPr id="20" name="Text 18"/>
          <p:cNvSpPr txBox="1"/>
          <p:nvPr/>
        </p:nvSpPr>
        <p:spPr>
          <a:xfrm>
            <a:off x="7527341" y="1874520"/>
            <a:ext cx="1713586" cy="731520"/>
          </a:xfrm>
          <a:prstGeom prst="rect">
            <a:avLst/>
          </a:prstGeom>
          <a:noFill/>
          <a:ln/>
        </p:spPr>
        <p:txBody>
          <a:bodyPr wrap="square" lIns="0" tIns="0" rIns="0" bIns="0" rtlCol="0" anchor="t"/>
          <a:lstStyle/>
          <a:p>
            <a:pPr indent="0" marL="0">
              <a:buNone/>
            </a:pPr>
            <a:r>
              <a:rPr lang="en-US" sz="1600" b="1" dirty="0">
                <a:solidFill>
                  <a:schemeClr val="accent1"/>
                </a:solidFill>
                <a:latin typeface="Ebrima" pitchFamily="34" charset="0"/>
                <a:ea typeface="Ebrima" pitchFamily="34" charset="-122"/>
                <a:cs typeface="Ebrima" pitchFamily="34" charset="-120"/>
              </a:rPr>
              <a:t>ምዝገባ</a:t>
            </a:r>
            <a:endParaRPr lang="en-US" sz="1600" dirty="0"/>
          </a:p>
        </p:txBody>
      </p:sp>
      <p:sp>
        <p:nvSpPr>
          <p:cNvPr id="21" name="Text 19"/>
          <p:cNvSpPr txBox="1"/>
          <p:nvPr/>
        </p:nvSpPr>
        <p:spPr>
          <a:xfrm>
            <a:off x="7527341" y="2606040"/>
            <a:ext cx="1713586" cy="1234440"/>
          </a:xfrm>
          <a:prstGeom prst="rect">
            <a:avLst/>
          </a:prstGeom>
          <a:noFill/>
          <a:ln/>
        </p:spPr>
        <p:txBody>
          <a:bodyPr wrap="square" lIns="0" tIns="0" rIns="0" bIns="0" rtlCol="0" anchor="t"/>
          <a:lstStyle/>
          <a:p>
            <a:pPr indent="0" marL="0">
              <a:buNone/>
            </a:pPr>
            <a:r>
              <a:rPr lang="en-US" sz="1350" dirty="0">
                <a:solidFill>
                  <a:schemeClr val="tx1"/>
                </a:solidFill>
                <a:latin typeface="Ebrima" pitchFamily="34" charset="0"/>
                <a:ea typeface="Ebrima" pitchFamily="34" charset="-122"/>
                <a:cs typeface="Ebrima" pitchFamily="34" charset="-120"/>
              </a:rPr>
              <a:t>በQR ወይም በስም፤ ለ«ተገኝቷል» የአባሉ ፊርማ፤ ለ«በፈቃድ» ምክንያት</a:t>
            </a:r>
            <a:endParaRPr lang="en-US" sz="1350" dirty="0"/>
          </a:p>
        </p:txBody>
      </p:sp>
      <p:sp>
        <p:nvSpPr>
          <p:cNvPr id="22" name="Shape 20"/>
          <p:cNvSpPr/>
          <p:nvPr/>
        </p:nvSpPr>
        <p:spPr>
          <a:xfrm rot="5400000">
            <a:off x="9405518" y="2610246"/>
            <a:ext cx="237744" cy="128748"/>
          </a:xfrm>
          <a:prstGeom prst="triangle">
            <a:avLst/>
          </a:prstGeom>
          <a:solidFill>
            <a:schemeClr val="accent2"/>
          </a:solidFill>
          <a:ln/>
        </p:spPr>
      </p:sp>
      <p:sp>
        <p:nvSpPr>
          <p:cNvPr id="23" name="Shape 21"/>
          <p:cNvSpPr/>
          <p:nvPr/>
        </p:nvSpPr>
        <p:spPr>
          <a:xfrm>
            <a:off x="9670694" y="1417320"/>
            <a:ext cx="1987906" cy="2514600"/>
          </a:xfrm>
          <a:prstGeom prst="roundRect">
            <a:avLst>
              <a:gd name="adj" fmla="val 4600"/>
            </a:avLst>
          </a:prstGeom>
          <a:solidFill>
            <a:schemeClr val="accent3"/>
          </a:solidFill>
          <a:ln/>
        </p:spPr>
      </p:sp>
      <p:sp>
        <p:nvSpPr>
          <p:cNvPr id="24" name="Text 22"/>
          <p:cNvSpPr txBox="1"/>
          <p:nvPr/>
        </p:nvSpPr>
        <p:spPr>
          <a:xfrm>
            <a:off x="9807854" y="1527048"/>
            <a:ext cx="457200" cy="365760"/>
          </a:xfrm>
          <a:prstGeom prst="rect">
            <a:avLst/>
          </a:prstGeom>
          <a:noFill/>
          <a:ln/>
        </p:spPr>
        <p:txBody>
          <a:bodyPr wrap="square" lIns="0" tIns="0" rIns="0" bIns="0" rtlCol="0" anchor="t"/>
          <a:lstStyle/>
          <a:p>
            <a:pPr indent="0" marL="0">
              <a:buNone/>
            </a:pPr>
            <a:r>
              <a:rPr lang="en-US" sz="2000" b="1" dirty="0">
                <a:solidFill>
                  <a:schemeClr val="accent2"/>
                </a:solidFill>
                <a:latin typeface="Ebrima" pitchFamily="34" charset="0"/>
                <a:ea typeface="Ebrima" pitchFamily="34" charset="-122"/>
                <a:cs typeface="Ebrima" pitchFamily="34" charset="-120"/>
              </a:rPr>
              <a:t>5</a:t>
            </a:r>
            <a:endParaRPr lang="en-US" sz="2000" dirty="0"/>
          </a:p>
        </p:txBody>
      </p:sp>
      <p:sp>
        <p:nvSpPr>
          <p:cNvPr id="25" name="Text 23"/>
          <p:cNvSpPr txBox="1"/>
          <p:nvPr/>
        </p:nvSpPr>
        <p:spPr>
          <a:xfrm>
            <a:off x="9807854" y="1874520"/>
            <a:ext cx="1713586" cy="731520"/>
          </a:xfrm>
          <a:prstGeom prst="rect">
            <a:avLst/>
          </a:prstGeom>
          <a:noFill/>
          <a:ln/>
        </p:spPr>
        <p:txBody>
          <a:bodyPr wrap="square" lIns="0" tIns="0" rIns="0" bIns="0" rtlCol="0" anchor="t"/>
          <a:lstStyle/>
          <a:p>
            <a:pPr indent="0" marL="0">
              <a:buNone/>
            </a:pPr>
            <a:r>
              <a:rPr lang="en-US" sz="1600" b="1" dirty="0">
                <a:solidFill>
                  <a:schemeClr val="bg1"/>
                </a:solidFill>
                <a:latin typeface="Ebrima" pitchFamily="34" charset="0"/>
                <a:ea typeface="Ebrima" pitchFamily="34" charset="-122"/>
                <a:cs typeface="Ebrima" pitchFamily="34" charset="-120"/>
              </a:rPr>
              <a:t>ይዘጋል</a:t>
            </a:r>
            <a:endParaRPr lang="en-US" sz="1600" dirty="0"/>
          </a:p>
        </p:txBody>
      </p:sp>
      <p:sp>
        <p:nvSpPr>
          <p:cNvPr id="26" name="Text 24"/>
          <p:cNvSpPr txBox="1"/>
          <p:nvPr/>
        </p:nvSpPr>
        <p:spPr>
          <a:xfrm>
            <a:off x="9807854" y="2606040"/>
            <a:ext cx="1713586" cy="1234440"/>
          </a:xfrm>
          <a:prstGeom prst="rect">
            <a:avLst/>
          </a:prstGeom>
          <a:noFill/>
          <a:ln/>
        </p:spPr>
        <p:txBody>
          <a:bodyPr wrap="square" lIns="0" tIns="0" rIns="0" bIns="0" rtlCol="0" anchor="t"/>
          <a:lstStyle/>
          <a:p>
            <a:pPr indent="0" marL="0">
              <a:buNone/>
            </a:pPr>
            <a:r>
              <a:rPr lang="en-US" sz="1350" dirty="0">
                <a:solidFill>
                  <a:schemeClr val="bg1"/>
                </a:solidFill>
                <a:latin typeface="Ebrima" pitchFamily="34" charset="0"/>
                <a:ea typeface="Ebrima" pitchFamily="34" charset="-122"/>
                <a:cs typeface="Ebrima" pitchFamily="34" charset="-120"/>
              </a:rPr>
              <a:t>መዝጋቢው «ጨርስ» ሲል ወይም የፕሮግራሙ ሰዓት ሲያበቃ</a:t>
            </a:r>
            <a:endParaRPr lang="en-US" sz="1350" dirty="0"/>
          </a:p>
        </p:txBody>
      </p:sp>
      <p:sp>
        <p:nvSpPr>
          <p:cNvPr id="27" name="Shape 25"/>
          <p:cNvSpPr/>
          <p:nvPr/>
        </p:nvSpPr>
        <p:spPr>
          <a:xfrm>
            <a:off x="548640" y="4297680"/>
            <a:ext cx="548640" cy="548640"/>
          </a:xfrm>
          <a:prstGeom prst="ellipse">
            <a:avLst/>
          </a:prstGeom>
          <a:solidFill>
            <a:schemeClr val="accent2"/>
          </a:solidFill>
          <a:ln/>
        </p:spPr>
      </p:sp>
      <p:pic>
        <p:nvPicPr>
          <p:cNvPr id="28" name="Image 0" descr="preencoded.png">    </p:cNvPr>
          <p:cNvPicPr>
            <a:picLocks noChangeAspect="1"/>
          </p:cNvPicPr>
          <p:nvPr/>
        </p:nvPicPr>
        <p:blipFill>
          <a:blip r:embed="rId1"/>
          <a:stretch>
            <a:fillRect/>
          </a:stretch>
        </p:blipFill>
        <p:spPr>
          <a:xfrm>
            <a:off x="680314" y="4429354"/>
            <a:ext cx="285293" cy="285293"/>
          </a:xfrm>
          <a:prstGeom prst="rect">
            <a:avLst/>
          </a:prstGeom>
        </p:spPr>
      </p:pic>
      <p:sp>
        <p:nvSpPr>
          <p:cNvPr id="29" name="Text 26"/>
          <p:cNvSpPr txBox="1"/>
          <p:nvPr/>
        </p:nvSpPr>
        <p:spPr>
          <a:xfrm>
            <a:off x="1261872" y="4297680"/>
            <a:ext cx="4800600" cy="566928"/>
          </a:xfrm>
          <a:prstGeom prst="rect">
            <a:avLst/>
          </a:prstGeom>
          <a:noFill/>
          <a:ln/>
        </p:spPr>
        <p:txBody>
          <a:bodyPr wrap="square" lIns="0" tIns="0" rIns="0" bIns="0" rtlCol="0" anchor="ctr"/>
          <a:lstStyle/>
          <a:p>
            <a:pPr indent="0" marL="0">
              <a:buNone/>
            </a:pPr>
            <a:r>
              <a:rPr lang="en-US" sz="1450" dirty="0">
                <a:solidFill>
                  <a:schemeClr val="tx1"/>
                </a:solidFill>
                <a:latin typeface="Ebrima" pitchFamily="34" charset="0"/>
                <a:ea typeface="Ebrima" pitchFamily="34" charset="-122"/>
                <a:cs typeface="Ebrima" pitchFamily="34" charset="-120"/>
              </a:rPr>
              <a:t>ያልተመዘገበ የሚጠበቅ አባል በራሱ «አልተገኘም» ይባላል</a:t>
            </a:r>
            <a:endParaRPr lang="en-US" sz="1450" dirty="0"/>
          </a:p>
        </p:txBody>
      </p:sp>
      <p:sp>
        <p:nvSpPr>
          <p:cNvPr id="30" name="Shape 27"/>
          <p:cNvSpPr/>
          <p:nvPr/>
        </p:nvSpPr>
        <p:spPr>
          <a:xfrm>
            <a:off x="6172200" y="4297680"/>
            <a:ext cx="548640" cy="548640"/>
          </a:xfrm>
          <a:prstGeom prst="ellipse">
            <a:avLst/>
          </a:prstGeom>
          <a:solidFill>
            <a:schemeClr val="accent2"/>
          </a:solidFill>
          <a:ln/>
        </p:spPr>
      </p:sp>
      <p:pic>
        <p:nvPicPr>
          <p:cNvPr id="31" name="Image 1" descr="preencoded.png">    </p:cNvPr>
          <p:cNvPicPr>
            <a:picLocks noChangeAspect="1"/>
          </p:cNvPicPr>
          <p:nvPr/>
        </p:nvPicPr>
        <p:blipFill>
          <a:blip r:embed="rId2"/>
          <a:stretch>
            <a:fillRect/>
          </a:stretch>
        </p:blipFill>
        <p:spPr>
          <a:xfrm>
            <a:off x="6303874" y="4429354"/>
            <a:ext cx="285293" cy="285293"/>
          </a:xfrm>
          <a:prstGeom prst="rect">
            <a:avLst/>
          </a:prstGeom>
        </p:spPr>
      </p:pic>
      <p:sp>
        <p:nvSpPr>
          <p:cNvPr id="32" name="Text 28"/>
          <p:cNvSpPr txBox="1"/>
          <p:nvPr/>
        </p:nvSpPr>
        <p:spPr>
          <a:xfrm>
            <a:off x="6885432" y="4297680"/>
            <a:ext cx="4800600" cy="566928"/>
          </a:xfrm>
          <a:prstGeom prst="rect">
            <a:avLst/>
          </a:prstGeom>
          <a:noFill/>
          <a:ln/>
        </p:spPr>
        <p:txBody>
          <a:bodyPr wrap="square" lIns="0" tIns="0" rIns="0" bIns="0" rtlCol="0" anchor="ctr"/>
          <a:lstStyle/>
          <a:p>
            <a:pPr indent="0" marL="0">
              <a:buNone/>
            </a:pPr>
            <a:r>
              <a:rPr lang="en-US" sz="1450" dirty="0">
                <a:solidFill>
                  <a:schemeClr val="tx1"/>
                </a:solidFill>
                <a:latin typeface="Ebrima" pitchFamily="34" charset="0"/>
                <a:ea typeface="Ebrima" pitchFamily="34" charset="-122"/>
                <a:cs typeface="Ebrima" pitchFamily="34" charset="-120"/>
              </a:rPr>
              <a:t>ከተዘጋ በኋላ ለውጥ የሚደረገው በማስተካከያ ጥያቄና በማጽደቅ ብቻ ነው</a:t>
            </a:r>
            <a:endParaRPr lang="en-US" sz="1450" dirty="0"/>
          </a:p>
        </p:txBody>
      </p:sp>
      <p:sp>
        <p:nvSpPr>
          <p:cNvPr id="33" name="Shape 29"/>
          <p:cNvSpPr/>
          <p:nvPr/>
        </p:nvSpPr>
        <p:spPr>
          <a:xfrm>
            <a:off x="548640" y="5212080"/>
            <a:ext cx="548640" cy="548640"/>
          </a:xfrm>
          <a:prstGeom prst="ellipse">
            <a:avLst/>
          </a:prstGeom>
          <a:solidFill>
            <a:schemeClr val="accent2"/>
          </a:solidFill>
          <a:ln/>
        </p:spPr>
      </p:sp>
      <p:pic>
        <p:nvPicPr>
          <p:cNvPr id="34" name="Image 2" descr="preencoded.png">    </p:cNvPr>
          <p:cNvPicPr>
            <a:picLocks noChangeAspect="1"/>
          </p:cNvPicPr>
          <p:nvPr/>
        </p:nvPicPr>
        <p:blipFill>
          <a:blip r:embed="rId3"/>
          <a:stretch>
            <a:fillRect/>
          </a:stretch>
        </p:blipFill>
        <p:spPr>
          <a:xfrm>
            <a:off x="680314" y="5343754"/>
            <a:ext cx="285293" cy="285293"/>
          </a:xfrm>
          <a:prstGeom prst="rect">
            <a:avLst/>
          </a:prstGeom>
        </p:spPr>
      </p:pic>
      <p:sp>
        <p:nvSpPr>
          <p:cNvPr id="35" name="Text 30"/>
          <p:cNvSpPr txBox="1"/>
          <p:nvPr/>
        </p:nvSpPr>
        <p:spPr>
          <a:xfrm>
            <a:off x="1261872" y="5212080"/>
            <a:ext cx="4800600" cy="566928"/>
          </a:xfrm>
          <a:prstGeom prst="rect">
            <a:avLst/>
          </a:prstGeom>
          <a:noFill/>
          <a:ln/>
        </p:spPr>
        <p:txBody>
          <a:bodyPr wrap="square" lIns="0" tIns="0" rIns="0" bIns="0" rtlCol="0" anchor="ctr"/>
          <a:lstStyle/>
          <a:p>
            <a:pPr indent="0" marL="0">
              <a:buNone/>
            </a:pPr>
            <a:r>
              <a:rPr lang="en-US" sz="1450" dirty="0">
                <a:solidFill>
                  <a:schemeClr val="tx1"/>
                </a:solidFill>
                <a:latin typeface="Ebrima" pitchFamily="34" charset="0"/>
                <a:ea typeface="Ebrima" pitchFamily="34" charset="-122"/>
                <a:cs typeface="Ebrima" pitchFamily="34" charset="-120"/>
              </a:rPr>
              <a:t>ያለ ኢንተርኔትም ይመዘገባል፤ ኢንተርኔት ሲመለስ በራሱ ይላካል</a:t>
            </a:r>
            <a:endParaRPr lang="en-US" sz="1450" dirty="0"/>
          </a:p>
        </p:txBody>
      </p:sp>
      <p:sp>
        <p:nvSpPr>
          <p:cNvPr id="36" name="Shape 31"/>
          <p:cNvSpPr/>
          <p:nvPr/>
        </p:nvSpPr>
        <p:spPr>
          <a:xfrm>
            <a:off x="6172200" y="5212080"/>
            <a:ext cx="548640" cy="548640"/>
          </a:xfrm>
          <a:prstGeom prst="ellipse">
            <a:avLst/>
          </a:prstGeom>
          <a:solidFill>
            <a:schemeClr val="accent2"/>
          </a:solidFill>
          <a:ln/>
        </p:spPr>
      </p:sp>
      <p:pic>
        <p:nvPicPr>
          <p:cNvPr id="37" name="Image 3" descr="preencoded.png">    </p:cNvPr>
          <p:cNvPicPr>
            <a:picLocks noChangeAspect="1"/>
          </p:cNvPicPr>
          <p:nvPr/>
        </p:nvPicPr>
        <p:blipFill>
          <a:blip r:embed="rId4"/>
          <a:stretch>
            <a:fillRect/>
          </a:stretch>
        </p:blipFill>
        <p:spPr>
          <a:xfrm>
            <a:off x="6303874" y="5343754"/>
            <a:ext cx="285293" cy="285293"/>
          </a:xfrm>
          <a:prstGeom prst="rect">
            <a:avLst/>
          </a:prstGeom>
        </p:spPr>
      </p:pic>
      <p:sp>
        <p:nvSpPr>
          <p:cNvPr id="38" name="Text 32"/>
          <p:cNvSpPr txBox="1"/>
          <p:nvPr/>
        </p:nvSpPr>
        <p:spPr>
          <a:xfrm>
            <a:off x="6885432" y="5212080"/>
            <a:ext cx="4800600" cy="566928"/>
          </a:xfrm>
          <a:prstGeom prst="rect">
            <a:avLst/>
          </a:prstGeom>
          <a:noFill/>
          <a:ln/>
        </p:spPr>
        <p:txBody>
          <a:bodyPr wrap="square" lIns="0" tIns="0" rIns="0" bIns="0" rtlCol="0" anchor="ctr"/>
          <a:lstStyle/>
          <a:p>
            <a:pPr indent="0" marL="0">
              <a:buNone/>
            </a:pPr>
            <a:r>
              <a:rPr lang="en-US" sz="1450" dirty="0">
                <a:solidFill>
                  <a:schemeClr val="tx1"/>
                </a:solidFill>
                <a:latin typeface="Ebrima" pitchFamily="34" charset="0"/>
                <a:ea typeface="Ebrima" pitchFamily="34" charset="-122"/>
                <a:cs typeface="Ebrima" pitchFamily="34" charset="-120"/>
              </a:rPr>
              <a:t>አንድን አባል ሁለት ጊዜ መመዝገብ አይቻልም</a:t>
            </a:r>
            <a:endParaRPr lang="en-US" sz="145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Ebrima"/>
                <a:ea typeface="Ebrima"/>
                <a:cs typeface="Ebrima"/>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0241280" cy="777240"/>
          </a:xfrm>
          <a:prstGeom prst="rect">
            <a:avLst/>
          </a:prstGeom>
          <a:noFill/>
          <a:ln/>
        </p:spPr>
        <p:txBody>
          <a:bodyPr wrap="square" lIns="0" tIns="0" rIns="0" bIns="0" rtlCol="0" anchor="ctr"/>
          <a:lstStyle/>
          <a:p>
            <a:pPr algn="l" indent="0" marL="0">
              <a:buNone/>
            </a:pPr>
            <a:r>
              <a:rPr lang="en-US" sz="3400" dirty="0">
                <a:solidFill>
                  <a:schemeClr val="accent1"/>
                </a:solidFill>
                <a:latin typeface="Nyala" pitchFamily="34" charset="0"/>
                <a:ea typeface="Nyala" pitchFamily="34" charset="-122"/>
                <a:cs typeface="Nyala" pitchFamily="34" charset="-120"/>
              </a:rPr>
              <a:t>የመገኘት ሕጎች፣ ሰዓት አክባሪነት፣ ውጤትና ሪፖርት</a:t>
            </a:r>
            <a:endParaRPr lang="en-US" sz="3400" dirty="0"/>
          </a:p>
        </p:txBody>
      </p:sp>
      <p:sp>
        <p:nvSpPr>
          <p:cNvPr id="3" name="Shape 1"/>
          <p:cNvSpPr/>
          <p:nvPr/>
        </p:nvSpPr>
        <p:spPr>
          <a:xfrm>
            <a:off x="548640" y="1325880"/>
            <a:ext cx="3383280" cy="4846320"/>
          </a:xfrm>
          <a:prstGeom prst="roundRect">
            <a:avLst>
              <a:gd name="adj" fmla="val 3243"/>
            </a:avLst>
          </a:prstGeom>
          <a:solidFill>
            <a:schemeClr val="accent1"/>
          </a:solidFill>
          <a:ln/>
        </p:spPr>
      </p:sp>
      <p:sp>
        <p:nvSpPr>
          <p:cNvPr id="4" name="Text 2"/>
          <p:cNvSpPr txBox="1"/>
          <p:nvPr/>
        </p:nvSpPr>
        <p:spPr>
          <a:xfrm>
            <a:off x="822960" y="1508760"/>
            <a:ext cx="2926080" cy="777240"/>
          </a:xfrm>
          <a:prstGeom prst="rect">
            <a:avLst/>
          </a:prstGeom>
          <a:noFill/>
          <a:ln/>
        </p:spPr>
        <p:txBody>
          <a:bodyPr wrap="square" lIns="0" tIns="0" rIns="0" bIns="0" rtlCol="0" anchor="t"/>
          <a:lstStyle/>
          <a:p>
            <a:pPr indent="0" marL="0">
              <a:buNone/>
            </a:pPr>
            <a:r>
              <a:rPr lang="en-US" sz="4000" b="1" dirty="0">
                <a:solidFill>
                  <a:schemeClr val="accent2"/>
                </a:solidFill>
                <a:latin typeface="Ebrima" pitchFamily="34" charset="0"/>
                <a:ea typeface="Ebrima" pitchFamily="34" charset="-122"/>
                <a:cs typeface="Ebrima" pitchFamily="34" charset="-120"/>
              </a:rPr>
              <a:t>15 ደቂቃ</a:t>
            </a:r>
            <a:endParaRPr lang="en-US" sz="4000" dirty="0"/>
          </a:p>
        </p:txBody>
      </p:sp>
      <p:sp>
        <p:nvSpPr>
          <p:cNvPr id="5" name="Text 3"/>
          <p:cNvSpPr txBox="1"/>
          <p:nvPr/>
        </p:nvSpPr>
        <p:spPr>
          <a:xfrm>
            <a:off x="822960" y="2286000"/>
            <a:ext cx="2926080" cy="548640"/>
          </a:xfrm>
          <a:prstGeom prst="rect">
            <a:avLst/>
          </a:prstGeom>
          <a:noFill/>
          <a:ln/>
        </p:spPr>
        <p:txBody>
          <a:bodyPr wrap="square" lIns="0" tIns="0" rIns="0" bIns="0" rtlCol="0" anchor="t"/>
          <a:lstStyle/>
          <a:p>
            <a:pPr indent="0" marL="0">
              <a:buNone/>
            </a:pPr>
            <a:endParaRPr lang="en-US" sz="1300" dirty="0"/>
          </a:p>
        </p:txBody>
      </p:sp>
      <p:sp>
        <p:nvSpPr>
          <p:cNvPr id="6" name="Text 4"/>
          <p:cNvSpPr txBox="1"/>
          <p:nvPr/>
        </p:nvSpPr>
        <p:spPr>
          <a:xfrm>
            <a:off x="822960" y="2286000"/>
            <a:ext cx="2926080" cy="548640"/>
          </a:xfrm>
          <a:prstGeom prst="rect">
            <a:avLst/>
          </a:prstGeom>
          <a:noFill/>
          <a:ln/>
        </p:spPr>
        <p:txBody>
          <a:bodyPr wrap="square" lIns="0" tIns="0" rIns="0" bIns="0" rtlCol="0" anchor="t"/>
          <a:lstStyle/>
          <a:p>
            <a:pPr indent="0" marL="0">
              <a:buNone/>
            </a:pPr>
            <a:r>
              <a:rPr lang="en-US" sz="1300" dirty="0">
                <a:solidFill>
                  <a:schemeClr val="bg1"/>
                </a:solidFill>
                <a:latin typeface="Ebrima" pitchFamily="34" charset="0"/>
                <a:ea typeface="Ebrima" pitchFamily="34" charset="-122"/>
                <a:cs typeface="Ebrima" pitchFamily="34" charset="-120"/>
              </a:rPr>
              <a:t>ክፍለ ጊዜው ከፕሮግራሙ በፊት የሚከፈትበት</a:t>
            </a:r>
            <a:endParaRPr lang="en-US" sz="1300" dirty="0"/>
          </a:p>
        </p:txBody>
      </p:sp>
      <p:sp>
        <p:nvSpPr>
          <p:cNvPr id="7" name="Text 5"/>
          <p:cNvSpPr txBox="1"/>
          <p:nvPr/>
        </p:nvSpPr>
        <p:spPr>
          <a:xfrm>
            <a:off x="822960" y="3017520"/>
            <a:ext cx="2926080" cy="777240"/>
          </a:xfrm>
          <a:prstGeom prst="rect">
            <a:avLst/>
          </a:prstGeom>
          <a:noFill/>
          <a:ln/>
        </p:spPr>
        <p:txBody>
          <a:bodyPr wrap="square" lIns="0" tIns="0" rIns="0" bIns="0" rtlCol="0" anchor="t"/>
          <a:lstStyle/>
          <a:p>
            <a:pPr indent="0" marL="0">
              <a:buNone/>
            </a:pPr>
            <a:r>
              <a:rPr lang="en-US" sz="4000" b="1" dirty="0">
                <a:solidFill>
                  <a:schemeClr val="accent2"/>
                </a:solidFill>
                <a:latin typeface="Ebrima" pitchFamily="34" charset="0"/>
                <a:ea typeface="Ebrima" pitchFamily="34" charset="-122"/>
                <a:cs typeface="Ebrima" pitchFamily="34" charset="-120"/>
              </a:rPr>
              <a:t>1 መዝጋቢ</a:t>
            </a:r>
            <a:endParaRPr lang="en-US" sz="4000" dirty="0"/>
          </a:p>
        </p:txBody>
      </p:sp>
      <p:sp>
        <p:nvSpPr>
          <p:cNvPr id="8" name="Text 6"/>
          <p:cNvSpPr txBox="1"/>
          <p:nvPr/>
        </p:nvSpPr>
        <p:spPr>
          <a:xfrm>
            <a:off x="822960" y="3794760"/>
            <a:ext cx="2926080" cy="548640"/>
          </a:xfrm>
          <a:prstGeom prst="rect">
            <a:avLst/>
          </a:prstGeom>
          <a:noFill/>
          <a:ln/>
        </p:spPr>
        <p:txBody>
          <a:bodyPr wrap="square" lIns="0" tIns="0" rIns="0" bIns="0" rtlCol="0" anchor="t"/>
          <a:lstStyle/>
          <a:p>
            <a:pPr indent="0" marL="0">
              <a:buNone/>
            </a:pPr>
            <a:endParaRPr lang="en-US" sz="1300" dirty="0"/>
          </a:p>
        </p:txBody>
      </p:sp>
      <p:sp>
        <p:nvSpPr>
          <p:cNvPr id="9" name="Text 7"/>
          <p:cNvSpPr txBox="1"/>
          <p:nvPr/>
        </p:nvSpPr>
        <p:spPr>
          <a:xfrm>
            <a:off x="822960" y="3794760"/>
            <a:ext cx="2926080" cy="365760"/>
          </a:xfrm>
          <a:prstGeom prst="rect">
            <a:avLst/>
          </a:prstGeom>
          <a:noFill/>
          <a:ln/>
        </p:spPr>
        <p:txBody>
          <a:bodyPr wrap="square" lIns="0" tIns="0" rIns="0" bIns="0" rtlCol="0" anchor="t"/>
          <a:lstStyle/>
          <a:p>
            <a:pPr indent="0" marL="0">
              <a:buNone/>
            </a:pPr>
            <a:r>
              <a:rPr lang="en-US" sz="1300" dirty="0">
                <a:solidFill>
                  <a:schemeClr val="bg1"/>
                </a:solidFill>
                <a:latin typeface="Ebrima" pitchFamily="34" charset="0"/>
                <a:ea typeface="Ebrima" pitchFamily="34" charset="-122"/>
                <a:cs typeface="Ebrima" pitchFamily="34" charset="-120"/>
              </a:rPr>
              <a:t>ለእያንዳንዱ የፕሮግራም ቀን</a:t>
            </a:r>
            <a:endParaRPr lang="en-US" sz="1300" dirty="0"/>
          </a:p>
        </p:txBody>
      </p:sp>
      <p:sp>
        <p:nvSpPr>
          <p:cNvPr id="10" name="Text 8"/>
          <p:cNvSpPr txBox="1"/>
          <p:nvPr/>
        </p:nvSpPr>
        <p:spPr>
          <a:xfrm>
            <a:off x="822960" y="4389120"/>
            <a:ext cx="2926080" cy="777240"/>
          </a:xfrm>
          <a:prstGeom prst="rect">
            <a:avLst/>
          </a:prstGeom>
          <a:noFill/>
          <a:ln/>
        </p:spPr>
        <p:txBody>
          <a:bodyPr wrap="square" lIns="0" tIns="0" rIns="0" bIns="0" rtlCol="0" anchor="t"/>
          <a:lstStyle/>
          <a:p>
            <a:pPr indent="0" marL="0">
              <a:buNone/>
            </a:pPr>
            <a:r>
              <a:rPr lang="en-US" sz="4000" b="1" dirty="0">
                <a:solidFill>
                  <a:schemeClr val="accent2"/>
                </a:solidFill>
                <a:latin typeface="Ebrima" pitchFamily="34" charset="0"/>
                <a:ea typeface="Ebrima" pitchFamily="34" charset="-122"/>
                <a:cs typeface="Ebrima" pitchFamily="34" charset="-120"/>
              </a:rPr>
              <a:t>ፊርማ</a:t>
            </a:r>
            <a:endParaRPr lang="en-US" sz="4000" dirty="0"/>
          </a:p>
        </p:txBody>
      </p:sp>
      <p:sp>
        <p:nvSpPr>
          <p:cNvPr id="11" name="Text 9"/>
          <p:cNvSpPr txBox="1"/>
          <p:nvPr/>
        </p:nvSpPr>
        <p:spPr>
          <a:xfrm>
            <a:off x="822960" y="5166360"/>
            <a:ext cx="2926080" cy="548640"/>
          </a:xfrm>
          <a:prstGeom prst="rect">
            <a:avLst/>
          </a:prstGeom>
          <a:noFill/>
          <a:ln/>
        </p:spPr>
        <p:txBody>
          <a:bodyPr wrap="square" lIns="0" tIns="0" rIns="0" bIns="0" rtlCol="0" anchor="t"/>
          <a:lstStyle/>
          <a:p>
            <a:pPr indent="0" marL="0">
              <a:buNone/>
            </a:pPr>
            <a:endParaRPr lang="en-US" sz="1300" dirty="0"/>
          </a:p>
        </p:txBody>
      </p:sp>
      <p:sp>
        <p:nvSpPr>
          <p:cNvPr id="12" name="Text 10"/>
          <p:cNvSpPr txBox="1"/>
          <p:nvPr/>
        </p:nvSpPr>
        <p:spPr>
          <a:xfrm>
            <a:off x="822960" y="5166360"/>
            <a:ext cx="2926080" cy="822960"/>
          </a:xfrm>
          <a:prstGeom prst="rect">
            <a:avLst/>
          </a:prstGeom>
          <a:noFill/>
          <a:ln/>
        </p:spPr>
        <p:txBody>
          <a:bodyPr wrap="square" lIns="0" tIns="0" rIns="0" bIns="0" rtlCol="0" anchor="t"/>
          <a:lstStyle/>
          <a:p>
            <a:pPr indent="0" marL="0">
              <a:buNone/>
            </a:pPr>
            <a:r>
              <a:rPr lang="en-US" sz="1300" dirty="0">
                <a:solidFill>
                  <a:schemeClr val="bg1"/>
                </a:solidFill>
                <a:latin typeface="Ebrima" pitchFamily="34" charset="0"/>
                <a:ea typeface="Ebrima" pitchFamily="34" charset="-122"/>
                <a:cs typeface="Ebrima" pitchFamily="34" charset="-120"/>
              </a:rPr>
              <a:t>ለእያንዳንዱ «ተገኝቷል» ምዝገባ (ለተወሰኑ ቡድኖች ነፃ ሊደረግ ይችላል)</a:t>
            </a:r>
            <a:endParaRPr lang="en-US" sz="1300" dirty="0"/>
          </a:p>
        </p:txBody>
      </p:sp>
      <p:sp>
        <p:nvSpPr>
          <p:cNvPr id="13" name="Text 11"/>
          <p:cNvSpPr txBox="1"/>
          <p:nvPr/>
        </p:nvSpPr>
        <p:spPr>
          <a:xfrm>
            <a:off x="4343400" y="1417320"/>
            <a:ext cx="7315200" cy="4754880"/>
          </a:xfrm>
          <a:prstGeom prst="rect">
            <a:avLst/>
          </a:prstGeom>
          <a:noFill/>
          <a:ln/>
        </p:spPr>
        <p:txBody>
          <a:bodyPr wrap="square" lIns="0" tIns="0" rIns="0" bIns="0" rtlCol="0" anchor="t"/>
          <a:lstStyle/>
          <a:p>
            <a:pPr marL="342900" indent="-342900">
              <a:spcAft>
                <a:spcPts val="1000"/>
              </a:spcAft>
              <a:buSzPct val="100000"/>
              <a:buChar char="●"/>
            </a:pPr>
            <a:r>
              <a:rPr lang="en-US" sz="1500" b="1" dirty="0">
                <a:solidFill>
                  <a:schemeClr val="accent1"/>
                </a:solidFill>
                <a:latin typeface="Ebrima" pitchFamily="34" charset="0"/>
                <a:ea typeface="Ebrima" pitchFamily="34" charset="-122"/>
                <a:cs typeface="Ebrima" pitchFamily="34" charset="-120"/>
              </a:rPr>
              <a:t>ሰዓት አክባሪነት፦ </a:t>
            </a:r>
            <a:pPr indent="0" marL="0">
              <a:spcAft>
                <a:spcPts val="1000"/>
              </a:spcAft>
              <a:buNone/>
            </a:pPr>
            <a:r>
              <a:rPr lang="en-US" sz="1500" dirty="0">
                <a:solidFill>
                  <a:schemeClr val="tx1"/>
                </a:solidFill>
                <a:latin typeface="Ebrima" pitchFamily="34" charset="0"/>
                <a:ea typeface="Ebrima" pitchFamily="34" charset="-122"/>
                <a:cs typeface="Ebrima" pitchFamily="34" charset="-120"/>
              </a:rPr>
              <a:t>«ዘግይቷል» የሚለው ደረጃ ተወግዷል፤ ይልቁንም የተመዘገበበት ትክክለኛ ሰዓትና ከ«ጀምር» በኋላ ያለፉ ደቂቃዎች ይያዛሉ</a:t>
            </a:r>
            <a:endParaRPr lang="en-US" sz="1500" dirty="0"/>
          </a:p>
          <a:p>
            <a:pPr marL="342900" indent="-342900">
              <a:spcAft>
                <a:spcPts val="1000"/>
              </a:spcAft>
              <a:buSzPct val="100000"/>
              <a:buChar char="●"/>
            </a:pPr>
            <a:r>
              <a:rPr lang="en-US" sz="1500" b="1" dirty="0">
                <a:solidFill>
                  <a:schemeClr val="accent1"/>
                </a:solidFill>
                <a:latin typeface="Ebrima" pitchFamily="34" charset="0"/>
                <a:ea typeface="Ebrima" pitchFamily="34" charset="-122"/>
                <a:cs typeface="Ebrima" pitchFamily="34" charset="-120"/>
              </a:rPr>
              <a:t>የፈቃድ ጥያቄ፦ </a:t>
            </a:r>
            <a:pPr indent="0" marL="0">
              <a:spcAft>
                <a:spcPts val="1000"/>
              </a:spcAft>
              <a:buNone/>
            </a:pPr>
            <a:r>
              <a:rPr lang="en-US" sz="1500" dirty="0">
                <a:solidFill>
                  <a:schemeClr val="tx1"/>
                </a:solidFill>
                <a:latin typeface="Ebrima" pitchFamily="34" charset="0"/>
                <a:ea typeface="Ebrima" pitchFamily="34" charset="-122"/>
                <a:cs typeface="Ebrima" pitchFamily="34" charset="-120"/>
              </a:rPr>
              <a:t>ከጊዜ ገደብ በፊት፤ ወርሃዊና የሩብ ዓመት ገደብ አለው፤ በስህተት የጸደቀ ፈቃድ በምክንያት ይሰረዛል</a:t>
            </a:r>
            <a:endParaRPr lang="en-US" sz="1500" dirty="0"/>
          </a:p>
          <a:p>
            <a:pPr marL="342900" indent="-342900">
              <a:spcAft>
                <a:spcPts val="1000"/>
              </a:spcAft>
              <a:buSzPct val="100000"/>
              <a:buChar char="●"/>
            </a:pPr>
            <a:r>
              <a:rPr lang="en-US" sz="1500" b="1" dirty="0">
                <a:solidFill>
                  <a:schemeClr val="accent1"/>
                </a:solidFill>
                <a:latin typeface="Ebrima" pitchFamily="34" charset="0"/>
                <a:ea typeface="Ebrima" pitchFamily="34" charset="-122"/>
                <a:cs typeface="Ebrima" pitchFamily="34" charset="-120"/>
              </a:rPr>
              <a:t>ማስተካከያ፦ </a:t>
            </a:r>
            <a:pPr indent="0" marL="0">
              <a:spcAft>
                <a:spcPts val="1000"/>
              </a:spcAft>
              <a:buNone/>
            </a:pPr>
            <a:r>
              <a:rPr lang="en-US" sz="1500" dirty="0">
                <a:solidFill>
                  <a:schemeClr val="tx1"/>
                </a:solidFill>
                <a:latin typeface="Ebrima" pitchFamily="34" charset="0"/>
                <a:ea typeface="Ebrima" pitchFamily="34" charset="-122"/>
                <a:cs typeface="Ebrima" pitchFamily="34" charset="-120"/>
              </a:rPr>
              <a:t>ከተዘጋ በኋላ በጥያቄ፣ በግምገማና በኦዲት መዝገብ</a:t>
            </a:r>
            <a:endParaRPr lang="en-US" sz="1500" dirty="0"/>
          </a:p>
          <a:p>
            <a:pPr marL="342900" indent="-342900">
              <a:spcAft>
                <a:spcPts val="1000"/>
              </a:spcAft>
              <a:buSzPct val="100000"/>
              <a:buChar char="●"/>
            </a:pPr>
            <a:r>
              <a:rPr lang="en-US" sz="1500" b="1" dirty="0">
                <a:solidFill>
                  <a:schemeClr val="accent1"/>
                </a:solidFill>
                <a:latin typeface="Ebrima" pitchFamily="34" charset="0"/>
                <a:ea typeface="Ebrima" pitchFamily="34" charset="-122"/>
                <a:cs typeface="Ebrima" pitchFamily="34" charset="-120"/>
              </a:rPr>
              <a:t>ለአባላት፦ </a:t>
            </a:r>
            <a:pPr indent="0" marL="0">
              <a:spcAft>
                <a:spcPts val="1000"/>
              </a:spcAft>
              <a:buNone/>
            </a:pPr>
            <a:r>
              <a:rPr lang="en-US" sz="1500" dirty="0">
                <a:solidFill>
                  <a:schemeClr val="tx1"/>
                </a:solidFill>
                <a:latin typeface="Ebrima" pitchFamily="34" charset="0"/>
                <a:ea typeface="Ebrima" pitchFamily="34" charset="-122"/>
                <a:cs typeface="Ebrima" pitchFamily="34" charset="-120"/>
              </a:rPr>
              <a:t>የራሳቸው የመገኘት የቀን መቁጠሪያና ስታቲስቲክስ</a:t>
            </a:r>
            <a:endParaRPr lang="en-US" sz="1500" dirty="0"/>
          </a:p>
          <a:p>
            <a:pPr marL="342900" indent="-342900">
              <a:spcAft>
                <a:spcPts val="1000"/>
              </a:spcAft>
              <a:buSzPct val="100000"/>
              <a:buChar char="●"/>
            </a:pPr>
            <a:r>
              <a:rPr lang="en-US" sz="1500" b="1" dirty="0">
                <a:solidFill>
                  <a:schemeClr val="accent1"/>
                </a:solidFill>
                <a:latin typeface="Ebrima" pitchFamily="34" charset="0"/>
                <a:ea typeface="Ebrima" pitchFamily="34" charset="-122"/>
                <a:cs typeface="Ebrima" pitchFamily="34" charset="-120"/>
              </a:rPr>
              <a:t>ሪፖርት፦ </a:t>
            </a:r>
            <a:pPr indent="0" marL="0">
              <a:spcAft>
                <a:spcPts val="1000"/>
              </a:spcAft>
              <a:buNone/>
            </a:pPr>
            <a:r>
              <a:rPr lang="en-US" sz="1500" dirty="0">
                <a:solidFill>
                  <a:schemeClr val="tx1"/>
                </a:solidFill>
                <a:latin typeface="Ebrima" pitchFamily="34" charset="0"/>
                <a:ea typeface="Ebrima" pitchFamily="34" charset="-122"/>
                <a:cs typeface="Ebrima" pitchFamily="34" charset="-120"/>
              </a:rPr>
              <a:t>ለእያንዳንዱ የፕሮግራም ቀን በPDF፣ Excel ወይም CSV — ኢትዮጵያዊ ቀን፣ መዝጋቢ፣ ሰዓት፣ ፊርማ</a:t>
            </a:r>
            <a:endParaRPr lang="en-US" sz="1500" dirty="0"/>
          </a:p>
          <a:p>
            <a:pPr marL="342900" indent="-342900">
              <a:spcAft>
                <a:spcPts val="1000"/>
              </a:spcAft>
              <a:buSzPct val="100000"/>
              <a:buChar char="●"/>
            </a:pPr>
            <a:r>
              <a:rPr lang="en-US" sz="1500" b="1" dirty="0">
                <a:solidFill>
                  <a:schemeClr val="accent4"/>
                </a:solidFill>
                <a:latin typeface="Ebrima" pitchFamily="34" charset="0"/>
                <a:ea typeface="Ebrima" pitchFamily="34" charset="-122"/>
                <a:cs typeface="Ebrima" pitchFamily="34" charset="-120"/>
              </a:rPr>
              <a:t>በልማት ላይ፦ </a:t>
            </a:r>
            <a:pPr indent="0" marL="0">
              <a:spcAft>
                <a:spcPts val="1000"/>
              </a:spcAft>
              <a:buNone/>
            </a:pPr>
            <a:r>
              <a:rPr lang="en-US" sz="1500" dirty="0">
                <a:solidFill>
                  <a:schemeClr val="accent4"/>
                </a:solidFill>
                <a:latin typeface="Ebrima" pitchFamily="34" charset="0"/>
                <a:ea typeface="Ebrima" pitchFamily="34" charset="-122"/>
                <a:cs typeface="Ebrima" pitchFamily="34" charset="-120"/>
              </a:rPr>
              <a:t>በደቂቃ ክፍተት የሚሰላ የመገኘት መቶኛ ለምርጫ (ገና አልተለቀቀም)</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Ebrima"/>
                <a:ea typeface="Ebrima"/>
                <a:cs typeface="Ebrima"/>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0241280" cy="777240"/>
          </a:xfrm>
          <a:prstGeom prst="rect">
            <a:avLst/>
          </a:prstGeom>
          <a:noFill/>
          <a:ln/>
        </p:spPr>
        <p:txBody>
          <a:bodyPr wrap="square" lIns="0" tIns="0" rIns="0" bIns="0" rtlCol="0" anchor="ctr"/>
          <a:lstStyle/>
          <a:p>
            <a:pPr algn="l" indent="0" marL="0">
              <a:buNone/>
            </a:pPr>
            <a:r>
              <a:rPr lang="en-US" sz="3400" dirty="0">
                <a:solidFill>
                  <a:schemeClr val="accent1"/>
                </a:solidFill>
                <a:latin typeface="Nyala" pitchFamily="34" charset="0"/>
                <a:ea typeface="Nyala" pitchFamily="34" charset="-122"/>
                <a:cs typeface="Nyala" pitchFamily="34" charset="-120"/>
              </a:rPr>
              <a:t>የትምህርትና የሥልጠና አስተዳደር</a:t>
            </a:r>
            <a:endParaRPr lang="en-US" sz="3400" dirty="0"/>
          </a:p>
        </p:txBody>
      </p:sp>
      <p:sp>
        <p:nvSpPr>
          <p:cNvPr id="3" name="Text 1"/>
          <p:cNvSpPr txBox="1"/>
          <p:nvPr/>
        </p:nvSpPr>
        <p:spPr>
          <a:xfrm>
            <a:off x="548640" y="1371600"/>
            <a:ext cx="5760720" cy="365760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chemeClr val="tx1"/>
                </a:solidFill>
                <a:latin typeface="Ebrima" pitchFamily="34" charset="0"/>
                <a:ea typeface="Ebrima" pitchFamily="34" charset="-122"/>
                <a:cs typeface="Ebrima" pitchFamily="34" charset="-120"/>
              </a:rPr>
              <a:t>ክፍሎች፣ ኮርሶች፣ የጊዜ ሰሌዳ፣ መደበኛና የርቀት ትምህርት</a:t>
            </a:r>
            <a:endParaRPr lang="en-US" sz="1500" dirty="0"/>
          </a:p>
          <a:p>
            <a:pPr marL="342900" indent="-342900">
              <a:spcAft>
                <a:spcPts val="900"/>
              </a:spcAft>
              <a:buSzPct val="100000"/>
              <a:buChar char="●"/>
            </a:pPr>
            <a:r>
              <a:rPr lang="en-US" sz="1500" dirty="0">
                <a:solidFill>
                  <a:schemeClr val="tx1"/>
                </a:solidFill>
                <a:latin typeface="Ebrima" pitchFamily="34" charset="0"/>
                <a:ea typeface="Ebrima" pitchFamily="34" charset="-122"/>
                <a:cs typeface="Ebrima" pitchFamily="34" charset="-120"/>
              </a:rPr>
              <a:t>የተማሪዎች ምዝገባ፣ ዝውውርና ወደ ቀጣይ ክፍል ማሳለፍ</a:t>
            </a:r>
            <a:endParaRPr lang="en-US" sz="1500" dirty="0"/>
          </a:p>
          <a:p>
            <a:pPr marL="342900" indent="-342900">
              <a:spcAft>
                <a:spcPts val="900"/>
              </a:spcAft>
              <a:buSzPct val="100000"/>
              <a:buChar char="●"/>
            </a:pPr>
            <a:r>
              <a:rPr lang="en-US" sz="1500" dirty="0">
                <a:solidFill>
                  <a:schemeClr val="tx1"/>
                </a:solidFill>
                <a:latin typeface="Ebrima" pitchFamily="34" charset="0"/>
                <a:ea typeface="Ebrima" pitchFamily="34" charset="-122"/>
                <a:cs typeface="Ebrima" pitchFamily="34" charset="-120"/>
              </a:rPr>
              <a:t>የመምህራን ምደባ ከታሪክ ጋር — ውጤት የሚያስገባው ንቁ መምህር ብቻ</a:t>
            </a:r>
            <a:endParaRPr lang="en-US" sz="1500" dirty="0"/>
          </a:p>
          <a:p>
            <a:pPr marL="342900" indent="-342900">
              <a:spcAft>
                <a:spcPts val="900"/>
              </a:spcAft>
              <a:buSzPct val="100000"/>
              <a:buChar char="●"/>
            </a:pPr>
            <a:r>
              <a:rPr lang="en-US" sz="1500" dirty="0">
                <a:solidFill>
                  <a:schemeClr val="tx1"/>
                </a:solidFill>
                <a:latin typeface="Ebrima" pitchFamily="34" charset="0"/>
                <a:ea typeface="Ebrima" pitchFamily="34" charset="-122"/>
                <a:cs typeface="Ebrima" pitchFamily="34" charset="-120"/>
              </a:rPr>
              <a:t>የቤት ሥራ (የግልና የቡድን)፣ ማቅረብና ማረም</a:t>
            </a:r>
            <a:endParaRPr lang="en-US" sz="1500" dirty="0"/>
          </a:p>
          <a:p>
            <a:pPr marL="342900" indent="-342900">
              <a:spcAft>
                <a:spcPts val="900"/>
              </a:spcAft>
              <a:buSzPct val="100000"/>
              <a:buChar char="●"/>
            </a:pPr>
            <a:r>
              <a:rPr lang="en-US" sz="1500" dirty="0">
                <a:solidFill>
                  <a:schemeClr val="tx1"/>
                </a:solidFill>
                <a:latin typeface="Ebrima" pitchFamily="34" charset="0"/>
                <a:ea typeface="Ebrima" pitchFamily="34" charset="-122"/>
                <a:cs typeface="Ebrima" pitchFamily="34" charset="-120"/>
              </a:rPr>
              <a:t>የተማሪ ጥያቄዎች (ክፍል መቀየር፣ ትምህርት መጨመር/መተው) እና ቅሬታዎች</a:t>
            </a:r>
            <a:endParaRPr lang="en-US" sz="1500" dirty="0"/>
          </a:p>
          <a:p>
            <a:pPr marL="342900" indent="-342900">
              <a:spcAft>
                <a:spcPts val="900"/>
              </a:spcAft>
              <a:buSzPct val="100000"/>
              <a:buChar char="●"/>
            </a:pPr>
            <a:r>
              <a:rPr lang="en-US" sz="1500" dirty="0">
                <a:solidFill>
                  <a:schemeClr val="tx1"/>
                </a:solidFill>
                <a:latin typeface="Ebrima" pitchFamily="34" charset="0"/>
                <a:ea typeface="Ebrima" pitchFamily="34" charset="-122"/>
                <a:cs typeface="Ebrima" pitchFamily="34" charset="-120"/>
              </a:rPr>
              <a:t>የትምህርት ክፍሉ ለተወሰኑ አባላት ሊዘጋ ይችላል</a:t>
            </a:r>
            <a:endParaRPr lang="en-US" sz="1500" dirty="0"/>
          </a:p>
        </p:txBody>
      </p:sp>
      <p:pic>
        <p:nvPicPr>
          <p:cNvPr id="4" name="Image 0" descr="C:\Users\HP\Documents\MH-app-1.5.3\mobile\mobile\assets\images\edu_icon.png">    </p:cNvPr>
          <p:cNvPicPr>
            <a:picLocks noChangeAspect="1"/>
          </p:cNvPicPr>
          <p:nvPr/>
        </p:nvPicPr>
        <p:blipFill>
          <a:blip r:embed="rId1"/>
          <a:stretch>
            <a:fillRect/>
          </a:stretch>
        </p:blipFill>
        <p:spPr>
          <a:xfrm>
            <a:off x="9692640" y="1143000"/>
            <a:ext cx="1737360" cy="1737360"/>
          </a:xfrm>
          <a:prstGeom prst="rect">
            <a:avLst/>
          </a:prstGeom>
        </p:spPr>
      </p:pic>
      <p:sp>
        <p:nvSpPr>
          <p:cNvPr id="5" name="Text 2"/>
          <p:cNvSpPr txBox="1"/>
          <p:nvPr/>
        </p:nvSpPr>
        <p:spPr>
          <a:xfrm>
            <a:off x="548640" y="4572000"/>
            <a:ext cx="5486400" cy="365760"/>
          </a:xfrm>
          <a:prstGeom prst="rect">
            <a:avLst/>
          </a:prstGeom>
          <a:noFill/>
          <a:ln/>
        </p:spPr>
        <p:txBody>
          <a:bodyPr wrap="square" lIns="0" tIns="0" rIns="0" bIns="0" rtlCol="0" anchor="t"/>
          <a:lstStyle/>
          <a:p>
            <a:pPr indent="0" marL="0">
              <a:buNone/>
            </a:pPr>
            <a:r>
              <a:rPr lang="en-US" sz="1600" b="1" dirty="0">
                <a:solidFill>
                  <a:schemeClr val="accent1"/>
                </a:solidFill>
                <a:latin typeface="Ebrima" pitchFamily="34" charset="0"/>
                <a:ea typeface="Ebrima" pitchFamily="34" charset="-122"/>
                <a:cs typeface="Ebrima" pitchFamily="34" charset="-120"/>
              </a:rPr>
              <a:t>የውጤት የሥራ ሂደት</a:t>
            </a:r>
            <a:endParaRPr lang="en-US" sz="1600" dirty="0"/>
          </a:p>
        </p:txBody>
      </p:sp>
      <p:sp>
        <p:nvSpPr>
          <p:cNvPr id="6" name="Shape 3"/>
          <p:cNvSpPr/>
          <p:nvPr/>
        </p:nvSpPr>
        <p:spPr>
          <a:xfrm>
            <a:off x="548640" y="4983480"/>
            <a:ext cx="2558034" cy="1234440"/>
          </a:xfrm>
          <a:prstGeom prst="roundRect">
            <a:avLst>
              <a:gd name="adj" fmla="val 7407"/>
            </a:avLst>
          </a:prstGeom>
          <a:solidFill>
            <a:schemeClr val="accent1"/>
          </a:solidFill>
          <a:ln/>
        </p:spPr>
      </p:sp>
      <p:sp>
        <p:nvSpPr>
          <p:cNvPr id="7" name="Text 4"/>
          <p:cNvSpPr txBox="1"/>
          <p:nvPr/>
        </p:nvSpPr>
        <p:spPr>
          <a:xfrm>
            <a:off x="685800" y="5148072"/>
            <a:ext cx="2283714" cy="502920"/>
          </a:xfrm>
          <a:prstGeom prst="rect">
            <a:avLst/>
          </a:prstGeom>
          <a:noFill/>
          <a:ln/>
        </p:spPr>
        <p:txBody>
          <a:bodyPr wrap="square" lIns="0" tIns="0" rIns="0" bIns="0" rtlCol="0" anchor="t"/>
          <a:lstStyle/>
          <a:p>
            <a:pPr indent="0" marL="0">
              <a:buNone/>
            </a:pPr>
            <a:r>
              <a:rPr lang="en-US" sz="1600" b="1" dirty="0">
                <a:solidFill>
                  <a:schemeClr val="bg1"/>
                </a:solidFill>
                <a:latin typeface="Ebrima" pitchFamily="34" charset="0"/>
                <a:ea typeface="Ebrima" pitchFamily="34" charset="-122"/>
                <a:cs typeface="Ebrima" pitchFamily="34" charset="-120"/>
              </a:rPr>
              <a:t>ረቂቅ</a:t>
            </a:r>
            <a:endParaRPr lang="en-US" sz="1600" dirty="0"/>
          </a:p>
        </p:txBody>
      </p:sp>
      <p:sp>
        <p:nvSpPr>
          <p:cNvPr id="8" name="Text 5"/>
          <p:cNvSpPr txBox="1"/>
          <p:nvPr/>
        </p:nvSpPr>
        <p:spPr>
          <a:xfrm>
            <a:off x="685800" y="5669280"/>
            <a:ext cx="2283714" cy="457200"/>
          </a:xfrm>
          <a:prstGeom prst="rect">
            <a:avLst/>
          </a:prstGeom>
          <a:noFill/>
          <a:ln/>
        </p:spPr>
        <p:txBody>
          <a:bodyPr wrap="square" lIns="0" tIns="0" rIns="0" bIns="0" rtlCol="0" anchor="t"/>
          <a:lstStyle/>
          <a:p>
            <a:pPr indent="0" marL="0">
              <a:buNone/>
            </a:pPr>
            <a:r>
              <a:rPr lang="en-US" sz="1250" dirty="0">
                <a:solidFill>
                  <a:schemeClr val="bg1"/>
                </a:solidFill>
                <a:latin typeface="Ebrima" pitchFamily="34" charset="0"/>
                <a:ea typeface="Ebrima" pitchFamily="34" charset="-122"/>
                <a:cs typeface="Ebrima" pitchFamily="34" charset="-120"/>
              </a:rPr>
              <a:t>መምህሩ ያስገባል</a:t>
            </a:r>
            <a:endParaRPr lang="en-US" sz="1250" dirty="0"/>
          </a:p>
        </p:txBody>
      </p:sp>
      <p:sp>
        <p:nvSpPr>
          <p:cNvPr id="9" name="Shape 6"/>
          <p:cNvSpPr/>
          <p:nvPr/>
        </p:nvSpPr>
        <p:spPr>
          <a:xfrm rot="5400000">
            <a:off x="3134106" y="5536326"/>
            <a:ext cx="237744" cy="128748"/>
          </a:xfrm>
          <a:prstGeom prst="triangle">
            <a:avLst/>
          </a:prstGeom>
          <a:solidFill>
            <a:schemeClr val="accent2"/>
          </a:solidFill>
          <a:ln/>
        </p:spPr>
      </p:sp>
      <p:sp>
        <p:nvSpPr>
          <p:cNvPr id="10" name="Shape 7"/>
          <p:cNvSpPr/>
          <p:nvPr/>
        </p:nvSpPr>
        <p:spPr>
          <a:xfrm>
            <a:off x="3399282" y="4983480"/>
            <a:ext cx="2558034" cy="1234440"/>
          </a:xfrm>
          <a:prstGeom prst="roundRect">
            <a:avLst>
              <a:gd name="adj" fmla="val 7407"/>
            </a:avLst>
          </a:prstGeom>
          <a:solidFill>
            <a:schemeClr val="bg2">
              <a:alpha val="80000"/>
            </a:schemeClr>
          </a:solidFill>
          <a:ln/>
        </p:spPr>
      </p:sp>
      <p:sp>
        <p:nvSpPr>
          <p:cNvPr id="11" name="Text 8"/>
          <p:cNvSpPr txBox="1"/>
          <p:nvPr/>
        </p:nvSpPr>
        <p:spPr>
          <a:xfrm>
            <a:off x="3536442" y="5148072"/>
            <a:ext cx="2283714" cy="502920"/>
          </a:xfrm>
          <a:prstGeom prst="rect">
            <a:avLst/>
          </a:prstGeom>
          <a:noFill/>
          <a:ln/>
        </p:spPr>
        <p:txBody>
          <a:bodyPr wrap="square" lIns="0" tIns="0" rIns="0" bIns="0" rtlCol="0" anchor="t"/>
          <a:lstStyle/>
          <a:p>
            <a:pPr indent="0" marL="0">
              <a:buNone/>
            </a:pPr>
            <a:r>
              <a:rPr lang="en-US" sz="1600" b="1" dirty="0">
                <a:solidFill>
                  <a:schemeClr val="accent1"/>
                </a:solidFill>
                <a:latin typeface="Ebrima" pitchFamily="34" charset="0"/>
                <a:ea typeface="Ebrima" pitchFamily="34" charset="-122"/>
                <a:cs typeface="Ebrima" pitchFamily="34" charset="-120"/>
              </a:rPr>
              <a:t>ቀርቧል</a:t>
            </a:r>
            <a:endParaRPr lang="en-US" sz="1600" dirty="0"/>
          </a:p>
        </p:txBody>
      </p:sp>
      <p:sp>
        <p:nvSpPr>
          <p:cNvPr id="12" name="Text 9"/>
          <p:cNvSpPr txBox="1"/>
          <p:nvPr/>
        </p:nvSpPr>
        <p:spPr>
          <a:xfrm>
            <a:off x="3536442" y="5669280"/>
            <a:ext cx="2283714" cy="457200"/>
          </a:xfrm>
          <a:prstGeom prst="rect">
            <a:avLst/>
          </a:prstGeom>
          <a:noFill/>
          <a:ln/>
        </p:spPr>
        <p:txBody>
          <a:bodyPr wrap="square" lIns="0" tIns="0" rIns="0" bIns="0" rtlCol="0" anchor="t"/>
          <a:lstStyle/>
          <a:p>
            <a:pPr indent="0" marL="0">
              <a:buNone/>
            </a:pPr>
            <a:r>
              <a:rPr lang="en-US" sz="1250" dirty="0">
                <a:solidFill>
                  <a:schemeClr val="tx1"/>
                </a:solidFill>
                <a:latin typeface="Ebrima" pitchFamily="34" charset="0"/>
                <a:ea typeface="Ebrima" pitchFamily="34" charset="-122"/>
                <a:cs typeface="Ebrima" pitchFamily="34" charset="-120"/>
              </a:rPr>
              <a:t>ለግምገማ ይላካል</a:t>
            </a:r>
            <a:endParaRPr lang="en-US" sz="1250" dirty="0"/>
          </a:p>
        </p:txBody>
      </p:sp>
      <p:sp>
        <p:nvSpPr>
          <p:cNvPr id="13" name="Shape 10"/>
          <p:cNvSpPr/>
          <p:nvPr/>
        </p:nvSpPr>
        <p:spPr>
          <a:xfrm rot="5400000">
            <a:off x="5984748" y="5536326"/>
            <a:ext cx="237744" cy="128748"/>
          </a:xfrm>
          <a:prstGeom prst="triangle">
            <a:avLst/>
          </a:prstGeom>
          <a:solidFill>
            <a:schemeClr val="accent2"/>
          </a:solidFill>
          <a:ln/>
        </p:spPr>
      </p:sp>
      <p:sp>
        <p:nvSpPr>
          <p:cNvPr id="14" name="Shape 11"/>
          <p:cNvSpPr/>
          <p:nvPr/>
        </p:nvSpPr>
        <p:spPr>
          <a:xfrm>
            <a:off x="6249924" y="4983480"/>
            <a:ext cx="2558034" cy="1234440"/>
          </a:xfrm>
          <a:prstGeom prst="roundRect">
            <a:avLst>
              <a:gd name="adj" fmla="val 7407"/>
            </a:avLst>
          </a:prstGeom>
          <a:solidFill>
            <a:schemeClr val="bg2">
              <a:alpha val="80000"/>
            </a:schemeClr>
          </a:solidFill>
          <a:ln/>
        </p:spPr>
      </p:sp>
      <p:sp>
        <p:nvSpPr>
          <p:cNvPr id="15" name="Text 12"/>
          <p:cNvSpPr txBox="1"/>
          <p:nvPr/>
        </p:nvSpPr>
        <p:spPr>
          <a:xfrm>
            <a:off x="6387084" y="5148072"/>
            <a:ext cx="2283714" cy="502920"/>
          </a:xfrm>
          <a:prstGeom prst="rect">
            <a:avLst/>
          </a:prstGeom>
          <a:noFill/>
          <a:ln/>
        </p:spPr>
        <p:txBody>
          <a:bodyPr wrap="square" lIns="0" tIns="0" rIns="0" bIns="0" rtlCol="0" anchor="t"/>
          <a:lstStyle/>
          <a:p>
            <a:pPr indent="0" marL="0">
              <a:buNone/>
            </a:pPr>
            <a:r>
              <a:rPr lang="en-US" sz="1600" b="1" dirty="0">
                <a:solidFill>
                  <a:schemeClr val="accent1"/>
                </a:solidFill>
                <a:latin typeface="Ebrima" pitchFamily="34" charset="0"/>
                <a:ea typeface="Ebrima" pitchFamily="34" charset="-122"/>
                <a:cs typeface="Ebrima" pitchFamily="34" charset="-120"/>
              </a:rPr>
              <a:t>ጸድቋል</a:t>
            </a:r>
            <a:endParaRPr lang="en-US" sz="1600" dirty="0"/>
          </a:p>
        </p:txBody>
      </p:sp>
      <p:sp>
        <p:nvSpPr>
          <p:cNvPr id="16" name="Text 13"/>
          <p:cNvSpPr txBox="1"/>
          <p:nvPr/>
        </p:nvSpPr>
        <p:spPr>
          <a:xfrm>
            <a:off x="6387084" y="5669280"/>
            <a:ext cx="2283714" cy="457200"/>
          </a:xfrm>
          <a:prstGeom prst="rect">
            <a:avLst/>
          </a:prstGeom>
          <a:noFill/>
          <a:ln/>
        </p:spPr>
        <p:txBody>
          <a:bodyPr wrap="square" lIns="0" tIns="0" rIns="0" bIns="0" rtlCol="0" anchor="t"/>
          <a:lstStyle/>
          <a:p>
            <a:pPr indent="0" marL="0">
              <a:buNone/>
            </a:pPr>
            <a:r>
              <a:rPr lang="en-US" sz="1250" dirty="0">
                <a:solidFill>
                  <a:schemeClr val="tx1"/>
                </a:solidFill>
                <a:latin typeface="Ebrima" pitchFamily="34" charset="0"/>
                <a:ea typeface="Ebrima" pitchFamily="34" charset="-122"/>
                <a:cs typeface="Ebrima" pitchFamily="34" charset="-120"/>
              </a:rPr>
              <a:t>በሌላ ኃላፊ (ራስን ማጽደቅ አይቻልም)</a:t>
            </a:r>
            <a:endParaRPr lang="en-US" sz="1250" dirty="0"/>
          </a:p>
        </p:txBody>
      </p:sp>
      <p:sp>
        <p:nvSpPr>
          <p:cNvPr id="17" name="Shape 14"/>
          <p:cNvSpPr/>
          <p:nvPr/>
        </p:nvSpPr>
        <p:spPr>
          <a:xfrm rot="5400000">
            <a:off x="8835390" y="5536326"/>
            <a:ext cx="237744" cy="128748"/>
          </a:xfrm>
          <a:prstGeom prst="triangle">
            <a:avLst/>
          </a:prstGeom>
          <a:solidFill>
            <a:schemeClr val="accent2"/>
          </a:solidFill>
          <a:ln/>
        </p:spPr>
      </p:sp>
      <p:sp>
        <p:nvSpPr>
          <p:cNvPr id="18" name="Shape 15"/>
          <p:cNvSpPr/>
          <p:nvPr/>
        </p:nvSpPr>
        <p:spPr>
          <a:xfrm>
            <a:off x="9100566" y="4983480"/>
            <a:ext cx="2558034" cy="1234440"/>
          </a:xfrm>
          <a:prstGeom prst="roundRect">
            <a:avLst>
              <a:gd name="adj" fmla="val 7407"/>
            </a:avLst>
          </a:prstGeom>
          <a:solidFill>
            <a:schemeClr val="accent3"/>
          </a:solidFill>
          <a:ln/>
        </p:spPr>
      </p:sp>
      <p:sp>
        <p:nvSpPr>
          <p:cNvPr id="19" name="Text 16"/>
          <p:cNvSpPr txBox="1"/>
          <p:nvPr/>
        </p:nvSpPr>
        <p:spPr>
          <a:xfrm>
            <a:off x="9237726" y="5148072"/>
            <a:ext cx="2283714" cy="502920"/>
          </a:xfrm>
          <a:prstGeom prst="rect">
            <a:avLst/>
          </a:prstGeom>
          <a:noFill/>
          <a:ln/>
        </p:spPr>
        <p:txBody>
          <a:bodyPr wrap="square" lIns="0" tIns="0" rIns="0" bIns="0" rtlCol="0" anchor="t"/>
          <a:lstStyle/>
          <a:p>
            <a:pPr indent="0" marL="0">
              <a:buNone/>
            </a:pPr>
            <a:r>
              <a:rPr lang="en-US" sz="1600" b="1" dirty="0">
                <a:solidFill>
                  <a:schemeClr val="bg1"/>
                </a:solidFill>
                <a:latin typeface="Ebrima" pitchFamily="34" charset="0"/>
                <a:ea typeface="Ebrima" pitchFamily="34" charset="-122"/>
                <a:cs typeface="Ebrima" pitchFamily="34" charset="-120"/>
              </a:rPr>
              <a:t>ታትሟል</a:t>
            </a:r>
            <a:endParaRPr lang="en-US" sz="1600" dirty="0"/>
          </a:p>
        </p:txBody>
      </p:sp>
      <p:sp>
        <p:nvSpPr>
          <p:cNvPr id="20" name="Text 17"/>
          <p:cNvSpPr txBox="1"/>
          <p:nvPr/>
        </p:nvSpPr>
        <p:spPr>
          <a:xfrm>
            <a:off x="9237726" y="5669280"/>
            <a:ext cx="2283714" cy="457200"/>
          </a:xfrm>
          <a:prstGeom prst="rect">
            <a:avLst/>
          </a:prstGeom>
          <a:noFill/>
          <a:ln/>
        </p:spPr>
        <p:txBody>
          <a:bodyPr wrap="square" lIns="0" tIns="0" rIns="0" bIns="0" rtlCol="0" anchor="t"/>
          <a:lstStyle/>
          <a:p>
            <a:pPr indent="0" marL="0">
              <a:buNone/>
            </a:pPr>
            <a:r>
              <a:rPr lang="en-US" sz="1250" dirty="0">
                <a:solidFill>
                  <a:schemeClr val="bg1"/>
                </a:solidFill>
                <a:latin typeface="Ebrima" pitchFamily="34" charset="0"/>
                <a:ea typeface="Ebrima" pitchFamily="34" charset="-122"/>
                <a:cs typeface="Ebrima" pitchFamily="34" charset="-120"/>
              </a:rPr>
              <a:t>አሁን ተማሪው ያየዋል</a:t>
            </a:r>
            <a:endParaRPr lang="en-US" sz="1250" dirty="0"/>
          </a:p>
        </p:txBody>
      </p:sp>
      <p:sp>
        <p:nvSpPr>
          <p:cNvPr id="21" name="Shape 18"/>
          <p:cNvSpPr/>
          <p:nvPr/>
        </p:nvSpPr>
        <p:spPr>
          <a:xfrm>
            <a:off x="6675120" y="1371600"/>
            <a:ext cx="2834640" cy="3017520"/>
          </a:xfrm>
          <a:prstGeom prst="roundRect">
            <a:avLst>
              <a:gd name="adj" fmla="val 3871"/>
            </a:avLst>
          </a:prstGeom>
          <a:solidFill>
            <a:schemeClr val="bg2">
              <a:alpha val="60000"/>
            </a:schemeClr>
          </a:solidFill>
          <a:ln/>
        </p:spPr>
      </p:sp>
      <p:sp>
        <p:nvSpPr>
          <p:cNvPr id="22" name="Text 19"/>
          <p:cNvSpPr txBox="1"/>
          <p:nvPr/>
        </p:nvSpPr>
        <p:spPr>
          <a:xfrm>
            <a:off x="6858000" y="1508760"/>
            <a:ext cx="2560320" cy="365760"/>
          </a:xfrm>
          <a:prstGeom prst="rect">
            <a:avLst/>
          </a:prstGeom>
          <a:noFill/>
          <a:ln/>
        </p:spPr>
        <p:txBody>
          <a:bodyPr wrap="square" lIns="0" tIns="0" rIns="0" bIns="0" rtlCol="0" anchor="t"/>
          <a:lstStyle/>
          <a:p>
            <a:pPr indent="0" marL="0">
              <a:buNone/>
            </a:pPr>
            <a:r>
              <a:rPr lang="en-US" sz="1500" b="1" dirty="0">
                <a:solidFill>
                  <a:schemeClr val="accent1"/>
                </a:solidFill>
                <a:latin typeface="Ebrima" pitchFamily="34" charset="0"/>
                <a:ea typeface="Ebrima" pitchFamily="34" charset="-122"/>
                <a:cs typeface="Ebrima" pitchFamily="34" charset="-120"/>
              </a:rPr>
              <a:t>የውጤት ለውጥ</a:t>
            </a:r>
            <a:endParaRPr lang="en-US" sz="1500" dirty="0"/>
          </a:p>
        </p:txBody>
      </p:sp>
      <p:sp>
        <p:nvSpPr>
          <p:cNvPr id="23" name="Text 20"/>
          <p:cNvSpPr txBox="1"/>
          <p:nvPr/>
        </p:nvSpPr>
        <p:spPr>
          <a:xfrm>
            <a:off x="6858000" y="1920240"/>
            <a:ext cx="2514600" cy="2377440"/>
          </a:xfrm>
          <a:prstGeom prst="rect">
            <a:avLst/>
          </a:prstGeom>
          <a:noFill/>
          <a:ln/>
        </p:spPr>
        <p:txBody>
          <a:bodyPr wrap="square" lIns="0" tIns="0" rIns="0" bIns="0" rtlCol="0" anchor="t"/>
          <a:lstStyle/>
          <a:p>
            <a:pPr indent="0" marL="0">
              <a:buNone/>
            </a:pPr>
            <a:r>
              <a:rPr lang="en-US" sz="1300" dirty="0">
                <a:solidFill>
                  <a:schemeClr val="tx1"/>
                </a:solidFill>
                <a:latin typeface="Ebrima" pitchFamily="34" charset="0"/>
                <a:ea typeface="Ebrima" pitchFamily="34" charset="-122"/>
                <a:cs typeface="Ebrima" pitchFamily="34" charset="-120"/>
              </a:rPr>
              <a:t>ከታተመ በኋላ ውጤት የሚቀየረው በጽሑፍ ምክንያት ብቻ ሲሆን፣ እያንዳንዱ ለውጥ በታሪክ መዝገብ ይቀመጣል። ውጤት ያለው ክፍል ወይም ፈተና ሊሰረዝ አይችልም — ማኅደር ይደረጋል።</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Ebrima"/>
                <a:ea typeface="Ebrima"/>
                <a:cs typeface="Ebrima"/>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0241280" cy="777240"/>
          </a:xfrm>
          <a:prstGeom prst="rect">
            <a:avLst/>
          </a:prstGeom>
          <a:noFill/>
          <a:ln/>
        </p:spPr>
        <p:txBody>
          <a:bodyPr wrap="square" lIns="0" tIns="0" rIns="0" bIns="0" rtlCol="0" anchor="ctr"/>
          <a:lstStyle/>
          <a:p>
            <a:pPr algn="l" indent="0" marL="0">
              <a:buNone/>
            </a:pPr>
            <a:r>
              <a:rPr lang="en-US" sz="3400" dirty="0">
                <a:solidFill>
                  <a:schemeClr val="accent1"/>
                </a:solidFill>
                <a:latin typeface="Nyala" pitchFamily="34" charset="0"/>
                <a:ea typeface="Nyala" pitchFamily="34" charset="-122"/>
                <a:cs typeface="Nyala" pitchFamily="34" charset="-120"/>
              </a:rPr>
              <a:t>የመማሪያ መድረክ (Online Learning)</a:t>
            </a:r>
            <a:endParaRPr lang="en-US" sz="3400" dirty="0"/>
          </a:p>
        </p:txBody>
      </p:sp>
      <p:sp>
        <p:nvSpPr>
          <p:cNvPr id="3" name="Shape 1"/>
          <p:cNvSpPr/>
          <p:nvPr/>
        </p:nvSpPr>
        <p:spPr>
          <a:xfrm>
            <a:off x="667512" y="1261872"/>
            <a:ext cx="2134667" cy="4471416"/>
          </a:xfrm>
          <a:prstGeom prst="roundRect">
            <a:avLst>
              <a:gd name="adj" fmla="val 7710"/>
            </a:avLst>
          </a:prstGeom>
          <a:solidFill>
            <a:schemeClr val="accent6"/>
          </a:solidFill>
          <a:ln/>
          <a:effectLst>
            <a:outerShdw sx="100000" sy="100000" kx="0" ky="0" algn="bl" rotWithShape="0" blurRad="101600" dist="38100" dir="5400000">
              <a:srgbClr val="3D2E31">
                <a:alpha val="30000"/>
              </a:srgbClr>
            </a:outerShdw>
          </a:effectLst>
        </p:spPr>
      </p:sp>
      <p:pic>
        <p:nvPicPr>
          <p:cNvPr id="4" name="Image 0" descr="C:\Users\HP\Documents\MH-app-1.5.3\mobile\mobile\build\screenshots\edu_home.png">    </p:cNvPr>
          <p:cNvPicPr>
            <a:picLocks noChangeAspect="1"/>
          </p:cNvPicPr>
          <p:nvPr/>
        </p:nvPicPr>
        <p:blipFill>
          <a:blip r:embed="rId1"/>
          <a:stretch>
            <a:fillRect/>
          </a:stretch>
        </p:blipFill>
        <p:spPr>
          <a:xfrm>
            <a:off x="731520" y="1325880"/>
            <a:ext cx="2006651" cy="4343400"/>
          </a:xfrm>
          <a:prstGeom prst="rect">
            <a:avLst/>
          </a:prstGeom>
        </p:spPr>
      </p:pic>
      <p:sp>
        <p:nvSpPr>
          <p:cNvPr id="5" name="Text 2"/>
          <p:cNvSpPr txBox="1"/>
          <p:nvPr/>
        </p:nvSpPr>
        <p:spPr>
          <a:xfrm>
            <a:off x="548640" y="5779008"/>
            <a:ext cx="2372411" cy="274320"/>
          </a:xfrm>
          <a:prstGeom prst="rect">
            <a:avLst/>
          </a:prstGeom>
          <a:noFill/>
          <a:ln/>
        </p:spPr>
        <p:txBody>
          <a:bodyPr wrap="square" lIns="0" tIns="0" rIns="0" bIns="0" rtlCol="0" anchor="t"/>
          <a:lstStyle/>
          <a:p>
            <a:pPr algn="ctr" indent="0" marL="0">
              <a:buNone/>
            </a:pPr>
            <a:r>
              <a:rPr lang="en-US" sz="1100" dirty="0">
                <a:solidFill>
                  <a:schemeClr val="accent4"/>
                </a:solidFill>
                <a:latin typeface="Ebrima" pitchFamily="34" charset="0"/>
                <a:ea typeface="Ebrima" pitchFamily="34" charset="-122"/>
                <a:cs typeface="Ebrima" pitchFamily="34" charset="-120"/>
              </a:rPr>
              <a:t>የትምህርት መነሻ</a:t>
            </a:r>
            <a:endParaRPr lang="en-US" sz="1100" dirty="0"/>
          </a:p>
        </p:txBody>
      </p:sp>
      <p:sp>
        <p:nvSpPr>
          <p:cNvPr id="6" name="Shape 3"/>
          <p:cNvSpPr/>
          <p:nvPr/>
        </p:nvSpPr>
        <p:spPr>
          <a:xfrm>
            <a:off x="2953512" y="1261872"/>
            <a:ext cx="2134667" cy="4471416"/>
          </a:xfrm>
          <a:prstGeom prst="roundRect">
            <a:avLst>
              <a:gd name="adj" fmla="val 7710"/>
            </a:avLst>
          </a:prstGeom>
          <a:solidFill>
            <a:schemeClr val="accent6"/>
          </a:solidFill>
          <a:ln/>
          <a:effectLst>
            <a:outerShdw sx="100000" sy="100000" kx="0" ky="0" algn="bl" rotWithShape="0" blurRad="101600" dist="38100" dir="5400000">
              <a:srgbClr val="3D2E31">
                <a:alpha val="30000"/>
              </a:srgbClr>
            </a:outerShdw>
          </a:effectLst>
        </p:spPr>
      </p:sp>
      <p:pic>
        <p:nvPicPr>
          <p:cNvPr id="7" name="Image 1" descr="C:\Users\HP\Documents\MH-app-1.5.3\mobile\mobile\build\screenshots\edu_lesson.png">    </p:cNvPr>
          <p:cNvPicPr>
            <a:picLocks noChangeAspect="1"/>
          </p:cNvPicPr>
          <p:nvPr/>
        </p:nvPicPr>
        <p:blipFill>
          <a:blip r:embed="rId2"/>
          <a:stretch>
            <a:fillRect/>
          </a:stretch>
        </p:blipFill>
        <p:spPr>
          <a:xfrm>
            <a:off x="3017520" y="1325880"/>
            <a:ext cx="2006651" cy="4343400"/>
          </a:xfrm>
          <a:prstGeom prst="rect">
            <a:avLst/>
          </a:prstGeom>
        </p:spPr>
      </p:pic>
      <p:sp>
        <p:nvSpPr>
          <p:cNvPr id="8" name="Text 4"/>
          <p:cNvSpPr txBox="1"/>
          <p:nvPr/>
        </p:nvSpPr>
        <p:spPr>
          <a:xfrm>
            <a:off x="2834640" y="5779008"/>
            <a:ext cx="2372411" cy="274320"/>
          </a:xfrm>
          <a:prstGeom prst="rect">
            <a:avLst/>
          </a:prstGeom>
          <a:noFill/>
          <a:ln/>
        </p:spPr>
        <p:txBody>
          <a:bodyPr wrap="square" lIns="0" tIns="0" rIns="0" bIns="0" rtlCol="0" anchor="t"/>
          <a:lstStyle/>
          <a:p>
            <a:pPr algn="ctr" indent="0" marL="0">
              <a:buNone/>
            </a:pPr>
            <a:r>
              <a:rPr lang="en-US" sz="1100" dirty="0">
                <a:solidFill>
                  <a:schemeClr val="accent4"/>
                </a:solidFill>
                <a:latin typeface="Ebrima" pitchFamily="34" charset="0"/>
                <a:ea typeface="Ebrima" pitchFamily="34" charset="-122"/>
                <a:cs typeface="Ebrima" pitchFamily="34" charset="-120"/>
              </a:rPr>
              <a:t>ትምህርት</a:t>
            </a:r>
            <a:endParaRPr lang="en-US" sz="1100" dirty="0"/>
          </a:p>
        </p:txBody>
      </p:sp>
      <p:sp>
        <p:nvSpPr>
          <p:cNvPr id="9" name="Shape 5"/>
          <p:cNvSpPr/>
          <p:nvPr/>
        </p:nvSpPr>
        <p:spPr>
          <a:xfrm>
            <a:off x="5239512" y="1261872"/>
            <a:ext cx="2134667" cy="4471416"/>
          </a:xfrm>
          <a:prstGeom prst="roundRect">
            <a:avLst>
              <a:gd name="adj" fmla="val 7710"/>
            </a:avLst>
          </a:prstGeom>
          <a:solidFill>
            <a:schemeClr val="accent6"/>
          </a:solidFill>
          <a:ln/>
          <a:effectLst>
            <a:outerShdw sx="100000" sy="100000" kx="0" ky="0" algn="bl" rotWithShape="0" blurRad="101600" dist="38100" dir="5400000">
              <a:srgbClr val="3D2E31">
                <a:alpha val="30000"/>
              </a:srgbClr>
            </a:outerShdw>
          </a:effectLst>
        </p:spPr>
      </p:sp>
      <p:pic>
        <p:nvPicPr>
          <p:cNvPr id="10" name="Image 2" descr="C:\Users\HP\Documents\MH-app-1.5.3\mobile\mobile\build\screenshots\edu_quiz.png">    </p:cNvPr>
          <p:cNvPicPr>
            <a:picLocks noChangeAspect="1"/>
          </p:cNvPicPr>
          <p:nvPr/>
        </p:nvPicPr>
        <p:blipFill>
          <a:blip r:embed="rId3"/>
          <a:stretch>
            <a:fillRect/>
          </a:stretch>
        </p:blipFill>
        <p:spPr>
          <a:xfrm>
            <a:off x="5303520" y="1325880"/>
            <a:ext cx="2006651" cy="4343400"/>
          </a:xfrm>
          <a:prstGeom prst="rect">
            <a:avLst/>
          </a:prstGeom>
        </p:spPr>
      </p:pic>
      <p:sp>
        <p:nvSpPr>
          <p:cNvPr id="11" name="Text 6"/>
          <p:cNvSpPr txBox="1"/>
          <p:nvPr/>
        </p:nvSpPr>
        <p:spPr>
          <a:xfrm>
            <a:off x="5120640" y="5779008"/>
            <a:ext cx="2372411" cy="274320"/>
          </a:xfrm>
          <a:prstGeom prst="rect">
            <a:avLst/>
          </a:prstGeom>
          <a:noFill/>
          <a:ln/>
        </p:spPr>
        <p:txBody>
          <a:bodyPr wrap="square" lIns="0" tIns="0" rIns="0" bIns="0" rtlCol="0" anchor="t"/>
          <a:lstStyle/>
          <a:p>
            <a:pPr algn="ctr" indent="0" marL="0">
              <a:buNone/>
            </a:pPr>
            <a:r>
              <a:rPr lang="en-US" sz="1100" dirty="0">
                <a:solidFill>
                  <a:schemeClr val="accent4"/>
                </a:solidFill>
                <a:latin typeface="Ebrima" pitchFamily="34" charset="0"/>
                <a:ea typeface="Ebrima" pitchFamily="34" charset="-122"/>
                <a:cs typeface="Ebrima" pitchFamily="34" charset="-120"/>
              </a:rPr>
              <a:t>ፈተና</a:t>
            </a:r>
            <a:endParaRPr lang="en-US" sz="1100" dirty="0"/>
          </a:p>
        </p:txBody>
      </p:sp>
      <p:sp>
        <p:nvSpPr>
          <p:cNvPr id="12" name="Text 7"/>
          <p:cNvSpPr txBox="1"/>
          <p:nvPr/>
        </p:nvSpPr>
        <p:spPr>
          <a:xfrm>
            <a:off x="7818120" y="1325880"/>
            <a:ext cx="3840480" cy="365760"/>
          </a:xfrm>
          <a:prstGeom prst="rect">
            <a:avLst/>
          </a:prstGeom>
          <a:noFill/>
          <a:ln/>
        </p:spPr>
        <p:txBody>
          <a:bodyPr wrap="square" lIns="0" tIns="0" rIns="0" bIns="0" rtlCol="0" anchor="t"/>
          <a:lstStyle/>
          <a:p>
            <a:pPr indent="0" marL="0">
              <a:buNone/>
            </a:pPr>
            <a:r>
              <a:rPr lang="en-US" sz="1600" b="1" dirty="0">
                <a:solidFill>
                  <a:schemeClr val="accent1"/>
                </a:solidFill>
                <a:latin typeface="Ebrima" pitchFamily="34" charset="0"/>
                <a:ea typeface="Ebrima" pitchFamily="34" charset="-122"/>
                <a:cs typeface="Ebrima" pitchFamily="34" charset="-120"/>
              </a:rPr>
              <a:t>ምድቦች</a:t>
            </a:r>
            <a:endParaRPr lang="en-US" sz="1600" dirty="0"/>
          </a:p>
        </p:txBody>
      </p:sp>
      <p:sp>
        <p:nvSpPr>
          <p:cNvPr id="13" name="Shape 8"/>
          <p:cNvSpPr/>
          <p:nvPr/>
        </p:nvSpPr>
        <p:spPr>
          <a:xfrm>
            <a:off x="7818120" y="1783080"/>
            <a:ext cx="1828800" cy="457200"/>
          </a:xfrm>
          <a:prstGeom prst="roundRect">
            <a:avLst>
              <a:gd name="adj" fmla="val 40000"/>
            </a:avLst>
          </a:prstGeom>
          <a:solidFill>
            <a:schemeClr val="accent1"/>
          </a:solidFill>
          <a:ln/>
        </p:spPr>
      </p:sp>
      <p:sp>
        <p:nvSpPr>
          <p:cNvPr id="14" name="Text 9"/>
          <p:cNvSpPr txBox="1"/>
          <p:nvPr/>
        </p:nvSpPr>
        <p:spPr>
          <a:xfrm>
            <a:off x="7818120" y="1783080"/>
            <a:ext cx="1828800" cy="457200"/>
          </a:xfrm>
          <a:prstGeom prst="rect">
            <a:avLst/>
          </a:prstGeom>
          <a:noFill/>
          <a:ln/>
        </p:spPr>
        <p:txBody>
          <a:bodyPr wrap="square" lIns="0" tIns="0" rIns="0" bIns="0" rtlCol="0" anchor="ctr"/>
          <a:lstStyle/>
          <a:p>
            <a:pPr algn="ctr" indent="0" marL="0">
              <a:buNone/>
            </a:pPr>
            <a:r>
              <a:rPr lang="en-US" sz="1250" dirty="0">
                <a:solidFill>
                  <a:schemeClr val="bg1"/>
                </a:solidFill>
                <a:latin typeface="Ebrima" pitchFamily="34" charset="0"/>
                <a:ea typeface="Ebrima" pitchFamily="34" charset="-122"/>
                <a:cs typeface="Ebrima" pitchFamily="34" charset="-120"/>
              </a:rPr>
              <a:t>መጽሐፍ ቅዱስ</a:t>
            </a:r>
            <a:endParaRPr lang="en-US" sz="1250" dirty="0"/>
          </a:p>
        </p:txBody>
      </p:sp>
      <p:sp>
        <p:nvSpPr>
          <p:cNvPr id="15" name="Shape 10"/>
          <p:cNvSpPr/>
          <p:nvPr/>
        </p:nvSpPr>
        <p:spPr>
          <a:xfrm>
            <a:off x="9756648" y="1783080"/>
            <a:ext cx="1828800" cy="457200"/>
          </a:xfrm>
          <a:prstGeom prst="roundRect">
            <a:avLst>
              <a:gd name="adj" fmla="val 40000"/>
            </a:avLst>
          </a:prstGeom>
          <a:solidFill>
            <a:schemeClr val="accent1"/>
          </a:solidFill>
          <a:ln/>
        </p:spPr>
      </p:sp>
      <p:sp>
        <p:nvSpPr>
          <p:cNvPr id="16" name="Text 11"/>
          <p:cNvSpPr txBox="1"/>
          <p:nvPr/>
        </p:nvSpPr>
        <p:spPr>
          <a:xfrm>
            <a:off x="9756648" y="1783080"/>
            <a:ext cx="1828800" cy="457200"/>
          </a:xfrm>
          <a:prstGeom prst="rect">
            <a:avLst/>
          </a:prstGeom>
          <a:noFill/>
          <a:ln/>
        </p:spPr>
        <p:txBody>
          <a:bodyPr wrap="square" lIns="0" tIns="0" rIns="0" bIns="0" rtlCol="0" anchor="ctr"/>
          <a:lstStyle/>
          <a:p>
            <a:pPr algn="ctr" indent="0" marL="0">
              <a:buNone/>
            </a:pPr>
            <a:r>
              <a:rPr lang="en-US" sz="1250" dirty="0">
                <a:solidFill>
                  <a:schemeClr val="bg1"/>
                </a:solidFill>
                <a:latin typeface="Ebrima" pitchFamily="34" charset="0"/>
                <a:ea typeface="Ebrima" pitchFamily="34" charset="-122"/>
                <a:cs typeface="Ebrima" pitchFamily="34" charset="-120"/>
              </a:rPr>
              <a:t>የቤተ ክርስቲያን ታሪክ</a:t>
            </a:r>
            <a:endParaRPr lang="en-US" sz="1250" dirty="0"/>
          </a:p>
        </p:txBody>
      </p:sp>
      <p:sp>
        <p:nvSpPr>
          <p:cNvPr id="17" name="Shape 12"/>
          <p:cNvSpPr/>
          <p:nvPr/>
        </p:nvSpPr>
        <p:spPr>
          <a:xfrm>
            <a:off x="7818120" y="2350008"/>
            <a:ext cx="1828800" cy="457200"/>
          </a:xfrm>
          <a:prstGeom prst="roundRect">
            <a:avLst>
              <a:gd name="adj" fmla="val 40000"/>
            </a:avLst>
          </a:prstGeom>
          <a:solidFill>
            <a:schemeClr val="accent1"/>
          </a:solidFill>
          <a:ln/>
        </p:spPr>
      </p:sp>
      <p:sp>
        <p:nvSpPr>
          <p:cNvPr id="18" name="Text 13"/>
          <p:cNvSpPr txBox="1"/>
          <p:nvPr/>
        </p:nvSpPr>
        <p:spPr>
          <a:xfrm>
            <a:off x="7818120" y="2350008"/>
            <a:ext cx="1828800" cy="457200"/>
          </a:xfrm>
          <a:prstGeom prst="rect">
            <a:avLst/>
          </a:prstGeom>
          <a:noFill/>
          <a:ln/>
        </p:spPr>
        <p:txBody>
          <a:bodyPr wrap="square" lIns="0" tIns="0" rIns="0" bIns="0" rtlCol="0" anchor="ctr"/>
          <a:lstStyle/>
          <a:p>
            <a:pPr algn="ctr" indent="0" marL="0">
              <a:buNone/>
            </a:pPr>
            <a:r>
              <a:rPr lang="en-US" sz="1250" dirty="0">
                <a:solidFill>
                  <a:schemeClr val="bg1"/>
                </a:solidFill>
                <a:latin typeface="Ebrima" pitchFamily="34" charset="0"/>
                <a:ea typeface="Ebrima" pitchFamily="34" charset="-122"/>
                <a:cs typeface="Ebrima" pitchFamily="34" charset="-120"/>
              </a:rPr>
              <a:t>ሥርዓተ አምልኮ</a:t>
            </a:r>
            <a:endParaRPr lang="en-US" sz="1250" dirty="0"/>
          </a:p>
        </p:txBody>
      </p:sp>
      <p:sp>
        <p:nvSpPr>
          <p:cNvPr id="19" name="Shape 14"/>
          <p:cNvSpPr/>
          <p:nvPr/>
        </p:nvSpPr>
        <p:spPr>
          <a:xfrm>
            <a:off x="9756648" y="2350008"/>
            <a:ext cx="1828800" cy="457200"/>
          </a:xfrm>
          <a:prstGeom prst="roundRect">
            <a:avLst>
              <a:gd name="adj" fmla="val 40000"/>
            </a:avLst>
          </a:prstGeom>
          <a:solidFill>
            <a:schemeClr val="accent1"/>
          </a:solidFill>
          <a:ln/>
        </p:spPr>
      </p:sp>
      <p:sp>
        <p:nvSpPr>
          <p:cNvPr id="20" name="Text 15"/>
          <p:cNvSpPr txBox="1"/>
          <p:nvPr/>
        </p:nvSpPr>
        <p:spPr>
          <a:xfrm>
            <a:off x="9756648" y="2350008"/>
            <a:ext cx="1828800" cy="457200"/>
          </a:xfrm>
          <a:prstGeom prst="rect">
            <a:avLst/>
          </a:prstGeom>
          <a:noFill/>
          <a:ln/>
        </p:spPr>
        <p:txBody>
          <a:bodyPr wrap="square" lIns="0" tIns="0" rIns="0" bIns="0" rtlCol="0" anchor="ctr"/>
          <a:lstStyle/>
          <a:p>
            <a:pPr algn="ctr" indent="0" marL="0">
              <a:buNone/>
            </a:pPr>
            <a:r>
              <a:rPr lang="en-US" sz="1250" dirty="0">
                <a:solidFill>
                  <a:schemeClr val="bg1"/>
                </a:solidFill>
                <a:latin typeface="Ebrima" pitchFamily="34" charset="0"/>
                <a:ea typeface="Ebrima" pitchFamily="34" charset="-122"/>
                <a:cs typeface="Ebrima" pitchFamily="34" charset="-120"/>
              </a:rPr>
              <a:t>ነገረ ቅዱሳን</a:t>
            </a:r>
            <a:endParaRPr lang="en-US" sz="1250" dirty="0"/>
          </a:p>
        </p:txBody>
      </p:sp>
      <p:sp>
        <p:nvSpPr>
          <p:cNvPr id="21" name="Text 16"/>
          <p:cNvSpPr txBox="1"/>
          <p:nvPr/>
        </p:nvSpPr>
        <p:spPr>
          <a:xfrm>
            <a:off x="7818120" y="3108960"/>
            <a:ext cx="3840480" cy="3108960"/>
          </a:xfrm>
          <a:prstGeom prst="rect">
            <a:avLst/>
          </a:prstGeom>
          <a:noFill/>
          <a:ln/>
        </p:spPr>
        <p:txBody>
          <a:bodyPr wrap="square" lIns="0" tIns="0" rIns="0" bIns="0" rtlCol="0" anchor="t"/>
          <a:lstStyle/>
          <a:p>
            <a:pPr marL="342900" indent="-342900">
              <a:spcAft>
                <a:spcPts val="700"/>
              </a:spcAft>
              <a:buSzPct val="100000"/>
              <a:buChar char="●"/>
            </a:pPr>
            <a:r>
              <a:rPr lang="en-US" sz="1350" dirty="0">
                <a:solidFill>
                  <a:schemeClr val="tx1"/>
                </a:solidFill>
                <a:latin typeface="Ebrima" pitchFamily="34" charset="0"/>
                <a:ea typeface="Ebrima" pitchFamily="34" charset="-122"/>
                <a:cs typeface="Ebrima" pitchFamily="34" charset="-120"/>
              </a:rPr>
              <a:t>ምድብ → ትምህርት ዓይነት → ምዕራፍ → ትምህርት</a:t>
            </a:r>
            <a:endParaRPr lang="en-US" sz="1350" dirty="0"/>
          </a:p>
          <a:p>
            <a:pPr marL="342900" indent="-342900">
              <a:spcAft>
                <a:spcPts val="700"/>
              </a:spcAft>
              <a:buSzPct val="100000"/>
              <a:buChar char="●"/>
            </a:pPr>
            <a:r>
              <a:rPr lang="en-US" sz="1350" dirty="0">
                <a:solidFill>
                  <a:schemeClr val="tx1"/>
                </a:solidFill>
                <a:latin typeface="Ebrima" pitchFamily="34" charset="0"/>
                <a:ea typeface="Ebrima" pitchFamily="34" charset="-122"/>
                <a:cs typeface="Ebrima" pitchFamily="34" charset="-120"/>
              </a:rPr>
              <a:t>ጽሑፍ፣ የመጽሐፍ ቅዱስ ጥቅሶች፣ ሰነዶች፣ ድምፅና የቪዲዮ ማገናኛ</a:t>
            </a:r>
            <a:endParaRPr lang="en-US" sz="1350" dirty="0"/>
          </a:p>
          <a:p>
            <a:pPr marL="342900" indent="-342900">
              <a:spcAft>
                <a:spcPts val="700"/>
              </a:spcAft>
              <a:buSzPct val="100000"/>
              <a:buChar char="●"/>
            </a:pPr>
            <a:r>
              <a:rPr lang="en-US" sz="1350" dirty="0">
                <a:solidFill>
                  <a:schemeClr val="tx1"/>
                </a:solidFill>
                <a:latin typeface="Ebrima" pitchFamily="34" charset="0"/>
                <a:ea typeface="Ebrima" pitchFamily="34" charset="-122"/>
                <a:cs typeface="Ebrima" pitchFamily="34" charset="-120"/>
              </a:rPr>
              <a:t>ሂደትን መከታተል፣ ዕልባትና «ከቆሙበት መቀጠል»</a:t>
            </a:r>
            <a:endParaRPr lang="en-US" sz="1350" dirty="0"/>
          </a:p>
          <a:p>
            <a:pPr marL="342900" indent="-342900">
              <a:spcAft>
                <a:spcPts val="700"/>
              </a:spcAft>
              <a:buSzPct val="100000"/>
              <a:buChar char="●"/>
            </a:pPr>
            <a:r>
              <a:rPr lang="en-US" sz="1350" dirty="0">
                <a:solidFill>
                  <a:schemeClr val="tx1"/>
                </a:solidFill>
                <a:latin typeface="Ebrima" pitchFamily="34" charset="0"/>
                <a:ea typeface="Ebrima" pitchFamily="34" charset="-122"/>
                <a:cs typeface="Ebrima" pitchFamily="34" charset="-120"/>
              </a:rPr>
              <a:t>ፈተናዎች፦ የጊዜ ገደብ፣ የሙከራ ብዛት፣ በእጅ ማረም</a:t>
            </a:r>
            <a:endParaRPr lang="en-US" sz="1350" dirty="0"/>
          </a:p>
          <a:p>
            <a:pPr marL="342900" indent="-342900">
              <a:spcAft>
                <a:spcPts val="700"/>
              </a:spcAft>
              <a:buSzPct val="100000"/>
              <a:buChar char="●"/>
            </a:pPr>
            <a:r>
              <a:rPr lang="en-US" sz="1350" dirty="0">
                <a:solidFill>
                  <a:schemeClr val="tx1"/>
                </a:solidFill>
                <a:latin typeface="Ebrima" pitchFamily="34" charset="0"/>
                <a:ea typeface="Ebrima" pitchFamily="34" charset="-122"/>
                <a:cs typeface="Ebrima" pitchFamily="34" charset="-120"/>
              </a:rPr>
              <a:t>የፈተና ውጤት ወደ ይፋዊ የውጤት ሂደት ይላካል</a:t>
            </a:r>
            <a:endParaRPr lang="en-US" sz="1350" dirty="0"/>
          </a:p>
          <a:p>
            <a:pPr marL="342900" indent="-342900">
              <a:spcAft>
                <a:spcPts val="700"/>
              </a:spcAft>
              <a:buSzPct val="100000"/>
              <a:buChar char="●"/>
            </a:pPr>
            <a:r>
              <a:rPr lang="en-US" sz="1350" dirty="0">
                <a:solidFill>
                  <a:schemeClr val="tx1"/>
                </a:solidFill>
                <a:latin typeface="Ebrima" pitchFamily="34" charset="0"/>
                <a:ea typeface="Ebrima" pitchFamily="34" charset="-122"/>
                <a:cs typeface="Ebrima" pitchFamily="34" charset="-120"/>
              </a:rPr>
              <a:t>ንቁ መምህራን ለሚያስተምሩት ትምህርት ይዘት ያዘጋጃሉ</a:t>
            </a:r>
            <a:endParaRPr lang="en-US" sz="135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Ebrima"/>
                <a:ea typeface="Ebrima"/>
                <a:cs typeface="Ebrima"/>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0241280" cy="777240"/>
          </a:xfrm>
          <a:prstGeom prst="rect">
            <a:avLst/>
          </a:prstGeom>
          <a:noFill/>
          <a:ln/>
        </p:spPr>
        <p:txBody>
          <a:bodyPr wrap="square" lIns="0" tIns="0" rIns="0" bIns="0" rtlCol="0" anchor="ctr"/>
          <a:lstStyle/>
          <a:p>
            <a:pPr algn="l" indent="0" marL="0">
              <a:buNone/>
            </a:pPr>
            <a:r>
              <a:rPr lang="en-US" sz="3400" dirty="0">
                <a:solidFill>
                  <a:schemeClr val="accent1"/>
                </a:solidFill>
                <a:latin typeface="Nyala" pitchFamily="34" charset="0"/>
                <a:ea typeface="Nyala" pitchFamily="34" charset="-122"/>
                <a:cs typeface="Nyala" pitchFamily="34" charset="-120"/>
              </a:rPr>
              <a:t>የበዓል መዝሙር አገልግሎት ምርጫ — የውጤት ስሌት</a:t>
            </a:r>
            <a:endParaRPr lang="en-US" sz="3400" dirty="0"/>
          </a:p>
        </p:txBody>
      </p:sp>
      <p:graphicFrame>
        <p:nvGraphicFramePr>
          <p:cNvPr id="3" name="Chart 0" descr=""/>
          <p:cNvGraphicFramePr/>
          <p:nvPr/>
        </p:nvGraphicFramePr>
        <p:xfrm>
          <a:off x="457200" y="1280160"/>
          <a:ext cx="5669280" cy="489204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6492240" y="1325880"/>
            <a:ext cx="5166360" cy="1280160"/>
          </a:xfrm>
          <a:prstGeom prst="roundRect">
            <a:avLst>
              <a:gd name="adj" fmla="val 8571"/>
            </a:avLst>
          </a:prstGeom>
          <a:solidFill>
            <a:schemeClr val="accent1"/>
          </a:solidFill>
          <a:ln/>
        </p:spPr>
      </p:sp>
      <p:sp>
        <p:nvSpPr>
          <p:cNvPr id="5" name="Text 2"/>
          <p:cNvSpPr txBox="1"/>
          <p:nvPr/>
        </p:nvSpPr>
        <p:spPr>
          <a:xfrm>
            <a:off x="6720840" y="1417320"/>
            <a:ext cx="1371600" cy="1097280"/>
          </a:xfrm>
          <a:prstGeom prst="rect">
            <a:avLst/>
          </a:prstGeom>
          <a:noFill/>
          <a:ln/>
        </p:spPr>
        <p:txBody>
          <a:bodyPr wrap="square" lIns="0" tIns="0" rIns="0" bIns="0" rtlCol="0" anchor="ctr"/>
          <a:lstStyle/>
          <a:p>
            <a:pPr indent="0" marL="0">
              <a:buNone/>
            </a:pPr>
            <a:r>
              <a:rPr lang="en-US" sz="4800" b="1" dirty="0">
                <a:solidFill>
                  <a:schemeClr val="accent2"/>
                </a:solidFill>
                <a:latin typeface="Ebrima" pitchFamily="34" charset="0"/>
                <a:ea typeface="Ebrima" pitchFamily="34" charset="-122"/>
                <a:cs typeface="Ebrima" pitchFamily="34" charset="-120"/>
              </a:rPr>
              <a:t>43</a:t>
            </a:r>
            <a:endParaRPr lang="en-US" sz="4800" dirty="0"/>
          </a:p>
        </p:txBody>
      </p:sp>
      <p:sp>
        <p:nvSpPr>
          <p:cNvPr id="6" name="Text 3"/>
          <p:cNvSpPr txBox="1"/>
          <p:nvPr/>
        </p:nvSpPr>
        <p:spPr>
          <a:xfrm>
            <a:off x="8138160" y="1463040"/>
            <a:ext cx="3383280" cy="1005840"/>
          </a:xfrm>
          <a:prstGeom prst="rect">
            <a:avLst/>
          </a:prstGeom>
          <a:noFill/>
          <a:ln/>
        </p:spPr>
        <p:txBody>
          <a:bodyPr wrap="square" lIns="0" tIns="0" rIns="0" bIns="0" rtlCol="0" anchor="ctr"/>
          <a:lstStyle/>
          <a:p>
            <a:pPr indent="0" marL="0">
              <a:buNone/>
            </a:pPr>
            <a:r>
              <a:rPr lang="en-US" sz="1500" dirty="0">
                <a:solidFill>
                  <a:schemeClr val="bg1"/>
                </a:solidFill>
                <a:latin typeface="Ebrima" pitchFamily="34" charset="0"/>
                <a:ea typeface="Ebrima" pitchFamily="34" charset="-122"/>
                <a:cs typeface="Ebrima" pitchFamily="34" charset="-120"/>
              </a:rPr>
              <a:t>ነባሪ የማለፊያ ነጥብ — በአስተዳዳሪዎች የሚስተካከል</a:t>
            </a:r>
            <a:endParaRPr lang="en-US" sz="1500" dirty="0"/>
          </a:p>
        </p:txBody>
      </p:sp>
      <p:sp>
        <p:nvSpPr>
          <p:cNvPr id="7" name="Text 4"/>
          <p:cNvSpPr txBox="1"/>
          <p:nvPr/>
        </p:nvSpPr>
        <p:spPr>
          <a:xfrm>
            <a:off x="6492240" y="2880360"/>
            <a:ext cx="5166360" cy="329184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latin typeface="Ebrima" pitchFamily="34" charset="0"/>
                <a:ea typeface="Ebrima" pitchFamily="34" charset="-122"/>
                <a:cs typeface="Ebrima" pitchFamily="34" charset="-120"/>
              </a:rPr>
              <a:t>እያንዳንዱ ክፍል ዝቅተኛ ነጥብ አለው፤ ያለፈ ለመባል ሁሉንም ማሟላት ያስፈልጋል</a:t>
            </a:r>
            <a:endParaRPr lang="en-US" sz="1500" dirty="0"/>
          </a:p>
          <a:p>
            <a:pPr marL="342900" indent="-342900">
              <a:spcAft>
                <a:spcPts val="1000"/>
              </a:spcAft>
              <a:buSzPct val="100000"/>
              <a:buChar char="●"/>
            </a:pPr>
            <a:r>
              <a:rPr lang="en-US" sz="1500" dirty="0">
                <a:solidFill>
                  <a:schemeClr val="tx1"/>
                </a:solidFill>
                <a:latin typeface="Ebrima" pitchFamily="34" charset="0"/>
                <a:ea typeface="Ebrima" pitchFamily="34" charset="-122"/>
                <a:cs typeface="Ebrima" pitchFamily="34" charset="-120"/>
              </a:rPr>
              <a:t>መረጃ የሌለው ክፍል አይቆጠርም — ቀሪዎቹ ተመዝነው ይሰላሉ</a:t>
            </a:r>
            <a:endParaRPr lang="en-US" sz="1500" dirty="0"/>
          </a:p>
          <a:p>
            <a:pPr marL="342900" indent="-342900">
              <a:spcAft>
                <a:spcPts val="1000"/>
              </a:spcAft>
              <a:buSzPct val="100000"/>
              <a:buChar char="●"/>
            </a:pPr>
            <a:r>
              <a:rPr lang="en-US" sz="1500" dirty="0">
                <a:solidFill>
                  <a:schemeClr val="tx1"/>
                </a:solidFill>
                <a:latin typeface="Ebrima" pitchFamily="34" charset="0"/>
                <a:ea typeface="Ebrima" pitchFamily="34" charset="-122"/>
                <a:cs typeface="Ebrima" pitchFamily="34" charset="-120"/>
              </a:rPr>
              <a:t>ክብደቶች፣ ዝቅተኛ ነጥቦችና የሚቆጠሩ ፕሮግራሞች በአስተዳዳሪዎች ይወሰናሉ</a:t>
            </a:r>
            <a:endParaRPr lang="en-US" sz="1500" dirty="0"/>
          </a:p>
          <a:p>
            <a:pPr marL="342900" indent="-342900">
              <a:spcAft>
                <a:spcPts val="1000"/>
              </a:spcAft>
              <a:buSzPct val="100000"/>
              <a:buChar char="●"/>
            </a:pPr>
            <a:r>
              <a:rPr lang="en-US" sz="1500" dirty="0">
                <a:solidFill>
                  <a:schemeClr val="tx1"/>
                </a:solidFill>
                <a:latin typeface="Ebrima" pitchFamily="34" charset="0"/>
                <a:ea typeface="Ebrima" pitchFamily="34" charset="-122"/>
                <a:cs typeface="Ebrima" pitchFamily="34" charset="-120"/>
              </a:rPr>
              <a:t>እያንዳንዱ አባል የራሱን ዝርዝር ስሌትና ያጎደለውን ያያል</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Ebrima"/>
                <a:ea typeface="Ebrima"/>
                <a:cs typeface="Ebrima"/>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0241280" cy="777240"/>
          </a:xfrm>
          <a:prstGeom prst="rect">
            <a:avLst/>
          </a:prstGeom>
          <a:noFill/>
          <a:ln/>
        </p:spPr>
        <p:txBody>
          <a:bodyPr wrap="square" lIns="0" tIns="0" rIns="0" bIns="0" rtlCol="0" anchor="ctr"/>
          <a:lstStyle/>
          <a:p>
            <a:pPr algn="l" indent="0" marL="0">
              <a:buNone/>
            </a:pPr>
            <a:r>
              <a:rPr lang="en-US" sz="3400" dirty="0">
                <a:solidFill>
                  <a:schemeClr val="accent1"/>
                </a:solidFill>
                <a:latin typeface="Nyala" pitchFamily="34" charset="0"/>
                <a:ea typeface="Nyala" pitchFamily="34" charset="-122"/>
                <a:cs typeface="Nyala" pitchFamily="34" charset="-120"/>
              </a:rPr>
              <a:t>የምርጫው የሥራ ሂደት — ከረቂቅ እስከ ይፋ</a:t>
            </a:r>
            <a:endParaRPr lang="en-US" sz="3400" dirty="0"/>
          </a:p>
        </p:txBody>
      </p:sp>
      <p:sp>
        <p:nvSpPr>
          <p:cNvPr id="3" name="Shape 1"/>
          <p:cNvSpPr/>
          <p:nvPr/>
        </p:nvSpPr>
        <p:spPr>
          <a:xfrm>
            <a:off x="548640" y="1371600"/>
            <a:ext cx="1638300" cy="2560320"/>
          </a:xfrm>
          <a:prstGeom prst="roundRect">
            <a:avLst>
              <a:gd name="adj" fmla="val 5581"/>
            </a:avLst>
          </a:prstGeom>
          <a:solidFill>
            <a:schemeClr val="accent1"/>
          </a:solidFill>
          <a:ln/>
        </p:spPr>
      </p:sp>
      <p:sp>
        <p:nvSpPr>
          <p:cNvPr id="4" name="Text 2"/>
          <p:cNvSpPr txBox="1"/>
          <p:nvPr/>
        </p:nvSpPr>
        <p:spPr>
          <a:xfrm>
            <a:off x="685800" y="1481328"/>
            <a:ext cx="457200" cy="365760"/>
          </a:xfrm>
          <a:prstGeom prst="rect">
            <a:avLst/>
          </a:prstGeom>
          <a:noFill/>
          <a:ln/>
        </p:spPr>
        <p:txBody>
          <a:bodyPr wrap="square" lIns="0" tIns="0" rIns="0" bIns="0" rtlCol="0" anchor="t"/>
          <a:lstStyle/>
          <a:p>
            <a:pPr indent="0" marL="0">
              <a:buNone/>
            </a:pPr>
            <a:r>
              <a:rPr lang="en-US" sz="2000" b="1" dirty="0">
                <a:solidFill>
                  <a:schemeClr val="accent2"/>
                </a:solidFill>
                <a:latin typeface="Ebrima" pitchFamily="34" charset="0"/>
                <a:ea typeface="Ebrima" pitchFamily="34" charset="-122"/>
                <a:cs typeface="Ebrima" pitchFamily="34" charset="-120"/>
              </a:rPr>
              <a:t>1</a:t>
            </a:r>
            <a:endParaRPr lang="en-US" sz="2000" dirty="0"/>
          </a:p>
        </p:txBody>
      </p:sp>
      <p:sp>
        <p:nvSpPr>
          <p:cNvPr id="5" name="Text 3"/>
          <p:cNvSpPr txBox="1"/>
          <p:nvPr/>
        </p:nvSpPr>
        <p:spPr>
          <a:xfrm>
            <a:off x="685800" y="1828800"/>
            <a:ext cx="1363980" cy="731520"/>
          </a:xfrm>
          <a:prstGeom prst="rect">
            <a:avLst/>
          </a:prstGeom>
          <a:noFill/>
          <a:ln/>
        </p:spPr>
        <p:txBody>
          <a:bodyPr wrap="square" lIns="0" tIns="0" rIns="0" bIns="0" rtlCol="0" anchor="t"/>
          <a:lstStyle/>
          <a:p>
            <a:pPr indent="0" marL="0">
              <a:buNone/>
            </a:pPr>
            <a:r>
              <a:rPr lang="en-US" sz="1600" b="1" dirty="0">
                <a:solidFill>
                  <a:schemeClr val="bg1"/>
                </a:solidFill>
                <a:latin typeface="Ebrima" pitchFamily="34" charset="0"/>
                <a:ea typeface="Ebrima" pitchFamily="34" charset="-122"/>
                <a:cs typeface="Ebrima" pitchFamily="34" charset="-120"/>
              </a:rPr>
              <a:t>ረቂቅ</a:t>
            </a:r>
            <a:endParaRPr lang="en-US" sz="1600" dirty="0"/>
          </a:p>
        </p:txBody>
      </p:sp>
      <p:sp>
        <p:nvSpPr>
          <p:cNvPr id="6" name="Text 4"/>
          <p:cNvSpPr txBox="1"/>
          <p:nvPr/>
        </p:nvSpPr>
        <p:spPr>
          <a:xfrm>
            <a:off x="685800" y="2560320"/>
            <a:ext cx="1363980" cy="1280160"/>
          </a:xfrm>
          <a:prstGeom prst="rect">
            <a:avLst/>
          </a:prstGeom>
          <a:noFill/>
          <a:ln/>
        </p:spPr>
        <p:txBody>
          <a:bodyPr wrap="square" lIns="0" tIns="0" rIns="0" bIns="0" rtlCol="0" anchor="t"/>
          <a:lstStyle/>
          <a:p>
            <a:pPr indent="0" marL="0">
              <a:buNone/>
            </a:pPr>
            <a:r>
              <a:rPr lang="en-US" sz="1250" dirty="0">
                <a:solidFill>
                  <a:schemeClr val="bg1"/>
                </a:solidFill>
                <a:latin typeface="Ebrima" pitchFamily="34" charset="0"/>
                <a:ea typeface="Ebrima" pitchFamily="34" charset="-122"/>
                <a:cs typeface="Ebrima" pitchFamily="34" charset="-120"/>
              </a:rPr>
              <a:t>ምርጫው ይፈጠርና ይዘጋጃል</a:t>
            </a:r>
            <a:endParaRPr lang="en-US" sz="1250" dirty="0"/>
          </a:p>
        </p:txBody>
      </p:sp>
      <p:sp>
        <p:nvSpPr>
          <p:cNvPr id="7" name="Shape 5"/>
          <p:cNvSpPr/>
          <p:nvPr/>
        </p:nvSpPr>
        <p:spPr>
          <a:xfrm rot="5400000">
            <a:off x="2196084" y="2595433"/>
            <a:ext cx="237744" cy="112654"/>
          </a:xfrm>
          <a:prstGeom prst="triangle">
            <a:avLst/>
          </a:prstGeom>
          <a:solidFill>
            <a:schemeClr val="accent2"/>
          </a:solidFill>
          <a:ln/>
        </p:spPr>
      </p:sp>
      <p:sp>
        <p:nvSpPr>
          <p:cNvPr id="8" name="Shape 6"/>
          <p:cNvSpPr/>
          <p:nvPr/>
        </p:nvSpPr>
        <p:spPr>
          <a:xfrm>
            <a:off x="2442972" y="1371600"/>
            <a:ext cx="1638300" cy="2560320"/>
          </a:xfrm>
          <a:prstGeom prst="roundRect">
            <a:avLst>
              <a:gd name="adj" fmla="val 5581"/>
            </a:avLst>
          </a:prstGeom>
          <a:solidFill>
            <a:schemeClr val="bg2">
              <a:alpha val="80000"/>
            </a:schemeClr>
          </a:solidFill>
          <a:ln/>
        </p:spPr>
      </p:sp>
      <p:sp>
        <p:nvSpPr>
          <p:cNvPr id="9" name="Text 7"/>
          <p:cNvSpPr txBox="1"/>
          <p:nvPr/>
        </p:nvSpPr>
        <p:spPr>
          <a:xfrm>
            <a:off x="2580132" y="1481328"/>
            <a:ext cx="457200" cy="365760"/>
          </a:xfrm>
          <a:prstGeom prst="rect">
            <a:avLst/>
          </a:prstGeom>
          <a:noFill/>
          <a:ln/>
        </p:spPr>
        <p:txBody>
          <a:bodyPr wrap="square" lIns="0" tIns="0" rIns="0" bIns="0" rtlCol="0" anchor="t"/>
          <a:lstStyle/>
          <a:p>
            <a:pPr indent="0" marL="0">
              <a:buNone/>
            </a:pPr>
            <a:r>
              <a:rPr lang="en-US" sz="2000" b="1" dirty="0">
                <a:solidFill>
                  <a:schemeClr val="accent1"/>
                </a:solidFill>
                <a:latin typeface="Ebrima" pitchFamily="34" charset="0"/>
                <a:ea typeface="Ebrima" pitchFamily="34" charset="-122"/>
                <a:cs typeface="Ebrima" pitchFamily="34" charset="-120"/>
              </a:rPr>
              <a:t>2</a:t>
            </a:r>
            <a:endParaRPr lang="en-US" sz="2000" dirty="0"/>
          </a:p>
        </p:txBody>
      </p:sp>
      <p:sp>
        <p:nvSpPr>
          <p:cNvPr id="10" name="Text 8"/>
          <p:cNvSpPr txBox="1"/>
          <p:nvPr/>
        </p:nvSpPr>
        <p:spPr>
          <a:xfrm>
            <a:off x="2580132" y="1828800"/>
            <a:ext cx="1363980" cy="731520"/>
          </a:xfrm>
          <a:prstGeom prst="rect">
            <a:avLst/>
          </a:prstGeom>
          <a:noFill/>
          <a:ln/>
        </p:spPr>
        <p:txBody>
          <a:bodyPr wrap="square" lIns="0" tIns="0" rIns="0" bIns="0" rtlCol="0" anchor="t"/>
          <a:lstStyle/>
          <a:p>
            <a:pPr indent="0" marL="0">
              <a:buNone/>
            </a:pPr>
            <a:r>
              <a:rPr lang="en-US" sz="1600" b="1" dirty="0">
                <a:solidFill>
                  <a:schemeClr val="accent1"/>
                </a:solidFill>
                <a:latin typeface="Ebrima" pitchFamily="34" charset="0"/>
                <a:ea typeface="Ebrima" pitchFamily="34" charset="-122"/>
                <a:cs typeface="Ebrima" pitchFamily="34" charset="-120"/>
              </a:rPr>
              <a:t>ክፍት</a:t>
            </a:r>
            <a:endParaRPr lang="en-US" sz="1600" dirty="0"/>
          </a:p>
        </p:txBody>
      </p:sp>
      <p:sp>
        <p:nvSpPr>
          <p:cNvPr id="11" name="Text 9"/>
          <p:cNvSpPr txBox="1"/>
          <p:nvPr/>
        </p:nvSpPr>
        <p:spPr>
          <a:xfrm>
            <a:off x="2580132" y="2560320"/>
            <a:ext cx="1363980" cy="1280160"/>
          </a:xfrm>
          <a:prstGeom prst="rect">
            <a:avLst/>
          </a:prstGeom>
          <a:noFill/>
          <a:ln/>
        </p:spPr>
        <p:txBody>
          <a:bodyPr wrap="square" lIns="0" tIns="0" rIns="0" bIns="0" rtlCol="0" anchor="t"/>
          <a:lstStyle/>
          <a:p>
            <a:pPr indent="0" marL="0">
              <a:buNone/>
            </a:pPr>
            <a:r>
              <a:rPr lang="en-US" sz="1250" dirty="0">
                <a:solidFill>
                  <a:schemeClr val="tx1"/>
                </a:solidFill>
                <a:latin typeface="Ebrima" pitchFamily="34" charset="0"/>
                <a:ea typeface="Ebrima" pitchFamily="34" charset="-122"/>
                <a:cs typeface="Ebrima" pitchFamily="34" charset="-120"/>
              </a:rPr>
              <a:t>ውጤቶች በራሳቸው ይሰላሉ፤ አዲስ መረጃ ሲገባ ይታደሳሉ</a:t>
            </a:r>
            <a:endParaRPr lang="en-US" sz="1250" dirty="0"/>
          </a:p>
        </p:txBody>
      </p:sp>
      <p:sp>
        <p:nvSpPr>
          <p:cNvPr id="12" name="Shape 10"/>
          <p:cNvSpPr/>
          <p:nvPr/>
        </p:nvSpPr>
        <p:spPr>
          <a:xfrm rot="5400000">
            <a:off x="4090416" y="2595433"/>
            <a:ext cx="237744" cy="112654"/>
          </a:xfrm>
          <a:prstGeom prst="triangle">
            <a:avLst/>
          </a:prstGeom>
          <a:solidFill>
            <a:schemeClr val="accent2"/>
          </a:solidFill>
          <a:ln/>
        </p:spPr>
      </p:sp>
      <p:sp>
        <p:nvSpPr>
          <p:cNvPr id="13" name="Shape 11"/>
          <p:cNvSpPr/>
          <p:nvPr/>
        </p:nvSpPr>
        <p:spPr>
          <a:xfrm>
            <a:off x="4337304" y="1371600"/>
            <a:ext cx="1638300" cy="2560320"/>
          </a:xfrm>
          <a:prstGeom prst="roundRect">
            <a:avLst>
              <a:gd name="adj" fmla="val 5581"/>
            </a:avLst>
          </a:prstGeom>
          <a:solidFill>
            <a:schemeClr val="bg2">
              <a:alpha val="80000"/>
            </a:schemeClr>
          </a:solidFill>
          <a:ln/>
        </p:spPr>
      </p:sp>
      <p:sp>
        <p:nvSpPr>
          <p:cNvPr id="14" name="Text 12"/>
          <p:cNvSpPr txBox="1"/>
          <p:nvPr/>
        </p:nvSpPr>
        <p:spPr>
          <a:xfrm>
            <a:off x="4474464" y="1481328"/>
            <a:ext cx="457200" cy="365760"/>
          </a:xfrm>
          <a:prstGeom prst="rect">
            <a:avLst/>
          </a:prstGeom>
          <a:noFill/>
          <a:ln/>
        </p:spPr>
        <p:txBody>
          <a:bodyPr wrap="square" lIns="0" tIns="0" rIns="0" bIns="0" rtlCol="0" anchor="t"/>
          <a:lstStyle/>
          <a:p>
            <a:pPr indent="0" marL="0">
              <a:buNone/>
            </a:pPr>
            <a:r>
              <a:rPr lang="en-US" sz="2000" b="1" dirty="0">
                <a:solidFill>
                  <a:schemeClr val="accent1"/>
                </a:solidFill>
                <a:latin typeface="Ebrima" pitchFamily="34" charset="0"/>
                <a:ea typeface="Ebrima" pitchFamily="34" charset="-122"/>
                <a:cs typeface="Ebrima" pitchFamily="34" charset="-120"/>
              </a:rPr>
              <a:t>3</a:t>
            </a:r>
            <a:endParaRPr lang="en-US" sz="2000" dirty="0"/>
          </a:p>
        </p:txBody>
      </p:sp>
      <p:sp>
        <p:nvSpPr>
          <p:cNvPr id="15" name="Text 13"/>
          <p:cNvSpPr txBox="1"/>
          <p:nvPr/>
        </p:nvSpPr>
        <p:spPr>
          <a:xfrm>
            <a:off x="4474464" y="1828800"/>
            <a:ext cx="1363980" cy="731520"/>
          </a:xfrm>
          <a:prstGeom prst="rect">
            <a:avLst/>
          </a:prstGeom>
          <a:noFill/>
          <a:ln/>
        </p:spPr>
        <p:txBody>
          <a:bodyPr wrap="square" lIns="0" tIns="0" rIns="0" bIns="0" rtlCol="0" anchor="t"/>
          <a:lstStyle/>
          <a:p>
            <a:pPr indent="0" marL="0">
              <a:buNone/>
            </a:pPr>
            <a:r>
              <a:rPr lang="en-US" sz="1600" b="1" dirty="0">
                <a:solidFill>
                  <a:schemeClr val="accent1"/>
                </a:solidFill>
                <a:latin typeface="Ebrima" pitchFamily="34" charset="0"/>
                <a:ea typeface="Ebrima" pitchFamily="34" charset="-122"/>
                <a:cs typeface="Ebrima" pitchFamily="34" charset="-120"/>
              </a:rPr>
              <a:t>ግምገማ</a:t>
            </a:r>
            <a:endParaRPr lang="en-US" sz="1600" dirty="0"/>
          </a:p>
        </p:txBody>
      </p:sp>
      <p:sp>
        <p:nvSpPr>
          <p:cNvPr id="16" name="Text 14"/>
          <p:cNvSpPr txBox="1"/>
          <p:nvPr/>
        </p:nvSpPr>
        <p:spPr>
          <a:xfrm>
            <a:off x="4474464" y="2560320"/>
            <a:ext cx="1363980" cy="1280160"/>
          </a:xfrm>
          <a:prstGeom prst="rect">
            <a:avLst/>
          </a:prstGeom>
          <a:noFill/>
          <a:ln/>
        </p:spPr>
        <p:txBody>
          <a:bodyPr wrap="square" lIns="0" tIns="0" rIns="0" bIns="0" rtlCol="0" anchor="t"/>
          <a:lstStyle/>
          <a:p>
            <a:pPr indent="0" marL="0">
              <a:buNone/>
            </a:pPr>
            <a:r>
              <a:rPr lang="en-US" sz="1250" dirty="0">
                <a:solidFill>
                  <a:schemeClr val="tx1"/>
                </a:solidFill>
                <a:latin typeface="Ebrima" pitchFamily="34" charset="0"/>
                <a:ea typeface="Ebrima" pitchFamily="34" charset="-122"/>
                <a:cs typeface="Ebrima" pitchFamily="34" charset="-120"/>
              </a:rPr>
              <a:t>የሚመለከታቸው ክፍሎች ያጸድቃሉ ወይም ይቃወማሉ</a:t>
            </a:r>
            <a:endParaRPr lang="en-US" sz="1250" dirty="0"/>
          </a:p>
        </p:txBody>
      </p:sp>
      <p:sp>
        <p:nvSpPr>
          <p:cNvPr id="17" name="Shape 15"/>
          <p:cNvSpPr/>
          <p:nvPr/>
        </p:nvSpPr>
        <p:spPr>
          <a:xfrm rot="5400000">
            <a:off x="5984748" y="2595433"/>
            <a:ext cx="237744" cy="112654"/>
          </a:xfrm>
          <a:prstGeom prst="triangle">
            <a:avLst/>
          </a:prstGeom>
          <a:solidFill>
            <a:schemeClr val="accent2"/>
          </a:solidFill>
          <a:ln/>
        </p:spPr>
      </p:sp>
      <p:sp>
        <p:nvSpPr>
          <p:cNvPr id="18" name="Shape 16"/>
          <p:cNvSpPr/>
          <p:nvPr/>
        </p:nvSpPr>
        <p:spPr>
          <a:xfrm>
            <a:off x="6231636" y="1371600"/>
            <a:ext cx="1638300" cy="2560320"/>
          </a:xfrm>
          <a:prstGeom prst="roundRect">
            <a:avLst>
              <a:gd name="adj" fmla="val 5581"/>
            </a:avLst>
          </a:prstGeom>
          <a:solidFill>
            <a:schemeClr val="bg2">
              <a:alpha val="80000"/>
            </a:schemeClr>
          </a:solidFill>
          <a:ln/>
        </p:spPr>
      </p:sp>
      <p:sp>
        <p:nvSpPr>
          <p:cNvPr id="19" name="Text 17"/>
          <p:cNvSpPr txBox="1"/>
          <p:nvPr/>
        </p:nvSpPr>
        <p:spPr>
          <a:xfrm>
            <a:off x="6368796" y="1481328"/>
            <a:ext cx="457200" cy="365760"/>
          </a:xfrm>
          <a:prstGeom prst="rect">
            <a:avLst/>
          </a:prstGeom>
          <a:noFill/>
          <a:ln/>
        </p:spPr>
        <p:txBody>
          <a:bodyPr wrap="square" lIns="0" tIns="0" rIns="0" bIns="0" rtlCol="0" anchor="t"/>
          <a:lstStyle/>
          <a:p>
            <a:pPr indent="0" marL="0">
              <a:buNone/>
            </a:pPr>
            <a:r>
              <a:rPr lang="en-US" sz="2000" b="1" dirty="0">
                <a:solidFill>
                  <a:schemeClr val="accent1"/>
                </a:solidFill>
                <a:latin typeface="Ebrima" pitchFamily="34" charset="0"/>
                <a:ea typeface="Ebrima" pitchFamily="34" charset="-122"/>
                <a:cs typeface="Ebrima" pitchFamily="34" charset="-120"/>
              </a:rPr>
              <a:t>4</a:t>
            </a:r>
            <a:endParaRPr lang="en-US" sz="2000" dirty="0"/>
          </a:p>
        </p:txBody>
      </p:sp>
      <p:sp>
        <p:nvSpPr>
          <p:cNvPr id="20" name="Text 18"/>
          <p:cNvSpPr txBox="1"/>
          <p:nvPr/>
        </p:nvSpPr>
        <p:spPr>
          <a:xfrm>
            <a:off x="6368796" y="1828800"/>
            <a:ext cx="1363980" cy="731520"/>
          </a:xfrm>
          <a:prstGeom prst="rect">
            <a:avLst/>
          </a:prstGeom>
          <a:noFill/>
          <a:ln/>
        </p:spPr>
        <p:txBody>
          <a:bodyPr wrap="square" lIns="0" tIns="0" rIns="0" bIns="0" rtlCol="0" anchor="t"/>
          <a:lstStyle/>
          <a:p>
            <a:pPr indent="0" marL="0">
              <a:buNone/>
            </a:pPr>
            <a:r>
              <a:rPr lang="en-US" sz="1600" b="1" dirty="0">
                <a:solidFill>
                  <a:schemeClr val="accent1"/>
                </a:solidFill>
                <a:latin typeface="Ebrima" pitchFamily="34" charset="0"/>
                <a:ea typeface="Ebrima" pitchFamily="34" charset="-122"/>
                <a:cs typeface="Ebrima" pitchFamily="34" charset="-120"/>
              </a:rPr>
              <a:t>ጸደቀ</a:t>
            </a:r>
            <a:endParaRPr lang="en-US" sz="1600" dirty="0"/>
          </a:p>
        </p:txBody>
      </p:sp>
      <p:sp>
        <p:nvSpPr>
          <p:cNvPr id="21" name="Text 19"/>
          <p:cNvSpPr txBox="1"/>
          <p:nvPr/>
        </p:nvSpPr>
        <p:spPr>
          <a:xfrm>
            <a:off x="6368796" y="2560320"/>
            <a:ext cx="1363980" cy="1280160"/>
          </a:xfrm>
          <a:prstGeom prst="rect">
            <a:avLst/>
          </a:prstGeom>
          <a:noFill/>
          <a:ln/>
        </p:spPr>
        <p:txBody>
          <a:bodyPr wrap="square" lIns="0" tIns="0" rIns="0" bIns="0" rtlCol="0" anchor="t"/>
          <a:lstStyle/>
          <a:p>
            <a:pPr indent="0" marL="0">
              <a:buNone/>
            </a:pPr>
            <a:r>
              <a:rPr lang="en-US" sz="1250" dirty="0">
                <a:solidFill>
                  <a:schemeClr val="tx1"/>
                </a:solidFill>
                <a:latin typeface="Ebrima" pitchFamily="34" charset="0"/>
                <a:ea typeface="Ebrima" pitchFamily="34" charset="-122"/>
                <a:cs typeface="Ebrima" pitchFamily="34" charset="-120"/>
              </a:rPr>
              <a:t>ሁሉም ክፍሎች ካጸደቁ በኋላ፤ ውጤቱ ይቆለፋል</a:t>
            </a:r>
            <a:endParaRPr lang="en-US" sz="1250" dirty="0"/>
          </a:p>
        </p:txBody>
      </p:sp>
      <p:sp>
        <p:nvSpPr>
          <p:cNvPr id="22" name="Shape 20"/>
          <p:cNvSpPr/>
          <p:nvPr/>
        </p:nvSpPr>
        <p:spPr>
          <a:xfrm rot="5400000">
            <a:off x="7879080" y="2595433"/>
            <a:ext cx="237744" cy="112654"/>
          </a:xfrm>
          <a:prstGeom prst="triangle">
            <a:avLst/>
          </a:prstGeom>
          <a:solidFill>
            <a:schemeClr val="accent2"/>
          </a:solidFill>
          <a:ln/>
        </p:spPr>
      </p:sp>
      <p:sp>
        <p:nvSpPr>
          <p:cNvPr id="23" name="Shape 21"/>
          <p:cNvSpPr/>
          <p:nvPr/>
        </p:nvSpPr>
        <p:spPr>
          <a:xfrm>
            <a:off x="8125968" y="1371600"/>
            <a:ext cx="1638300" cy="2560320"/>
          </a:xfrm>
          <a:prstGeom prst="roundRect">
            <a:avLst>
              <a:gd name="adj" fmla="val 5581"/>
            </a:avLst>
          </a:prstGeom>
          <a:solidFill>
            <a:schemeClr val="bg2">
              <a:alpha val="80000"/>
            </a:schemeClr>
          </a:solidFill>
          <a:ln/>
        </p:spPr>
      </p:sp>
      <p:sp>
        <p:nvSpPr>
          <p:cNvPr id="24" name="Text 22"/>
          <p:cNvSpPr txBox="1"/>
          <p:nvPr/>
        </p:nvSpPr>
        <p:spPr>
          <a:xfrm>
            <a:off x="8263128" y="1481328"/>
            <a:ext cx="457200" cy="365760"/>
          </a:xfrm>
          <a:prstGeom prst="rect">
            <a:avLst/>
          </a:prstGeom>
          <a:noFill/>
          <a:ln/>
        </p:spPr>
        <p:txBody>
          <a:bodyPr wrap="square" lIns="0" tIns="0" rIns="0" bIns="0" rtlCol="0" anchor="t"/>
          <a:lstStyle/>
          <a:p>
            <a:pPr indent="0" marL="0">
              <a:buNone/>
            </a:pPr>
            <a:r>
              <a:rPr lang="en-US" sz="2000" b="1" dirty="0">
                <a:solidFill>
                  <a:schemeClr val="accent1"/>
                </a:solidFill>
                <a:latin typeface="Ebrima" pitchFamily="34" charset="0"/>
                <a:ea typeface="Ebrima" pitchFamily="34" charset="-122"/>
                <a:cs typeface="Ebrima" pitchFamily="34" charset="-120"/>
              </a:rPr>
              <a:t>5</a:t>
            </a:r>
            <a:endParaRPr lang="en-US" sz="2000" dirty="0"/>
          </a:p>
        </p:txBody>
      </p:sp>
      <p:sp>
        <p:nvSpPr>
          <p:cNvPr id="25" name="Text 23"/>
          <p:cNvSpPr txBox="1"/>
          <p:nvPr/>
        </p:nvSpPr>
        <p:spPr>
          <a:xfrm>
            <a:off x="8263128" y="1828800"/>
            <a:ext cx="1363980" cy="731520"/>
          </a:xfrm>
          <a:prstGeom prst="rect">
            <a:avLst/>
          </a:prstGeom>
          <a:noFill/>
          <a:ln/>
        </p:spPr>
        <p:txBody>
          <a:bodyPr wrap="square" lIns="0" tIns="0" rIns="0" bIns="0" rtlCol="0" anchor="t"/>
          <a:lstStyle/>
          <a:p>
            <a:pPr indent="0" marL="0">
              <a:buNone/>
            </a:pPr>
            <a:r>
              <a:rPr lang="en-US" sz="1600" b="1" dirty="0">
                <a:solidFill>
                  <a:schemeClr val="accent1"/>
                </a:solidFill>
                <a:latin typeface="Ebrima" pitchFamily="34" charset="0"/>
                <a:ea typeface="Ebrima" pitchFamily="34" charset="-122"/>
                <a:cs typeface="Ebrima" pitchFamily="34" charset="-120"/>
              </a:rPr>
              <a:t>የአገልግሎት ምድብ</a:t>
            </a:r>
            <a:endParaRPr lang="en-US" sz="1600" dirty="0"/>
          </a:p>
        </p:txBody>
      </p:sp>
      <p:sp>
        <p:nvSpPr>
          <p:cNvPr id="26" name="Text 24"/>
          <p:cNvSpPr txBox="1"/>
          <p:nvPr/>
        </p:nvSpPr>
        <p:spPr>
          <a:xfrm>
            <a:off x="8263128" y="2560320"/>
            <a:ext cx="1363980" cy="1280160"/>
          </a:xfrm>
          <a:prstGeom prst="rect">
            <a:avLst/>
          </a:prstGeom>
          <a:noFill/>
          <a:ln/>
        </p:spPr>
        <p:txBody>
          <a:bodyPr wrap="square" lIns="0" tIns="0" rIns="0" bIns="0" rtlCol="0" anchor="t"/>
          <a:lstStyle/>
          <a:p>
            <a:pPr indent="0" marL="0">
              <a:buNone/>
            </a:pPr>
            <a:r>
              <a:rPr lang="en-US" sz="1250" dirty="0">
                <a:solidFill>
                  <a:schemeClr val="tx1"/>
                </a:solidFill>
                <a:latin typeface="Ebrima" pitchFamily="34" charset="0"/>
                <a:ea typeface="Ebrima" pitchFamily="34" charset="-122"/>
                <a:cs typeface="Ebrima" pitchFamily="34" charset="-120"/>
              </a:rPr>
              <a:t>ለወረብ ወይም ለመዝሙር አገልግሎት መመደብ</a:t>
            </a:r>
            <a:endParaRPr lang="en-US" sz="1250" dirty="0"/>
          </a:p>
        </p:txBody>
      </p:sp>
      <p:sp>
        <p:nvSpPr>
          <p:cNvPr id="27" name="Shape 25"/>
          <p:cNvSpPr/>
          <p:nvPr/>
        </p:nvSpPr>
        <p:spPr>
          <a:xfrm rot="5400000">
            <a:off x="9773412" y="2595433"/>
            <a:ext cx="237744" cy="112654"/>
          </a:xfrm>
          <a:prstGeom prst="triangle">
            <a:avLst/>
          </a:prstGeom>
          <a:solidFill>
            <a:schemeClr val="accent2"/>
          </a:solidFill>
          <a:ln/>
        </p:spPr>
      </p:sp>
      <p:sp>
        <p:nvSpPr>
          <p:cNvPr id="28" name="Shape 26"/>
          <p:cNvSpPr/>
          <p:nvPr/>
        </p:nvSpPr>
        <p:spPr>
          <a:xfrm>
            <a:off x="10020300" y="1371600"/>
            <a:ext cx="1638300" cy="2560320"/>
          </a:xfrm>
          <a:prstGeom prst="roundRect">
            <a:avLst>
              <a:gd name="adj" fmla="val 5581"/>
            </a:avLst>
          </a:prstGeom>
          <a:solidFill>
            <a:schemeClr val="accent3"/>
          </a:solidFill>
          <a:ln/>
        </p:spPr>
      </p:sp>
      <p:sp>
        <p:nvSpPr>
          <p:cNvPr id="29" name="Text 27"/>
          <p:cNvSpPr txBox="1"/>
          <p:nvPr/>
        </p:nvSpPr>
        <p:spPr>
          <a:xfrm>
            <a:off x="10157460" y="1481328"/>
            <a:ext cx="457200" cy="365760"/>
          </a:xfrm>
          <a:prstGeom prst="rect">
            <a:avLst/>
          </a:prstGeom>
          <a:noFill/>
          <a:ln/>
        </p:spPr>
        <p:txBody>
          <a:bodyPr wrap="square" lIns="0" tIns="0" rIns="0" bIns="0" rtlCol="0" anchor="t"/>
          <a:lstStyle/>
          <a:p>
            <a:pPr indent="0" marL="0">
              <a:buNone/>
            </a:pPr>
            <a:r>
              <a:rPr lang="en-US" sz="2000" b="1" dirty="0">
                <a:solidFill>
                  <a:schemeClr val="accent2"/>
                </a:solidFill>
                <a:latin typeface="Ebrima" pitchFamily="34" charset="0"/>
                <a:ea typeface="Ebrima" pitchFamily="34" charset="-122"/>
                <a:cs typeface="Ebrima" pitchFamily="34" charset="-120"/>
              </a:rPr>
              <a:t>6</a:t>
            </a:r>
            <a:endParaRPr lang="en-US" sz="2000" dirty="0"/>
          </a:p>
        </p:txBody>
      </p:sp>
      <p:sp>
        <p:nvSpPr>
          <p:cNvPr id="30" name="Text 28"/>
          <p:cNvSpPr txBox="1"/>
          <p:nvPr/>
        </p:nvSpPr>
        <p:spPr>
          <a:xfrm>
            <a:off x="10157460" y="1828800"/>
            <a:ext cx="1363980" cy="731520"/>
          </a:xfrm>
          <a:prstGeom prst="rect">
            <a:avLst/>
          </a:prstGeom>
          <a:noFill/>
          <a:ln/>
        </p:spPr>
        <p:txBody>
          <a:bodyPr wrap="square" lIns="0" tIns="0" rIns="0" bIns="0" rtlCol="0" anchor="t"/>
          <a:lstStyle/>
          <a:p>
            <a:pPr indent="0" marL="0">
              <a:buNone/>
            </a:pPr>
            <a:r>
              <a:rPr lang="en-US" sz="1600" b="1" dirty="0">
                <a:solidFill>
                  <a:schemeClr val="bg1"/>
                </a:solidFill>
                <a:latin typeface="Ebrima" pitchFamily="34" charset="0"/>
                <a:ea typeface="Ebrima" pitchFamily="34" charset="-122"/>
                <a:cs typeface="Ebrima" pitchFamily="34" charset="-120"/>
              </a:rPr>
              <a:t>ይፋ</a:t>
            </a:r>
            <a:endParaRPr lang="en-US" sz="1600" dirty="0"/>
          </a:p>
        </p:txBody>
      </p:sp>
      <p:sp>
        <p:nvSpPr>
          <p:cNvPr id="31" name="Text 29"/>
          <p:cNvSpPr txBox="1"/>
          <p:nvPr/>
        </p:nvSpPr>
        <p:spPr>
          <a:xfrm>
            <a:off x="10157460" y="2560320"/>
            <a:ext cx="1363980" cy="1280160"/>
          </a:xfrm>
          <a:prstGeom prst="rect">
            <a:avLst/>
          </a:prstGeom>
          <a:noFill/>
          <a:ln/>
        </p:spPr>
        <p:txBody>
          <a:bodyPr wrap="square" lIns="0" tIns="0" rIns="0" bIns="0" rtlCol="0" anchor="t"/>
          <a:lstStyle/>
          <a:p>
            <a:pPr indent="0" marL="0">
              <a:buNone/>
            </a:pPr>
            <a:r>
              <a:rPr lang="en-US" sz="1250" dirty="0">
                <a:solidFill>
                  <a:schemeClr val="bg1"/>
                </a:solidFill>
                <a:latin typeface="Ebrima" pitchFamily="34" charset="0"/>
                <a:ea typeface="Ebrima" pitchFamily="34" charset="-122"/>
                <a:cs typeface="Ebrima" pitchFamily="34" charset="-120"/>
              </a:rPr>
              <a:t>ሁሉም አመልካቾች ይነገራቸዋል፤ አስተያየት መስጠት ይችላሉ</a:t>
            </a:r>
            <a:endParaRPr lang="en-US" sz="1250" dirty="0"/>
          </a:p>
        </p:txBody>
      </p:sp>
      <p:sp>
        <p:nvSpPr>
          <p:cNvPr id="32" name="Shape 30"/>
          <p:cNvSpPr/>
          <p:nvPr/>
        </p:nvSpPr>
        <p:spPr>
          <a:xfrm>
            <a:off x="548640" y="4251960"/>
            <a:ext cx="3566160" cy="1920240"/>
          </a:xfrm>
          <a:prstGeom prst="roundRect">
            <a:avLst>
              <a:gd name="adj" fmla="val 5714"/>
            </a:avLst>
          </a:prstGeom>
          <a:solidFill>
            <a:schemeClr val="bg2">
              <a:alpha val="60000"/>
            </a:schemeClr>
          </a:solidFill>
          <a:ln/>
        </p:spPr>
      </p:sp>
      <p:sp>
        <p:nvSpPr>
          <p:cNvPr id="33" name="Text 31"/>
          <p:cNvSpPr txBox="1"/>
          <p:nvPr/>
        </p:nvSpPr>
        <p:spPr>
          <a:xfrm>
            <a:off x="777240" y="4389120"/>
            <a:ext cx="3200400" cy="365760"/>
          </a:xfrm>
          <a:prstGeom prst="rect">
            <a:avLst/>
          </a:prstGeom>
          <a:noFill/>
          <a:ln/>
        </p:spPr>
        <p:txBody>
          <a:bodyPr wrap="square" lIns="0" tIns="0" rIns="0" bIns="0" rtlCol="0" anchor="t"/>
          <a:lstStyle/>
          <a:p>
            <a:pPr indent="0" marL="0">
              <a:buNone/>
            </a:pPr>
            <a:r>
              <a:rPr lang="en-US" sz="1450" b="1" dirty="0">
                <a:solidFill>
                  <a:schemeClr val="accent1"/>
                </a:solidFill>
                <a:latin typeface="Ebrima" pitchFamily="34" charset="0"/>
                <a:ea typeface="Ebrima" pitchFamily="34" charset="-122"/>
                <a:cs typeface="Ebrima" pitchFamily="34" charset="-120"/>
              </a:rPr>
              <a:t>የሚገመግሙ ክፍሎች (ነባሪ)</a:t>
            </a:r>
            <a:endParaRPr lang="en-US" sz="1450" dirty="0"/>
          </a:p>
        </p:txBody>
      </p:sp>
      <p:sp>
        <p:nvSpPr>
          <p:cNvPr id="34" name="Text 32"/>
          <p:cNvSpPr txBox="1"/>
          <p:nvPr/>
        </p:nvSpPr>
        <p:spPr>
          <a:xfrm>
            <a:off x="777240" y="4800600"/>
            <a:ext cx="3200400" cy="1280160"/>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1"/>
                </a:solidFill>
                <a:latin typeface="Ebrima" pitchFamily="34" charset="0"/>
                <a:ea typeface="Ebrima" pitchFamily="34" charset="-122"/>
                <a:cs typeface="Ebrima" pitchFamily="34" charset="-120"/>
              </a:rPr>
              <a:t>መዝሙር እና ሥነ-ጥበብ</a:t>
            </a:r>
            <a:endParaRPr lang="en-US" sz="1350" dirty="0"/>
          </a:p>
          <a:p>
            <a:pPr marL="342900" indent="-342900">
              <a:spcAft>
                <a:spcPts val="400"/>
              </a:spcAft>
              <a:buSzPct val="100000"/>
              <a:buChar char="●"/>
            </a:pPr>
            <a:r>
              <a:rPr lang="en-US" sz="1350" dirty="0">
                <a:solidFill>
                  <a:schemeClr val="tx1"/>
                </a:solidFill>
                <a:latin typeface="Ebrima" pitchFamily="34" charset="0"/>
                <a:ea typeface="Ebrima" pitchFamily="34" charset="-122"/>
                <a:cs typeface="Ebrima" pitchFamily="34" charset="-120"/>
              </a:rPr>
              <a:t>ትምህርት እና ሥልጠና</a:t>
            </a:r>
            <a:endParaRPr lang="en-US" sz="1350" dirty="0"/>
          </a:p>
          <a:p>
            <a:pPr marL="342900" indent="-342900">
              <a:spcAft>
                <a:spcPts val="400"/>
              </a:spcAft>
              <a:buSzPct val="100000"/>
              <a:buChar char="●"/>
            </a:pPr>
            <a:r>
              <a:rPr lang="en-US" sz="1350" dirty="0">
                <a:solidFill>
                  <a:schemeClr val="tx1"/>
                </a:solidFill>
                <a:latin typeface="Ebrima" pitchFamily="34" charset="0"/>
                <a:ea typeface="Ebrima" pitchFamily="34" charset="-122"/>
                <a:cs typeface="Ebrima" pitchFamily="34" charset="-120"/>
              </a:rPr>
              <a:t>የሰው ኃብት አስተዳደር</a:t>
            </a:r>
            <a:endParaRPr lang="en-US" sz="1350" dirty="0"/>
          </a:p>
        </p:txBody>
      </p:sp>
      <p:sp>
        <p:nvSpPr>
          <p:cNvPr id="35" name="Shape 33"/>
          <p:cNvSpPr/>
          <p:nvPr/>
        </p:nvSpPr>
        <p:spPr>
          <a:xfrm>
            <a:off x="4315968" y="4251960"/>
            <a:ext cx="3566160" cy="1920240"/>
          </a:xfrm>
          <a:prstGeom prst="roundRect">
            <a:avLst>
              <a:gd name="adj" fmla="val 5714"/>
            </a:avLst>
          </a:prstGeom>
          <a:solidFill>
            <a:schemeClr val="bg2">
              <a:alpha val="60000"/>
            </a:schemeClr>
          </a:solidFill>
          <a:ln/>
        </p:spPr>
      </p:sp>
      <p:sp>
        <p:nvSpPr>
          <p:cNvPr id="36" name="Text 34"/>
          <p:cNvSpPr txBox="1"/>
          <p:nvPr/>
        </p:nvSpPr>
        <p:spPr>
          <a:xfrm>
            <a:off x="4544568" y="4389120"/>
            <a:ext cx="3200400" cy="365760"/>
          </a:xfrm>
          <a:prstGeom prst="rect">
            <a:avLst/>
          </a:prstGeom>
          <a:noFill/>
          <a:ln/>
        </p:spPr>
        <p:txBody>
          <a:bodyPr wrap="square" lIns="0" tIns="0" rIns="0" bIns="0" rtlCol="0" anchor="t"/>
          <a:lstStyle/>
          <a:p>
            <a:pPr indent="0" marL="0">
              <a:buNone/>
            </a:pPr>
            <a:r>
              <a:rPr lang="en-US" sz="1450" b="1" dirty="0">
                <a:solidFill>
                  <a:schemeClr val="accent1"/>
                </a:solidFill>
                <a:latin typeface="Ebrima" pitchFamily="34" charset="0"/>
                <a:ea typeface="Ebrima" pitchFamily="34" charset="-122"/>
                <a:cs typeface="Ebrima" pitchFamily="34" charset="-120"/>
              </a:rPr>
              <a:t>ልዩ ውሳኔ (Override)</a:t>
            </a:r>
            <a:endParaRPr lang="en-US" sz="1450" dirty="0"/>
          </a:p>
        </p:txBody>
      </p:sp>
      <p:sp>
        <p:nvSpPr>
          <p:cNvPr id="37" name="Text 35"/>
          <p:cNvSpPr txBox="1"/>
          <p:nvPr/>
        </p:nvSpPr>
        <p:spPr>
          <a:xfrm>
            <a:off x="4544568" y="4800600"/>
            <a:ext cx="3154680" cy="1280160"/>
          </a:xfrm>
          <a:prstGeom prst="rect">
            <a:avLst/>
          </a:prstGeom>
          <a:noFill/>
          <a:ln/>
        </p:spPr>
        <p:txBody>
          <a:bodyPr wrap="square" lIns="0" tIns="0" rIns="0" bIns="0" rtlCol="0" anchor="t"/>
          <a:lstStyle/>
          <a:p>
            <a:pPr indent="0" marL="0">
              <a:buNone/>
            </a:pPr>
            <a:r>
              <a:rPr lang="en-US" sz="1300" dirty="0">
                <a:solidFill>
                  <a:schemeClr val="tx1"/>
                </a:solidFill>
                <a:latin typeface="Ebrima" pitchFamily="34" charset="0"/>
                <a:ea typeface="Ebrima" pitchFamily="34" charset="-122"/>
                <a:cs typeface="Ebrima" pitchFamily="34" charset="-120"/>
              </a:rPr>
              <a:t>በግምገማ ወቅት በጽሑፍ ምክንያት ብቻ፤ የተሰላው ውጤት ጎን ለጎን ይቀመጣል፤ በኦዲት መዝገብ ይመዘገባል</a:t>
            </a:r>
            <a:endParaRPr lang="en-US" sz="1300" dirty="0"/>
          </a:p>
        </p:txBody>
      </p:sp>
      <p:sp>
        <p:nvSpPr>
          <p:cNvPr id="38" name="Shape 36"/>
          <p:cNvSpPr/>
          <p:nvPr/>
        </p:nvSpPr>
        <p:spPr>
          <a:xfrm>
            <a:off x="8092440" y="4251960"/>
            <a:ext cx="3566160" cy="1920240"/>
          </a:xfrm>
          <a:prstGeom prst="roundRect">
            <a:avLst>
              <a:gd name="adj" fmla="val 5714"/>
            </a:avLst>
          </a:prstGeom>
          <a:solidFill>
            <a:schemeClr val="bg2">
              <a:alpha val="60000"/>
            </a:schemeClr>
          </a:solidFill>
          <a:ln/>
        </p:spPr>
      </p:sp>
      <p:sp>
        <p:nvSpPr>
          <p:cNvPr id="39" name="Text 37"/>
          <p:cNvSpPr txBox="1"/>
          <p:nvPr/>
        </p:nvSpPr>
        <p:spPr>
          <a:xfrm>
            <a:off x="8321040" y="4389120"/>
            <a:ext cx="3200400" cy="365760"/>
          </a:xfrm>
          <a:prstGeom prst="rect">
            <a:avLst/>
          </a:prstGeom>
          <a:noFill/>
          <a:ln/>
        </p:spPr>
        <p:txBody>
          <a:bodyPr wrap="square" lIns="0" tIns="0" rIns="0" bIns="0" rtlCol="0" anchor="t"/>
          <a:lstStyle/>
          <a:p>
            <a:pPr indent="0" marL="0">
              <a:buNone/>
            </a:pPr>
            <a:r>
              <a:rPr lang="en-US" sz="1450" b="1" dirty="0">
                <a:solidFill>
                  <a:schemeClr val="accent1"/>
                </a:solidFill>
                <a:latin typeface="Ebrima" pitchFamily="34" charset="0"/>
                <a:ea typeface="Ebrima" pitchFamily="34" charset="-122"/>
                <a:cs typeface="Ebrima" pitchFamily="34" charset="-120"/>
              </a:rPr>
              <a:t>ሌሎች የመዝሙር አገልግሎቶች</a:t>
            </a:r>
            <a:endParaRPr lang="en-US" sz="1450" dirty="0"/>
          </a:p>
        </p:txBody>
      </p:sp>
      <p:sp>
        <p:nvSpPr>
          <p:cNvPr id="40" name="Text 38"/>
          <p:cNvSpPr txBox="1"/>
          <p:nvPr/>
        </p:nvSpPr>
        <p:spPr>
          <a:xfrm>
            <a:off x="8321040" y="4800600"/>
            <a:ext cx="3154680" cy="1280160"/>
          </a:xfrm>
          <a:prstGeom prst="rect">
            <a:avLst/>
          </a:prstGeom>
          <a:noFill/>
          <a:ln/>
        </p:spPr>
        <p:txBody>
          <a:bodyPr wrap="square" lIns="0" tIns="0" rIns="0" bIns="0" rtlCol="0" anchor="t"/>
          <a:lstStyle/>
          <a:p>
            <a:pPr indent="0" marL="0">
              <a:buNone/>
            </a:pPr>
            <a:r>
              <a:rPr lang="en-US" sz="1300" dirty="0">
                <a:solidFill>
                  <a:schemeClr val="tx1"/>
                </a:solidFill>
                <a:latin typeface="Ebrima" pitchFamily="34" charset="0"/>
                <a:ea typeface="Ebrima" pitchFamily="34" charset="-122"/>
                <a:cs typeface="Ebrima" pitchFamily="34" charset="-120"/>
              </a:rPr>
              <a:t>ለሠርግ አገልግሎት ተሳታፊዎች በስልጣን ባለው አስተዳዳሪ በእጅ ይመረጣሉ</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Ebrima"/>
                <a:ea typeface="Ebrima"/>
                <a:cs typeface="Ebrima"/>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0241280" cy="777240"/>
          </a:xfrm>
          <a:prstGeom prst="rect">
            <a:avLst/>
          </a:prstGeom>
          <a:noFill/>
          <a:ln/>
        </p:spPr>
        <p:txBody>
          <a:bodyPr wrap="square" lIns="0" tIns="0" rIns="0" bIns="0" rtlCol="0" anchor="ctr"/>
          <a:lstStyle/>
          <a:p>
            <a:pPr algn="l" indent="0" marL="0">
              <a:buNone/>
            </a:pPr>
            <a:r>
              <a:rPr lang="en-US" sz="3400" dirty="0">
                <a:solidFill>
                  <a:schemeClr val="accent1"/>
                </a:solidFill>
                <a:latin typeface="Nyala" pitchFamily="34" charset="0"/>
                <a:ea typeface="Nyala" pitchFamily="34" charset="-122"/>
                <a:cs typeface="Nyala" pitchFamily="34" charset="-120"/>
              </a:rPr>
              <a:t>ወርሃዊ መዋጮ</a:t>
            </a:r>
            <a:endParaRPr lang="en-US" sz="3400" dirty="0"/>
          </a:p>
        </p:txBody>
      </p:sp>
      <p:sp>
        <p:nvSpPr>
          <p:cNvPr id="3" name="Shape 1"/>
          <p:cNvSpPr/>
          <p:nvPr/>
        </p:nvSpPr>
        <p:spPr>
          <a:xfrm>
            <a:off x="548640" y="1371600"/>
            <a:ext cx="548640" cy="548640"/>
          </a:xfrm>
          <a:prstGeom prst="ellipse">
            <a:avLst/>
          </a:prstGeom>
          <a:solidFill>
            <a:schemeClr val="accent1"/>
          </a:solidFill>
          <a:ln/>
        </p:spPr>
      </p:sp>
      <p:pic>
        <p:nvPicPr>
          <p:cNvPr id="4" name="Image 0" descr="preencoded.png">    </p:cNvPr>
          <p:cNvPicPr>
            <a:picLocks noChangeAspect="1"/>
          </p:cNvPicPr>
          <p:nvPr/>
        </p:nvPicPr>
        <p:blipFill>
          <a:blip r:embed="rId1"/>
          <a:stretch>
            <a:fillRect/>
          </a:stretch>
        </p:blipFill>
        <p:spPr>
          <a:xfrm>
            <a:off x="680314" y="1503274"/>
            <a:ext cx="285293" cy="285293"/>
          </a:xfrm>
          <a:prstGeom prst="rect">
            <a:avLst/>
          </a:prstGeom>
        </p:spPr>
      </p:pic>
      <p:sp>
        <p:nvSpPr>
          <p:cNvPr id="5" name="Text 2"/>
          <p:cNvSpPr txBox="1"/>
          <p:nvPr/>
        </p:nvSpPr>
        <p:spPr>
          <a:xfrm>
            <a:off x="1280160" y="1380744"/>
            <a:ext cx="6035040" cy="566928"/>
          </a:xfrm>
          <a:prstGeom prst="rect">
            <a:avLst/>
          </a:prstGeom>
          <a:noFill/>
          <a:ln/>
        </p:spPr>
        <p:txBody>
          <a:bodyPr wrap="square" lIns="0" tIns="0" rIns="0" bIns="0" rtlCol="0" anchor="ctr"/>
          <a:lstStyle/>
          <a:p>
            <a:pPr indent="0" marL="0">
              <a:buNone/>
            </a:pPr>
            <a:r>
              <a:rPr lang="en-US" sz="1500" dirty="0">
                <a:solidFill>
                  <a:schemeClr val="tx1"/>
                </a:solidFill>
                <a:latin typeface="Ebrima" pitchFamily="34" charset="0"/>
                <a:ea typeface="Ebrima" pitchFamily="34" charset="-122"/>
                <a:cs typeface="Ebrima" pitchFamily="34" charset="-120"/>
              </a:rPr>
              <a:t>በኢትዮጵያ ወር ይመዘገባል (ጳጉሜ ከነሐሴ ጋር ይቆጠራል)</a:t>
            </a:r>
            <a:endParaRPr lang="en-US" sz="1500" dirty="0"/>
          </a:p>
        </p:txBody>
      </p:sp>
      <p:sp>
        <p:nvSpPr>
          <p:cNvPr id="6" name="Shape 3"/>
          <p:cNvSpPr/>
          <p:nvPr/>
        </p:nvSpPr>
        <p:spPr>
          <a:xfrm>
            <a:off x="548640" y="2176272"/>
            <a:ext cx="548640" cy="548640"/>
          </a:xfrm>
          <a:prstGeom prst="ellipse">
            <a:avLst/>
          </a:prstGeom>
          <a:solidFill>
            <a:schemeClr val="accent2"/>
          </a:solidFill>
          <a:ln/>
        </p:spPr>
      </p:sp>
      <p:pic>
        <p:nvPicPr>
          <p:cNvPr id="7" name="Image 1" descr="preencoded.png">    </p:cNvPr>
          <p:cNvPicPr>
            <a:picLocks noChangeAspect="1"/>
          </p:cNvPicPr>
          <p:nvPr/>
        </p:nvPicPr>
        <p:blipFill>
          <a:blip r:embed="rId2"/>
          <a:stretch>
            <a:fillRect/>
          </a:stretch>
        </p:blipFill>
        <p:spPr>
          <a:xfrm>
            <a:off x="680314" y="2307946"/>
            <a:ext cx="285293" cy="285293"/>
          </a:xfrm>
          <a:prstGeom prst="rect">
            <a:avLst/>
          </a:prstGeom>
        </p:spPr>
      </p:pic>
      <p:sp>
        <p:nvSpPr>
          <p:cNvPr id="8" name="Text 4"/>
          <p:cNvSpPr txBox="1"/>
          <p:nvPr/>
        </p:nvSpPr>
        <p:spPr>
          <a:xfrm>
            <a:off x="1280160" y="2185416"/>
            <a:ext cx="6035040" cy="566928"/>
          </a:xfrm>
          <a:prstGeom prst="rect">
            <a:avLst/>
          </a:prstGeom>
          <a:noFill/>
          <a:ln/>
        </p:spPr>
        <p:txBody>
          <a:bodyPr wrap="square" lIns="0" tIns="0" rIns="0" bIns="0" rtlCol="0" anchor="ctr"/>
          <a:lstStyle/>
          <a:p>
            <a:pPr indent="0" marL="0">
              <a:buNone/>
            </a:pPr>
            <a:r>
              <a:rPr lang="en-US" sz="1500" dirty="0">
                <a:solidFill>
                  <a:schemeClr val="tx1"/>
                </a:solidFill>
                <a:latin typeface="Ebrima" pitchFamily="34" charset="0"/>
                <a:ea typeface="Ebrima" pitchFamily="34" charset="-122"/>
                <a:cs typeface="Ebrima" pitchFamily="34" charset="-120"/>
              </a:rPr>
              <a:t>አንድ ክፍያ ከ1 እስከ 12 ተከታታይ ወራትን ሊሸፍን ይችላል</a:t>
            </a:r>
            <a:endParaRPr lang="en-US" sz="1500" dirty="0"/>
          </a:p>
        </p:txBody>
      </p:sp>
      <p:sp>
        <p:nvSpPr>
          <p:cNvPr id="9" name="Shape 5"/>
          <p:cNvSpPr/>
          <p:nvPr/>
        </p:nvSpPr>
        <p:spPr>
          <a:xfrm>
            <a:off x="548640" y="2980944"/>
            <a:ext cx="548640" cy="548640"/>
          </a:xfrm>
          <a:prstGeom prst="ellipse">
            <a:avLst/>
          </a:prstGeom>
          <a:solidFill>
            <a:schemeClr val="accent1"/>
          </a:solidFill>
          <a:ln/>
        </p:spPr>
      </p:sp>
      <p:pic>
        <p:nvPicPr>
          <p:cNvPr id="10" name="Image 2" descr="preencoded.png">    </p:cNvPr>
          <p:cNvPicPr>
            <a:picLocks noChangeAspect="1"/>
          </p:cNvPicPr>
          <p:nvPr/>
        </p:nvPicPr>
        <p:blipFill>
          <a:blip r:embed="rId3"/>
          <a:stretch>
            <a:fillRect/>
          </a:stretch>
        </p:blipFill>
        <p:spPr>
          <a:xfrm>
            <a:off x="680314" y="3112618"/>
            <a:ext cx="285293" cy="285293"/>
          </a:xfrm>
          <a:prstGeom prst="rect">
            <a:avLst/>
          </a:prstGeom>
        </p:spPr>
      </p:pic>
      <p:sp>
        <p:nvSpPr>
          <p:cNvPr id="11" name="Text 6"/>
          <p:cNvSpPr txBox="1"/>
          <p:nvPr/>
        </p:nvSpPr>
        <p:spPr>
          <a:xfrm>
            <a:off x="1280160" y="2990088"/>
            <a:ext cx="6035040" cy="566928"/>
          </a:xfrm>
          <a:prstGeom prst="rect">
            <a:avLst/>
          </a:prstGeom>
          <a:noFill/>
          <a:ln/>
        </p:spPr>
        <p:txBody>
          <a:bodyPr wrap="square" lIns="0" tIns="0" rIns="0" bIns="0" rtlCol="0" anchor="ctr"/>
          <a:lstStyle/>
          <a:p>
            <a:pPr indent="0" marL="0">
              <a:buNone/>
            </a:pPr>
            <a:r>
              <a:rPr lang="en-US" sz="1500" dirty="0">
                <a:solidFill>
                  <a:schemeClr val="tx1"/>
                </a:solidFill>
                <a:latin typeface="Ebrima" pitchFamily="34" charset="0"/>
                <a:ea typeface="Ebrima" pitchFamily="34" charset="-122"/>
                <a:cs typeface="Ebrima" pitchFamily="34" charset="-120"/>
              </a:rPr>
              <a:t>ተመን በአባል ዓይነት (ተማሪ / ሠራተኛ)፤ ሕጻናት አይከፍሉም</a:t>
            </a:r>
            <a:endParaRPr lang="en-US" sz="1500" dirty="0"/>
          </a:p>
        </p:txBody>
      </p:sp>
      <p:sp>
        <p:nvSpPr>
          <p:cNvPr id="12" name="Shape 7"/>
          <p:cNvSpPr/>
          <p:nvPr/>
        </p:nvSpPr>
        <p:spPr>
          <a:xfrm>
            <a:off x="548640" y="3785616"/>
            <a:ext cx="548640" cy="548640"/>
          </a:xfrm>
          <a:prstGeom prst="ellipse">
            <a:avLst/>
          </a:prstGeom>
          <a:solidFill>
            <a:schemeClr val="accent2"/>
          </a:solidFill>
          <a:ln/>
        </p:spPr>
      </p:sp>
      <p:pic>
        <p:nvPicPr>
          <p:cNvPr id="13" name="Image 3" descr="preencoded.png">    </p:cNvPr>
          <p:cNvPicPr>
            <a:picLocks noChangeAspect="1"/>
          </p:cNvPicPr>
          <p:nvPr/>
        </p:nvPicPr>
        <p:blipFill>
          <a:blip r:embed="rId4"/>
          <a:stretch>
            <a:fillRect/>
          </a:stretch>
        </p:blipFill>
        <p:spPr>
          <a:xfrm>
            <a:off x="680314" y="3917290"/>
            <a:ext cx="285293" cy="285293"/>
          </a:xfrm>
          <a:prstGeom prst="rect">
            <a:avLst/>
          </a:prstGeom>
        </p:spPr>
      </p:pic>
      <p:sp>
        <p:nvSpPr>
          <p:cNvPr id="14" name="Text 8"/>
          <p:cNvSpPr txBox="1"/>
          <p:nvPr/>
        </p:nvSpPr>
        <p:spPr>
          <a:xfrm>
            <a:off x="1280160" y="3794760"/>
            <a:ext cx="6035040" cy="566928"/>
          </a:xfrm>
          <a:prstGeom prst="rect">
            <a:avLst/>
          </a:prstGeom>
          <a:noFill/>
          <a:ln/>
        </p:spPr>
        <p:txBody>
          <a:bodyPr wrap="square" lIns="0" tIns="0" rIns="0" bIns="0" rtlCol="0" anchor="ctr"/>
          <a:lstStyle/>
          <a:p>
            <a:pPr indent="0" marL="0">
              <a:buNone/>
            </a:pPr>
            <a:r>
              <a:rPr lang="en-US" sz="1500" dirty="0">
                <a:solidFill>
                  <a:schemeClr val="tx1"/>
                </a:solidFill>
                <a:latin typeface="Ebrima" pitchFamily="34" charset="0"/>
                <a:ea typeface="Ebrima" pitchFamily="34" charset="-122"/>
                <a:cs typeface="Ebrima" pitchFamily="34" charset="-120"/>
              </a:rPr>
              <a:t>ደረሰኝ ማያያዝና በሌላ አስተዳዳሪ ማረጋገጥ</a:t>
            </a:r>
            <a:endParaRPr lang="en-US" sz="1500" dirty="0"/>
          </a:p>
        </p:txBody>
      </p:sp>
      <p:sp>
        <p:nvSpPr>
          <p:cNvPr id="15" name="Shape 9"/>
          <p:cNvSpPr/>
          <p:nvPr/>
        </p:nvSpPr>
        <p:spPr>
          <a:xfrm>
            <a:off x="548640" y="4590288"/>
            <a:ext cx="548640" cy="548640"/>
          </a:xfrm>
          <a:prstGeom prst="ellipse">
            <a:avLst/>
          </a:prstGeom>
          <a:solidFill>
            <a:schemeClr val="accent1"/>
          </a:solidFill>
          <a:ln/>
        </p:spPr>
      </p:sp>
      <p:pic>
        <p:nvPicPr>
          <p:cNvPr id="16" name="Image 4" descr="preencoded.png">    </p:cNvPr>
          <p:cNvPicPr>
            <a:picLocks noChangeAspect="1"/>
          </p:cNvPicPr>
          <p:nvPr/>
        </p:nvPicPr>
        <p:blipFill>
          <a:blip r:embed="rId5"/>
          <a:stretch>
            <a:fillRect/>
          </a:stretch>
        </p:blipFill>
        <p:spPr>
          <a:xfrm>
            <a:off x="680314" y="4721962"/>
            <a:ext cx="285293" cy="285293"/>
          </a:xfrm>
          <a:prstGeom prst="rect">
            <a:avLst/>
          </a:prstGeom>
        </p:spPr>
      </p:pic>
      <p:sp>
        <p:nvSpPr>
          <p:cNvPr id="17" name="Text 10"/>
          <p:cNvSpPr txBox="1"/>
          <p:nvPr/>
        </p:nvSpPr>
        <p:spPr>
          <a:xfrm>
            <a:off x="1280160" y="4599432"/>
            <a:ext cx="6035040" cy="566928"/>
          </a:xfrm>
          <a:prstGeom prst="rect">
            <a:avLst/>
          </a:prstGeom>
          <a:noFill/>
          <a:ln/>
        </p:spPr>
        <p:txBody>
          <a:bodyPr wrap="square" lIns="0" tIns="0" rIns="0" bIns="0" rtlCol="0" anchor="ctr"/>
          <a:lstStyle/>
          <a:p>
            <a:pPr indent="0" marL="0">
              <a:buNone/>
            </a:pPr>
            <a:r>
              <a:rPr lang="en-US" sz="1500" dirty="0">
                <a:solidFill>
                  <a:schemeClr val="tx1"/>
                </a:solidFill>
                <a:latin typeface="Ebrima" pitchFamily="34" charset="0"/>
                <a:ea typeface="Ebrima" pitchFamily="34" charset="-122"/>
                <a:cs typeface="Ebrima" pitchFamily="34" charset="-120"/>
              </a:rPr>
              <a:t>ከወሩ በኋላ የተከፈለ «ከወሩ በኋላ ተከፍሏል» ተብሎ ይመዘገባል — አሁንም እንደተከፈለ ይቆጠራል</a:t>
            </a:r>
            <a:endParaRPr lang="en-US" sz="1500" dirty="0"/>
          </a:p>
        </p:txBody>
      </p:sp>
      <p:sp>
        <p:nvSpPr>
          <p:cNvPr id="18" name="Shape 11"/>
          <p:cNvSpPr/>
          <p:nvPr/>
        </p:nvSpPr>
        <p:spPr>
          <a:xfrm>
            <a:off x="548640" y="5394960"/>
            <a:ext cx="548640" cy="548640"/>
          </a:xfrm>
          <a:prstGeom prst="ellipse">
            <a:avLst/>
          </a:prstGeom>
          <a:solidFill>
            <a:schemeClr val="accent2"/>
          </a:solidFill>
          <a:ln/>
        </p:spPr>
      </p:sp>
      <p:pic>
        <p:nvPicPr>
          <p:cNvPr id="19" name="Image 5" descr="preencoded.png">    </p:cNvPr>
          <p:cNvPicPr>
            <a:picLocks noChangeAspect="1"/>
          </p:cNvPicPr>
          <p:nvPr/>
        </p:nvPicPr>
        <p:blipFill>
          <a:blip r:embed="rId6"/>
          <a:stretch>
            <a:fillRect/>
          </a:stretch>
        </p:blipFill>
        <p:spPr>
          <a:xfrm>
            <a:off x="680314" y="5526634"/>
            <a:ext cx="285293" cy="285293"/>
          </a:xfrm>
          <a:prstGeom prst="rect">
            <a:avLst/>
          </a:prstGeom>
        </p:spPr>
      </p:pic>
      <p:sp>
        <p:nvSpPr>
          <p:cNvPr id="20" name="Text 12"/>
          <p:cNvSpPr txBox="1"/>
          <p:nvPr/>
        </p:nvSpPr>
        <p:spPr>
          <a:xfrm>
            <a:off x="1280160" y="5404104"/>
            <a:ext cx="6035040" cy="566928"/>
          </a:xfrm>
          <a:prstGeom prst="rect">
            <a:avLst/>
          </a:prstGeom>
          <a:noFill/>
          <a:ln/>
        </p:spPr>
        <p:txBody>
          <a:bodyPr wrap="square" lIns="0" tIns="0" rIns="0" bIns="0" rtlCol="0" anchor="ctr"/>
          <a:lstStyle/>
          <a:p>
            <a:pPr indent="0" marL="0">
              <a:buNone/>
            </a:pPr>
            <a:r>
              <a:rPr lang="en-US" sz="1500" dirty="0">
                <a:solidFill>
                  <a:schemeClr val="tx1"/>
                </a:solidFill>
                <a:latin typeface="Ebrima" pitchFamily="34" charset="0"/>
                <a:ea typeface="Ebrima" pitchFamily="34" charset="-122"/>
                <a:cs typeface="Ebrima" pitchFamily="34" charset="-120"/>
              </a:rPr>
              <a:t>አባላት የራሳቸውን ታሪክና መቶኛ ያያሉ፤ ሪፖርት በPDF፣ Excel፣ CSV</a:t>
            </a:r>
            <a:endParaRPr lang="en-US" sz="1500" dirty="0"/>
          </a:p>
        </p:txBody>
      </p:sp>
      <p:sp>
        <p:nvSpPr>
          <p:cNvPr id="21" name="Shape 13"/>
          <p:cNvSpPr/>
          <p:nvPr/>
        </p:nvSpPr>
        <p:spPr>
          <a:xfrm>
            <a:off x="7772400" y="1371600"/>
            <a:ext cx="3886200" cy="3154680"/>
          </a:xfrm>
          <a:prstGeom prst="roundRect">
            <a:avLst>
              <a:gd name="adj" fmla="val 3478"/>
            </a:avLst>
          </a:prstGeom>
          <a:solidFill>
            <a:schemeClr val="accent1"/>
          </a:solidFill>
          <a:ln/>
        </p:spPr>
      </p:sp>
      <p:sp>
        <p:nvSpPr>
          <p:cNvPr id="22" name="Text 14"/>
          <p:cNvSpPr txBox="1"/>
          <p:nvPr/>
        </p:nvSpPr>
        <p:spPr>
          <a:xfrm>
            <a:off x="8046720" y="1508760"/>
            <a:ext cx="3383280" cy="365760"/>
          </a:xfrm>
          <a:prstGeom prst="rect">
            <a:avLst/>
          </a:prstGeom>
          <a:noFill/>
          <a:ln/>
        </p:spPr>
        <p:txBody>
          <a:bodyPr wrap="square" lIns="0" tIns="0" rIns="0" bIns="0" rtlCol="0" anchor="t"/>
          <a:lstStyle/>
          <a:p>
            <a:pPr indent="0" marL="0">
              <a:buNone/>
            </a:pPr>
            <a:r>
              <a:rPr lang="en-US" sz="1500" b="1" dirty="0">
                <a:solidFill>
                  <a:schemeClr val="accent2"/>
                </a:solidFill>
                <a:latin typeface="Ebrima" pitchFamily="34" charset="0"/>
                <a:ea typeface="Ebrima" pitchFamily="34" charset="-122"/>
                <a:cs typeface="Ebrima" pitchFamily="34" charset="-120"/>
              </a:rPr>
              <a:t>ምሳሌ</a:t>
            </a:r>
            <a:endParaRPr lang="en-US" sz="1500" dirty="0"/>
          </a:p>
        </p:txBody>
      </p:sp>
      <p:sp>
        <p:nvSpPr>
          <p:cNvPr id="23" name="Text 15"/>
          <p:cNvSpPr txBox="1"/>
          <p:nvPr/>
        </p:nvSpPr>
        <p:spPr>
          <a:xfrm>
            <a:off x="8046720" y="1920240"/>
            <a:ext cx="3429000" cy="2514600"/>
          </a:xfrm>
          <a:prstGeom prst="rect">
            <a:avLst/>
          </a:prstGeom>
          <a:noFill/>
          <a:ln/>
        </p:spPr>
        <p:txBody>
          <a:bodyPr wrap="square" lIns="0" tIns="0" rIns="0" bIns="0" rtlCol="0" anchor="t"/>
          <a:lstStyle/>
          <a:p>
            <a:pPr indent="0" marL="0">
              <a:buNone/>
            </a:pPr>
            <a:r>
              <a:rPr lang="en-US" sz="1400" dirty="0">
                <a:solidFill>
                  <a:schemeClr val="bg1"/>
                </a:solidFill>
                <a:latin typeface="Ebrima" pitchFamily="34" charset="0"/>
                <a:ea typeface="Ebrima" pitchFamily="34" charset="-122"/>
                <a:cs typeface="Ebrima" pitchFamily="34" charset="-120"/>
              </a:rPr>
              <a:t>ተማሪ አባል የመስከረምን፣ የጥቅምትንና የኅዳርን መዋጮ በአንድ ጊዜ ይከፍላል።</a:t>
            </a:r>
            <a:endParaRPr lang="en-US" sz="1400" dirty="0"/>
          </a:p>
          <a:p>
            <a:pPr indent="0" marL="0">
              <a:buNone/>
            </a:pPr>
            <a:endParaRPr lang="en-US" sz="1400" dirty="0"/>
          </a:p>
          <a:p>
            <a:pPr indent="0" marL="0">
              <a:buNone/>
            </a:pPr>
            <a:r>
              <a:rPr lang="en-US" sz="1400" dirty="0">
                <a:solidFill>
                  <a:schemeClr val="bg1"/>
                </a:solidFill>
                <a:latin typeface="Ebrima" pitchFamily="34" charset="0"/>
                <a:ea typeface="Ebrima" pitchFamily="34" charset="-122"/>
                <a:cs typeface="Ebrima" pitchFamily="34" charset="-120"/>
              </a:rPr>
              <a:t>መጠን = ወርሃዊ ተመን × 3 ወራት</a:t>
            </a:r>
            <a:endParaRPr lang="en-US" sz="1400" dirty="0"/>
          </a:p>
          <a:p>
            <a:pPr indent="0" marL="0">
              <a:buNone/>
            </a:pPr>
            <a:endParaRPr lang="en-US" sz="1400" dirty="0"/>
          </a:p>
          <a:p>
            <a:pPr indent="0" marL="0">
              <a:buNone/>
            </a:pPr>
            <a:r>
              <a:rPr lang="en-US" sz="1400" dirty="0">
                <a:solidFill>
                  <a:schemeClr val="bg1"/>
                </a:solidFill>
                <a:latin typeface="Ebrima" pitchFamily="34" charset="0"/>
                <a:ea typeface="Ebrima" pitchFamily="34" charset="-122"/>
                <a:cs typeface="Ebrima" pitchFamily="34" charset="-120"/>
              </a:rPr>
              <a:t>ሦስቱም ወራት «ተከፍሏል» ተብለው ይታያሉ።</a:t>
            </a:r>
            <a:endParaRPr lang="en-US" sz="1400" dirty="0"/>
          </a:p>
        </p:txBody>
      </p:sp>
      <p:sp>
        <p:nvSpPr>
          <p:cNvPr id="24" name="Shape 16"/>
          <p:cNvSpPr/>
          <p:nvPr/>
        </p:nvSpPr>
        <p:spPr>
          <a:xfrm>
            <a:off x="7772400" y="4709160"/>
            <a:ext cx="3886200" cy="1463040"/>
          </a:xfrm>
          <a:prstGeom prst="roundRect">
            <a:avLst>
              <a:gd name="adj" fmla="val 7500"/>
            </a:avLst>
          </a:prstGeom>
          <a:solidFill>
            <a:schemeClr val="accent2">
              <a:alpha val="22000"/>
            </a:schemeClr>
          </a:solidFill>
          <a:ln/>
        </p:spPr>
      </p:sp>
      <p:sp>
        <p:nvSpPr>
          <p:cNvPr id="25" name="Text 17"/>
          <p:cNvSpPr txBox="1"/>
          <p:nvPr/>
        </p:nvSpPr>
        <p:spPr>
          <a:xfrm>
            <a:off x="8001000" y="4846320"/>
            <a:ext cx="3474720" cy="1234440"/>
          </a:xfrm>
          <a:prstGeom prst="rect">
            <a:avLst/>
          </a:prstGeom>
          <a:noFill/>
          <a:ln/>
        </p:spPr>
        <p:txBody>
          <a:bodyPr wrap="square" lIns="0" tIns="0" rIns="0" bIns="0" rtlCol="0" anchor="t"/>
          <a:lstStyle/>
          <a:p>
            <a:pPr indent="0" marL="0">
              <a:buNone/>
            </a:pPr>
            <a:r>
              <a:rPr lang="en-US" sz="1300" dirty="0">
                <a:solidFill>
                  <a:schemeClr val="tx1"/>
                </a:solidFill>
                <a:latin typeface="Ebrima" pitchFamily="34" charset="0"/>
                <a:ea typeface="Ebrima" pitchFamily="34" charset="-122"/>
                <a:cs typeface="Ebrima" pitchFamily="34" charset="-120"/>
              </a:rPr>
              <a:t>ማሳሰቢያ፦ መተግበሪያው መዋጮን ይመዘግባል እንጂ ገንዘብ አይሰበስብም (የኦንላይን ክፍያ የለውም)።</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Ebrima"/>
                <a:ea typeface="Ebrima"/>
                <a:cs typeface="Ebrima"/>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0241280" cy="777240"/>
          </a:xfrm>
          <a:prstGeom prst="rect">
            <a:avLst/>
          </a:prstGeom>
          <a:noFill/>
          <a:ln/>
        </p:spPr>
        <p:txBody>
          <a:bodyPr wrap="square" lIns="0" tIns="0" rIns="0" bIns="0" rtlCol="0" anchor="ctr"/>
          <a:lstStyle/>
          <a:p>
            <a:pPr algn="l" indent="0" marL="0">
              <a:buNone/>
            </a:pPr>
            <a:r>
              <a:rPr lang="en-US" sz="3400" dirty="0">
                <a:solidFill>
                  <a:schemeClr val="accent1"/>
                </a:solidFill>
                <a:latin typeface="Nyala" pitchFamily="34" charset="0"/>
                <a:ea typeface="Nyala" pitchFamily="34" charset="-122"/>
                <a:cs typeface="Nyala" pitchFamily="34" charset="-120"/>
              </a:rPr>
              <a:t>ንብረት፣ ውሰትና ቤተ መጻሕፍት</a:t>
            </a:r>
            <a:endParaRPr lang="en-US" sz="3400" dirty="0"/>
          </a:p>
        </p:txBody>
      </p:sp>
      <p:sp>
        <p:nvSpPr>
          <p:cNvPr id="3" name="Shape 1"/>
          <p:cNvSpPr/>
          <p:nvPr/>
        </p:nvSpPr>
        <p:spPr>
          <a:xfrm>
            <a:off x="548640" y="1325880"/>
            <a:ext cx="3520440" cy="3200400"/>
          </a:xfrm>
          <a:prstGeom prst="roundRect">
            <a:avLst>
              <a:gd name="adj" fmla="val 3429"/>
            </a:avLst>
          </a:prstGeom>
          <a:solidFill>
            <a:schemeClr val="bg2">
              <a:alpha val="55000"/>
            </a:schemeClr>
          </a:solidFill>
          <a:ln/>
        </p:spPr>
      </p:sp>
      <p:sp>
        <p:nvSpPr>
          <p:cNvPr id="4" name="Shape 2"/>
          <p:cNvSpPr/>
          <p:nvPr/>
        </p:nvSpPr>
        <p:spPr>
          <a:xfrm>
            <a:off x="777240" y="1508760"/>
            <a:ext cx="594360" cy="594360"/>
          </a:xfrm>
          <a:prstGeom prst="ellipse">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919886" y="1651406"/>
            <a:ext cx="309067" cy="309067"/>
          </a:xfrm>
          <a:prstGeom prst="rect">
            <a:avLst/>
          </a:prstGeom>
        </p:spPr>
      </p:pic>
      <p:sp>
        <p:nvSpPr>
          <p:cNvPr id="6" name="Text 3"/>
          <p:cNvSpPr txBox="1"/>
          <p:nvPr/>
        </p:nvSpPr>
        <p:spPr>
          <a:xfrm>
            <a:off x="1508760" y="1600200"/>
            <a:ext cx="2468880" cy="457200"/>
          </a:xfrm>
          <a:prstGeom prst="rect">
            <a:avLst/>
          </a:prstGeom>
          <a:noFill/>
          <a:ln/>
        </p:spPr>
        <p:txBody>
          <a:bodyPr wrap="square" lIns="0" tIns="0" rIns="0" bIns="0" rtlCol="0" anchor="t"/>
          <a:lstStyle/>
          <a:p>
            <a:pPr indent="0" marL="0">
              <a:buNone/>
            </a:pPr>
            <a:r>
              <a:rPr lang="en-US" sz="1700" b="1" dirty="0">
                <a:solidFill>
                  <a:schemeClr val="accent1"/>
                </a:solidFill>
                <a:latin typeface="Ebrima" pitchFamily="34" charset="0"/>
                <a:ea typeface="Ebrima" pitchFamily="34" charset="-122"/>
                <a:cs typeface="Ebrima" pitchFamily="34" charset="-120"/>
              </a:rPr>
              <a:t>ንብረትና ዕቃዎች</a:t>
            </a:r>
            <a:endParaRPr lang="en-US" sz="1700" dirty="0"/>
          </a:p>
        </p:txBody>
      </p:sp>
      <p:sp>
        <p:nvSpPr>
          <p:cNvPr id="7" name="Text 4"/>
          <p:cNvSpPr txBox="1"/>
          <p:nvPr/>
        </p:nvSpPr>
        <p:spPr>
          <a:xfrm>
            <a:off x="822960" y="2286000"/>
            <a:ext cx="3063240" cy="219456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tx1"/>
                </a:solidFill>
                <a:latin typeface="Ebrima" pitchFamily="34" charset="0"/>
                <a:ea typeface="Ebrima" pitchFamily="34" charset="-122"/>
                <a:cs typeface="Ebrima" pitchFamily="34" charset="-120"/>
              </a:rPr>
              <a:t>ምድቦች፦ መጻሕፍት፣ የዜማ መሣሪያዎች፣ ኤሌክትሮኒክስ፣ የቢሮ ዕቃዎች…</a:t>
            </a:r>
            <a:endParaRPr lang="en-US" sz="1300" dirty="0"/>
          </a:p>
          <a:p>
            <a:pPr marL="342900" indent="-342900">
              <a:spcAft>
                <a:spcPts val="500"/>
              </a:spcAft>
              <a:buSzPct val="100000"/>
              <a:buChar char="●"/>
            </a:pPr>
            <a:r>
              <a:rPr lang="en-US" sz="1300" dirty="0">
                <a:solidFill>
                  <a:schemeClr val="tx1"/>
                </a:solidFill>
                <a:latin typeface="Ebrima" pitchFamily="34" charset="0"/>
                <a:ea typeface="Ebrima" pitchFamily="34" charset="-122"/>
                <a:cs typeface="Ebrima" pitchFamily="34" charset="-120"/>
              </a:rPr>
              <a:t>ኮድ፣ ብዛት፣ ሁኔታና ቦታ</a:t>
            </a:r>
            <a:endParaRPr lang="en-US" sz="1300" dirty="0"/>
          </a:p>
          <a:p>
            <a:pPr marL="342900" indent="-342900">
              <a:spcAft>
                <a:spcPts val="500"/>
              </a:spcAft>
              <a:buSzPct val="100000"/>
              <a:buChar char="●"/>
            </a:pPr>
            <a:r>
              <a:rPr lang="en-US" sz="1300" dirty="0">
                <a:solidFill>
                  <a:schemeClr val="tx1"/>
                </a:solidFill>
                <a:latin typeface="Ebrima" pitchFamily="34" charset="0"/>
                <a:ea typeface="Ebrima" pitchFamily="34" charset="-122"/>
                <a:cs typeface="Ebrima" pitchFamily="34" charset="-120"/>
              </a:rPr>
              <a:t>የለውጥ ታሪክ</a:t>
            </a:r>
            <a:endParaRPr lang="en-US" sz="1300" dirty="0"/>
          </a:p>
        </p:txBody>
      </p:sp>
      <p:sp>
        <p:nvSpPr>
          <p:cNvPr id="8" name="Shape 5"/>
          <p:cNvSpPr/>
          <p:nvPr/>
        </p:nvSpPr>
        <p:spPr>
          <a:xfrm>
            <a:off x="4297680" y="1325880"/>
            <a:ext cx="3520440" cy="3200400"/>
          </a:xfrm>
          <a:prstGeom prst="roundRect">
            <a:avLst>
              <a:gd name="adj" fmla="val 3429"/>
            </a:avLst>
          </a:prstGeom>
          <a:solidFill>
            <a:schemeClr val="bg2">
              <a:alpha val="55000"/>
            </a:schemeClr>
          </a:solidFill>
          <a:ln/>
        </p:spPr>
      </p:sp>
      <p:sp>
        <p:nvSpPr>
          <p:cNvPr id="9" name="Shape 6"/>
          <p:cNvSpPr/>
          <p:nvPr/>
        </p:nvSpPr>
        <p:spPr>
          <a:xfrm>
            <a:off x="4526280" y="1508760"/>
            <a:ext cx="594360" cy="594360"/>
          </a:xfrm>
          <a:prstGeom prst="ellipse">
            <a:avLst/>
          </a:prstGeom>
          <a:solidFill>
            <a:schemeClr val="accent1"/>
          </a:solidFill>
          <a:ln/>
        </p:spPr>
      </p:sp>
      <p:pic>
        <p:nvPicPr>
          <p:cNvPr id="10" name="Image 1" descr="preencoded.png">    </p:cNvPr>
          <p:cNvPicPr>
            <a:picLocks noChangeAspect="1"/>
          </p:cNvPicPr>
          <p:nvPr/>
        </p:nvPicPr>
        <p:blipFill>
          <a:blip r:embed="rId2"/>
          <a:stretch>
            <a:fillRect/>
          </a:stretch>
        </p:blipFill>
        <p:spPr>
          <a:xfrm>
            <a:off x="4668926" y="1651406"/>
            <a:ext cx="309067" cy="309067"/>
          </a:xfrm>
          <a:prstGeom prst="rect">
            <a:avLst/>
          </a:prstGeom>
        </p:spPr>
      </p:pic>
      <p:sp>
        <p:nvSpPr>
          <p:cNvPr id="11" name="Text 7"/>
          <p:cNvSpPr txBox="1"/>
          <p:nvPr/>
        </p:nvSpPr>
        <p:spPr>
          <a:xfrm>
            <a:off x="5257800" y="1600200"/>
            <a:ext cx="2468880" cy="457200"/>
          </a:xfrm>
          <a:prstGeom prst="rect">
            <a:avLst/>
          </a:prstGeom>
          <a:noFill/>
          <a:ln/>
        </p:spPr>
        <p:txBody>
          <a:bodyPr wrap="square" lIns="0" tIns="0" rIns="0" bIns="0" rtlCol="0" anchor="t"/>
          <a:lstStyle/>
          <a:p>
            <a:pPr indent="0" marL="0">
              <a:buNone/>
            </a:pPr>
            <a:r>
              <a:rPr lang="en-US" sz="1700" b="1" dirty="0">
                <a:solidFill>
                  <a:schemeClr val="accent1"/>
                </a:solidFill>
                <a:latin typeface="Ebrima" pitchFamily="34" charset="0"/>
                <a:ea typeface="Ebrima" pitchFamily="34" charset="-122"/>
                <a:cs typeface="Ebrima" pitchFamily="34" charset="-120"/>
              </a:rPr>
              <a:t>ውሰት</a:t>
            </a:r>
            <a:endParaRPr lang="en-US" sz="1700" dirty="0"/>
          </a:p>
        </p:txBody>
      </p:sp>
      <p:sp>
        <p:nvSpPr>
          <p:cNvPr id="12" name="Text 8"/>
          <p:cNvSpPr txBox="1"/>
          <p:nvPr/>
        </p:nvSpPr>
        <p:spPr>
          <a:xfrm>
            <a:off x="4572000" y="2286000"/>
            <a:ext cx="3063240" cy="219456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tx1"/>
                </a:solidFill>
                <a:latin typeface="Ebrima" pitchFamily="34" charset="0"/>
                <a:ea typeface="Ebrima" pitchFamily="34" charset="-122"/>
                <a:cs typeface="Ebrima" pitchFamily="34" charset="-120"/>
              </a:rPr>
              <a:t>ቀጥታ ወይም በማጽደቅ፤ በጅምላ መስጠት</a:t>
            </a:r>
            <a:endParaRPr lang="en-US" sz="1300" dirty="0"/>
          </a:p>
          <a:p>
            <a:pPr marL="342900" indent="-342900">
              <a:spcAft>
                <a:spcPts val="500"/>
              </a:spcAft>
              <a:buSzPct val="100000"/>
              <a:buChar char="●"/>
            </a:pPr>
            <a:r>
              <a:rPr lang="en-US" sz="1300" dirty="0">
                <a:solidFill>
                  <a:schemeClr val="tx1"/>
                </a:solidFill>
                <a:latin typeface="Ebrima" pitchFamily="34" charset="0"/>
                <a:ea typeface="Ebrima" pitchFamily="34" charset="-122"/>
                <a:cs typeface="Ebrima" pitchFamily="34" charset="-120"/>
              </a:rPr>
              <a:t>ሲረከቡ የአባሉ ፊርማ</a:t>
            </a:r>
            <a:endParaRPr lang="en-US" sz="1300" dirty="0"/>
          </a:p>
          <a:p>
            <a:pPr marL="342900" indent="-342900">
              <a:spcAft>
                <a:spcPts val="500"/>
              </a:spcAft>
              <a:buSzPct val="100000"/>
              <a:buChar char="●"/>
            </a:pPr>
            <a:r>
              <a:rPr lang="en-US" sz="1300" dirty="0">
                <a:solidFill>
                  <a:schemeClr val="tx1"/>
                </a:solidFill>
                <a:latin typeface="Ebrima" pitchFamily="34" charset="0"/>
                <a:ea typeface="Ebrima" pitchFamily="34" charset="-122"/>
                <a:cs typeface="Ebrima" pitchFamily="34" charset="-120"/>
              </a:rPr>
              <a:t>ማራዘም፣ ሲመለስ ሁኔታ መመዝገብ</a:t>
            </a:r>
            <a:endParaRPr lang="en-US" sz="1300" dirty="0"/>
          </a:p>
          <a:p>
            <a:pPr marL="342900" indent="-342900">
              <a:spcAft>
                <a:spcPts val="500"/>
              </a:spcAft>
              <a:buSzPct val="100000"/>
              <a:buChar char="●"/>
            </a:pPr>
            <a:r>
              <a:rPr lang="en-US" sz="1300" dirty="0">
                <a:solidFill>
                  <a:schemeClr val="tx1"/>
                </a:solidFill>
                <a:latin typeface="Ebrima" pitchFamily="34" charset="0"/>
                <a:ea typeface="Ebrima" pitchFamily="34" charset="-122"/>
                <a:cs typeface="Ebrima" pitchFamily="34" charset="-120"/>
              </a:rPr>
              <a:t>ቅጣት በቀን ወይም በሳምንት (ምክንያት ተሰጥቶ ሊነሳ ይችላል)</a:t>
            </a:r>
            <a:endParaRPr lang="en-US" sz="1300" dirty="0"/>
          </a:p>
        </p:txBody>
      </p:sp>
      <p:sp>
        <p:nvSpPr>
          <p:cNvPr id="13" name="Shape 9"/>
          <p:cNvSpPr/>
          <p:nvPr/>
        </p:nvSpPr>
        <p:spPr>
          <a:xfrm>
            <a:off x="8046720" y="1325880"/>
            <a:ext cx="3520440" cy="3200400"/>
          </a:xfrm>
          <a:prstGeom prst="roundRect">
            <a:avLst>
              <a:gd name="adj" fmla="val 3429"/>
            </a:avLst>
          </a:prstGeom>
          <a:solidFill>
            <a:schemeClr val="bg2">
              <a:alpha val="55000"/>
            </a:schemeClr>
          </a:solidFill>
          <a:ln/>
        </p:spPr>
      </p:sp>
      <p:sp>
        <p:nvSpPr>
          <p:cNvPr id="14" name="Shape 10"/>
          <p:cNvSpPr/>
          <p:nvPr/>
        </p:nvSpPr>
        <p:spPr>
          <a:xfrm>
            <a:off x="8275320" y="1508760"/>
            <a:ext cx="594360" cy="594360"/>
          </a:xfrm>
          <a:prstGeom prst="ellipse">
            <a:avLst/>
          </a:prstGeom>
          <a:solidFill>
            <a:schemeClr val="accent1"/>
          </a:solidFill>
          <a:ln/>
        </p:spPr>
      </p:sp>
      <p:pic>
        <p:nvPicPr>
          <p:cNvPr id="15" name="Image 2" descr="preencoded.png">    </p:cNvPr>
          <p:cNvPicPr>
            <a:picLocks noChangeAspect="1"/>
          </p:cNvPicPr>
          <p:nvPr/>
        </p:nvPicPr>
        <p:blipFill>
          <a:blip r:embed="rId3"/>
          <a:stretch>
            <a:fillRect/>
          </a:stretch>
        </p:blipFill>
        <p:spPr>
          <a:xfrm>
            <a:off x="8417966" y="1651406"/>
            <a:ext cx="309067" cy="309067"/>
          </a:xfrm>
          <a:prstGeom prst="rect">
            <a:avLst/>
          </a:prstGeom>
        </p:spPr>
      </p:pic>
      <p:sp>
        <p:nvSpPr>
          <p:cNvPr id="16" name="Text 11"/>
          <p:cNvSpPr txBox="1"/>
          <p:nvPr/>
        </p:nvSpPr>
        <p:spPr>
          <a:xfrm>
            <a:off x="9006840" y="1600200"/>
            <a:ext cx="2468880" cy="457200"/>
          </a:xfrm>
          <a:prstGeom prst="rect">
            <a:avLst/>
          </a:prstGeom>
          <a:noFill/>
          <a:ln/>
        </p:spPr>
        <p:txBody>
          <a:bodyPr wrap="square" lIns="0" tIns="0" rIns="0" bIns="0" rtlCol="0" anchor="t"/>
          <a:lstStyle/>
          <a:p>
            <a:pPr indent="0" marL="0">
              <a:buNone/>
            </a:pPr>
            <a:r>
              <a:rPr lang="en-US" sz="1700" b="1" dirty="0">
                <a:solidFill>
                  <a:schemeClr val="accent1"/>
                </a:solidFill>
                <a:latin typeface="Ebrima" pitchFamily="34" charset="0"/>
                <a:ea typeface="Ebrima" pitchFamily="34" charset="-122"/>
                <a:cs typeface="Ebrima" pitchFamily="34" charset="-120"/>
              </a:rPr>
              <a:t>ቤተ መጻሕፍት</a:t>
            </a:r>
            <a:endParaRPr lang="en-US" sz="1700" dirty="0"/>
          </a:p>
        </p:txBody>
      </p:sp>
      <p:sp>
        <p:nvSpPr>
          <p:cNvPr id="17" name="Text 12"/>
          <p:cNvSpPr txBox="1"/>
          <p:nvPr/>
        </p:nvSpPr>
        <p:spPr>
          <a:xfrm>
            <a:off x="8321040" y="2286000"/>
            <a:ext cx="3063240" cy="219456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tx1"/>
                </a:solidFill>
                <a:latin typeface="Ebrima" pitchFamily="34" charset="0"/>
                <a:ea typeface="Ebrima" pitchFamily="34" charset="-122"/>
                <a:cs typeface="Ebrima" pitchFamily="34" charset="-120"/>
              </a:rPr>
              <a:t>ዲጂታል መጻሕፍት (PDF) በመተግበሪያው ውስጥ ብቻ የሚነበቡ</a:t>
            </a:r>
            <a:endParaRPr lang="en-US" sz="1300" dirty="0"/>
          </a:p>
          <a:p>
            <a:pPr marL="342900" indent="-342900">
              <a:spcAft>
                <a:spcPts val="500"/>
              </a:spcAft>
              <a:buSzPct val="100000"/>
              <a:buChar char="●"/>
            </a:pPr>
            <a:r>
              <a:rPr lang="en-US" sz="1300" dirty="0">
                <a:solidFill>
                  <a:schemeClr val="tx1"/>
                </a:solidFill>
                <a:latin typeface="Ebrima" pitchFamily="34" charset="0"/>
                <a:ea typeface="Ebrima" pitchFamily="34" charset="-122"/>
                <a:cs typeface="Ebrima" pitchFamily="34" charset="-120"/>
              </a:rPr>
              <a:t>የሕትመት መጻሕፍት ጥያቄ → ማጽደቅ → በፊርማ ማስረከብ</a:t>
            </a:r>
            <a:endParaRPr lang="en-US" sz="1300" dirty="0"/>
          </a:p>
          <a:p>
            <a:pPr marL="342900" indent="-342900">
              <a:spcAft>
                <a:spcPts val="500"/>
              </a:spcAft>
              <a:buSzPct val="100000"/>
              <a:buChar char="●"/>
            </a:pPr>
            <a:r>
              <a:rPr lang="en-US" sz="1300" dirty="0">
                <a:solidFill>
                  <a:schemeClr val="tx1"/>
                </a:solidFill>
                <a:latin typeface="Ebrima" pitchFamily="34" charset="0"/>
                <a:ea typeface="Ebrima" pitchFamily="34" charset="-122"/>
                <a:cs typeface="Ebrima" pitchFamily="34" charset="-120"/>
              </a:rPr>
              <a:t>የመመለሻ ቀን አስታዋሽ</a:t>
            </a:r>
            <a:endParaRPr lang="en-US" sz="1300" dirty="0"/>
          </a:p>
        </p:txBody>
      </p:sp>
      <p:sp>
        <p:nvSpPr>
          <p:cNvPr id="18" name="Text 13"/>
          <p:cNvSpPr txBox="1"/>
          <p:nvPr/>
        </p:nvSpPr>
        <p:spPr>
          <a:xfrm>
            <a:off x="548640" y="4709160"/>
            <a:ext cx="5486400" cy="365760"/>
          </a:xfrm>
          <a:prstGeom prst="rect">
            <a:avLst/>
          </a:prstGeom>
          <a:noFill/>
          <a:ln/>
        </p:spPr>
        <p:txBody>
          <a:bodyPr wrap="square" lIns="0" tIns="0" rIns="0" bIns="0" rtlCol="0" anchor="t"/>
          <a:lstStyle/>
          <a:p>
            <a:pPr indent="0" marL="0">
              <a:buNone/>
            </a:pPr>
            <a:r>
              <a:rPr lang="en-US" sz="1500" b="1" dirty="0">
                <a:solidFill>
                  <a:schemeClr val="accent1"/>
                </a:solidFill>
                <a:latin typeface="Ebrima" pitchFamily="34" charset="0"/>
                <a:ea typeface="Ebrima" pitchFamily="34" charset="-122"/>
                <a:cs typeface="Ebrima" pitchFamily="34" charset="-120"/>
              </a:rPr>
              <a:t>የሥራ ክፍል የንብረት ጥያቄ</a:t>
            </a:r>
            <a:endParaRPr lang="en-US" sz="1500" dirty="0"/>
          </a:p>
        </p:txBody>
      </p:sp>
      <p:sp>
        <p:nvSpPr>
          <p:cNvPr id="19" name="Shape 14"/>
          <p:cNvSpPr/>
          <p:nvPr/>
        </p:nvSpPr>
        <p:spPr>
          <a:xfrm>
            <a:off x="548640" y="5120640"/>
            <a:ext cx="1623060" cy="731520"/>
          </a:xfrm>
          <a:prstGeom prst="roundRect">
            <a:avLst>
              <a:gd name="adj" fmla="val 12500"/>
            </a:avLst>
          </a:prstGeom>
          <a:solidFill>
            <a:schemeClr val="accent1"/>
          </a:solidFill>
          <a:ln/>
        </p:spPr>
      </p:sp>
      <p:sp>
        <p:nvSpPr>
          <p:cNvPr id="20" name="Text 15"/>
          <p:cNvSpPr txBox="1"/>
          <p:nvPr/>
        </p:nvSpPr>
        <p:spPr>
          <a:xfrm>
            <a:off x="685800" y="5285232"/>
            <a:ext cx="1348740" cy="502920"/>
          </a:xfrm>
          <a:prstGeom prst="rect">
            <a:avLst/>
          </a:prstGeom>
          <a:noFill/>
          <a:ln/>
        </p:spPr>
        <p:txBody>
          <a:bodyPr wrap="square" lIns="0" tIns="0" rIns="0" bIns="0" rtlCol="0" anchor="t"/>
          <a:lstStyle/>
          <a:p>
            <a:pPr indent="0" marL="0">
              <a:buNone/>
            </a:pPr>
            <a:r>
              <a:rPr lang="en-US" sz="1500" b="1" dirty="0">
                <a:solidFill>
                  <a:schemeClr val="bg1"/>
                </a:solidFill>
                <a:latin typeface="Ebrima" pitchFamily="34" charset="0"/>
                <a:ea typeface="Ebrima" pitchFamily="34" charset="-122"/>
                <a:cs typeface="Ebrima" pitchFamily="34" charset="-120"/>
              </a:rPr>
              <a:t>ረቂቅ</a:t>
            </a:r>
            <a:endParaRPr lang="en-US" sz="1500" dirty="0"/>
          </a:p>
        </p:txBody>
      </p:sp>
      <p:sp>
        <p:nvSpPr>
          <p:cNvPr id="21" name="Shape 16"/>
          <p:cNvSpPr/>
          <p:nvPr/>
        </p:nvSpPr>
        <p:spPr>
          <a:xfrm rot="5400000">
            <a:off x="2189988" y="5426050"/>
            <a:ext cx="237744" cy="120701"/>
          </a:xfrm>
          <a:prstGeom prst="triangle">
            <a:avLst/>
          </a:prstGeom>
          <a:solidFill>
            <a:schemeClr val="accent2"/>
          </a:solidFill>
          <a:ln/>
        </p:spPr>
      </p:sp>
      <p:sp>
        <p:nvSpPr>
          <p:cNvPr id="22" name="Shape 17"/>
          <p:cNvSpPr/>
          <p:nvPr/>
        </p:nvSpPr>
        <p:spPr>
          <a:xfrm>
            <a:off x="2446020" y="5120640"/>
            <a:ext cx="1623060" cy="731520"/>
          </a:xfrm>
          <a:prstGeom prst="roundRect">
            <a:avLst>
              <a:gd name="adj" fmla="val 12500"/>
            </a:avLst>
          </a:prstGeom>
          <a:solidFill>
            <a:schemeClr val="bg2">
              <a:alpha val="80000"/>
            </a:schemeClr>
          </a:solidFill>
          <a:ln/>
        </p:spPr>
      </p:sp>
      <p:sp>
        <p:nvSpPr>
          <p:cNvPr id="23" name="Text 18"/>
          <p:cNvSpPr txBox="1"/>
          <p:nvPr/>
        </p:nvSpPr>
        <p:spPr>
          <a:xfrm>
            <a:off x="2583180" y="5285232"/>
            <a:ext cx="1348740" cy="502920"/>
          </a:xfrm>
          <a:prstGeom prst="rect">
            <a:avLst/>
          </a:prstGeom>
          <a:noFill/>
          <a:ln/>
        </p:spPr>
        <p:txBody>
          <a:bodyPr wrap="square" lIns="0" tIns="0" rIns="0" bIns="0" rtlCol="0" anchor="t"/>
          <a:lstStyle/>
          <a:p>
            <a:pPr indent="0" marL="0">
              <a:buNone/>
            </a:pPr>
            <a:r>
              <a:rPr lang="en-US" sz="1500" b="1" dirty="0">
                <a:solidFill>
                  <a:schemeClr val="accent1"/>
                </a:solidFill>
                <a:latin typeface="Ebrima" pitchFamily="34" charset="0"/>
                <a:ea typeface="Ebrima" pitchFamily="34" charset="-122"/>
                <a:cs typeface="Ebrima" pitchFamily="34" charset="-120"/>
              </a:rPr>
              <a:t>ቀርቧል</a:t>
            </a:r>
            <a:endParaRPr lang="en-US" sz="1500" dirty="0"/>
          </a:p>
        </p:txBody>
      </p:sp>
      <p:sp>
        <p:nvSpPr>
          <p:cNvPr id="24" name="Shape 19"/>
          <p:cNvSpPr/>
          <p:nvPr/>
        </p:nvSpPr>
        <p:spPr>
          <a:xfrm rot="5400000">
            <a:off x="4087368" y="5426050"/>
            <a:ext cx="237744" cy="120701"/>
          </a:xfrm>
          <a:prstGeom prst="triangle">
            <a:avLst/>
          </a:prstGeom>
          <a:solidFill>
            <a:schemeClr val="accent2"/>
          </a:solidFill>
          <a:ln/>
        </p:spPr>
      </p:sp>
      <p:sp>
        <p:nvSpPr>
          <p:cNvPr id="25" name="Shape 20"/>
          <p:cNvSpPr/>
          <p:nvPr/>
        </p:nvSpPr>
        <p:spPr>
          <a:xfrm>
            <a:off x="4343400" y="5120640"/>
            <a:ext cx="1623060" cy="731520"/>
          </a:xfrm>
          <a:prstGeom prst="roundRect">
            <a:avLst>
              <a:gd name="adj" fmla="val 12500"/>
            </a:avLst>
          </a:prstGeom>
          <a:solidFill>
            <a:schemeClr val="bg2">
              <a:alpha val="80000"/>
            </a:schemeClr>
          </a:solidFill>
          <a:ln/>
        </p:spPr>
      </p:sp>
      <p:sp>
        <p:nvSpPr>
          <p:cNvPr id="26" name="Text 21"/>
          <p:cNvSpPr txBox="1"/>
          <p:nvPr/>
        </p:nvSpPr>
        <p:spPr>
          <a:xfrm>
            <a:off x="4480560" y="5285232"/>
            <a:ext cx="1348740" cy="502920"/>
          </a:xfrm>
          <a:prstGeom prst="rect">
            <a:avLst/>
          </a:prstGeom>
          <a:noFill/>
          <a:ln/>
        </p:spPr>
        <p:txBody>
          <a:bodyPr wrap="square" lIns="0" tIns="0" rIns="0" bIns="0" rtlCol="0" anchor="t"/>
          <a:lstStyle/>
          <a:p>
            <a:pPr indent="0" marL="0">
              <a:buNone/>
            </a:pPr>
            <a:r>
              <a:rPr lang="en-US" sz="1500" b="1" dirty="0">
                <a:solidFill>
                  <a:schemeClr val="accent1"/>
                </a:solidFill>
                <a:latin typeface="Ebrima" pitchFamily="34" charset="0"/>
                <a:ea typeface="Ebrima" pitchFamily="34" charset="-122"/>
                <a:cs typeface="Ebrima" pitchFamily="34" charset="-120"/>
              </a:rPr>
              <a:t>በግምገማ</a:t>
            </a:r>
            <a:endParaRPr lang="en-US" sz="1500" dirty="0"/>
          </a:p>
        </p:txBody>
      </p:sp>
      <p:sp>
        <p:nvSpPr>
          <p:cNvPr id="27" name="Shape 22"/>
          <p:cNvSpPr/>
          <p:nvPr/>
        </p:nvSpPr>
        <p:spPr>
          <a:xfrm rot="5400000">
            <a:off x="5984748" y="5426050"/>
            <a:ext cx="237744" cy="120701"/>
          </a:xfrm>
          <a:prstGeom prst="triangle">
            <a:avLst/>
          </a:prstGeom>
          <a:solidFill>
            <a:schemeClr val="accent2"/>
          </a:solidFill>
          <a:ln/>
        </p:spPr>
      </p:sp>
      <p:sp>
        <p:nvSpPr>
          <p:cNvPr id="28" name="Shape 23"/>
          <p:cNvSpPr/>
          <p:nvPr/>
        </p:nvSpPr>
        <p:spPr>
          <a:xfrm>
            <a:off x="6240780" y="5120640"/>
            <a:ext cx="1623060" cy="731520"/>
          </a:xfrm>
          <a:prstGeom prst="roundRect">
            <a:avLst>
              <a:gd name="adj" fmla="val 12500"/>
            </a:avLst>
          </a:prstGeom>
          <a:solidFill>
            <a:schemeClr val="bg2">
              <a:alpha val="80000"/>
            </a:schemeClr>
          </a:solidFill>
          <a:ln/>
        </p:spPr>
      </p:sp>
      <p:sp>
        <p:nvSpPr>
          <p:cNvPr id="29" name="Text 24"/>
          <p:cNvSpPr txBox="1"/>
          <p:nvPr/>
        </p:nvSpPr>
        <p:spPr>
          <a:xfrm>
            <a:off x="6377940" y="5285232"/>
            <a:ext cx="1348740" cy="502920"/>
          </a:xfrm>
          <a:prstGeom prst="rect">
            <a:avLst/>
          </a:prstGeom>
          <a:noFill/>
          <a:ln/>
        </p:spPr>
        <p:txBody>
          <a:bodyPr wrap="square" lIns="0" tIns="0" rIns="0" bIns="0" rtlCol="0" anchor="t"/>
          <a:lstStyle/>
          <a:p>
            <a:pPr indent="0" marL="0">
              <a:buNone/>
            </a:pPr>
            <a:r>
              <a:rPr lang="en-US" sz="1500" b="1" dirty="0">
                <a:solidFill>
                  <a:schemeClr val="accent1"/>
                </a:solidFill>
                <a:latin typeface="Ebrima" pitchFamily="34" charset="0"/>
                <a:ea typeface="Ebrima" pitchFamily="34" charset="-122"/>
                <a:cs typeface="Ebrima" pitchFamily="34" charset="-120"/>
              </a:rPr>
              <a:t>ጸድቋል</a:t>
            </a:r>
            <a:endParaRPr lang="en-US" sz="1500" dirty="0"/>
          </a:p>
        </p:txBody>
      </p:sp>
      <p:sp>
        <p:nvSpPr>
          <p:cNvPr id="30" name="Shape 25"/>
          <p:cNvSpPr/>
          <p:nvPr/>
        </p:nvSpPr>
        <p:spPr>
          <a:xfrm rot="5400000">
            <a:off x="7882128" y="5426050"/>
            <a:ext cx="237744" cy="120701"/>
          </a:xfrm>
          <a:prstGeom prst="triangle">
            <a:avLst/>
          </a:prstGeom>
          <a:solidFill>
            <a:schemeClr val="accent2"/>
          </a:solidFill>
          <a:ln/>
        </p:spPr>
      </p:sp>
      <p:sp>
        <p:nvSpPr>
          <p:cNvPr id="31" name="Shape 26"/>
          <p:cNvSpPr/>
          <p:nvPr/>
        </p:nvSpPr>
        <p:spPr>
          <a:xfrm>
            <a:off x="8138160" y="5120640"/>
            <a:ext cx="1623060" cy="731520"/>
          </a:xfrm>
          <a:prstGeom prst="roundRect">
            <a:avLst>
              <a:gd name="adj" fmla="val 12500"/>
            </a:avLst>
          </a:prstGeom>
          <a:solidFill>
            <a:schemeClr val="bg2">
              <a:alpha val="80000"/>
            </a:schemeClr>
          </a:solidFill>
          <a:ln/>
        </p:spPr>
      </p:sp>
      <p:sp>
        <p:nvSpPr>
          <p:cNvPr id="32" name="Text 27"/>
          <p:cNvSpPr txBox="1"/>
          <p:nvPr/>
        </p:nvSpPr>
        <p:spPr>
          <a:xfrm>
            <a:off x="8275320" y="5285232"/>
            <a:ext cx="1348740" cy="502920"/>
          </a:xfrm>
          <a:prstGeom prst="rect">
            <a:avLst/>
          </a:prstGeom>
          <a:noFill/>
          <a:ln/>
        </p:spPr>
        <p:txBody>
          <a:bodyPr wrap="square" lIns="0" tIns="0" rIns="0" bIns="0" rtlCol="0" anchor="t"/>
          <a:lstStyle/>
          <a:p>
            <a:pPr indent="0" marL="0">
              <a:buNone/>
            </a:pPr>
            <a:r>
              <a:rPr lang="en-US" sz="1500" b="1" dirty="0">
                <a:solidFill>
                  <a:schemeClr val="accent1"/>
                </a:solidFill>
                <a:latin typeface="Ebrima" pitchFamily="34" charset="0"/>
                <a:ea typeface="Ebrima" pitchFamily="34" charset="-122"/>
                <a:cs typeface="Ebrima" pitchFamily="34" charset="-120"/>
              </a:rPr>
              <a:t>ተሰጥቷል</a:t>
            </a:r>
            <a:endParaRPr lang="en-US" sz="1500" dirty="0"/>
          </a:p>
        </p:txBody>
      </p:sp>
      <p:sp>
        <p:nvSpPr>
          <p:cNvPr id="33" name="Shape 28"/>
          <p:cNvSpPr/>
          <p:nvPr/>
        </p:nvSpPr>
        <p:spPr>
          <a:xfrm rot="5400000">
            <a:off x="9779508" y="5426050"/>
            <a:ext cx="237744" cy="120701"/>
          </a:xfrm>
          <a:prstGeom prst="triangle">
            <a:avLst/>
          </a:prstGeom>
          <a:solidFill>
            <a:schemeClr val="accent2"/>
          </a:solidFill>
          <a:ln/>
        </p:spPr>
      </p:sp>
      <p:sp>
        <p:nvSpPr>
          <p:cNvPr id="34" name="Shape 29"/>
          <p:cNvSpPr/>
          <p:nvPr/>
        </p:nvSpPr>
        <p:spPr>
          <a:xfrm>
            <a:off x="10035540" y="5120640"/>
            <a:ext cx="1623060" cy="731520"/>
          </a:xfrm>
          <a:prstGeom prst="roundRect">
            <a:avLst>
              <a:gd name="adj" fmla="val 12500"/>
            </a:avLst>
          </a:prstGeom>
          <a:solidFill>
            <a:schemeClr val="accent3"/>
          </a:solidFill>
          <a:ln/>
        </p:spPr>
      </p:sp>
      <p:sp>
        <p:nvSpPr>
          <p:cNvPr id="35" name="Text 30"/>
          <p:cNvSpPr txBox="1"/>
          <p:nvPr/>
        </p:nvSpPr>
        <p:spPr>
          <a:xfrm>
            <a:off x="10172700" y="5285232"/>
            <a:ext cx="1348740" cy="502920"/>
          </a:xfrm>
          <a:prstGeom prst="rect">
            <a:avLst/>
          </a:prstGeom>
          <a:noFill/>
          <a:ln/>
        </p:spPr>
        <p:txBody>
          <a:bodyPr wrap="square" lIns="0" tIns="0" rIns="0" bIns="0" rtlCol="0" anchor="t"/>
          <a:lstStyle/>
          <a:p>
            <a:pPr indent="0" marL="0">
              <a:buNone/>
            </a:pPr>
            <a:r>
              <a:rPr lang="en-US" sz="1500" b="1" dirty="0">
                <a:solidFill>
                  <a:schemeClr val="bg1"/>
                </a:solidFill>
                <a:latin typeface="Ebrima" pitchFamily="34" charset="0"/>
                <a:ea typeface="Ebrima" pitchFamily="34" charset="-122"/>
                <a:cs typeface="Ebrima" pitchFamily="34" charset="-120"/>
              </a:rPr>
              <a:t>ተመልሷል</a:t>
            </a:r>
            <a:endParaRPr lang="en-US" sz="1500" dirty="0"/>
          </a:p>
        </p:txBody>
      </p:sp>
      <p:sp>
        <p:nvSpPr>
          <p:cNvPr id="36" name="Text 31"/>
          <p:cNvSpPr txBox="1"/>
          <p:nvPr/>
        </p:nvSpPr>
        <p:spPr>
          <a:xfrm>
            <a:off x="548640" y="5943600"/>
            <a:ext cx="11064240" cy="320040"/>
          </a:xfrm>
          <a:prstGeom prst="rect">
            <a:avLst/>
          </a:prstGeom>
          <a:noFill/>
          <a:ln/>
        </p:spPr>
        <p:txBody>
          <a:bodyPr wrap="square" lIns="0" tIns="0" rIns="0" bIns="0" rtlCol="0" anchor="t"/>
          <a:lstStyle/>
          <a:p>
            <a:pPr indent="0" marL="0">
              <a:buNone/>
            </a:pPr>
            <a:r>
              <a:rPr lang="en-US" sz="1200" dirty="0">
                <a:solidFill>
                  <a:schemeClr val="accent4"/>
                </a:solidFill>
                <a:latin typeface="Ebrima" pitchFamily="34" charset="0"/>
                <a:ea typeface="Ebrima" pitchFamily="34" charset="-122"/>
                <a:cs typeface="Ebrima" pitchFamily="34" charset="-120"/>
              </a:rPr>
              <a:t>ግምገማውን የሚያካሂደው ሒሳብ እና ንብረት ክፍል ሲሆን፣ ዕቃው ሲሰጥና ሲመለስ የመጋዘኑ ብዛት በዚያው ቅጽበት ይስተካከላል</a:t>
            </a:r>
            <a:endParaRPr lang="en-US" sz="1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Ebrima"/>
                <a:ea typeface="Ebrima"/>
                <a:cs typeface="Ebrima"/>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0241280" cy="777240"/>
          </a:xfrm>
          <a:prstGeom prst="rect">
            <a:avLst/>
          </a:prstGeom>
          <a:noFill/>
          <a:ln/>
        </p:spPr>
        <p:txBody>
          <a:bodyPr wrap="square" lIns="0" tIns="0" rIns="0" bIns="0" rtlCol="0" anchor="ctr"/>
          <a:lstStyle/>
          <a:p>
            <a:pPr algn="l" indent="0" marL="0">
              <a:buNone/>
            </a:pPr>
            <a:r>
              <a:rPr lang="en-US" sz="3400" dirty="0">
                <a:solidFill>
                  <a:schemeClr val="accent1"/>
                </a:solidFill>
                <a:latin typeface="Nyala" pitchFamily="34" charset="0"/>
                <a:ea typeface="Nyala" pitchFamily="34" charset="-122"/>
                <a:cs typeface="Nyala" pitchFamily="34" charset="-120"/>
              </a:rPr>
              <a:t>የሥራ ክፍሎች፣ ፕሮጀክቶችና ተግባራት</a:t>
            </a:r>
            <a:endParaRPr lang="en-US" sz="3400" dirty="0"/>
          </a:p>
        </p:txBody>
      </p:sp>
      <p:sp>
        <p:nvSpPr>
          <p:cNvPr id="3" name="Shape 1"/>
          <p:cNvSpPr/>
          <p:nvPr/>
        </p:nvSpPr>
        <p:spPr>
          <a:xfrm>
            <a:off x="548640" y="1325880"/>
            <a:ext cx="3657600" cy="4846320"/>
          </a:xfrm>
          <a:prstGeom prst="roundRect">
            <a:avLst>
              <a:gd name="adj" fmla="val 3000"/>
            </a:avLst>
          </a:prstGeom>
          <a:solidFill>
            <a:schemeClr val="accent1"/>
          </a:solidFill>
          <a:ln/>
        </p:spPr>
      </p:sp>
      <p:sp>
        <p:nvSpPr>
          <p:cNvPr id="4" name="Text 2"/>
          <p:cNvSpPr txBox="1"/>
          <p:nvPr/>
        </p:nvSpPr>
        <p:spPr>
          <a:xfrm>
            <a:off x="777240" y="1463040"/>
            <a:ext cx="3291840" cy="457200"/>
          </a:xfrm>
          <a:prstGeom prst="rect">
            <a:avLst/>
          </a:prstGeom>
          <a:noFill/>
          <a:ln/>
        </p:spPr>
        <p:txBody>
          <a:bodyPr wrap="square" lIns="0" tIns="0" rIns="0" bIns="0" rtlCol="0" anchor="t"/>
          <a:lstStyle/>
          <a:p>
            <a:pPr indent="0" marL="0">
              <a:buNone/>
            </a:pPr>
            <a:r>
              <a:rPr lang="en-US" sz="1800" b="1" dirty="0">
                <a:solidFill>
                  <a:schemeClr val="accent2"/>
                </a:solidFill>
                <a:latin typeface="Ebrima" pitchFamily="34" charset="0"/>
                <a:ea typeface="Ebrima" pitchFamily="34" charset="-122"/>
                <a:cs typeface="Ebrima" pitchFamily="34" charset="-120"/>
              </a:rPr>
              <a:t>7 የሥራ ክፍሎች</a:t>
            </a:r>
            <a:endParaRPr lang="en-US" sz="1800" dirty="0"/>
          </a:p>
        </p:txBody>
      </p:sp>
      <p:sp>
        <p:nvSpPr>
          <p:cNvPr id="5" name="Text 3"/>
          <p:cNvSpPr txBox="1"/>
          <p:nvPr/>
        </p:nvSpPr>
        <p:spPr>
          <a:xfrm>
            <a:off x="777240" y="2011680"/>
            <a:ext cx="3291840" cy="320040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bg1"/>
                </a:solidFill>
                <a:latin typeface="Ebrima" pitchFamily="34" charset="0"/>
                <a:ea typeface="Ebrima" pitchFamily="34" charset="-122"/>
                <a:cs typeface="Ebrima" pitchFamily="34" charset="-120"/>
              </a:rPr>
              <a:t>መዝሙር እና ሥነ-ጥበብ</a:t>
            </a:r>
            <a:endParaRPr lang="en-US" sz="1400" dirty="0"/>
          </a:p>
          <a:p>
            <a:pPr marL="342900" indent="-342900">
              <a:spcAft>
                <a:spcPts val="500"/>
              </a:spcAft>
              <a:buSzPct val="100000"/>
              <a:buChar char="●"/>
            </a:pPr>
            <a:r>
              <a:rPr lang="en-US" sz="1400" dirty="0">
                <a:solidFill>
                  <a:schemeClr val="bg1"/>
                </a:solidFill>
                <a:latin typeface="Ebrima" pitchFamily="34" charset="0"/>
                <a:ea typeface="Ebrima" pitchFamily="34" charset="-122"/>
                <a:cs typeface="Ebrima" pitchFamily="34" charset="-120"/>
              </a:rPr>
              <a:t>ትምህርት እና ሥልጠና</a:t>
            </a:r>
            <a:endParaRPr lang="en-US" sz="1400" dirty="0"/>
          </a:p>
          <a:p>
            <a:pPr marL="342900" indent="-342900">
              <a:spcAft>
                <a:spcPts val="500"/>
              </a:spcAft>
              <a:buSzPct val="100000"/>
              <a:buChar char="●"/>
            </a:pPr>
            <a:r>
              <a:rPr lang="en-US" sz="1400" dirty="0">
                <a:solidFill>
                  <a:schemeClr val="bg1"/>
                </a:solidFill>
                <a:latin typeface="Ebrima" pitchFamily="34" charset="0"/>
                <a:ea typeface="Ebrima" pitchFamily="34" charset="-122"/>
                <a:cs typeface="Ebrima" pitchFamily="34" charset="-120"/>
              </a:rPr>
              <a:t>የሰው ኃብት አስተዳደር</a:t>
            </a:r>
            <a:endParaRPr lang="en-US" sz="1400" dirty="0"/>
          </a:p>
          <a:p>
            <a:pPr marL="342900" indent="-342900">
              <a:spcAft>
                <a:spcPts val="500"/>
              </a:spcAft>
              <a:buSzPct val="100000"/>
              <a:buChar char="●"/>
            </a:pPr>
            <a:r>
              <a:rPr lang="en-US" sz="1400" dirty="0">
                <a:solidFill>
                  <a:schemeClr val="bg1"/>
                </a:solidFill>
                <a:latin typeface="Ebrima" pitchFamily="34" charset="0"/>
                <a:ea typeface="Ebrima" pitchFamily="34" charset="-122"/>
                <a:cs typeface="Ebrima" pitchFamily="34" charset="-120"/>
              </a:rPr>
              <a:t>ሒሳብ እና ንብረት</a:t>
            </a:r>
            <a:endParaRPr lang="en-US" sz="1400" dirty="0"/>
          </a:p>
          <a:p>
            <a:pPr marL="342900" indent="-342900">
              <a:spcAft>
                <a:spcPts val="500"/>
              </a:spcAft>
              <a:buSzPct val="100000"/>
              <a:buChar char="●"/>
            </a:pPr>
            <a:r>
              <a:rPr lang="en-US" sz="1400" dirty="0">
                <a:solidFill>
                  <a:schemeClr val="bg1"/>
                </a:solidFill>
                <a:latin typeface="Ebrima" pitchFamily="34" charset="0"/>
                <a:ea typeface="Ebrima" pitchFamily="34" charset="-122"/>
                <a:cs typeface="Ebrima" pitchFamily="34" charset="-120"/>
              </a:rPr>
              <a:t>መ/ግ እና ጉባኤ ዝግጅት</a:t>
            </a:r>
            <a:endParaRPr lang="en-US" sz="1400" dirty="0"/>
          </a:p>
          <a:p>
            <a:pPr marL="342900" indent="-342900">
              <a:spcAft>
                <a:spcPts val="500"/>
              </a:spcAft>
              <a:buSzPct val="100000"/>
              <a:buChar char="●"/>
            </a:pPr>
            <a:r>
              <a:rPr lang="en-US" sz="1400" dirty="0">
                <a:solidFill>
                  <a:schemeClr val="bg1"/>
                </a:solidFill>
                <a:latin typeface="Ebrima" pitchFamily="34" charset="0"/>
                <a:ea typeface="Ebrima" pitchFamily="34" charset="-122"/>
                <a:cs typeface="Ebrima" pitchFamily="34" charset="-120"/>
              </a:rPr>
              <a:t>ዕቅድ እና ልማት</a:t>
            </a:r>
            <a:endParaRPr lang="en-US" sz="1400" dirty="0"/>
          </a:p>
          <a:p>
            <a:pPr marL="342900" indent="-342900">
              <a:spcAft>
                <a:spcPts val="500"/>
              </a:spcAft>
              <a:buSzPct val="100000"/>
              <a:buChar char="●"/>
            </a:pPr>
            <a:r>
              <a:rPr lang="en-US" sz="1400" dirty="0">
                <a:solidFill>
                  <a:schemeClr val="bg1"/>
                </a:solidFill>
                <a:latin typeface="Ebrima" pitchFamily="34" charset="0"/>
                <a:ea typeface="Ebrima" pitchFamily="34" charset="-122"/>
                <a:cs typeface="Ebrima" pitchFamily="34" charset="-120"/>
              </a:rPr>
              <a:t>መረጃ እና የውስጥ ግንኙነት</a:t>
            </a:r>
            <a:endParaRPr lang="en-US" sz="1400" dirty="0"/>
          </a:p>
        </p:txBody>
      </p:sp>
      <p:sp>
        <p:nvSpPr>
          <p:cNvPr id="6" name="Text 4"/>
          <p:cNvSpPr txBox="1"/>
          <p:nvPr/>
        </p:nvSpPr>
        <p:spPr>
          <a:xfrm>
            <a:off x="777240" y="5349240"/>
            <a:ext cx="3291840" cy="685800"/>
          </a:xfrm>
          <a:prstGeom prst="rect">
            <a:avLst/>
          </a:prstGeom>
          <a:noFill/>
          <a:ln/>
        </p:spPr>
        <p:txBody>
          <a:bodyPr wrap="square" lIns="0" tIns="0" rIns="0" bIns="0" rtlCol="0" anchor="t"/>
          <a:lstStyle/>
          <a:p>
            <a:pPr indent="0" marL="0">
              <a:buNone/>
            </a:pPr>
            <a:r>
              <a:rPr lang="en-US" sz="1250" dirty="0">
                <a:solidFill>
                  <a:schemeClr val="accent2"/>
                </a:solidFill>
                <a:latin typeface="Ebrima" pitchFamily="34" charset="0"/>
                <a:ea typeface="Ebrima" pitchFamily="34" charset="-122"/>
                <a:cs typeface="Ebrima" pitchFamily="34" charset="-120"/>
              </a:rPr>
              <a:t>መሪዎች የአባሎቻቸውን ወርሃዊ የተሳትፎ ነጥብ ይመዘግባሉ</a:t>
            </a:r>
            <a:endParaRPr lang="en-US" sz="1250" dirty="0"/>
          </a:p>
        </p:txBody>
      </p:sp>
      <p:sp>
        <p:nvSpPr>
          <p:cNvPr id="7" name="Shape 5"/>
          <p:cNvSpPr/>
          <p:nvPr/>
        </p:nvSpPr>
        <p:spPr>
          <a:xfrm>
            <a:off x="4526280" y="1325880"/>
            <a:ext cx="3474720" cy="1463040"/>
          </a:xfrm>
          <a:prstGeom prst="roundRect">
            <a:avLst>
              <a:gd name="adj" fmla="val 7500"/>
            </a:avLst>
          </a:prstGeom>
          <a:solidFill>
            <a:schemeClr val="bg2">
              <a:alpha val="55000"/>
            </a:schemeClr>
          </a:solidFill>
          <a:ln/>
        </p:spPr>
      </p:sp>
      <p:sp>
        <p:nvSpPr>
          <p:cNvPr id="8" name="Shape 6"/>
          <p:cNvSpPr/>
          <p:nvPr/>
        </p:nvSpPr>
        <p:spPr>
          <a:xfrm>
            <a:off x="4709160" y="1527048"/>
            <a:ext cx="548640" cy="548640"/>
          </a:xfrm>
          <a:prstGeom prst="ellipse">
            <a:avLst/>
          </a:prstGeom>
          <a:solidFill>
            <a:schemeClr val="accent1"/>
          </a:solidFill>
          <a:ln/>
        </p:spPr>
      </p:sp>
      <p:pic>
        <p:nvPicPr>
          <p:cNvPr id="9" name="Image 0" descr="preencoded.png">    </p:cNvPr>
          <p:cNvPicPr>
            <a:picLocks noChangeAspect="1"/>
          </p:cNvPicPr>
          <p:nvPr/>
        </p:nvPicPr>
        <p:blipFill>
          <a:blip r:embed="rId1"/>
          <a:stretch>
            <a:fillRect/>
          </a:stretch>
        </p:blipFill>
        <p:spPr>
          <a:xfrm>
            <a:off x="4840834" y="1658722"/>
            <a:ext cx="285293" cy="285293"/>
          </a:xfrm>
          <a:prstGeom prst="rect">
            <a:avLst/>
          </a:prstGeom>
        </p:spPr>
      </p:pic>
      <p:sp>
        <p:nvSpPr>
          <p:cNvPr id="10" name="Text 7"/>
          <p:cNvSpPr txBox="1"/>
          <p:nvPr/>
        </p:nvSpPr>
        <p:spPr>
          <a:xfrm>
            <a:off x="5394960" y="1527048"/>
            <a:ext cx="2468880" cy="457200"/>
          </a:xfrm>
          <a:prstGeom prst="rect">
            <a:avLst/>
          </a:prstGeom>
          <a:noFill/>
          <a:ln/>
        </p:spPr>
        <p:txBody>
          <a:bodyPr wrap="square" lIns="0" tIns="0" rIns="0" bIns="0" rtlCol="0" anchor="ctr"/>
          <a:lstStyle/>
          <a:p>
            <a:pPr indent="0" marL="0">
              <a:buNone/>
            </a:pPr>
            <a:r>
              <a:rPr lang="en-US" sz="1550" b="1" dirty="0">
                <a:solidFill>
                  <a:schemeClr val="accent1"/>
                </a:solidFill>
                <a:latin typeface="Ebrima" pitchFamily="34" charset="0"/>
                <a:ea typeface="Ebrima" pitchFamily="34" charset="-122"/>
                <a:cs typeface="Ebrima" pitchFamily="34" charset="-120"/>
              </a:rPr>
              <a:t>ፕሮጀክቶች</a:t>
            </a:r>
            <a:endParaRPr lang="en-US" sz="1550" dirty="0"/>
          </a:p>
        </p:txBody>
      </p:sp>
      <p:sp>
        <p:nvSpPr>
          <p:cNvPr id="11" name="Text 8"/>
          <p:cNvSpPr txBox="1"/>
          <p:nvPr/>
        </p:nvSpPr>
        <p:spPr>
          <a:xfrm>
            <a:off x="4709160" y="2148840"/>
            <a:ext cx="3154680" cy="594360"/>
          </a:xfrm>
          <a:prstGeom prst="rect">
            <a:avLst/>
          </a:prstGeom>
          <a:noFill/>
          <a:ln/>
        </p:spPr>
        <p:txBody>
          <a:bodyPr wrap="square" lIns="0" tIns="0" rIns="0" bIns="0" rtlCol="0" anchor="t"/>
          <a:lstStyle/>
          <a:p>
            <a:pPr indent="0" marL="0">
              <a:buNone/>
            </a:pPr>
            <a:r>
              <a:rPr lang="en-US" sz="1250" dirty="0">
                <a:solidFill>
                  <a:schemeClr val="tx1"/>
                </a:solidFill>
                <a:latin typeface="Ebrima" pitchFamily="34" charset="0"/>
                <a:ea typeface="Ebrima" pitchFamily="34" charset="-122"/>
                <a:cs typeface="Ebrima" pitchFamily="34" charset="-120"/>
              </a:rPr>
              <a:t>ቡድን፣ የጊዜ ገደብ፣ ቅድሚያና ሂደት</a:t>
            </a:r>
            <a:endParaRPr lang="en-US" sz="1250" dirty="0"/>
          </a:p>
        </p:txBody>
      </p:sp>
      <p:sp>
        <p:nvSpPr>
          <p:cNvPr id="12" name="Shape 9"/>
          <p:cNvSpPr/>
          <p:nvPr/>
        </p:nvSpPr>
        <p:spPr>
          <a:xfrm>
            <a:off x="8138160" y="1325880"/>
            <a:ext cx="3474720" cy="1463040"/>
          </a:xfrm>
          <a:prstGeom prst="roundRect">
            <a:avLst>
              <a:gd name="adj" fmla="val 7500"/>
            </a:avLst>
          </a:prstGeom>
          <a:solidFill>
            <a:schemeClr val="bg2">
              <a:alpha val="55000"/>
            </a:schemeClr>
          </a:solidFill>
          <a:ln/>
        </p:spPr>
      </p:sp>
      <p:sp>
        <p:nvSpPr>
          <p:cNvPr id="13" name="Shape 10"/>
          <p:cNvSpPr/>
          <p:nvPr/>
        </p:nvSpPr>
        <p:spPr>
          <a:xfrm>
            <a:off x="8321040" y="1527048"/>
            <a:ext cx="548640" cy="548640"/>
          </a:xfrm>
          <a:prstGeom prst="ellipse">
            <a:avLst/>
          </a:prstGeom>
          <a:solidFill>
            <a:schemeClr val="accent2"/>
          </a:solidFill>
          <a:ln/>
        </p:spPr>
      </p:sp>
      <p:pic>
        <p:nvPicPr>
          <p:cNvPr id="14" name="Image 1" descr="preencoded.png">    </p:cNvPr>
          <p:cNvPicPr>
            <a:picLocks noChangeAspect="1"/>
          </p:cNvPicPr>
          <p:nvPr/>
        </p:nvPicPr>
        <p:blipFill>
          <a:blip r:embed="rId2"/>
          <a:stretch>
            <a:fillRect/>
          </a:stretch>
        </p:blipFill>
        <p:spPr>
          <a:xfrm>
            <a:off x="8452714" y="1658722"/>
            <a:ext cx="285293" cy="285293"/>
          </a:xfrm>
          <a:prstGeom prst="rect">
            <a:avLst/>
          </a:prstGeom>
        </p:spPr>
      </p:pic>
      <p:sp>
        <p:nvSpPr>
          <p:cNvPr id="15" name="Text 11"/>
          <p:cNvSpPr txBox="1"/>
          <p:nvPr/>
        </p:nvSpPr>
        <p:spPr>
          <a:xfrm>
            <a:off x="9006840" y="1527048"/>
            <a:ext cx="2468880" cy="457200"/>
          </a:xfrm>
          <a:prstGeom prst="rect">
            <a:avLst/>
          </a:prstGeom>
          <a:noFill/>
          <a:ln/>
        </p:spPr>
        <p:txBody>
          <a:bodyPr wrap="square" lIns="0" tIns="0" rIns="0" bIns="0" rtlCol="0" anchor="ctr"/>
          <a:lstStyle/>
          <a:p>
            <a:pPr indent="0" marL="0">
              <a:buNone/>
            </a:pPr>
            <a:r>
              <a:rPr lang="en-US" sz="1550" b="1" dirty="0">
                <a:solidFill>
                  <a:schemeClr val="accent1"/>
                </a:solidFill>
                <a:latin typeface="Ebrima" pitchFamily="34" charset="0"/>
                <a:ea typeface="Ebrima" pitchFamily="34" charset="-122"/>
                <a:cs typeface="Ebrima" pitchFamily="34" charset="-120"/>
              </a:rPr>
              <a:t>ተግባራት</a:t>
            </a:r>
            <a:endParaRPr lang="en-US" sz="1550" dirty="0"/>
          </a:p>
        </p:txBody>
      </p:sp>
      <p:sp>
        <p:nvSpPr>
          <p:cNvPr id="16" name="Text 12"/>
          <p:cNvSpPr txBox="1"/>
          <p:nvPr/>
        </p:nvSpPr>
        <p:spPr>
          <a:xfrm>
            <a:off x="8321040" y="2148840"/>
            <a:ext cx="3154680" cy="594360"/>
          </a:xfrm>
          <a:prstGeom prst="rect">
            <a:avLst/>
          </a:prstGeom>
          <a:noFill/>
          <a:ln/>
        </p:spPr>
        <p:txBody>
          <a:bodyPr wrap="square" lIns="0" tIns="0" rIns="0" bIns="0" rtlCol="0" anchor="t"/>
          <a:lstStyle/>
          <a:p>
            <a:pPr indent="0" marL="0">
              <a:buNone/>
            </a:pPr>
            <a:r>
              <a:rPr lang="en-US" sz="1250" dirty="0">
                <a:solidFill>
                  <a:schemeClr val="tx1"/>
                </a:solidFill>
                <a:latin typeface="Ebrima" pitchFamily="34" charset="0"/>
                <a:ea typeface="Ebrima" pitchFamily="34" charset="-122"/>
                <a:cs typeface="Ebrima" pitchFamily="34" charset="-120"/>
              </a:rPr>
              <a:t>ብዙ ኃላፊዎች፣ ምክንያት ያለው ሁኔታ፣ የጊዜ ገደብ አስታዋሽ</a:t>
            </a:r>
            <a:endParaRPr lang="en-US" sz="1250" dirty="0"/>
          </a:p>
        </p:txBody>
      </p:sp>
      <p:sp>
        <p:nvSpPr>
          <p:cNvPr id="17" name="Shape 13"/>
          <p:cNvSpPr/>
          <p:nvPr/>
        </p:nvSpPr>
        <p:spPr>
          <a:xfrm>
            <a:off x="4526280" y="2971800"/>
            <a:ext cx="3474720" cy="1463040"/>
          </a:xfrm>
          <a:prstGeom prst="roundRect">
            <a:avLst>
              <a:gd name="adj" fmla="val 7500"/>
            </a:avLst>
          </a:prstGeom>
          <a:solidFill>
            <a:schemeClr val="bg2">
              <a:alpha val="55000"/>
            </a:schemeClr>
          </a:solidFill>
          <a:ln/>
        </p:spPr>
      </p:sp>
      <p:sp>
        <p:nvSpPr>
          <p:cNvPr id="18" name="Shape 14"/>
          <p:cNvSpPr/>
          <p:nvPr/>
        </p:nvSpPr>
        <p:spPr>
          <a:xfrm>
            <a:off x="4709160" y="3172968"/>
            <a:ext cx="548640" cy="548640"/>
          </a:xfrm>
          <a:prstGeom prst="ellipse">
            <a:avLst/>
          </a:prstGeom>
          <a:solidFill>
            <a:schemeClr val="accent1"/>
          </a:solidFill>
          <a:ln/>
        </p:spPr>
      </p:sp>
      <p:pic>
        <p:nvPicPr>
          <p:cNvPr id="19" name="Image 2" descr="preencoded.png">    </p:cNvPr>
          <p:cNvPicPr>
            <a:picLocks noChangeAspect="1"/>
          </p:cNvPicPr>
          <p:nvPr/>
        </p:nvPicPr>
        <p:blipFill>
          <a:blip r:embed="rId3"/>
          <a:stretch>
            <a:fillRect/>
          </a:stretch>
        </p:blipFill>
        <p:spPr>
          <a:xfrm>
            <a:off x="4840834" y="3304642"/>
            <a:ext cx="285293" cy="285293"/>
          </a:xfrm>
          <a:prstGeom prst="rect">
            <a:avLst/>
          </a:prstGeom>
        </p:spPr>
      </p:pic>
      <p:sp>
        <p:nvSpPr>
          <p:cNvPr id="20" name="Text 15"/>
          <p:cNvSpPr txBox="1"/>
          <p:nvPr/>
        </p:nvSpPr>
        <p:spPr>
          <a:xfrm>
            <a:off x="5394960" y="3172968"/>
            <a:ext cx="2468880" cy="457200"/>
          </a:xfrm>
          <a:prstGeom prst="rect">
            <a:avLst/>
          </a:prstGeom>
          <a:noFill/>
          <a:ln/>
        </p:spPr>
        <p:txBody>
          <a:bodyPr wrap="square" lIns="0" tIns="0" rIns="0" bIns="0" rtlCol="0" anchor="ctr"/>
          <a:lstStyle/>
          <a:p>
            <a:pPr indent="0" marL="0">
              <a:buNone/>
            </a:pPr>
            <a:r>
              <a:rPr lang="en-US" sz="1550" b="1" dirty="0">
                <a:solidFill>
                  <a:schemeClr val="accent1"/>
                </a:solidFill>
                <a:latin typeface="Ebrima" pitchFamily="34" charset="0"/>
                <a:ea typeface="Ebrima" pitchFamily="34" charset="-122"/>
                <a:cs typeface="Ebrima" pitchFamily="34" charset="-120"/>
              </a:rPr>
              <a:t>በጀትና ወጪ</a:t>
            </a:r>
            <a:endParaRPr lang="en-US" sz="1550" dirty="0"/>
          </a:p>
        </p:txBody>
      </p:sp>
      <p:sp>
        <p:nvSpPr>
          <p:cNvPr id="21" name="Text 16"/>
          <p:cNvSpPr txBox="1"/>
          <p:nvPr/>
        </p:nvSpPr>
        <p:spPr>
          <a:xfrm>
            <a:off x="4709160" y="3794760"/>
            <a:ext cx="3154680" cy="594360"/>
          </a:xfrm>
          <a:prstGeom prst="rect">
            <a:avLst/>
          </a:prstGeom>
          <a:noFill/>
          <a:ln/>
        </p:spPr>
        <p:txBody>
          <a:bodyPr wrap="square" lIns="0" tIns="0" rIns="0" bIns="0" rtlCol="0" anchor="t"/>
          <a:lstStyle/>
          <a:p>
            <a:pPr indent="0" marL="0">
              <a:buNone/>
            </a:pPr>
            <a:r>
              <a:rPr lang="en-US" sz="1250" dirty="0">
                <a:solidFill>
                  <a:schemeClr val="tx1"/>
                </a:solidFill>
                <a:latin typeface="Ebrima" pitchFamily="34" charset="0"/>
                <a:ea typeface="Ebrima" pitchFamily="34" charset="-122"/>
                <a:cs typeface="Ebrima" pitchFamily="34" charset="-120"/>
              </a:rPr>
              <a:t>ሒሳብ እና ንብረት ያጸድቃል፤ ከበጀት በላይ ወጪ አይፈቀድም</a:t>
            </a:r>
            <a:endParaRPr lang="en-US" sz="1250" dirty="0"/>
          </a:p>
        </p:txBody>
      </p:sp>
      <p:sp>
        <p:nvSpPr>
          <p:cNvPr id="22" name="Shape 17"/>
          <p:cNvSpPr/>
          <p:nvPr/>
        </p:nvSpPr>
        <p:spPr>
          <a:xfrm>
            <a:off x="8138160" y="2971800"/>
            <a:ext cx="3474720" cy="1463040"/>
          </a:xfrm>
          <a:prstGeom prst="roundRect">
            <a:avLst>
              <a:gd name="adj" fmla="val 7500"/>
            </a:avLst>
          </a:prstGeom>
          <a:solidFill>
            <a:schemeClr val="bg2">
              <a:alpha val="55000"/>
            </a:schemeClr>
          </a:solidFill>
          <a:ln/>
        </p:spPr>
      </p:sp>
      <p:sp>
        <p:nvSpPr>
          <p:cNvPr id="23" name="Shape 18"/>
          <p:cNvSpPr/>
          <p:nvPr/>
        </p:nvSpPr>
        <p:spPr>
          <a:xfrm>
            <a:off x="8321040" y="3172968"/>
            <a:ext cx="548640" cy="548640"/>
          </a:xfrm>
          <a:prstGeom prst="ellipse">
            <a:avLst/>
          </a:prstGeom>
          <a:solidFill>
            <a:schemeClr val="accent2"/>
          </a:solidFill>
          <a:ln/>
        </p:spPr>
      </p:sp>
      <p:pic>
        <p:nvPicPr>
          <p:cNvPr id="24" name="Image 3" descr="preencoded.png">    </p:cNvPr>
          <p:cNvPicPr>
            <a:picLocks noChangeAspect="1"/>
          </p:cNvPicPr>
          <p:nvPr/>
        </p:nvPicPr>
        <p:blipFill>
          <a:blip r:embed="rId4"/>
          <a:stretch>
            <a:fillRect/>
          </a:stretch>
        </p:blipFill>
        <p:spPr>
          <a:xfrm>
            <a:off x="8452714" y="3304642"/>
            <a:ext cx="285293" cy="285293"/>
          </a:xfrm>
          <a:prstGeom prst="rect">
            <a:avLst/>
          </a:prstGeom>
        </p:spPr>
      </p:pic>
      <p:sp>
        <p:nvSpPr>
          <p:cNvPr id="25" name="Text 19"/>
          <p:cNvSpPr txBox="1"/>
          <p:nvPr/>
        </p:nvSpPr>
        <p:spPr>
          <a:xfrm>
            <a:off x="9006840" y="3172968"/>
            <a:ext cx="2468880" cy="457200"/>
          </a:xfrm>
          <a:prstGeom prst="rect">
            <a:avLst/>
          </a:prstGeom>
          <a:noFill/>
          <a:ln/>
        </p:spPr>
        <p:txBody>
          <a:bodyPr wrap="square" lIns="0" tIns="0" rIns="0" bIns="0" rtlCol="0" anchor="ctr"/>
          <a:lstStyle/>
          <a:p>
            <a:pPr indent="0" marL="0">
              <a:buNone/>
            </a:pPr>
            <a:r>
              <a:rPr lang="en-US" sz="1550" b="1" dirty="0">
                <a:solidFill>
                  <a:schemeClr val="accent1"/>
                </a:solidFill>
                <a:latin typeface="Ebrima" pitchFamily="34" charset="0"/>
                <a:ea typeface="Ebrima" pitchFamily="34" charset="-122"/>
                <a:cs typeface="Ebrima" pitchFamily="34" charset="-120"/>
              </a:rPr>
              <a:t>ችግሮችና ሐሳቦች</a:t>
            </a:r>
            <a:endParaRPr lang="en-US" sz="1550" dirty="0"/>
          </a:p>
        </p:txBody>
      </p:sp>
      <p:sp>
        <p:nvSpPr>
          <p:cNvPr id="26" name="Text 20"/>
          <p:cNvSpPr txBox="1"/>
          <p:nvPr/>
        </p:nvSpPr>
        <p:spPr>
          <a:xfrm>
            <a:off x="8321040" y="3794760"/>
            <a:ext cx="3154680" cy="594360"/>
          </a:xfrm>
          <a:prstGeom prst="rect">
            <a:avLst/>
          </a:prstGeom>
          <a:noFill/>
          <a:ln/>
        </p:spPr>
        <p:txBody>
          <a:bodyPr wrap="square" lIns="0" tIns="0" rIns="0" bIns="0" rtlCol="0" anchor="t"/>
          <a:lstStyle/>
          <a:p>
            <a:pPr indent="0" marL="0">
              <a:buNone/>
            </a:pPr>
            <a:r>
              <a:rPr lang="en-US" sz="1250" dirty="0">
                <a:solidFill>
                  <a:schemeClr val="tx1"/>
                </a:solidFill>
                <a:latin typeface="Ebrima" pitchFamily="34" charset="0"/>
                <a:ea typeface="Ebrima" pitchFamily="34" charset="-122"/>
                <a:cs typeface="Ebrima" pitchFamily="34" charset="-120"/>
              </a:rPr>
              <a:t>ሐሳብ ወደ ተግባር ይቀየራል፤ ፋይሎችና አስተያየቶች</a:t>
            </a:r>
            <a:endParaRPr lang="en-US" sz="1250" dirty="0"/>
          </a:p>
        </p:txBody>
      </p:sp>
      <p:sp>
        <p:nvSpPr>
          <p:cNvPr id="27" name="Shape 21"/>
          <p:cNvSpPr/>
          <p:nvPr/>
        </p:nvSpPr>
        <p:spPr>
          <a:xfrm>
            <a:off x="4526280" y="4617720"/>
            <a:ext cx="3474720" cy="1463040"/>
          </a:xfrm>
          <a:prstGeom prst="roundRect">
            <a:avLst>
              <a:gd name="adj" fmla="val 7500"/>
            </a:avLst>
          </a:prstGeom>
          <a:solidFill>
            <a:schemeClr val="bg2">
              <a:alpha val="55000"/>
            </a:schemeClr>
          </a:solidFill>
          <a:ln/>
        </p:spPr>
      </p:sp>
      <p:sp>
        <p:nvSpPr>
          <p:cNvPr id="28" name="Shape 22"/>
          <p:cNvSpPr/>
          <p:nvPr/>
        </p:nvSpPr>
        <p:spPr>
          <a:xfrm>
            <a:off x="4709160" y="4818888"/>
            <a:ext cx="548640" cy="548640"/>
          </a:xfrm>
          <a:prstGeom prst="ellipse">
            <a:avLst/>
          </a:prstGeom>
          <a:solidFill>
            <a:schemeClr val="accent1"/>
          </a:solidFill>
          <a:ln/>
        </p:spPr>
      </p:sp>
      <p:pic>
        <p:nvPicPr>
          <p:cNvPr id="29" name="Image 4" descr="preencoded.png">    </p:cNvPr>
          <p:cNvPicPr>
            <a:picLocks noChangeAspect="1"/>
          </p:cNvPicPr>
          <p:nvPr/>
        </p:nvPicPr>
        <p:blipFill>
          <a:blip r:embed="rId5"/>
          <a:stretch>
            <a:fillRect/>
          </a:stretch>
        </p:blipFill>
        <p:spPr>
          <a:xfrm>
            <a:off x="4840834" y="4950562"/>
            <a:ext cx="285293" cy="285293"/>
          </a:xfrm>
          <a:prstGeom prst="rect">
            <a:avLst/>
          </a:prstGeom>
        </p:spPr>
      </p:pic>
      <p:sp>
        <p:nvSpPr>
          <p:cNvPr id="30" name="Text 23"/>
          <p:cNvSpPr txBox="1"/>
          <p:nvPr/>
        </p:nvSpPr>
        <p:spPr>
          <a:xfrm>
            <a:off x="5394960" y="4818888"/>
            <a:ext cx="2468880" cy="457200"/>
          </a:xfrm>
          <a:prstGeom prst="rect">
            <a:avLst/>
          </a:prstGeom>
          <a:noFill/>
          <a:ln/>
        </p:spPr>
        <p:txBody>
          <a:bodyPr wrap="square" lIns="0" tIns="0" rIns="0" bIns="0" rtlCol="0" anchor="ctr"/>
          <a:lstStyle/>
          <a:p>
            <a:pPr indent="0" marL="0">
              <a:buNone/>
            </a:pPr>
            <a:r>
              <a:rPr lang="en-US" sz="1550" b="1" dirty="0">
                <a:solidFill>
                  <a:schemeClr val="accent1"/>
                </a:solidFill>
                <a:latin typeface="Ebrima" pitchFamily="34" charset="0"/>
                <a:ea typeface="Ebrima" pitchFamily="34" charset="-122"/>
                <a:cs typeface="Ebrima" pitchFamily="34" charset="-120"/>
              </a:rPr>
              <a:t>የክፍል ውይይት</a:t>
            </a:r>
            <a:endParaRPr lang="en-US" sz="1550" dirty="0"/>
          </a:p>
        </p:txBody>
      </p:sp>
      <p:sp>
        <p:nvSpPr>
          <p:cNvPr id="31" name="Text 24"/>
          <p:cNvSpPr txBox="1"/>
          <p:nvPr/>
        </p:nvSpPr>
        <p:spPr>
          <a:xfrm>
            <a:off x="4709160" y="5440680"/>
            <a:ext cx="3154680" cy="594360"/>
          </a:xfrm>
          <a:prstGeom prst="rect">
            <a:avLst/>
          </a:prstGeom>
          <a:noFill/>
          <a:ln/>
        </p:spPr>
        <p:txBody>
          <a:bodyPr wrap="square" lIns="0" tIns="0" rIns="0" bIns="0" rtlCol="0" anchor="t"/>
          <a:lstStyle/>
          <a:p>
            <a:pPr indent="0" marL="0">
              <a:buNone/>
            </a:pPr>
            <a:r>
              <a:rPr lang="en-US" sz="1250" dirty="0">
                <a:solidFill>
                  <a:schemeClr val="tx1"/>
                </a:solidFill>
                <a:latin typeface="Ebrima" pitchFamily="34" charset="0"/>
                <a:ea typeface="Ebrima" pitchFamily="34" charset="-122"/>
                <a:cs typeface="Ebrima" pitchFamily="34" charset="-120"/>
              </a:rPr>
              <a:t>የቡድን ውይይት፣ የግል መልእክት፣ የስብሰባ ማገናኛ</a:t>
            </a:r>
            <a:endParaRPr lang="en-US" sz="1250" dirty="0"/>
          </a:p>
        </p:txBody>
      </p:sp>
      <p:sp>
        <p:nvSpPr>
          <p:cNvPr id="32" name="Shape 25"/>
          <p:cNvSpPr/>
          <p:nvPr/>
        </p:nvSpPr>
        <p:spPr>
          <a:xfrm>
            <a:off x="8138160" y="4617720"/>
            <a:ext cx="3474720" cy="1463040"/>
          </a:xfrm>
          <a:prstGeom prst="roundRect">
            <a:avLst>
              <a:gd name="adj" fmla="val 7500"/>
            </a:avLst>
          </a:prstGeom>
          <a:solidFill>
            <a:schemeClr val="bg2">
              <a:alpha val="55000"/>
            </a:schemeClr>
          </a:solidFill>
          <a:ln/>
        </p:spPr>
      </p:sp>
      <p:sp>
        <p:nvSpPr>
          <p:cNvPr id="33" name="Shape 26"/>
          <p:cNvSpPr/>
          <p:nvPr/>
        </p:nvSpPr>
        <p:spPr>
          <a:xfrm>
            <a:off x="8321040" y="4818888"/>
            <a:ext cx="548640" cy="548640"/>
          </a:xfrm>
          <a:prstGeom prst="ellipse">
            <a:avLst/>
          </a:prstGeom>
          <a:solidFill>
            <a:schemeClr val="accent2"/>
          </a:solidFill>
          <a:ln/>
        </p:spPr>
      </p:sp>
      <p:pic>
        <p:nvPicPr>
          <p:cNvPr id="34" name="Image 5" descr="preencoded.png">    </p:cNvPr>
          <p:cNvPicPr>
            <a:picLocks noChangeAspect="1"/>
          </p:cNvPicPr>
          <p:nvPr/>
        </p:nvPicPr>
        <p:blipFill>
          <a:blip r:embed="rId6"/>
          <a:stretch>
            <a:fillRect/>
          </a:stretch>
        </p:blipFill>
        <p:spPr>
          <a:xfrm>
            <a:off x="8452714" y="4950562"/>
            <a:ext cx="285293" cy="285293"/>
          </a:xfrm>
          <a:prstGeom prst="rect">
            <a:avLst/>
          </a:prstGeom>
        </p:spPr>
      </p:pic>
      <p:sp>
        <p:nvSpPr>
          <p:cNvPr id="35" name="Text 27"/>
          <p:cNvSpPr txBox="1"/>
          <p:nvPr/>
        </p:nvSpPr>
        <p:spPr>
          <a:xfrm>
            <a:off x="9006840" y="4818888"/>
            <a:ext cx="2468880" cy="457200"/>
          </a:xfrm>
          <a:prstGeom prst="rect">
            <a:avLst/>
          </a:prstGeom>
          <a:noFill/>
          <a:ln/>
        </p:spPr>
        <p:txBody>
          <a:bodyPr wrap="square" lIns="0" tIns="0" rIns="0" bIns="0" rtlCol="0" anchor="ctr"/>
          <a:lstStyle/>
          <a:p>
            <a:pPr indent="0" marL="0">
              <a:buNone/>
            </a:pPr>
            <a:r>
              <a:rPr lang="en-US" sz="1550" b="1" dirty="0">
                <a:solidFill>
                  <a:schemeClr val="accent1"/>
                </a:solidFill>
                <a:latin typeface="Ebrima" pitchFamily="34" charset="0"/>
                <a:ea typeface="Ebrima" pitchFamily="34" charset="-122"/>
                <a:cs typeface="Ebrima" pitchFamily="34" charset="-120"/>
              </a:rPr>
              <a:t>የተግባር ቦት</a:t>
            </a:r>
            <a:endParaRPr lang="en-US" sz="1550" dirty="0"/>
          </a:p>
        </p:txBody>
      </p:sp>
      <p:sp>
        <p:nvSpPr>
          <p:cNvPr id="36" name="Text 28"/>
          <p:cNvSpPr txBox="1"/>
          <p:nvPr/>
        </p:nvSpPr>
        <p:spPr>
          <a:xfrm>
            <a:off x="8321040" y="5440680"/>
            <a:ext cx="3154680" cy="594360"/>
          </a:xfrm>
          <a:prstGeom prst="rect">
            <a:avLst/>
          </a:prstGeom>
          <a:noFill/>
          <a:ln/>
        </p:spPr>
        <p:txBody>
          <a:bodyPr wrap="square" lIns="0" tIns="0" rIns="0" bIns="0" rtlCol="0" anchor="t"/>
          <a:lstStyle/>
          <a:p>
            <a:pPr indent="0" marL="0">
              <a:buNone/>
            </a:pPr>
            <a:r>
              <a:rPr lang="en-US" sz="1250" dirty="0">
                <a:solidFill>
                  <a:schemeClr val="tx1"/>
                </a:solidFill>
                <a:latin typeface="Ebrima" pitchFamily="34" charset="0"/>
                <a:ea typeface="Ebrima" pitchFamily="34" charset="-122"/>
                <a:cs typeface="Ebrima" pitchFamily="34" charset="-120"/>
              </a:rPr>
              <a:t>በውይይቱ ውስጥ የተግባር ዜና በአዝራር ይመጣል</a:t>
            </a:r>
            <a:endParaRPr lang="en-US" sz="125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Ebrima"/>
                <a:ea typeface="Ebrima"/>
                <a:cs typeface="Ebrima"/>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0241280" cy="777240"/>
          </a:xfrm>
          <a:prstGeom prst="rect">
            <a:avLst/>
          </a:prstGeom>
          <a:noFill/>
          <a:ln/>
        </p:spPr>
        <p:txBody>
          <a:bodyPr wrap="square" lIns="0" tIns="0" rIns="0" bIns="0" rtlCol="0" anchor="ctr"/>
          <a:lstStyle/>
          <a:p>
            <a:pPr algn="l" indent="0" marL="0">
              <a:buNone/>
            </a:pPr>
            <a:r>
              <a:rPr lang="en-US" sz="3400" dirty="0">
                <a:solidFill>
                  <a:schemeClr val="accent1"/>
                </a:solidFill>
                <a:latin typeface="Nyala" pitchFamily="34" charset="0"/>
                <a:ea typeface="Nyala" pitchFamily="34" charset="-122"/>
                <a:cs typeface="Nyala" pitchFamily="34" charset="-120"/>
              </a:rPr>
              <a:t>ማሳወቂያዎች፣ አስታዋሾችና ማስታወቂያዎች</a:t>
            </a:r>
            <a:endParaRPr lang="en-US" sz="3400" dirty="0"/>
          </a:p>
        </p:txBody>
      </p:sp>
      <p:sp>
        <p:nvSpPr>
          <p:cNvPr id="3" name="Shape 1"/>
          <p:cNvSpPr/>
          <p:nvPr/>
        </p:nvSpPr>
        <p:spPr>
          <a:xfrm>
            <a:off x="548640" y="1325880"/>
            <a:ext cx="2624328" cy="1737360"/>
          </a:xfrm>
          <a:prstGeom prst="roundRect">
            <a:avLst>
              <a:gd name="adj" fmla="val 6316"/>
            </a:avLst>
          </a:prstGeom>
          <a:solidFill>
            <a:schemeClr val="accent1"/>
          </a:solidFill>
          <a:ln/>
        </p:spPr>
      </p:sp>
      <p:sp>
        <p:nvSpPr>
          <p:cNvPr id="4" name="Shape 2"/>
          <p:cNvSpPr/>
          <p:nvPr/>
        </p:nvSpPr>
        <p:spPr>
          <a:xfrm>
            <a:off x="1508760" y="1463040"/>
            <a:ext cx="685800" cy="685800"/>
          </a:xfrm>
          <a:prstGeom prst="ellipse">
            <a:avLst/>
          </a:prstGeom>
          <a:solidFill>
            <a:schemeClr val="accent2"/>
          </a:solidFill>
          <a:ln/>
        </p:spPr>
      </p:sp>
      <p:pic>
        <p:nvPicPr>
          <p:cNvPr id="5" name="Image 0" descr="preencoded.png">    </p:cNvPr>
          <p:cNvPicPr>
            <a:picLocks noChangeAspect="1"/>
          </p:cNvPicPr>
          <p:nvPr/>
        </p:nvPicPr>
        <p:blipFill>
          <a:blip r:embed="rId1"/>
          <a:stretch>
            <a:fillRect/>
          </a:stretch>
        </p:blipFill>
        <p:spPr>
          <a:xfrm>
            <a:off x="1673352" y="1627632"/>
            <a:ext cx="356616" cy="356616"/>
          </a:xfrm>
          <a:prstGeom prst="rect">
            <a:avLst/>
          </a:prstGeom>
        </p:spPr>
      </p:pic>
      <p:sp>
        <p:nvSpPr>
          <p:cNvPr id="6" name="Text 3"/>
          <p:cNvSpPr txBox="1"/>
          <p:nvPr/>
        </p:nvSpPr>
        <p:spPr>
          <a:xfrm>
            <a:off x="640080" y="2240280"/>
            <a:ext cx="2441448" cy="411480"/>
          </a:xfrm>
          <a:prstGeom prst="rect">
            <a:avLst/>
          </a:prstGeom>
          <a:noFill/>
          <a:ln/>
        </p:spPr>
        <p:txBody>
          <a:bodyPr wrap="square" lIns="0" tIns="0" rIns="0" bIns="0" rtlCol="0" anchor="t"/>
          <a:lstStyle/>
          <a:p>
            <a:pPr algn="ctr" indent="0" marL="0">
              <a:buNone/>
            </a:pPr>
            <a:r>
              <a:rPr lang="en-US" sz="1550" b="1" dirty="0">
                <a:solidFill>
                  <a:schemeClr val="bg1"/>
                </a:solidFill>
                <a:latin typeface="Ebrima" pitchFamily="34" charset="0"/>
                <a:ea typeface="Ebrima" pitchFamily="34" charset="-122"/>
                <a:cs typeface="Ebrima" pitchFamily="34" charset="-120"/>
              </a:rPr>
              <a:t>የማሳወቂያ ማዕከል</a:t>
            </a:r>
            <a:endParaRPr lang="en-US" sz="1550" dirty="0"/>
          </a:p>
        </p:txBody>
      </p:sp>
      <p:sp>
        <p:nvSpPr>
          <p:cNvPr id="7" name="Text 4"/>
          <p:cNvSpPr txBox="1"/>
          <p:nvPr/>
        </p:nvSpPr>
        <p:spPr>
          <a:xfrm>
            <a:off x="640080" y="2633472"/>
            <a:ext cx="2441448" cy="365760"/>
          </a:xfrm>
          <a:prstGeom prst="rect">
            <a:avLst/>
          </a:prstGeom>
          <a:noFill/>
          <a:ln/>
        </p:spPr>
        <p:txBody>
          <a:bodyPr wrap="square" lIns="0" tIns="0" rIns="0" bIns="0" rtlCol="0" anchor="t"/>
          <a:lstStyle/>
          <a:p>
            <a:pPr algn="ctr" indent="0" marL="0">
              <a:buNone/>
            </a:pPr>
            <a:r>
              <a:rPr lang="en-US" sz="1250" dirty="0">
                <a:solidFill>
                  <a:schemeClr val="bg1"/>
                </a:solidFill>
                <a:latin typeface="Ebrima" pitchFamily="34" charset="0"/>
                <a:ea typeface="Ebrima" pitchFamily="34" charset="-122"/>
                <a:cs typeface="Ebrima" pitchFamily="34" charset="-120"/>
              </a:rPr>
              <a:t>በመተግበሪያው ውስጥ</a:t>
            </a:r>
            <a:endParaRPr lang="en-US" sz="1250" dirty="0"/>
          </a:p>
        </p:txBody>
      </p:sp>
      <p:sp>
        <p:nvSpPr>
          <p:cNvPr id="8" name="Shape 5"/>
          <p:cNvSpPr/>
          <p:nvPr/>
        </p:nvSpPr>
        <p:spPr>
          <a:xfrm>
            <a:off x="3355848" y="1325880"/>
            <a:ext cx="2624328" cy="1737360"/>
          </a:xfrm>
          <a:prstGeom prst="roundRect">
            <a:avLst>
              <a:gd name="adj" fmla="val 6316"/>
            </a:avLst>
          </a:prstGeom>
          <a:solidFill>
            <a:schemeClr val="bg2">
              <a:alpha val="60000"/>
            </a:schemeClr>
          </a:solidFill>
          <a:ln/>
        </p:spPr>
      </p:sp>
      <p:sp>
        <p:nvSpPr>
          <p:cNvPr id="9" name="Shape 6"/>
          <p:cNvSpPr/>
          <p:nvPr/>
        </p:nvSpPr>
        <p:spPr>
          <a:xfrm>
            <a:off x="4315968" y="1463040"/>
            <a:ext cx="685800" cy="685800"/>
          </a:xfrm>
          <a:prstGeom prst="ellipse">
            <a:avLst/>
          </a:prstGeom>
          <a:solidFill>
            <a:schemeClr val="accent1"/>
          </a:solidFill>
          <a:ln/>
        </p:spPr>
      </p:sp>
      <p:pic>
        <p:nvPicPr>
          <p:cNvPr id="10" name="Image 1" descr="preencoded.png">    </p:cNvPr>
          <p:cNvPicPr>
            <a:picLocks noChangeAspect="1"/>
          </p:cNvPicPr>
          <p:nvPr/>
        </p:nvPicPr>
        <p:blipFill>
          <a:blip r:embed="rId2"/>
          <a:stretch>
            <a:fillRect/>
          </a:stretch>
        </p:blipFill>
        <p:spPr>
          <a:xfrm>
            <a:off x="4480560" y="1627632"/>
            <a:ext cx="356616" cy="356616"/>
          </a:xfrm>
          <a:prstGeom prst="rect">
            <a:avLst/>
          </a:prstGeom>
        </p:spPr>
      </p:pic>
      <p:sp>
        <p:nvSpPr>
          <p:cNvPr id="11" name="Text 7"/>
          <p:cNvSpPr txBox="1"/>
          <p:nvPr/>
        </p:nvSpPr>
        <p:spPr>
          <a:xfrm>
            <a:off x="3447288" y="2240280"/>
            <a:ext cx="2441448" cy="411480"/>
          </a:xfrm>
          <a:prstGeom prst="rect">
            <a:avLst/>
          </a:prstGeom>
          <a:noFill/>
          <a:ln/>
        </p:spPr>
        <p:txBody>
          <a:bodyPr wrap="square" lIns="0" tIns="0" rIns="0" bIns="0" rtlCol="0" anchor="t"/>
          <a:lstStyle/>
          <a:p>
            <a:pPr algn="ctr" indent="0" marL="0">
              <a:buNone/>
            </a:pPr>
            <a:r>
              <a:rPr lang="en-US" sz="1550" b="1" dirty="0">
                <a:solidFill>
                  <a:schemeClr val="accent1"/>
                </a:solidFill>
                <a:latin typeface="Ebrima" pitchFamily="34" charset="0"/>
                <a:ea typeface="Ebrima" pitchFamily="34" charset="-122"/>
                <a:cs typeface="Ebrima" pitchFamily="34" charset="-120"/>
              </a:rPr>
              <a:t>Push ማሳወቂያ</a:t>
            </a:r>
            <a:endParaRPr lang="en-US" sz="1550" dirty="0"/>
          </a:p>
        </p:txBody>
      </p:sp>
      <p:sp>
        <p:nvSpPr>
          <p:cNvPr id="12" name="Text 8"/>
          <p:cNvSpPr txBox="1"/>
          <p:nvPr/>
        </p:nvSpPr>
        <p:spPr>
          <a:xfrm>
            <a:off x="3447288" y="2633472"/>
            <a:ext cx="2441448" cy="365760"/>
          </a:xfrm>
          <a:prstGeom prst="rect">
            <a:avLst/>
          </a:prstGeom>
          <a:noFill/>
          <a:ln/>
        </p:spPr>
        <p:txBody>
          <a:bodyPr wrap="square" lIns="0" tIns="0" rIns="0" bIns="0" rtlCol="0" anchor="t"/>
          <a:lstStyle/>
          <a:p>
            <a:pPr algn="ctr" indent="0" marL="0">
              <a:buNone/>
            </a:pPr>
            <a:r>
              <a:rPr lang="en-US" sz="1250" dirty="0">
                <a:solidFill>
                  <a:schemeClr val="tx1"/>
                </a:solidFill>
                <a:latin typeface="Ebrima" pitchFamily="34" charset="0"/>
                <a:ea typeface="Ebrima" pitchFamily="34" charset="-122"/>
                <a:cs typeface="Ebrima" pitchFamily="34" charset="-120"/>
              </a:rPr>
              <a:t>በስልኩ ላይ በቀጥታ</a:t>
            </a:r>
            <a:endParaRPr lang="en-US" sz="1250" dirty="0"/>
          </a:p>
        </p:txBody>
      </p:sp>
      <p:sp>
        <p:nvSpPr>
          <p:cNvPr id="13" name="Shape 9"/>
          <p:cNvSpPr/>
          <p:nvPr/>
        </p:nvSpPr>
        <p:spPr>
          <a:xfrm>
            <a:off x="6163056" y="1325880"/>
            <a:ext cx="2624328" cy="1737360"/>
          </a:xfrm>
          <a:prstGeom prst="roundRect">
            <a:avLst>
              <a:gd name="adj" fmla="val 6316"/>
            </a:avLst>
          </a:prstGeom>
          <a:solidFill>
            <a:schemeClr val="bg2">
              <a:alpha val="60000"/>
            </a:schemeClr>
          </a:solidFill>
          <a:ln/>
        </p:spPr>
      </p:sp>
      <p:sp>
        <p:nvSpPr>
          <p:cNvPr id="14" name="Shape 10"/>
          <p:cNvSpPr/>
          <p:nvPr/>
        </p:nvSpPr>
        <p:spPr>
          <a:xfrm>
            <a:off x="7123176" y="1463040"/>
            <a:ext cx="685800" cy="685800"/>
          </a:xfrm>
          <a:prstGeom prst="ellipse">
            <a:avLst/>
          </a:prstGeom>
          <a:solidFill>
            <a:schemeClr val="accent1"/>
          </a:solidFill>
          <a:ln/>
        </p:spPr>
      </p:sp>
      <p:pic>
        <p:nvPicPr>
          <p:cNvPr id="15" name="Image 2" descr="preencoded.png">    </p:cNvPr>
          <p:cNvPicPr>
            <a:picLocks noChangeAspect="1"/>
          </p:cNvPicPr>
          <p:nvPr/>
        </p:nvPicPr>
        <p:blipFill>
          <a:blip r:embed="rId3"/>
          <a:stretch>
            <a:fillRect/>
          </a:stretch>
        </p:blipFill>
        <p:spPr>
          <a:xfrm>
            <a:off x="7287768" y="1627632"/>
            <a:ext cx="356616" cy="356616"/>
          </a:xfrm>
          <a:prstGeom prst="rect">
            <a:avLst/>
          </a:prstGeom>
        </p:spPr>
      </p:pic>
      <p:sp>
        <p:nvSpPr>
          <p:cNvPr id="16" name="Text 11"/>
          <p:cNvSpPr txBox="1"/>
          <p:nvPr/>
        </p:nvSpPr>
        <p:spPr>
          <a:xfrm>
            <a:off x="6254496" y="2240280"/>
            <a:ext cx="2441448" cy="411480"/>
          </a:xfrm>
          <a:prstGeom prst="rect">
            <a:avLst/>
          </a:prstGeom>
          <a:noFill/>
          <a:ln/>
        </p:spPr>
        <p:txBody>
          <a:bodyPr wrap="square" lIns="0" tIns="0" rIns="0" bIns="0" rtlCol="0" anchor="t"/>
          <a:lstStyle/>
          <a:p>
            <a:pPr algn="ctr" indent="0" marL="0">
              <a:buNone/>
            </a:pPr>
            <a:r>
              <a:rPr lang="en-US" sz="1550" b="1" dirty="0">
                <a:solidFill>
                  <a:schemeClr val="accent1"/>
                </a:solidFill>
                <a:latin typeface="Ebrima" pitchFamily="34" charset="0"/>
                <a:ea typeface="Ebrima" pitchFamily="34" charset="-122"/>
                <a:cs typeface="Ebrima" pitchFamily="34" charset="-120"/>
              </a:rPr>
              <a:t>ኢሜይል</a:t>
            </a:r>
            <a:endParaRPr lang="en-US" sz="1550" dirty="0"/>
          </a:p>
        </p:txBody>
      </p:sp>
      <p:sp>
        <p:nvSpPr>
          <p:cNvPr id="17" name="Text 12"/>
          <p:cNvSpPr txBox="1"/>
          <p:nvPr/>
        </p:nvSpPr>
        <p:spPr>
          <a:xfrm>
            <a:off x="6254496" y="2633472"/>
            <a:ext cx="2441448" cy="365760"/>
          </a:xfrm>
          <a:prstGeom prst="rect">
            <a:avLst/>
          </a:prstGeom>
          <a:noFill/>
          <a:ln/>
        </p:spPr>
        <p:txBody>
          <a:bodyPr wrap="square" lIns="0" tIns="0" rIns="0" bIns="0" rtlCol="0" anchor="t"/>
          <a:lstStyle/>
          <a:p>
            <a:pPr algn="ctr" indent="0" marL="0">
              <a:buNone/>
            </a:pPr>
            <a:r>
              <a:rPr lang="en-US" sz="1250" dirty="0">
                <a:solidFill>
                  <a:schemeClr val="tx1"/>
                </a:solidFill>
                <a:latin typeface="Ebrima" pitchFamily="34" charset="0"/>
                <a:ea typeface="Ebrima" pitchFamily="34" charset="-122"/>
                <a:cs typeface="Ebrima" pitchFamily="34" charset="-120"/>
              </a:rPr>
              <a:t>ለተመዘገበ ኢሜይል</a:t>
            </a:r>
            <a:endParaRPr lang="en-US" sz="1250" dirty="0"/>
          </a:p>
        </p:txBody>
      </p:sp>
      <p:sp>
        <p:nvSpPr>
          <p:cNvPr id="18" name="Shape 13"/>
          <p:cNvSpPr/>
          <p:nvPr/>
        </p:nvSpPr>
        <p:spPr>
          <a:xfrm>
            <a:off x="8970264" y="1325880"/>
            <a:ext cx="2624328" cy="1737360"/>
          </a:xfrm>
          <a:prstGeom prst="roundRect">
            <a:avLst>
              <a:gd name="adj" fmla="val 6316"/>
            </a:avLst>
          </a:prstGeom>
          <a:solidFill>
            <a:schemeClr val="bg2">
              <a:alpha val="60000"/>
            </a:schemeClr>
          </a:solidFill>
          <a:ln/>
        </p:spPr>
      </p:sp>
      <p:sp>
        <p:nvSpPr>
          <p:cNvPr id="19" name="Shape 14"/>
          <p:cNvSpPr/>
          <p:nvPr/>
        </p:nvSpPr>
        <p:spPr>
          <a:xfrm>
            <a:off x="9930384" y="1463040"/>
            <a:ext cx="685800" cy="685800"/>
          </a:xfrm>
          <a:prstGeom prst="ellipse">
            <a:avLst/>
          </a:prstGeom>
          <a:solidFill>
            <a:schemeClr val="accent1"/>
          </a:solidFill>
          <a:ln/>
        </p:spPr>
      </p:sp>
      <p:pic>
        <p:nvPicPr>
          <p:cNvPr id="20" name="Image 3" descr="preencoded.png">    </p:cNvPr>
          <p:cNvPicPr>
            <a:picLocks noChangeAspect="1"/>
          </p:cNvPicPr>
          <p:nvPr/>
        </p:nvPicPr>
        <p:blipFill>
          <a:blip r:embed="rId4"/>
          <a:stretch>
            <a:fillRect/>
          </a:stretch>
        </p:blipFill>
        <p:spPr>
          <a:xfrm>
            <a:off x="10094976" y="1627632"/>
            <a:ext cx="356616" cy="356616"/>
          </a:xfrm>
          <a:prstGeom prst="rect">
            <a:avLst/>
          </a:prstGeom>
        </p:spPr>
      </p:pic>
      <p:sp>
        <p:nvSpPr>
          <p:cNvPr id="21" name="Text 15"/>
          <p:cNvSpPr txBox="1"/>
          <p:nvPr/>
        </p:nvSpPr>
        <p:spPr>
          <a:xfrm>
            <a:off x="9061704" y="2240280"/>
            <a:ext cx="2441448" cy="411480"/>
          </a:xfrm>
          <a:prstGeom prst="rect">
            <a:avLst/>
          </a:prstGeom>
          <a:noFill/>
          <a:ln/>
        </p:spPr>
        <p:txBody>
          <a:bodyPr wrap="square" lIns="0" tIns="0" rIns="0" bIns="0" rtlCol="0" anchor="t"/>
          <a:lstStyle/>
          <a:p>
            <a:pPr algn="ctr" indent="0" marL="0">
              <a:buNone/>
            </a:pPr>
            <a:r>
              <a:rPr lang="en-US" sz="1550" b="1" dirty="0">
                <a:solidFill>
                  <a:schemeClr val="accent1"/>
                </a:solidFill>
                <a:latin typeface="Ebrima" pitchFamily="34" charset="0"/>
                <a:ea typeface="Ebrima" pitchFamily="34" charset="-122"/>
                <a:cs typeface="Ebrima" pitchFamily="34" charset="-120"/>
              </a:rPr>
              <a:t>ቴሌግራም</a:t>
            </a:r>
            <a:endParaRPr lang="en-US" sz="1550" dirty="0"/>
          </a:p>
        </p:txBody>
      </p:sp>
      <p:sp>
        <p:nvSpPr>
          <p:cNvPr id="22" name="Text 16"/>
          <p:cNvSpPr txBox="1"/>
          <p:nvPr/>
        </p:nvSpPr>
        <p:spPr>
          <a:xfrm>
            <a:off x="9061704" y="2633472"/>
            <a:ext cx="2441448" cy="365760"/>
          </a:xfrm>
          <a:prstGeom prst="rect">
            <a:avLst/>
          </a:prstGeom>
          <a:noFill/>
          <a:ln/>
        </p:spPr>
        <p:txBody>
          <a:bodyPr wrap="square" lIns="0" tIns="0" rIns="0" bIns="0" rtlCol="0" anchor="t"/>
          <a:lstStyle/>
          <a:p>
            <a:pPr algn="ctr" indent="0" marL="0">
              <a:buNone/>
            </a:pPr>
            <a:r>
              <a:rPr lang="en-US" sz="1250" dirty="0">
                <a:solidFill>
                  <a:schemeClr val="tx1"/>
                </a:solidFill>
                <a:latin typeface="Ebrima" pitchFamily="34" charset="0"/>
                <a:ea typeface="Ebrima" pitchFamily="34" charset="-122"/>
                <a:cs typeface="Ebrima" pitchFamily="34" charset="-120"/>
              </a:rPr>
              <a:t>ለተገናኙ መለያዎች</a:t>
            </a:r>
            <a:endParaRPr lang="en-US" sz="1250" dirty="0"/>
          </a:p>
        </p:txBody>
      </p:sp>
      <p:sp>
        <p:nvSpPr>
          <p:cNvPr id="23" name="Text 17"/>
          <p:cNvSpPr txBox="1"/>
          <p:nvPr/>
        </p:nvSpPr>
        <p:spPr>
          <a:xfrm>
            <a:off x="548640" y="3429000"/>
            <a:ext cx="6583680" cy="2743200"/>
          </a:xfrm>
          <a:prstGeom prst="rect">
            <a:avLst/>
          </a:prstGeom>
          <a:noFill/>
          <a:ln/>
        </p:spPr>
        <p:txBody>
          <a:bodyPr wrap="square" lIns="0" tIns="0" rIns="0" bIns="0" rtlCol="0" anchor="t"/>
          <a:lstStyle/>
          <a:p>
            <a:pPr marL="342900" indent="-342900">
              <a:spcAft>
                <a:spcPts val="1000"/>
              </a:spcAft>
              <a:buSzPct val="100000"/>
              <a:buChar char="●"/>
            </a:pPr>
            <a:r>
              <a:rPr lang="en-US" sz="1450" dirty="0">
                <a:solidFill>
                  <a:schemeClr val="tx1"/>
                </a:solidFill>
                <a:latin typeface="Ebrima" pitchFamily="34" charset="0"/>
                <a:ea typeface="Ebrima" pitchFamily="34" charset="-122"/>
                <a:cs typeface="Ebrima" pitchFamily="34" charset="-120"/>
              </a:rPr>
              <a:t>8 ርዕሶች፦ ፕሮግራም፣ መገኘት፣ ፕሮጀክት፣ የሥራ ክፍል፣ ትምህርት፣ ንብረት፣ መዝሙር፣ ሲስተም — አባሉ የማይፈልገውን ማጥፋት ይችላል</a:t>
            </a:r>
            <a:endParaRPr lang="en-US" sz="1450" dirty="0"/>
          </a:p>
          <a:p>
            <a:pPr marL="342900" indent="-342900">
              <a:spcAft>
                <a:spcPts val="1000"/>
              </a:spcAft>
              <a:buSzPct val="100000"/>
              <a:buChar char="●"/>
            </a:pPr>
            <a:r>
              <a:rPr lang="en-US" sz="1450" dirty="0">
                <a:solidFill>
                  <a:schemeClr val="tx1"/>
                </a:solidFill>
                <a:latin typeface="Ebrima" pitchFamily="34" charset="0"/>
                <a:ea typeface="Ebrima" pitchFamily="34" charset="-122"/>
                <a:cs typeface="Ebrima" pitchFamily="34" charset="-120"/>
              </a:rPr>
              <a:t>አስፈላጊ መልእክቶች (ማስታወቂያ፣ የአስተዳዳሪ መልእክት፣ የውሰት ቀን) ግን ሁልጊዜ ይደርሳሉ</a:t>
            </a:r>
            <a:endParaRPr lang="en-US" sz="1450" dirty="0"/>
          </a:p>
          <a:p>
            <a:pPr marL="342900" indent="-342900">
              <a:spcAft>
                <a:spcPts val="1000"/>
              </a:spcAft>
              <a:buSzPct val="100000"/>
              <a:buChar char="●"/>
            </a:pPr>
            <a:r>
              <a:rPr lang="en-US" sz="1450" dirty="0">
                <a:solidFill>
                  <a:schemeClr val="tx1"/>
                </a:solidFill>
                <a:latin typeface="Ebrima" pitchFamily="34" charset="0"/>
                <a:ea typeface="Ebrima" pitchFamily="34" charset="-122"/>
                <a:cs typeface="Ebrima" pitchFamily="34" charset="-120"/>
              </a:rPr>
              <a:t>አስተዳዳሪዎች ለአንድ ሰው፣ ለተመረጡ፣ ለቡድን ወይም ለሁሉም ይልካሉ፤ የአደራረስ ሁኔታን ይከታተላሉ</a:t>
            </a:r>
            <a:endParaRPr lang="en-US" sz="1450" dirty="0"/>
          </a:p>
        </p:txBody>
      </p:sp>
      <p:sp>
        <p:nvSpPr>
          <p:cNvPr id="24" name="Shape 18"/>
          <p:cNvSpPr/>
          <p:nvPr/>
        </p:nvSpPr>
        <p:spPr>
          <a:xfrm>
            <a:off x="7498080" y="3383280"/>
            <a:ext cx="4160520" cy="2788920"/>
          </a:xfrm>
          <a:prstGeom prst="roundRect">
            <a:avLst>
              <a:gd name="adj" fmla="val 3934"/>
            </a:avLst>
          </a:prstGeom>
          <a:solidFill>
            <a:schemeClr val="bg2">
              <a:alpha val="60000"/>
            </a:schemeClr>
          </a:solidFill>
          <a:ln/>
        </p:spPr>
      </p:sp>
      <p:sp>
        <p:nvSpPr>
          <p:cNvPr id="25" name="Text 19"/>
          <p:cNvSpPr txBox="1"/>
          <p:nvPr/>
        </p:nvSpPr>
        <p:spPr>
          <a:xfrm>
            <a:off x="7726680" y="3520440"/>
            <a:ext cx="3749040" cy="365760"/>
          </a:xfrm>
          <a:prstGeom prst="rect">
            <a:avLst/>
          </a:prstGeom>
          <a:noFill/>
          <a:ln/>
        </p:spPr>
        <p:txBody>
          <a:bodyPr wrap="square" lIns="0" tIns="0" rIns="0" bIns="0" rtlCol="0" anchor="t"/>
          <a:lstStyle/>
          <a:p>
            <a:pPr indent="0" marL="0">
              <a:buNone/>
            </a:pPr>
            <a:r>
              <a:rPr lang="en-US" sz="1500" b="1" dirty="0">
                <a:solidFill>
                  <a:schemeClr val="accent1"/>
                </a:solidFill>
                <a:latin typeface="Ebrima" pitchFamily="34" charset="0"/>
                <a:ea typeface="Ebrima" pitchFamily="34" charset="-122"/>
                <a:cs typeface="Ebrima" pitchFamily="34" charset="-120"/>
              </a:rPr>
              <a:t>ሌሎች የግንኙነት መንገዶች</a:t>
            </a:r>
            <a:endParaRPr lang="en-US" sz="1500" dirty="0"/>
          </a:p>
        </p:txBody>
      </p:sp>
      <p:sp>
        <p:nvSpPr>
          <p:cNvPr id="26" name="Text 20"/>
          <p:cNvSpPr txBox="1"/>
          <p:nvPr/>
        </p:nvSpPr>
        <p:spPr>
          <a:xfrm>
            <a:off x="7726680" y="3977640"/>
            <a:ext cx="3749040" cy="210312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tx1"/>
                </a:solidFill>
                <a:latin typeface="Ebrima" pitchFamily="34" charset="0"/>
                <a:ea typeface="Ebrima" pitchFamily="34" charset="-122"/>
                <a:cs typeface="Ebrima" pitchFamily="34" charset="-120"/>
              </a:rPr>
              <a:t>በመነሻ ገጽ ላይ የሚታዩ ማስታወቂያዎች (banners)</a:t>
            </a:r>
            <a:endParaRPr lang="en-US" sz="1300" dirty="0"/>
          </a:p>
          <a:p>
            <a:pPr marL="342900" indent="-342900">
              <a:spcAft>
                <a:spcPts val="500"/>
              </a:spcAft>
              <a:buSzPct val="100000"/>
              <a:buChar char="●"/>
            </a:pPr>
            <a:r>
              <a:rPr lang="en-US" sz="1300" dirty="0">
                <a:solidFill>
                  <a:schemeClr val="tx1"/>
                </a:solidFill>
                <a:latin typeface="Ebrima" pitchFamily="34" charset="0"/>
                <a:ea typeface="Ebrima" pitchFamily="34" charset="-122"/>
                <a:cs typeface="Ebrima" pitchFamily="34" charset="-120"/>
              </a:rPr>
              <a:t>ውስጣዊ ገጾች ከምስልና ከተግባር አዝራር ጋር</a:t>
            </a:r>
            <a:endParaRPr lang="en-US" sz="1300" dirty="0"/>
          </a:p>
          <a:p>
            <a:pPr marL="342900" indent="-342900">
              <a:spcAft>
                <a:spcPts val="500"/>
              </a:spcAft>
              <a:buSzPct val="100000"/>
              <a:buChar char="●"/>
            </a:pPr>
            <a:r>
              <a:rPr lang="en-US" sz="1300" dirty="0">
                <a:solidFill>
                  <a:schemeClr val="tx1"/>
                </a:solidFill>
                <a:latin typeface="Ebrima" pitchFamily="34" charset="0"/>
                <a:ea typeface="Ebrima" pitchFamily="34" charset="-122"/>
                <a:cs typeface="Ebrima" pitchFamily="34" charset="-120"/>
              </a:rPr>
              <a:t>የፕሮግራም፣ የውሰትና የግል አስታዋሾች</a:t>
            </a:r>
            <a:endParaRPr lang="en-US" sz="1300" dirty="0"/>
          </a:p>
          <a:p>
            <a:pPr marL="342900" indent="-342900">
              <a:spcAft>
                <a:spcPts val="500"/>
              </a:spcAft>
              <a:buSzPct val="100000"/>
              <a:buChar char="●"/>
            </a:pPr>
            <a:r>
              <a:rPr lang="en-US" sz="1300" dirty="0">
                <a:solidFill>
                  <a:schemeClr val="tx1"/>
                </a:solidFill>
                <a:latin typeface="Ebrima" pitchFamily="34" charset="0"/>
                <a:ea typeface="Ebrima" pitchFamily="34" charset="-122"/>
                <a:cs typeface="Ebrima" pitchFamily="34" charset="-120"/>
              </a:rPr>
              <a:t>ለሌሎች የሚጋሩ የመዝሙርና የፕሮግራም ማገናኛዎች</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Ebrima"/>
                <a:ea typeface="Ebrima"/>
                <a:cs typeface="Ebrima"/>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0241280" cy="777240"/>
          </a:xfrm>
          <a:prstGeom prst="rect">
            <a:avLst/>
          </a:prstGeom>
          <a:noFill/>
          <a:ln/>
        </p:spPr>
        <p:txBody>
          <a:bodyPr wrap="square" lIns="0" tIns="0" rIns="0" bIns="0" rtlCol="0" anchor="ctr"/>
          <a:lstStyle/>
          <a:p>
            <a:pPr algn="l" indent="0" marL="0">
              <a:buNone/>
            </a:pPr>
            <a:r>
              <a:rPr lang="en-US" sz="3400" dirty="0">
                <a:solidFill>
                  <a:schemeClr val="accent1"/>
                </a:solidFill>
                <a:latin typeface="Nyala" pitchFamily="34" charset="0"/>
                <a:ea typeface="Nyala" pitchFamily="34" charset="-122"/>
                <a:cs typeface="Nyala" pitchFamily="34" charset="-120"/>
              </a:rPr>
              <a:t>የአስተዳደር ተዋረድ፣ ሚናዎችና የመዳረሻ ፈቃዶች</a:t>
            </a:r>
            <a:endParaRPr lang="en-US" sz="3400" dirty="0"/>
          </a:p>
        </p:txBody>
      </p:sp>
      <p:sp>
        <p:nvSpPr>
          <p:cNvPr id="3" name="Shape 1"/>
          <p:cNvSpPr/>
          <p:nvPr/>
        </p:nvSpPr>
        <p:spPr>
          <a:xfrm>
            <a:off x="548640" y="1325880"/>
            <a:ext cx="2624328" cy="1143000"/>
          </a:xfrm>
          <a:prstGeom prst="roundRect">
            <a:avLst>
              <a:gd name="adj" fmla="val 9600"/>
            </a:avLst>
          </a:prstGeom>
          <a:solidFill>
            <a:schemeClr val="accent1"/>
          </a:solidFill>
          <a:ln/>
        </p:spPr>
      </p:sp>
      <p:sp>
        <p:nvSpPr>
          <p:cNvPr id="4" name="Text 2"/>
          <p:cNvSpPr txBox="1"/>
          <p:nvPr/>
        </p:nvSpPr>
        <p:spPr>
          <a:xfrm>
            <a:off x="731520" y="1344168"/>
            <a:ext cx="2286000" cy="685800"/>
          </a:xfrm>
          <a:prstGeom prst="rect">
            <a:avLst/>
          </a:prstGeom>
          <a:noFill/>
          <a:ln/>
        </p:spPr>
        <p:txBody>
          <a:bodyPr wrap="square" lIns="0" tIns="0" rIns="0" bIns="0" rtlCol="0" anchor="t"/>
          <a:lstStyle/>
          <a:p>
            <a:pPr indent="0" marL="0">
              <a:buNone/>
            </a:pPr>
            <a:r>
              <a:rPr lang="en-US" sz="3600" b="1" dirty="0">
                <a:solidFill>
                  <a:schemeClr val="accent2"/>
                </a:solidFill>
                <a:latin typeface="Ebrima" pitchFamily="34" charset="0"/>
                <a:ea typeface="Ebrima" pitchFamily="34" charset="-122"/>
                <a:cs typeface="Ebrima" pitchFamily="34" charset="-120"/>
              </a:rPr>
              <a:t>63</a:t>
            </a:r>
            <a:endParaRPr lang="en-US" sz="3600" dirty="0"/>
          </a:p>
        </p:txBody>
      </p:sp>
      <p:sp>
        <p:nvSpPr>
          <p:cNvPr id="5" name="Text 3"/>
          <p:cNvSpPr txBox="1"/>
          <p:nvPr/>
        </p:nvSpPr>
        <p:spPr>
          <a:xfrm>
            <a:off x="731520" y="2011680"/>
            <a:ext cx="2286000" cy="365760"/>
          </a:xfrm>
          <a:prstGeom prst="rect">
            <a:avLst/>
          </a:prstGeom>
          <a:noFill/>
          <a:ln/>
        </p:spPr>
        <p:txBody>
          <a:bodyPr wrap="square" lIns="0" tIns="0" rIns="0" bIns="0" rtlCol="0" anchor="t"/>
          <a:lstStyle/>
          <a:p>
            <a:pPr indent="0" marL="0">
              <a:buNone/>
            </a:pPr>
            <a:r>
              <a:rPr lang="en-US" sz="1400" dirty="0">
                <a:solidFill>
                  <a:schemeClr val="bg1"/>
                </a:solidFill>
                <a:latin typeface="Ebrima" pitchFamily="34" charset="0"/>
                <a:ea typeface="Ebrima" pitchFamily="34" charset="-122"/>
                <a:cs typeface="Ebrima" pitchFamily="34" charset="-120"/>
              </a:rPr>
              <a:t>የመዳረሻ ፈቃዶች</a:t>
            </a:r>
            <a:endParaRPr lang="en-US" sz="1400" dirty="0"/>
          </a:p>
        </p:txBody>
      </p:sp>
      <p:sp>
        <p:nvSpPr>
          <p:cNvPr id="6" name="Shape 4"/>
          <p:cNvSpPr/>
          <p:nvPr/>
        </p:nvSpPr>
        <p:spPr>
          <a:xfrm>
            <a:off x="3355848" y="1325880"/>
            <a:ext cx="2624328" cy="1143000"/>
          </a:xfrm>
          <a:prstGeom prst="roundRect">
            <a:avLst>
              <a:gd name="adj" fmla="val 9600"/>
            </a:avLst>
          </a:prstGeom>
          <a:solidFill>
            <a:schemeClr val="bg2">
              <a:alpha val="65000"/>
            </a:schemeClr>
          </a:solidFill>
          <a:ln/>
        </p:spPr>
      </p:sp>
      <p:sp>
        <p:nvSpPr>
          <p:cNvPr id="7" name="Text 5"/>
          <p:cNvSpPr txBox="1"/>
          <p:nvPr/>
        </p:nvSpPr>
        <p:spPr>
          <a:xfrm>
            <a:off x="3538728" y="1344168"/>
            <a:ext cx="2286000" cy="685800"/>
          </a:xfrm>
          <a:prstGeom prst="rect">
            <a:avLst/>
          </a:prstGeom>
          <a:noFill/>
          <a:ln/>
        </p:spPr>
        <p:txBody>
          <a:bodyPr wrap="square" lIns="0" tIns="0" rIns="0" bIns="0" rtlCol="0" anchor="t"/>
          <a:lstStyle/>
          <a:p>
            <a:pPr indent="0" marL="0">
              <a:buNone/>
            </a:pPr>
            <a:r>
              <a:rPr lang="en-US" sz="3600" b="1" dirty="0">
                <a:solidFill>
                  <a:schemeClr val="accent1"/>
                </a:solidFill>
                <a:latin typeface="Ebrima" pitchFamily="34" charset="0"/>
                <a:ea typeface="Ebrima" pitchFamily="34" charset="-122"/>
                <a:cs typeface="Ebrima" pitchFamily="34" charset="-120"/>
              </a:rPr>
              <a:t>14</a:t>
            </a:r>
            <a:endParaRPr lang="en-US" sz="3600" dirty="0"/>
          </a:p>
        </p:txBody>
      </p:sp>
      <p:sp>
        <p:nvSpPr>
          <p:cNvPr id="8" name="Text 6"/>
          <p:cNvSpPr txBox="1"/>
          <p:nvPr/>
        </p:nvSpPr>
        <p:spPr>
          <a:xfrm>
            <a:off x="3538728" y="2011680"/>
            <a:ext cx="2286000" cy="365760"/>
          </a:xfrm>
          <a:prstGeom prst="rect">
            <a:avLst/>
          </a:prstGeom>
          <a:noFill/>
          <a:ln/>
        </p:spPr>
        <p:txBody>
          <a:bodyPr wrap="square" lIns="0" tIns="0" rIns="0" bIns="0" rtlCol="0" anchor="t"/>
          <a:lstStyle/>
          <a:p>
            <a:pPr indent="0" marL="0">
              <a:buNone/>
            </a:pPr>
            <a:r>
              <a:rPr lang="en-US" sz="1400" dirty="0">
                <a:solidFill>
                  <a:schemeClr val="tx1"/>
                </a:solidFill>
                <a:latin typeface="Ebrima" pitchFamily="34" charset="0"/>
                <a:ea typeface="Ebrima" pitchFamily="34" charset="-122"/>
                <a:cs typeface="Ebrima" pitchFamily="34" charset="-120"/>
              </a:rPr>
              <a:t>ሚናዎች</a:t>
            </a:r>
            <a:endParaRPr lang="en-US" sz="1400" dirty="0"/>
          </a:p>
        </p:txBody>
      </p:sp>
      <p:sp>
        <p:nvSpPr>
          <p:cNvPr id="9" name="Shape 7"/>
          <p:cNvSpPr/>
          <p:nvPr/>
        </p:nvSpPr>
        <p:spPr>
          <a:xfrm>
            <a:off x="6163056" y="1325880"/>
            <a:ext cx="2624328" cy="1143000"/>
          </a:xfrm>
          <a:prstGeom prst="roundRect">
            <a:avLst>
              <a:gd name="adj" fmla="val 9600"/>
            </a:avLst>
          </a:prstGeom>
          <a:solidFill>
            <a:schemeClr val="accent1"/>
          </a:solidFill>
          <a:ln/>
        </p:spPr>
      </p:sp>
      <p:sp>
        <p:nvSpPr>
          <p:cNvPr id="10" name="Text 8"/>
          <p:cNvSpPr txBox="1"/>
          <p:nvPr/>
        </p:nvSpPr>
        <p:spPr>
          <a:xfrm>
            <a:off x="6345936" y="1344168"/>
            <a:ext cx="2286000" cy="685800"/>
          </a:xfrm>
          <a:prstGeom prst="rect">
            <a:avLst/>
          </a:prstGeom>
          <a:noFill/>
          <a:ln/>
        </p:spPr>
        <p:txBody>
          <a:bodyPr wrap="square" lIns="0" tIns="0" rIns="0" bIns="0" rtlCol="0" anchor="t"/>
          <a:lstStyle/>
          <a:p>
            <a:pPr indent="0" marL="0">
              <a:buNone/>
            </a:pPr>
            <a:r>
              <a:rPr lang="en-US" sz="3600" b="1" dirty="0">
                <a:solidFill>
                  <a:schemeClr val="accent2"/>
                </a:solidFill>
                <a:latin typeface="Ebrima" pitchFamily="34" charset="0"/>
                <a:ea typeface="Ebrima" pitchFamily="34" charset="-122"/>
                <a:cs typeface="Ebrima" pitchFamily="34" charset="-120"/>
              </a:rPr>
              <a:t>7</a:t>
            </a:r>
            <a:endParaRPr lang="en-US" sz="3600" dirty="0"/>
          </a:p>
        </p:txBody>
      </p:sp>
      <p:sp>
        <p:nvSpPr>
          <p:cNvPr id="11" name="Text 9"/>
          <p:cNvSpPr txBox="1"/>
          <p:nvPr/>
        </p:nvSpPr>
        <p:spPr>
          <a:xfrm>
            <a:off x="6345936" y="2011680"/>
            <a:ext cx="2286000" cy="365760"/>
          </a:xfrm>
          <a:prstGeom prst="rect">
            <a:avLst/>
          </a:prstGeom>
          <a:noFill/>
          <a:ln/>
        </p:spPr>
        <p:txBody>
          <a:bodyPr wrap="square" lIns="0" tIns="0" rIns="0" bIns="0" rtlCol="0" anchor="t"/>
          <a:lstStyle/>
          <a:p>
            <a:pPr indent="0" marL="0">
              <a:buNone/>
            </a:pPr>
            <a:r>
              <a:rPr lang="en-US" sz="1400" dirty="0">
                <a:solidFill>
                  <a:schemeClr val="bg1"/>
                </a:solidFill>
                <a:latin typeface="Ebrima" pitchFamily="34" charset="0"/>
                <a:ea typeface="Ebrima" pitchFamily="34" charset="-122"/>
                <a:cs typeface="Ebrima" pitchFamily="34" charset="-120"/>
              </a:rPr>
              <a:t>የሥራ ክፍሎች</a:t>
            </a:r>
            <a:endParaRPr lang="en-US" sz="1400" dirty="0"/>
          </a:p>
        </p:txBody>
      </p:sp>
      <p:sp>
        <p:nvSpPr>
          <p:cNvPr id="12" name="Shape 10"/>
          <p:cNvSpPr/>
          <p:nvPr/>
        </p:nvSpPr>
        <p:spPr>
          <a:xfrm>
            <a:off x="8970264" y="1325880"/>
            <a:ext cx="2624328" cy="1143000"/>
          </a:xfrm>
          <a:prstGeom prst="roundRect">
            <a:avLst>
              <a:gd name="adj" fmla="val 9600"/>
            </a:avLst>
          </a:prstGeom>
          <a:solidFill>
            <a:schemeClr val="bg2">
              <a:alpha val="65000"/>
            </a:schemeClr>
          </a:solidFill>
          <a:ln/>
        </p:spPr>
      </p:sp>
      <p:sp>
        <p:nvSpPr>
          <p:cNvPr id="13" name="Text 11"/>
          <p:cNvSpPr txBox="1"/>
          <p:nvPr/>
        </p:nvSpPr>
        <p:spPr>
          <a:xfrm>
            <a:off x="9153144" y="1344168"/>
            <a:ext cx="2286000" cy="685800"/>
          </a:xfrm>
          <a:prstGeom prst="rect">
            <a:avLst/>
          </a:prstGeom>
          <a:noFill/>
          <a:ln/>
        </p:spPr>
        <p:txBody>
          <a:bodyPr wrap="square" lIns="0" tIns="0" rIns="0" bIns="0" rtlCol="0" anchor="t"/>
          <a:lstStyle/>
          <a:p>
            <a:pPr indent="0" marL="0">
              <a:buNone/>
            </a:pPr>
            <a:r>
              <a:rPr lang="en-US" sz="3600" b="1" dirty="0">
                <a:solidFill>
                  <a:schemeClr val="accent1"/>
                </a:solidFill>
                <a:latin typeface="Ebrima" pitchFamily="34" charset="0"/>
                <a:ea typeface="Ebrima" pitchFamily="34" charset="-122"/>
                <a:cs typeface="Ebrima" pitchFamily="34" charset="-120"/>
              </a:rPr>
              <a:t>10</a:t>
            </a:r>
            <a:endParaRPr lang="en-US" sz="3600" dirty="0"/>
          </a:p>
        </p:txBody>
      </p:sp>
      <p:sp>
        <p:nvSpPr>
          <p:cNvPr id="14" name="Text 12"/>
          <p:cNvSpPr txBox="1"/>
          <p:nvPr/>
        </p:nvSpPr>
        <p:spPr>
          <a:xfrm>
            <a:off x="9153144" y="2011680"/>
            <a:ext cx="2286000" cy="365760"/>
          </a:xfrm>
          <a:prstGeom prst="rect">
            <a:avLst/>
          </a:prstGeom>
          <a:noFill/>
          <a:ln/>
        </p:spPr>
        <p:txBody>
          <a:bodyPr wrap="square" lIns="0" tIns="0" rIns="0" bIns="0" rtlCol="0" anchor="t"/>
          <a:lstStyle/>
          <a:p>
            <a:pPr indent="0" marL="0">
              <a:buNone/>
            </a:pPr>
            <a:r>
              <a:rPr lang="en-US" sz="1400" dirty="0">
                <a:solidFill>
                  <a:schemeClr val="tx1"/>
                </a:solidFill>
                <a:latin typeface="Ebrima" pitchFamily="34" charset="0"/>
                <a:ea typeface="Ebrima" pitchFamily="34" charset="-122"/>
                <a:cs typeface="Ebrima" pitchFamily="34" charset="-120"/>
              </a:rPr>
              <a:t>የአስተዳደር ቡድኖች</a:t>
            </a:r>
            <a:endParaRPr lang="en-US" sz="1400" dirty="0"/>
          </a:p>
        </p:txBody>
      </p:sp>
      <p:sp>
        <p:nvSpPr>
          <p:cNvPr id="15" name="Text 13"/>
          <p:cNvSpPr txBox="1"/>
          <p:nvPr/>
        </p:nvSpPr>
        <p:spPr>
          <a:xfrm>
            <a:off x="548640" y="2697480"/>
            <a:ext cx="4572000" cy="365760"/>
          </a:xfrm>
          <a:prstGeom prst="rect">
            <a:avLst/>
          </a:prstGeom>
          <a:noFill/>
          <a:ln/>
        </p:spPr>
        <p:txBody>
          <a:bodyPr wrap="square" lIns="0" tIns="0" rIns="0" bIns="0" rtlCol="0" anchor="t"/>
          <a:lstStyle/>
          <a:p>
            <a:pPr indent="0" marL="0">
              <a:buNone/>
            </a:pPr>
            <a:r>
              <a:rPr lang="en-US" sz="1600" b="1" dirty="0">
                <a:solidFill>
                  <a:schemeClr val="accent1"/>
                </a:solidFill>
                <a:latin typeface="Ebrima" pitchFamily="34" charset="0"/>
                <a:ea typeface="Ebrima" pitchFamily="34" charset="-122"/>
                <a:cs typeface="Ebrima" pitchFamily="34" charset="-120"/>
              </a:rPr>
              <a:t>የሚና ደረጃዎች</a:t>
            </a:r>
            <a:endParaRPr lang="en-US" sz="1600" dirty="0"/>
          </a:p>
        </p:txBody>
      </p:sp>
      <p:sp>
        <p:nvSpPr>
          <p:cNvPr id="16" name="Shape 14"/>
          <p:cNvSpPr/>
          <p:nvPr/>
        </p:nvSpPr>
        <p:spPr>
          <a:xfrm>
            <a:off x="548640" y="3108960"/>
            <a:ext cx="6766560" cy="530352"/>
          </a:xfrm>
          <a:prstGeom prst="roundRect">
            <a:avLst>
              <a:gd name="adj" fmla="val 13793"/>
            </a:avLst>
          </a:prstGeom>
          <a:solidFill>
            <a:schemeClr val="accent6"/>
          </a:solidFill>
          <a:ln/>
        </p:spPr>
      </p:sp>
      <p:sp>
        <p:nvSpPr>
          <p:cNvPr id="17" name="Text 15"/>
          <p:cNvSpPr txBox="1"/>
          <p:nvPr/>
        </p:nvSpPr>
        <p:spPr>
          <a:xfrm>
            <a:off x="731520" y="3108960"/>
            <a:ext cx="5486400" cy="530352"/>
          </a:xfrm>
          <a:prstGeom prst="rect">
            <a:avLst/>
          </a:prstGeom>
          <a:noFill/>
          <a:ln/>
        </p:spPr>
        <p:txBody>
          <a:bodyPr wrap="square" lIns="0" tIns="0" rIns="0" bIns="0" rtlCol="0" anchor="ctr"/>
          <a:lstStyle/>
          <a:p>
            <a:pPr indent="0" marL="0">
              <a:buNone/>
            </a:pPr>
            <a:r>
              <a:rPr lang="en-US" sz="1300" b="1" dirty="0">
                <a:solidFill>
                  <a:schemeClr val="bg1"/>
                </a:solidFill>
                <a:latin typeface="Ebrima" pitchFamily="34" charset="0"/>
                <a:ea typeface="Ebrima" pitchFamily="34" charset="-122"/>
                <a:cs typeface="Ebrima" pitchFamily="34" charset="-120"/>
              </a:rPr>
              <a:t>ከፍተኛ አስተዳዳሪ</a:t>
            </a:r>
            <a:endParaRPr lang="en-US" sz="1300" dirty="0"/>
          </a:p>
        </p:txBody>
      </p:sp>
      <p:sp>
        <p:nvSpPr>
          <p:cNvPr id="18" name="Text 16"/>
          <p:cNvSpPr txBox="1"/>
          <p:nvPr/>
        </p:nvSpPr>
        <p:spPr>
          <a:xfrm>
            <a:off x="6217920" y="3108960"/>
            <a:ext cx="960120" cy="530352"/>
          </a:xfrm>
          <a:prstGeom prst="rect">
            <a:avLst/>
          </a:prstGeom>
          <a:noFill/>
          <a:ln/>
        </p:spPr>
        <p:txBody>
          <a:bodyPr wrap="square" lIns="0" tIns="0" rIns="0" bIns="0" rtlCol="0" anchor="ctr"/>
          <a:lstStyle/>
          <a:p>
            <a:pPr algn="r" indent="0" marL="0">
              <a:buNone/>
            </a:pPr>
            <a:r>
              <a:rPr lang="en-US" sz="1200" b="1" dirty="0">
                <a:solidFill>
                  <a:schemeClr val="bg1"/>
                </a:solidFill>
                <a:latin typeface="Ebrima" pitchFamily="34" charset="0"/>
                <a:ea typeface="Ebrima" pitchFamily="34" charset="-122"/>
                <a:cs typeface="Ebrima" pitchFamily="34" charset="-120"/>
              </a:rPr>
              <a:t>ደረጃ 50</a:t>
            </a:r>
            <a:endParaRPr lang="en-US" sz="1200" dirty="0"/>
          </a:p>
        </p:txBody>
      </p:sp>
      <p:sp>
        <p:nvSpPr>
          <p:cNvPr id="19" name="Shape 17"/>
          <p:cNvSpPr/>
          <p:nvPr/>
        </p:nvSpPr>
        <p:spPr>
          <a:xfrm>
            <a:off x="731520" y="3730752"/>
            <a:ext cx="6400800" cy="530352"/>
          </a:xfrm>
          <a:prstGeom prst="roundRect">
            <a:avLst>
              <a:gd name="adj" fmla="val 13793"/>
            </a:avLst>
          </a:prstGeom>
          <a:solidFill>
            <a:schemeClr val="accent1"/>
          </a:solidFill>
          <a:ln/>
        </p:spPr>
      </p:sp>
      <p:sp>
        <p:nvSpPr>
          <p:cNvPr id="20" name="Text 18"/>
          <p:cNvSpPr txBox="1"/>
          <p:nvPr/>
        </p:nvSpPr>
        <p:spPr>
          <a:xfrm>
            <a:off x="914400" y="3730752"/>
            <a:ext cx="5120640" cy="530352"/>
          </a:xfrm>
          <a:prstGeom prst="rect">
            <a:avLst/>
          </a:prstGeom>
          <a:noFill/>
          <a:ln/>
        </p:spPr>
        <p:txBody>
          <a:bodyPr wrap="square" lIns="0" tIns="0" rIns="0" bIns="0" rtlCol="0" anchor="ctr"/>
          <a:lstStyle/>
          <a:p>
            <a:pPr indent="0" marL="0">
              <a:buNone/>
            </a:pPr>
            <a:r>
              <a:rPr lang="en-US" sz="1300" dirty="0">
                <a:solidFill>
                  <a:schemeClr val="bg1"/>
                </a:solidFill>
                <a:latin typeface="Ebrima" pitchFamily="34" charset="0"/>
                <a:ea typeface="Ebrima" pitchFamily="34" charset="-122"/>
                <a:cs typeface="Ebrima" pitchFamily="34" charset="-120"/>
              </a:rPr>
              <a:t>የዘርፍ ኃላፊዎች (መዝሙር፣ ሰው ሀብት፣ ክፍያ፣ ትምህርት)</a:t>
            </a:r>
            <a:endParaRPr lang="en-US" sz="1300" dirty="0"/>
          </a:p>
        </p:txBody>
      </p:sp>
      <p:sp>
        <p:nvSpPr>
          <p:cNvPr id="21" name="Text 19"/>
          <p:cNvSpPr txBox="1"/>
          <p:nvPr/>
        </p:nvSpPr>
        <p:spPr>
          <a:xfrm>
            <a:off x="6035040" y="3730752"/>
            <a:ext cx="960120" cy="530352"/>
          </a:xfrm>
          <a:prstGeom prst="rect">
            <a:avLst/>
          </a:prstGeom>
          <a:noFill/>
          <a:ln/>
        </p:spPr>
        <p:txBody>
          <a:bodyPr wrap="square" lIns="0" tIns="0" rIns="0" bIns="0" rtlCol="0" anchor="ctr"/>
          <a:lstStyle/>
          <a:p>
            <a:pPr algn="r" indent="0" marL="0">
              <a:buNone/>
            </a:pPr>
            <a:r>
              <a:rPr lang="en-US" sz="1200" b="1" dirty="0">
                <a:solidFill>
                  <a:schemeClr val="bg1"/>
                </a:solidFill>
                <a:latin typeface="Ebrima" pitchFamily="34" charset="0"/>
                <a:ea typeface="Ebrima" pitchFamily="34" charset="-122"/>
                <a:cs typeface="Ebrima" pitchFamily="34" charset="-120"/>
              </a:rPr>
              <a:t>ደረጃ 20</a:t>
            </a:r>
            <a:endParaRPr lang="en-US" sz="1200" dirty="0"/>
          </a:p>
        </p:txBody>
      </p:sp>
      <p:sp>
        <p:nvSpPr>
          <p:cNvPr id="22" name="Shape 20"/>
          <p:cNvSpPr/>
          <p:nvPr/>
        </p:nvSpPr>
        <p:spPr>
          <a:xfrm>
            <a:off x="914400" y="4352544"/>
            <a:ext cx="6035040" cy="530352"/>
          </a:xfrm>
          <a:prstGeom prst="roundRect">
            <a:avLst>
              <a:gd name="adj" fmla="val 13793"/>
            </a:avLst>
          </a:prstGeom>
          <a:solidFill>
            <a:schemeClr val="accent2"/>
          </a:solidFill>
          <a:ln/>
        </p:spPr>
      </p:sp>
      <p:sp>
        <p:nvSpPr>
          <p:cNvPr id="23" name="Text 21"/>
          <p:cNvSpPr txBox="1"/>
          <p:nvPr/>
        </p:nvSpPr>
        <p:spPr>
          <a:xfrm>
            <a:off x="1097280" y="4352544"/>
            <a:ext cx="4754880" cy="530352"/>
          </a:xfrm>
          <a:prstGeom prst="rect">
            <a:avLst/>
          </a:prstGeom>
          <a:noFill/>
          <a:ln/>
        </p:spPr>
        <p:txBody>
          <a:bodyPr wrap="square" lIns="0" tIns="0" rIns="0" bIns="0" rtlCol="0" anchor="ctr"/>
          <a:lstStyle/>
          <a:p>
            <a:pPr indent="0" marL="0">
              <a:buNone/>
            </a:pPr>
            <a:r>
              <a:rPr lang="en-US" sz="1300" dirty="0">
                <a:solidFill>
                  <a:schemeClr val="bg1"/>
                </a:solidFill>
                <a:latin typeface="Ebrima" pitchFamily="34" charset="0"/>
                <a:ea typeface="Ebrima" pitchFamily="34" charset="-122"/>
                <a:cs typeface="Ebrima" pitchFamily="34" charset="-120"/>
              </a:rPr>
              <a:t>የሥራ ክፍል አስተዳዳሪዎች (7) እና የትምህርት ተመዝጋቢ</a:t>
            </a:r>
            <a:endParaRPr lang="en-US" sz="1300" dirty="0"/>
          </a:p>
        </p:txBody>
      </p:sp>
      <p:sp>
        <p:nvSpPr>
          <p:cNvPr id="24" name="Text 22"/>
          <p:cNvSpPr txBox="1"/>
          <p:nvPr/>
        </p:nvSpPr>
        <p:spPr>
          <a:xfrm>
            <a:off x="5852160" y="4352544"/>
            <a:ext cx="960120" cy="530352"/>
          </a:xfrm>
          <a:prstGeom prst="rect">
            <a:avLst/>
          </a:prstGeom>
          <a:noFill/>
          <a:ln/>
        </p:spPr>
        <p:txBody>
          <a:bodyPr wrap="square" lIns="0" tIns="0" rIns="0" bIns="0" rtlCol="0" anchor="ctr"/>
          <a:lstStyle/>
          <a:p>
            <a:pPr algn="r" indent="0" marL="0">
              <a:buNone/>
            </a:pPr>
            <a:r>
              <a:rPr lang="en-US" sz="1200" b="1" dirty="0">
                <a:solidFill>
                  <a:schemeClr val="bg1"/>
                </a:solidFill>
                <a:latin typeface="Ebrima" pitchFamily="34" charset="0"/>
                <a:ea typeface="Ebrima" pitchFamily="34" charset="-122"/>
                <a:cs typeface="Ebrima" pitchFamily="34" charset="-120"/>
              </a:rPr>
              <a:t>ደረጃ 15</a:t>
            </a:r>
            <a:endParaRPr lang="en-US" sz="1200" dirty="0"/>
          </a:p>
        </p:txBody>
      </p:sp>
      <p:sp>
        <p:nvSpPr>
          <p:cNvPr id="25" name="Shape 23"/>
          <p:cNvSpPr/>
          <p:nvPr/>
        </p:nvSpPr>
        <p:spPr>
          <a:xfrm>
            <a:off x="1097280" y="4974336"/>
            <a:ext cx="5669280" cy="530352"/>
          </a:xfrm>
          <a:prstGeom prst="roundRect">
            <a:avLst>
              <a:gd name="adj" fmla="val 13793"/>
            </a:avLst>
          </a:prstGeom>
          <a:solidFill>
            <a:schemeClr val="accent5"/>
          </a:solidFill>
          <a:ln/>
        </p:spPr>
      </p:sp>
      <p:sp>
        <p:nvSpPr>
          <p:cNvPr id="26" name="Text 24"/>
          <p:cNvSpPr txBox="1"/>
          <p:nvPr/>
        </p:nvSpPr>
        <p:spPr>
          <a:xfrm>
            <a:off x="1280160" y="4974336"/>
            <a:ext cx="4389120" cy="530352"/>
          </a:xfrm>
          <a:prstGeom prst="rect">
            <a:avLst/>
          </a:prstGeom>
          <a:noFill/>
          <a:ln/>
        </p:spPr>
        <p:txBody>
          <a:bodyPr wrap="square" lIns="0" tIns="0" rIns="0" bIns="0" rtlCol="0" anchor="ctr"/>
          <a:lstStyle/>
          <a:p>
            <a:pPr indent="0" marL="0">
              <a:buNone/>
            </a:pPr>
            <a:r>
              <a:rPr lang="en-US" sz="1300" dirty="0">
                <a:solidFill>
                  <a:schemeClr val="bg1"/>
                </a:solidFill>
                <a:latin typeface="Ebrima" pitchFamily="34" charset="0"/>
                <a:ea typeface="Ebrima" pitchFamily="34" charset="-122"/>
                <a:cs typeface="Ebrima" pitchFamily="34" charset="-120"/>
              </a:rPr>
              <a:t>አስተዳዳሪ</a:t>
            </a:r>
            <a:endParaRPr lang="en-US" sz="1300" dirty="0"/>
          </a:p>
        </p:txBody>
      </p:sp>
      <p:sp>
        <p:nvSpPr>
          <p:cNvPr id="27" name="Text 25"/>
          <p:cNvSpPr txBox="1"/>
          <p:nvPr/>
        </p:nvSpPr>
        <p:spPr>
          <a:xfrm>
            <a:off x="5669280" y="4974336"/>
            <a:ext cx="960120" cy="530352"/>
          </a:xfrm>
          <a:prstGeom prst="rect">
            <a:avLst/>
          </a:prstGeom>
          <a:noFill/>
          <a:ln/>
        </p:spPr>
        <p:txBody>
          <a:bodyPr wrap="square" lIns="0" tIns="0" rIns="0" bIns="0" rtlCol="0" anchor="ctr"/>
          <a:lstStyle/>
          <a:p>
            <a:pPr algn="r" indent="0" marL="0">
              <a:buNone/>
            </a:pPr>
            <a:r>
              <a:rPr lang="en-US" sz="1200" b="1" dirty="0">
                <a:solidFill>
                  <a:schemeClr val="bg1"/>
                </a:solidFill>
                <a:latin typeface="Ebrima" pitchFamily="34" charset="0"/>
                <a:ea typeface="Ebrima" pitchFamily="34" charset="-122"/>
                <a:cs typeface="Ebrima" pitchFamily="34" charset="-120"/>
              </a:rPr>
              <a:t>ደረጃ 10</a:t>
            </a:r>
            <a:endParaRPr lang="en-US" sz="1200" dirty="0"/>
          </a:p>
        </p:txBody>
      </p:sp>
      <p:sp>
        <p:nvSpPr>
          <p:cNvPr id="28" name="Shape 26"/>
          <p:cNvSpPr/>
          <p:nvPr/>
        </p:nvSpPr>
        <p:spPr>
          <a:xfrm>
            <a:off x="1280160" y="5596128"/>
            <a:ext cx="5303520" cy="530352"/>
          </a:xfrm>
          <a:prstGeom prst="roundRect">
            <a:avLst>
              <a:gd name="adj" fmla="val 13793"/>
            </a:avLst>
          </a:prstGeom>
          <a:solidFill>
            <a:schemeClr val="bg2">
              <a:alpha val="80000"/>
            </a:schemeClr>
          </a:solidFill>
          <a:ln/>
        </p:spPr>
      </p:sp>
      <p:sp>
        <p:nvSpPr>
          <p:cNvPr id="29" name="Text 27"/>
          <p:cNvSpPr txBox="1"/>
          <p:nvPr/>
        </p:nvSpPr>
        <p:spPr>
          <a:xfrm>
            <a:off x="1463040" y="5596128"/>
            <a:ext cx="4937760" cy="530352"/>
          </a:xfrm>
          <a:prstGeom prst="rect">
            <a:avLst/>
          </a:prstGeom>
          <a:noFill/>
          <a:ln/>
        </p:spPr>
        <p:txBody>
          <a:bodyPr wrap="square" lIns="0" tIns="0" rIns="0" bIns="0" rtlCol="0" anchor="ctr"/>
          <a:lstStyle/>
          <a:p>
            <a:pPr indent="0" marL="0">
              <a:buNone/>
            </a:pPr>
            <a:r>
              <a:rPr lang="en-US" sz="1300" dirty="0">
                <a:solidFill>
                  <a:schemeClr val="tx1"/>
                </a:solidFill>
                <a:latin typeface="Ebrima" pitchFamily="34" charset="0"/>
                <a:ea typeface="Ebrima" pitchFamily="34" charset="-122"/>
                <a:cs typeface="Ebrima" pitchFamily="34" charset="-120"/>
              </a:rPr>
              <a:t>አባላት — መምህራን፣ መዝጋቢዎችና ሌሎች በቀጥታ ፈቃድ</a:t>
            </a:r>
            <a:endParaRPr lang="en-US" sz="1300" dirty="0"/>
          </a:p>
        </p:txBody>
      </p:sp>
      <p:sp>
        <p:nvSpPr>
          <p:cNvPr id="30" name="Shape 28"/>
          <p:cNvSpPr/>
          <p:nvPr/>
        </p:nvSpPr>
        <p:spPr>
          <a:xfrm>
            <a:off x="7589520" y="2880360"/>
            <a:ext cx="4069080" cy="3291840"/>
          </a:xfrm>
          <a:prstGeom prst="roundRect">
            <a:avLst>
              <a:gd name="adj" fmla="val 3333"/>
            </a:avLst>
          </a:prstGeom>
          <a:solidFill>
            <a:schemeClr val="bg2">
              <a:alpha val="60000"/>
            </a:schemeClr>
          </a:solidFill>
          <a:ln/>
        </p:spPr>
      </p:sp>
      <p:sp>
        <p:nvSpPr>
          <p:cNvPr id="31" name="Text 29"/>
          <p:cNvSpPr txBox="1"/>
          <p:nvPr/>
        </p:nvSpPr>
        <p:spPr>
          <a:xfrm>
            <a:off x="7818120" y="3017520"/>
            <a:ext cx="3657600" cy="365760"/>
          </a:xfrm>
          <a:prstGeom prst="rect">
            <a:avLst/>
          </a:prstGeom>
          <a:noFill/>
          <a:ln/>
        </p:spPr>
        <p:txBody>
          <a:bodyPr wrap="square" lIns="0" tIns="0" rIns="0" bIns="0" rtlCol="0" anchor="t"/>
          <a:lstStyle/>
          <a:p>
            <a:pPr indent="0" marL="0">
              <a:buNone/>
            </a:pPr>
            <a:r>
              <a:rPr lang="en-US" sz="1500" b="1" dirty="0">
                <a:solidFill>
                  <a:schemeClr val="accent1"/>
                </a:solidFill>
                <a:latin typeface="Ebrima" pitchFamily="34" charset="0"/>
                <a:ea typeface="Ebrima" pitchFamily="34" charset="-122"/>
                <a:cs typeface="Ebrima" pitchFamily="34" charset="-120"/>
              </a:rPr>
              <a:t>መርሖዎች</a:t>
            </a:r>
            <a:endParaRPr lang="en-US" sz="1500" dirty="0"/>
          </a:p>
        </p:txBody>
      </p:sp>
      <p:sp>
        <p:nvSpPr>
          <p:cNvPr id="32" name="Text 30"/>
          <p:cNvSpPr txBox="1"/>
          <p:nvPr/>
        </p:nvSpPr>
        <p:spPr>
          <a:xfrm>
            <a:off x="7818120" y="3474720"/>
            <a:ext cx="3703320" cy="26517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latin typeface="Ebrima" pitchFamily="34" charset="0"/>
                <a:ea typeface="Ebrima" pitchFamily="34" charset="-122"/>
                <a:cs typeface="Ebrima" pitchFamily="34" charset="-120"/>
              </a:rPr>
              <a:t>ፈቃድ = የሚና ፈቃዶች + የሥራ ክፍል ሚና + ቀጥተኛ ፈቃድ − የተሻሩ</a:t>
            </a:r>
            <a:endParaRPr lang="en-US" sz="1300" dirty="0"/>
          </a:p>
          <a:p>
            <a:pPr marL="342900" indent="-342900">
              <a:spcAft>
                <a:spcPts val="600"/>
              </a:spcAft>
              <a:buSzPct val="100000"/>
              <a:buChar char="●"/>
            </a:pPr>
            <a:r>
              <a:rPr lang="en-US" sz="1300" dirty="0">
                <a:solidFill>
                  <a:schemeClr val="tx1"/>
                </a:solidFill>
                <a:latin typeface="Ebrima" pitchFamily="34" charset="0"/>
                <a:ea typeface="Ebrima" pitchFamily="34" charset="-122"/>
                <a:cs typeface="Ebrima" pitchFamily="34" charset="-120"/>
              </a:rPr>
              <a:t>ያልተፈቀደ ገጽ አይታይም፤ አገልጋዩም ራሱን ችሎ ይከለክላል</a:t>
            </a:r>
            <a:endParaRPr lang="en-US" sz="1300" dirty="0"/>
          </a:p>
          <a:p>
            <a:pPr marL="342900" indent="-342900">
              <a:spcAft>
                <a:spcPts val="600"/>
              </a:spcAft>
              <a:buSzPct val="100000"/>
              <a:buChar char="●"/>
            </a:pPr>
            <a:r>
              <a:rPr lang="en-US" sz="1300" dirty="0">
                <a:solidFill>
                  <a:schemeClr val="tx1"/>
                </a:solidFill>
                <a:latin typeface="Ebrima" pitchFamily="34" charset="0"/>
                <a:ea typeface="Ebrima" pitchFamily="34" charset="-122"/>
                <a:cs typeface="Ebrima" pitchFamily="34" charset="-120"/>
              </a:rPr>
              <a:t>የመገኘት ቁጥጥር በሰው ሀብት ክፍል እጅ ነው</a:t>
            </a:r>
            <a:endParaRPr lang="en-US" sz="1300" dirty="0"/>
          </a:p>
          <a:p>
            <a:pPr marL="342900" indent="-342900">
              <a:spcAft>
                <a:spcPts val="600"/>
              </a:spcAft>
              <a:buSzPct val="100000"/>
              <a:buChar char="●"/>
            </a:pPr>
            <a:r>
              <a:rPr lang="en-US" sz="1300" dirty="0">
                <a:solidFill>
                  <a:schemeClr val="tx1"/>
                </a:solidFill>
                <a:latin typeface="Ebrima" pitchFamily="34" charset="0"/>
                <a:ea typeface="Ebrima" pitchFamily="34" charset="-122"/>
                <a:cs typeface="Ebrima" pitchFamily="34" charset="-120"/>
              </a:rPr>
              <a:t>ገንዘብ የሚያጸድቀው ሒሳብ እና ንብረት ክፍል ነው</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Ebrima"/>
                <a:ea typeface="Ebrima"/>
                <a:cs typeface="Ebrima"/>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0241280" cy="777240"/>
          </a:xfrm>
          <a:prstGeom prst="rect">
            <a:avLst/>
          </a:prstGeom>
          <a:noFill/>
          <a:ln/>
        </p:spPr>
        <p:txBody>
          <a:bodyPr wrap="square" lIns="0" tIns="0" rIns="0" bIns="0" rtlCol="0" anchor="ctr"/>
          <a:lstStyle/>
          <a:p>
            <a:pPr algn="l" indent="0" marL="0">
              <a:buNone/>
            </a:pPr>
            <a:r>
              <a:rPr lang="en-US" sz="3400" dirty="0">
                <a:solidFill>
                  <a:schemeClr val="accent1"/>
                </a:solidFill>
                <a:latin typeface="Nyala" pitchFamily="34" charset="0"/>
                <a:ea typeface="Nyala" pitchFamily="34" charset="-122"/>
                <a:cs typeface="Nyala" pitchFamily="34" charset="-120"/>
              </a:rPr>
              <a:t>ሪፖርቶች፣ የኦዲት መዝገብና ተጠያቂነት</a:t>
            </a:r>
            <a:endParaRPr lang="en-US" sz="3400" dirty="0"/>
          </a:p>
        </p:txBody>
      </p:sp>
      <p:sp>
        <p:nvSpPr>
          <p:cNvPr id="3" name="Text 1"/>
          <p:cNvSpPr txBox="1"/>
          <p:nvPr/>
        </p:nvSpPr>
        <p:spPr>
          <a:xfrm>
            <a:off x="548640" y="1325880"/>
            <a:ext cx="6400800" cy="411480"/>
          </a:xfrm>
          <a:prstGeom prst="rect">
            <a:avLst/>
          </a:prstGeom>
          <a:noFill/>
          <a:ln/>
        </p:spPr>
        <p:txBody>
          <a:bodyPr wrap="square" lIns="0" tIns="0" rIns="0" bIns="0" rtlCol="0" anchor="t"/>
          <a:lstStyle/>
          <a:p>
            <a:pPr indent="0" marL="0">
              <a:buNone/>
            </a:pPr>
            <a:r>
              <a:rPr lang="en-US" sz="1700" b="1" dirty="0">
                <a:solidFill>
                  <a:schemeClr val="accent1"/>
                </a:solidFill>
                <a:latin typeface="Ebrima" pitchFamily="34" charset="0"/>
                <a:ea typeface="Ebrima" pitchFamily="34" charset="-122"/>
                <a:cs typeface="Ebrima" pitchFamily="34" charset="-120"/>
              </a:rPr>
              <a:t>15 የሪፖርት ዓይነቶች</a:t>
            </a:r>
            <a:endParaRPr lang="en-US" sz="1700" dirty="0"/>
          </a:p>
        </p:txBody>
      </p:sp>
      <p:sp>
        <p:nvSpPr>
          <p:cNvPr id="4" name="Shape 2"/>
          <p:cNvSpPr/>
          <p:nvPr/>
        </p:nvSpPr>
        <p:spPr>
          <a:xfrm>
            <a:off x="548640" y="1828800"/>
            <a:ext cx="2075688" cy="457200"/>
          </a:xfrm>
          <a:prstGeom prst="roundRect">
            <a:avLst>
              <a:gd name="adj" fmla="val 20000"/>
            </a:avLst>
          </a:prstGeom>
          <a:solidFill>
            <a:schemeClr val="bg2">
              <a:alpha val="65000"/>
            </a:schemeClr>
          </a:solidFill>
          <a:ln/>
        </p:spPr>
      </p:sp>
      <p:sp>
        <p:nvSpPr>
          <p:cNvPr id="5" name="Text 3"/>
          <p:cNvSpPr txBox="1"/>
          <p:nvPr/>
        </p:nvSpPr>
        <p:spPr>
          <a:xfrm>
            <a:off x="658368" y="1828800"/>
            <a:ext cx="1874520" cy="457200"/>
          </a:xfrm>
          <a:prstGeom prst="rect">
            <a:avLst/>
          </a:prstGeom>
          <a:noFill/>
          <a:ln/>
        </p:spPr>
        <p:txBody>
          <a:bodyPr wrap="square" lIns="0" tIns="0" rIns="0" bIns="0" rtlCol="0" anchor="ctr"/>
          <a:lstStyle/>
          <a:p>
            <a:pPr indent="0" marL="0">
              <a:buNone/>
            </a:pPr>
            <a:r>
              <a:rPr lang="en-US" sz="1250" dirty="0">
                <a:solidFill>
                  <a:schemeClr val="tx1"/>
                </a:solidFill>
                <a:latin typeface="Ebrima" pitchFamily="34" charset="0"/>
                <a:ea typeface="Ebrima" pitchFamily="34" charset="-122"/>
                <a:cs typeface="Ebrima" pitchFamily="34" charset="-120"/>
              </a:rPr>
              <a:t>ተጠቃሚዎች</a:t>
            </a:r>
            <a:endParaRPr lang="en-US" sz="1250" dirty="0"/>
          </a:p>
        </p:txBody>
      </p:sp>
      <p:sp>
        <p:nvSpPr>
          <p:cNvPr id="6" name="Shape 4"/>
          <p:cNvSpPr/>
          <p:nvPr/>
        </p:nvSpPr>
        <p:spPr>
          <a:xfrm>
            <a:off x="2761488" y="1828800"/>
            <a:ext cx="2075688" cy="457200"/>
          </a:xfrm>
          <a:prstGeom prst="roundRect">
            <a:avLst>
              <a:gd name="adj" fmla="val 20000"/>
            </a:avLst>
          </a:prstGeom>
          <a:solidFill>
            <a:schemeClr val="bg2">
              <a:alpha val="65000"/>
            </a:schemeClr>
          </a:solidFill>
          <a:ln/>
        </p:spPr>
      </p:sp>
      <p:sp>
        <p:nvSpPr>
          <p:cNvPr id="7" name="Text 5"/>
          <p:cNvSpPr txBox="1"/>
          <p:nvPr/>
        </p:nvSpPr>
        <p:spPr>
          <a:xfrm>
            <a:off x="2871216" y="1828800"/>
            <a:ext cx="1874520" cy="457200"/>
          </a:xfrm>
          <a:prstGeom prst="rect">
            <a:avLst/>
          </a:prstGeom>
          <a:noFill/>
          <a:ln/>
        </p:spPr>
        <p:txBody>
          <a:bodyPr wrap="square" lIns="0" tIns="0" rIns="0" bIns="0" rtlCol="0" anchor="ctr"/>
          <a:lstStyle/>
          <a:p>
            <a:pPr indent="0" marL="0">
              <a:buNone/>
            </a:pPr>
            <a:r>
              <a:rPr lang="en-US" sz="1250" dirty="0">
                <a:solidFill>
                  <a:schemeClr val="tx1"/>
                </a:solidFill>
                <a:latin typeface="Ebrima" pitchFamily="34" charset="0"/>
                <a:ea typeface="Ebrima" pitchFamily="34" charset="-122"/>
                <a:cs typeface="Ebrima" pitchFamily="34" charset="-120"/>
              </a:rPr>
              <a:t>መዝሙሮች</a:t>
            </a:r>
            <a:endParaRPr lang="en-US" sz="1250" dirty="0"/>
          </a:p>
        </p:txBody>
      </p:sp>
      <p:sp>
        <p:nvSpPr>
          <p:cNvPr id="8" name="Shape 6"/>
          <p:cNvSpPr/>
          <p:nvPr/>
        </p:nvSpPr>
        <p:spPr>
          <a:xfrm>
            <a:off x="4974336" y="1828800"/>
            <a:ext cx="2075688" cy="457200"/>
          </a:xfrm>
          <a:prstGeom prst="roundRect">
            <a:avLst>
              <a:gd name="adj" fmla="val 20000"/>
            </a:avLst>
          </a:prstGeom>
          <a:solidFill>
            <a:schemeClr val="bg2">
              <a:alpha val="65000"/>
            </a:schemeClr>
          </a:solidFill>
          <a:ln/>
        </p:spPr>
      </p:sp>
      <p:sp>
        <p:nvSpPr>
          <p:cNvPr id="9" name="Text 7"/>
          <p:cNvSpPr txBox="1"/>
          <p:nvPr/>
        </p:nvSpPr>
        <p:spPr>
          <a:xfrm>
            <a:off x="5084064" y="1828800"/>
            <a:ext cx="1874520" cy="457200"/>
          </a:xfrm>
          <a:prstGeom prst="rect">
            <a:avLst/>
          </a:prstGeom>
          <a:noFill/>
          <a:ln/>
        </p:spPr>
        <p:txBody>
          <a:bodyPr wrap="square" lIns="0" tIns="0" rIns="0" bIns="0" rtlCol="0" anchor="ctr"/>
          <a:lstStyle/>
          <a:p>
            <a:pPr indent="0" marL="0">
              <a:buNone/>
            </a:pPr>
            <a:r>
              <a:rPr lang="en-US" sz="1250" dirty="0">
                <a:solidFill>
                  <a:schemeClr val="tx1"/>
                </a:solidFill>
                <a:latin typeface="Ebrima" pitchFamily="34" charset="0"/>
                <a:ea typeface="Ebrima" pitchFamily="34" charset="-122"/>
                <a:cs typeface="Ebrima" pitchFamily="34" charset="-120"/>
              </a:rPr>
              <a:t>መገኘት</a:t>
            </a:r>
            <a:endParaRPr lang="en-US" sz="1250" dirty="0"/>
          </a:p>
        </p:txBody>
      </p:sp>
      <p:sp>
        <p:nvSpPr>
          <p:cNvPr id="10" name="Shape 8"/>
          <p:cNvSpPr/>
          <p:nvPr/>
        </p:nvSpPr>
        <p:spPr>
          <a:xfrm>
            <a:off x="548640" y="2395728"/>
            <a:ext cx="2075688" cy="457200"/>
          </a:xfrm>
          <a:prstGeom prst="roundRect">
            <a:avLst>
              <a:gd name="adj" fmla="val 20000"/>
            </a:avLst>
          </a:prstGeom>
          <a:solidFill>
            <a:schemeClr val="bg2">
              <a:alpha val="65000"/>
            </a:schemeClr>
          </a:solidFill>
          <a:ln/>
        </p:spPr>
      </p:sp>
      <p:sp>
        <p:nvSpPr>
          <p:cNvPr id="11" name="Text 9"/>
          <p:cNvSpPr txBox="1"/>
          <p:nvPr/>
        </p:nvSpPr>
        <p:spPr>
          <a:xfrm>
            <a:off x="658368" y="2395728"/>
            <a:ext cx="1874520" cy="457200"/>
          </a:xfrm>
          <a:prstGeom prst="rect">
            <a:avLst/>
          </a:prstGeom>
          <a:noFill/>
          <a:ln/>
        </p:spPr>
        <p:txBody>
          <a:bodyPr wrap="square" lIns="0" tIns="0" rIns="0" bIns="0" rtlCol="0" anchor="ctr"/>
          <a:lstStyle/>
          <a:p>
            <a:pPr indent="0" marL="0">
              <a:buNone/>
            </a:pPr>
            <a:r>
              <a:rPr lang="en-US" sz="1250" dirty="0">
                <a:solidFill>
                  <a:schemeClr val="tx1"/>
                </a:solidFill>
                <a:latin typeface="Ebrima" pitchFamily="34" charset="0"/>
                <a:ea typeface="Ebrima" pitchFamily="34" charset="-122"/>
                <a:cs typeface="Ebrima" pitchFamily="34" charset="-120"/>
              </a:rPr>
              <a:t>ውሰት</a:t>
            </a:r>
            <a:endParaRPr lang="en-US" sz="1250" dirty="0"/>
          </a:p>
        </p:txBody>
      </p:sp>
      <p:sp>
        <p:nvSpPr>
          <p:cNvPr id="12" name="Shape 10"/>
          <p:cNvSpPr/>
          <p:nvPr/>
        </p:nvSpPr>
        <p:spPr>
          <a:xfrm>
            <a:off x="2761488" y="2395728"/>
            <a:ext cx="2075688" cy="457200"/>
          </a:xfrm>
          <a:prstGeom prst="roundRect">
            <a:avLst>
              <a:gd name="adj" fmla="val 20000"/>
            </a:avLst>
          </a:prstGeom>
          <a:solidFill>
            <a:schemeClr val="bg2">
              <a:alpha val="65000"/>
            </a:schemeClr>
          </a:solidFill>
          <a:ln/>
        </p:spPr>
      </p:sp>
      <p:sp>
        <p:nvSpPr>
          <p:cNvPr id="13" name="Text 11"/>
          <p:cNvSpPr txBox="1"/>
          <p:nvPr/>
        </p:nvSpPr>
        <p:spPr>
          <a:xfrm>
            <a:off x="2871216" y="2395728"/>
            <a:ext cx="1874520" cy="457200"/>
          </a:xfrm>
          <a:prstGeom prst="rect">
            <a:avLst/>
          </a:prstGeom>
          <a:noFill/>
          <a:ln/>
        </p:spPr>
        <p:txBody>
          <a:bodyPr wrap="square" lIns="0" tIns="0" rIns="0" bIns="0" rtlCol="0" anchor="ctr"/>
          <a:lstStyle/>
          <a:p>
            <a:pPr indent="0" marL="0">
              <a:buNone/>
            </a:pPr>
            <a:r>
              <a:rPr lang="en-US" sz="1250" dirty="0">
                <a:solidFill>
                  <a:schemeClr val="tx1"/>
                </a:solidFill>
                <a:latin typeface="Ebrima" pitchFamily="34" charset="0"/>
                <a:ea typeface="Ebrima" pitchFamily="34" charset="-122"/>
                <a:cs typeface="Ebrima" pitchFamily="34" charset="-120"/>
              </a:rPr>
              <a:t>ማሳወቂያዎች</a:t>
            </a:r>
            <a:endParaRPr lang="en-US" sz="1250" dirty="0"/>
          </a:p>
        </p:txBody>
      </p:sp>
      <p:sp>
        <p:nvSpPr>
          <p:cNvPr id="14" name="Shape 12"/>
          <p:cNvSpPr/>
          <p:nvPr/>
        </p:nvSpPr>
        <p:spPr>
          <a:xfrm>
            <a:off x="4974336" y="2395728"/>
            <a:ext cx="2075688" cy="457200"/>
          </a:xfrm>
          <a:prstGeom prst="roundRect">
            <a:avLst>
              <a:gd name="adj" fmla="val 20000"/>
            </a:avLst>
          </a:prstGeom>
          <a:solidFill>
            <a:schemeClr val="bg2">
              <a:alpha val="65000"/>
            </a:schemeClr>
          </a:solidFill>
          <a:ln/>
        </p:spPr>
      </p:sp>
      <p:sp>
        <p:nvSpPr>
          <p:cNvPr id="15" name="Text 13"/>
          <p:cNvSpPr txBox="1"/>
          <p:nvPr/>
        </p:nvSpPr>
        <p:spPr>
          <a:xfrm>
            <a:off x="5084064" y="2395728"/>
            <a:ext cx="1874520" cy="457200"/>
          </a:xfrm>
          <a:prstGeom prst="rect">
            <a:avLst/>
          </a:prstGeom>
          <a:noFill/>
          <a:ln/>
        </p:spPr>
        <p:txBody>
          <a:bodyPr wrap="square" lIns="0" tIns="0" rIns="0" bIns="0" rtlCol="0" anchor="ctr"/>
          <a:lstStyle/>
          <a:p>
            <a:pPr indent="0" marL="0">
              <a:buNone/>
            </a:pPr>
            <a:r>
              <a:rPr lang="en-US" sz="1250" dirty="0">
                <a:solidFill>
                  <a:schemeClr val="tx1"/>
                </a:solidFill>
                <a:latin typeface="Ebrima" pitchFamily="34" charset="0"/>
                <a:ea typeface="Ebrima" pitchFamily="34" charset="-122"/>
                <a:cs typeface="Ebrima" pitchFamily="34" charset="-120"/>
              </a:rPr>
              <a:t>የአስተዳዳሪ እንቅስቃሴ</a:t>
            </a:r>
            <a:endParaRPr lang="en-US" sz="1250" dirty="0"/>
          </a:p>
        </p:txBody>
      </p:sp>
      <p:sp>
        <p:nvSpPr>
          <p:cNvPr id="16" name="Shape 14"/>
          <p:cNvSpPr/>
          <p:nvPr/>
        </p:nvSpPr>
        <p:spPr>
          <a:xfrm>
            <a:off x="548640" y="2962656"/>
            <a:ext cx="2075688" cy="457200"/>
          </a:xfrm>
          <a:prstGeom prst="roundRect">
            <a:avLst>
              <a:gd name="adj" fmla="val 20000"/>
            </a:avLst>
          </a:prstGeom>
          <a:solidFill>
            <a:schemeClr val="bg2">
              <a:alpha val="65000"/>
            </a:schemeClr>
          </a:solidFill>
          <a:ln/>
        </p:spPr>
      </p:sp>
      <p:sp>
        <p:nvSpPr>
          <p:cNvPr id="17" name="Text 15"/>
          <p:cNvSpPr txBox="1"/>
          <p:nvPr/>
        </p:nvSpPr>
        <p:spPr>
          <a:xfrm>
            <a:off x="658368" y="2962656"/>
            <a:ext cx="1874520" cy="457200"/>
          </a:xfrm>
          <a:prstGeom prst="rect">
            <a:avLst/>
          </a:prstGeom>
          <a:noFill/>
          <a:ln/>
        </p:spPr>
        <p:txBody>
          <a:bodyPr wrap="square" lIns="0" tIns="0" rIns="0" bIns="0" rtlCol="0" anchor="ctr"/>
          <a:lstStyle/>
          <a:p>
            <a:pPr indent="0" marL="0">
              <a:buNone/>
            </a:pPr>
            <a:r>
              <a:rPr lang="en-US" sz="1250" dirty="0">
                <a:solidFill>
                  <a:schemeClr val="tx1"/>
                </a:solidFill>
                <a:latin typeface="Ebrima" pitchFamily="34" charset="0"/>
                <a:ea typeface="Ebrima" pitchFamily="34" charset="-122"/>
                <a:cs typeface="Ebrima" pitchFamily="34" charset="-120"/>
              </a:rPr>
              <a:t>የኦዲት መዝገብ</a:t>
            </a:r>
            <a:endParaRPr lang="en-US" sz="1250" dirty="0"/>
          </a:p>
        </p:txBody>
      </p:sp>
      <p:sp>
        <p:nvSpPr>
          <p:cNvPr id="18" name="Shape 16"/>
          <p:cNvSpPr/>
          <p:nvPr/>
        </p:nvSpPr>
        <p:spPr>
          <a:xfrm>
            <a:off x="2761488" y="2962656"/>
            <a:ext cx="2075688" cy="457200"/>
          </a:xfrm>
          <a:prstGeom prst="roundRect">
            <a:avLst>
              <a:gd name="adj" fmla="val 20000"/>
            </a:avLst>
          </a:prstGeom>
          <a:solidFill>
            <a:schemeClr val="bg2">
              <a:alpha val="65000"/>
            </a:schemeClr>
          </a:solidFill>
          <a:ln/>
        </p:spPr>
      </p:sp>
      <p:sp>
        <p:nvSpPr>
          <p:cNvPr id="19" name="Text 17"/>
          <p:cNvSpPr txBox="1"/>
          <p:nvPr/>
        </p:nvSpPr>
        <p:spPr>
          <a:xfrm>
            <a:off x="2871216" y="2962656"/>
            <a:ext cx="1874520" cy="457200"/>
          </a:xfrm>
          <a:prstGeom prst="rect">
            <a:avLst/>
          </a:prstGeom>
          <a:noFill/>
          <a:ln/>
        </p:spPr>
        <p:txBody>
          <a:bodyPr wrap="square" lIns="0" tIns="0" rIns="0" bIns="0" rtlCol="0" anchor="ctr"/>
          <a:lstStyle/>
          <a:p>
            <a:pPr indent="0" marL="0">
              <a:buNone/>
            </a:pPr>
            <a:r>
              <a:rPr lang="en-US" sz="1250" dirty="0">
                <a:solidFill>
                  <a:schemeClr val="tx1"/>
                </a:solidFill>
                <a:latin typeface="Ebrima" pitchFamily="34" charset="0"/>
                <a:ea typeface="Ebrima" pitchFamily="34" charset="-122"/>
                <a:cs typeface="Ebrima" pitchFamily="34" charset="-120"/>
              </a:rPr>
              <a:t>የተጠቃሚ እንቅስቃሴ</a:t>
            </a:r>
            <a:endParaRPr lang="en-US" sz="1250" dirty="0"/>
          </a:p>
        </p:txBody>
      </p:sp>
      <p:sp>
        <p:nvSpPr>
          <p:cNvPr id="20" name="Shape 18"/>
          <p:cNvSpPr/>
          <p:nvPr/>
        </p:nvSpPr>
        <p:spPr>
          <a:xfrm>
            <a:off x="4974336" y="2962656"/>
            <a:ext cx="2075688" cy="457200"/>
          </a:xfrm>
          <a:prstGeom prst="roundRect">
            <a:avLst>
              <a:gd name="adj" fmla="val 20000"/>
            </a:avLst>
          </a:prstGeom>
          <a:solidFill>
            <a:schemeClr val="bg2">
              <a:alpha val="65000"/>
            </a:schemeClr>
          </a:solidFill>
          <a:ln/>
        </p:spPr>
      </p:sp>
      <p:sp>
        <p:nvSpPr>
          <p:cNvPr id="21" name="Text 19"/>
          <p:cNvSpPr txBox="1"/>
          <p:nvPr/>
        </p:nvSpPr>
        <p:spPr>
          <a:xfrm>
            <a:off x="5084064" y="2962656"/>
            <a:ext cx="1874520" cy="457200"/>
          </a:xfrm>
          <a:prstGeom prst="rect">
            <a:avLst/>
          </a:prstGeom>
          <a:noFill/>
          <a:ln/>
        </p:spPr>
        <p:txBody>
          <a:bodyPr wrap="square" lIns="0" tIns="0" rIns="0" bIns="0" rtlCol="0" anchor="ctr"/>
          <a:lstStyle/>
          <a:p>
            <a:pPr indent="0" marL="0">
              <a:buNone/>
            </a:pPr>
            <a:r>
              <a:rPr lang="en-US" sz="1250" dirty="0">
                <a:solidFill>
                  <a:schemeClr val="tx1"/>
                </a:solidFill>
                <a:latin typeface="Ebrima" pitchFamily="34" charset="0"/>
                <a:ea typeface="Ebrima" pitchFamily="34" charset="-122"/>
                <a:cs typeface="Ebrima" pitchFamily="34" charset="-120"/>
              </a:rPr>
              <a:t>ወርሃዊ መዋጮ</a:t>
            </a:r>
            <a:endParaRPr lang="en-US" sz="1250" dirty="0"/>
          </a:p>
        </p:txBody>
      </p:sp>
      <p:sp>
        <p:nvSpPr>
          <p:cNvPr id="22" name="Shape 20"/>
          <p:cNvSpPr/>
          <p:nvPr/>
        </p:nvSpPr>
        <p:spPr>
          <a:xfrm>
            <a:off x="548640" y="3529584"/>
            <a:ext cx="2075688" cy="457200"/>
          </a:xfrm>
          <a:prstGeom prst="roundRect">
            <a:avLst>
              <a:gd name="adj" fmla="val 20000"/>
            </a:avLst>
          </a:prstGeom>
          <a:solidFill>
            <a:schemeClr val="bg2">
              <a:alpha val="65000"/>
            </a:schemeClr>
          </a:solidFill>
          <a:ln/>
        </p:spPr>
      </p:sp>
      <p:sp>
        <p:nvSpPr>
          <p:cNvPr id="23" name="Text 21"/>
          <p:cNvSpPr txBox="1"/>
          <p:nvPr/>
        </p:nvSpPr>
        <p:spPr>
          <a:xfrm>
            <a:off x="658368" y="3529584"/>
            <a:ext cx="1874520" cy="457200"/>
          </a:xfrm>
          <a:prstGeom prst="rect">
            <a:avLst/>
          </a:prstGeom>
          <a:noFill/>
          <a:ln/>
        </p:spPr>
        <p:txBody>
          <a:bodyPr wrap="square" lIns="0" tIns="0" rIns="0" bIns="0" rtlCol="0" anchor="ctr"/>
          <a:lstStyle/>
          <a:p>
            <a:pPr indent="0" marL="0">
              <a:buNone/>
            </a:pPr>
            <a:r>
              <a:rPr lang="en-US" sz="1250" dirty="0">
                <a:solidFill>
                  <a:schemeClr val="tx1"/>
                </a:solidFill>
                <a:latin typeface="Ebrima" pitchFamily="34" charset="0"/>
                <a:ea typeface="Ebrima" pitchFamily="34" charset="-122"/>
                <a:cs typeface="Ebrima" pitchFamily="34" charset="-120"/>
              </a:rPr>
              <a:t>የአገልግሎት ምርጫ</a:t>
            </a:r>
            <a:endParaRPr lang="en-US" sz="1250" dirty="0"/>
          </a:p>
        </p:txBody>
      </p:sp>
      <p:sp>
        <p:nvSpPr>
          <p:cNvPr id="24" name="Shape 22"/>
          <p:cNvSpPr/>
          <p:nvPr/>
        </p:nvSpPr>
        <p:spPr>
          <a:xfrm>
            <a:off x="2761488" y="3529584"/>
            <a:ext cx="2075688" cy="457200"/>
          </a:xfrm>
          <a:prstGeom prst="roundRect">
            <a:avLst>
              <a:gd name="adj" fmla="val 20000"/>
            </a:avLst>
          </a:prstGeom>
          <a:solidFill>
            <a:schemeClr val="bg2">
              <a:alpha val="65000"/>
            </a:schemeClr>
          </a:solidFill>
          <a:ln/>
        </p:spPr>
      </p:sp>
      <p:sp>
        <p:nvSpPr>
          <p:cNvPr id="25" name="Text 23"/>
          <p:cNvSpPr txBox="1"/>
          <p:nvPr/>
        </p:nvSpPr>
        <p:spPr>
          <a:xfrm>
            <a:off x="2871216" y="3529584"/>
            <a:ext cx="1874520" cy="457200"/>
          </a:xfrm>
          <a:prstGeom prst="rect">
            <a:avLst/>
          </a:prstGeom>
          <a:noFill/>
          <a:ln/>
        </p:spPr>
        <p:txBody>
          <a:bodyPr wrap="square" lIns="0" tIns="0" rIns="0" bIns="0" rtlCol="0" anchor="ctr"/>
          <a:lstStyle/>
          <a:p>
            <a:pPr indent="0" marL="0">
              <a:buNone/>
            </a:pPr>
            <a:r>
              <a:rPr lang="en-US" sz="1250" dirty="0">
                <a:solidFill>
                  <a:schemeClr val="tx1"/>
                </a:solidFill>
                <a:latin typeface="Ebrima" pitchFamily="34" charset="0"/>
                <a:ea typeface="Ebrima" pitchFamily="34" charset="-122"/>
                <a:cs typeface="Ebrima" pitchFamily="34" charset="-120"/>
              </a:rPr>
              <a:t>ፕሮጀክቶች</a:t>
            </a:r>
            <a:endParaRPr lang="en-US" sz="1250" dirty="0"/>
          </a:p>
        </p:txBody>
      </p:sp>
      <p:sp>
        <p:nvSpPr>
          <p:cNvPr id="26" name="Shape 24"/>
          <p:cNvSpPr/>
          <p:nvPr/>
        </p:nvSpPr>
        <p:spPr>
          <a:xfrm>
            <a:off x="4974336" y="3529584"/>
            <a:ext cx="2075688" cy="457200"/>
          </a:xfrm>
          <a:prstGeom prst="roundRect">
            <a:avLst>
              <a:gd name="adj" fmla="val 20000"/>
            </a:avLst>
          </a:prstGeom>
          <a:solidFill>
            <a:schemeClr val="bg2">
              <a:alpha val="65000"/>
            </a:schemeClr>
          </a:solidFill>
          <a:ln/>
        </p:spPr>
      </p:sp>
      <p:sp>
        <p:nvSpPr>
          <p:cNvPr id="27" name="Text 25"/>
          <p:cNvSpPr txBox="1"/>
          <p:nvPr/>
        </p:nvSpPr>
        <p:spPr>
          <a:xfrm>
            <a:off x="5084064" y="3529584"/>
            <a:ext cx="1874520" cy="457200"/>
          </a:xfrm>
          <a:prstGeom prst="rect">
            <a:avLst/>
          </a:prstGeom>
          <a:noFill/>
          <a:ln/>
        </p:spPr>
        <p:txBody>
          <a:bodyPr wrap="square" lIns="0" tIns="0" rIns="0" bIns="0" rtlCol="0" anchor="ctr"/>
          <a:lstStyle/>
          <a:p>
            <a:pPr indent="0" marL="0">
              <a:buNone/>
            </a:pPr>
            <a:r>
              <a:rPr lang="en-US" sz="1250" dirty="0">
                <a:solidFill>
                  <a:schemeClr val="tx1"/>
                </a:solidFill>
                <a:latin typeface="Ebrima" pitchFamily="34" charset="0"/>
                <a:ea typeface="Ebrima" pitchFamily="34" charset="-122"/>
                <a:cs typeface="Ebrima" pitchFamily="34" charset="-120"/>
              </a:rPr>
              <a:t>ትምህርት</a:t>
            </a:r>
            <a:endParaRPr lang="en-US" sz="1250" dirty="0"/>
          </a:p>
        </p:txBody>
      </p:sp>
      <p:sp>
        <p:nvSpPr>
          <p:cNvPr id="28" name="Shape 26"/>
          <p:cNvSpPr/>
          <p:nvPr/>
        </p:nvSpPr>
        <p:spPr>
          <a:xfrm>
            <a:off x="548640" y="4096512"/>
            <a:ext cx="2075688" cy="457200"/>
          </a:xfrm>
          <a:prstGeom prst="roundRect">
            <a:avLst>
              <a:gd name="adj" fmla="val 20000"/>
            </a:avLst>
          </a:prstGeom>
          <a:solidFill>
            <a:schemeClr val="bg2">
              <a:alpha val="65000"/>
            </a:schemeClr>
          </a:solidFill>
          <a:ln/>
        </p:spPr>
      </p:sp>
      <p:sp>
        <p:nvSpPr>
          <p:cNvPr id="29" name="Text 27"/>
          <p:cNvSpPr txBox="1"/>
          <p:nvPr/>
        </p:nvSpPr>
        <p:spPr>
          <a:xfrm>
            <a:off x="658368" y="4096512"/>
            <a:ext cx="1874520" cy="457200"/>
          </a:xfrm>
          <a:prstGeom prst="rect">
            <a:avLst/>
          </a:prstGeom>
          <a:noFill/>
          <a:ln/>
        </p:spPr>
        <p:txBody>
          <a:bodyPr wrap="square" lIns="0" tIns="0" rIns="0" bIns="0" rtlCol="0" anchor="ctr"/>
          <a:lstStyle/>
          <a:p>
            <a:pPr indent="0" marL="0">
              <a:buNone/>
            </a:pPr>
            <a:r>
              <a:rPr lang="en-US" sz="1250" dirty="0">
                <a:solidFill>
                  <a:schemeClr val="tx1"/>
                </a:solidFill>
                <a:latin typeface="Ebrima" pitchFamily="34" charset="0"/>
                <a:ea typeface="Ebrima" pitchFamily="34" charset="-122"/>
                <a:cs typeface="Ebrima" pitchFamily="34" charset="-120"/>
              </a:rPr>
              <a:t>ፕሮግራሞች</a:t>
            </a:r>
            <a:endParaRPr lang="en-US" sz="1250" dirty="0"/>
          </a:p>
        </p:txBody>
      </p:sp>
      <p:sp>
        <p:nvSpPr>
          <p:cNvPr id="30" name="Shape 28"/>
          <p:cNvSpPr/>
          <p:nvPr/>
        </p:nvSpPr>
        <p:spPr>
          <a:xfrm>
            <a:off x="2761488" y="4096512"/>
            <a:ext cx="2075688" cy="457200"/>
          </a:xfrm>
          <a:prstGeom prst="roundRect">
            <a:avLst>
              <a:gd name="adj" fmla="val 20000"/>
            </a:avLst>
          </a:prstGeom>
          <a:solidFill>
            <a:schemeClr val="bg2">
              <a:alpha val="65000"/>
            </a:schemeClr>
          </a:solidFill>
          <a:ln/>
        </p:spPr>
      </p:sp>
      <p:sp>
        <p:nvSpPr>
          <p:cNvPr id="31" name="Text 29"/>
          <p:cNvSpPr txBox="1"/>
          <p:nvPr/>
        </p:nvSpPr>
        <p:spPr>
          <a:xfrm>
            <a:off x="2871216" y="4096512"/>
            <a:ext cx="1874520" cy="457200"/>
          </a:xfrm>
          <a:prstGeom prst="rect">
            <a:avLst/>
          </a:prstGeom>
          <a:noFill/>
          <a:ln/>
        </p:spPr>
        <p:txBody>
          <a:bodyPr wrap="square" lIns="0" tIns="0" rIns="0" bIns="0" rtlCol="0" anchor="ctr"/>
          <a:lstStyle/>
          <a:p>
            <a:pPr indent="0" marL="0">
              <a:buNone/>
            </a:pPr>
            <a:r>
              <a:rPr lang="en-US" sz="1250" dirty="0">
                <a:solidFill>
                  <a:schemeClr val="tx1"/>
                </a:solidFill>
                <a:latin typeface="Ebrima" pitchFamily="34" charset="0"/>
                <a:ea typeface="Ebrima" pitchFamily="34" charset="-122"/>
                <a:cs typeface="Ebrima" pitchFamily="34" charset="-120"/>
              </a:rPr>
              <a:t>የትምህርት ውጤቶች</a:t>
            </a:r>
            <a:endParaRPr lang="en-US" sz="1250" dirty="0"/>
          </a:p>
        </p:txBody>
      </p:sp>
      <p:sp>
        <p:nvSpPr>
          <p:cNvPr id="32" name="Shape 30"/>
          <p:cNvSpPr/>
          <p:nvPr/>
        </p:nvSpPr>
        <p:spPr>
          <a:xfrm>
            <a:off x="4974336" y="4096512"/>
            <a:ext cx="2075688" cy="457200"/>
          </a:xfrm>
          <a:prstGeom prst="roundRect">
            <a:avLst>
              <a:gd name="adj" fmla="val 20000"/>
            </a:avLst>
          </a:prstGeom>
          <a:solidFill>
            <a:schemeClr val="bg2">
              <a:alpha val="65000"/>
            </a:schemeClr>
          </a:solidFill>
          <a:ln/>
        </p:spPr>
      </p:sp>
      <p:sp>
        <p:nvSpPr>
          <p:cNvPr id="33" name="Text 31"/>
          <p:cNvSpPr txBox="1"/>
          <p:nvPr/>
        </p:nvSpPr>
        <p:spPr>
          <a:xfrm>
            <a:off x="5084064" y="4096512"/>
            <a:ext cx="1874520" cy="457200"/>
          </a:xfrm>
          <a:prstGeom prst="rect">
            <a:avLst/>
          </a:prstGeom>
          <a:noFill/>
          <a:ln/>
        </p:spPr>
        <p:txBody>
          <a:bodyPr wrap="square" lIns="0" tIns="0" rIns="0" bIns="0" rtlCol="0" anchor="ctr"/>
          <a:lstStyle/>
          <a:p>
            <a:pPr indent="0" marL="0">
              <a:buNone/>
            </a:pPr>
            <a:r>
              <a:rPr lang="en-US" sz="1250" dirty="0">
                <a:solidFill>
                  <a:schemeClr val="tx1"/>
                </a:solidFill>
                <a:latin typeface="Ebrima" pitchFamily="34" charset="0"/>
                <a:ea typeface="Ebrima" pitchFamily="34" charset="-122"/>
                <a:cs typeface="Ebrima" pitchFamily="34" charset="-120"/>
              </a:rPr>
              <a:t>የመዝሙር ምርጫ</a:t>
            </a:r>
            <a:endParaRPr lang="en-US" sz="1250" dirty="0"/>
          </a:p>
        </p:txBody>
      </p:sp>
      <p:sp>
        <p:nvSpPr>
          <p:cNvPr id="34" name="Shape 32"/>
          <p:cNvSpPr/>
          <p:nvPr/>
        </p:nvSpPr>
        <p:spPr>
          <a:xfrm>
            <a:off x="7406640" y="1325880"/>
            <a:ext cx="4251960" cy="896112"/>
          </a:xfrm>
          <a:prstGeom prst="roundRect">
            <a:avLst>
              <a:gd name="adj" fmla="val 12245"/>
            </a:avLst>
          </a:prstGeom>
          <a:solidFill>
            <a:schemeClr val="accent1"/>
          </a:solidFill>
          <a:ln/>
        </p:spPr>
      </p:sp>
      <p:sp>
        <p:nvSpPr>
          <p:cNvPr id="35" name="Text 33"/>
          <p:cNvSpPr txBox="1"/>
          <p:nvPr/>
        </p:nvSpPr>
        <p:spPr>
          <a:xfrm>
            <a:off x="7589520" y="1325880"/>
            <a:ext cx="1097280" cy="896112"/>
          </a:xfrm>
          <a:prstGeom prst="rect">
            <a:avLst/>
          </a:prstGeom>
          <a:noFill/>
          <a:ln/>
        </p:spPr>
        <p:txBody>
          <a:bodyPr wrap="square" lIns="0" tIns="0" rIns="0" bIns="0" rtlCol="0" anchor="ctr"/>
          <a:lstStyle/>
          <a:p>
            <a:pPr indent="0" marL="0">
              <a:buNone/>
            </a:pPr>
            <a:r>
              <a:rPr lang="en-US" sz="2000" b="1" dirty="0">
                <a:solidFill>
                  <a:schemeClr val="accent2"/>
                </a:solidFill>
                <a:latin typeface="Ebrima" pitchFamily="34" charset="0"/>
                <a:ea typeface="Ebrima" pitchFamily="34" charset="-122"/>
                <a:cs typeface="Ebrima" pitchFamily="34" charset="-120"/>
              </a:rPr>
              <a:t>PDF</a:t>
            </a:r>
            <a:endParaRPr lang="en-US" sz="2000" dirty="0"/>
          </a:p>
        </p:txBody>
      </p:sp>
      <p:sp>
        <p:nvSpPr>
          <p:cNvPr id="36" name="Text 34"/>
          <p:cNvSpPr txBox="1"/>
          <p:nvPr/>
        </p:nvSpPr>
        <p:spPr>
          <a:xfrm>
            <a:off x="8686800" y="1325880"/>
            <a:ext cx="2834640" cy="896112"/>
          </a:xfrm>
          <a:prstGeom prst="rect">
            <a:avLst/>
          </a:prstGeom>
          <a:noFill/>
          <a:ln/>
        </p:spPr>
        <p:txBody>
          <a:bodyPr wrap="square" lIns="0" tIns="0" rIns="0" bIns="0" rtlCol="0" anchor="ctr"/>
          <a:lstStyle/>
          <a:p>
            <a:pPr indent="0" marL="0">
              <a:buNone/>
            </a:pPr>
            <a:r>
              <a:rPr lang="en-US" sz="1250" dirty="0">
                <a:solidFill>
                  <a:schemeClr val="bg1"/>
                </a:solidFill>
                <a:latin typeface="Ebrima" pitchFamily="34" charset="0"/>
                <a:ea typeface="Ebrima" pitchFamily="34" charset="-122"/>
                <a:cs typeface="Ebrima" pitchFamily="34" charset="-120"/>
              </a:rPr>
              <a:t>ዓርማ፣ ኢትዮጵያዊ ቀን፣ የገጽ ቁጥርና ማጣቀሻ ያለው ለሕትመት ዝግጁ</a:t>
            </a:r>
            <a:endParaRPr lang="en-US" sz="1250" dirty="0"/>
          </a:p>
        </p:txBody>
      </p:sp>
      <p:sp>
        <p:nvSpPr>
          <p:cNvPr id="37" name="Shape 35"/>
          <p:cNvSpPr/>
          <p:nvPr/>
        </p:nvSpPr>
        <p:spPr>
          <a:xfrm>
            <a:off x="7406640" y="2350008"/>
            <a:ext cx="4251960" cy="896112"/>
          </a:xfrm>
          <a:prstGeom prst="roundRect">
            <a:avLst>
              <a:gd name="adj" fmla="val 12245"/>
            </a:avLst>
          </a:prstGeom>
          <a:solidFill>
            <a:schemeClr val="accent1"/>
          </a:solidFill>
          <a:ln/>
        </p:spPr>
      </p:sp>
      <p:sp>
        <p:nvSpPr>
          <p:cNvPr id="38" name="Text 36"/>
          <p:cNvSpPr txBox="1"/>
          <p:nvPr/>
        </p:nvSpPr>
        <p:spPr>
          <a:xfrm>
            <a:off x="7589520" y="2350008"/>
            <a:ext cx="1097280" cy="896112"/>
          </a:xfrm>
          <a:prstGeom prst="rect">
            <a:avLst/>
          </a:prstGeom>
          <a:noFill/>
          <a:ln/>
        </p:spPr>
        <p:txBody>
          <a:bodyPr wrap="square" lIns="0" tIns="0" rIns="0" bIns="0" rtlCol="0" anchor="ctr"/>
          <a:lstStyle/>
          <a:p>
            <a:pPr indent="0" marL="0">
              <a:buNone/>
            </a:pPr>
            <a:r>
              <a:rPr lang="en-US" sz="2000" b="1" dirty="0">
                <a:solidFill>
                  <a:schemeClr val="accent2"/>
                </a:solidFill>
                <a:latin typeface="Ebrima" pitchFamily="34" charset="0"/>
                <a:ea typeface="Ebrima" pitchFamily="34" charset="-122"/>
                <a:cs typeface="Ebrima" pitchFamily="34" charset="-120"/>
              </a:rPr>
              <a:t>Excel</a:t>
            </a:r>
            <a:endParaRPr lang="en-US" sz="2000" dirty="0"/>
          </a:p>
        </p:txBody>
      </p:sp>
      <p:sp>
        <p:nvSpPr>
          <p:cNvPr id="39" name="Text 37"/>
          <p:cNvSpPr txBox="1"/>
          <p:nvPr/>
        </p:nvSpPr>
        <p:spPr>
          <a:xfrm>
            <a:off x="8686800" y="2350008"/>
            <a:ext cx="2834640" cy="896112"/>
          </a:xfrm>
          <a:prstGeom prst="rect">
            <a:avLst/>
          </a:prstGeom>
          <a:noFill/>
          <a:ln/>
        </p:spPr>
        <p:txBody>
          <a:bodyPr wrap="square" lIns="0" tIns="0" rIns="0" bIns="0" rtlCol="0" anchor="ctr"/>
          <a:lstStyle/>
          <a:p>
            <a:pPr indent="0" marL="0">
              <a:buNone/>
            </a:pPr>
            <a:r>
              <a:rPr lang="en-US" sz="1250" dirty="0">
                <a:solidFill>
                  <a:schemeClr val="bg1"/>
                </a:solidFill>
                <a:latin typeface="Ebrima" pitchFamily="34" charset="0"/>
                <a:ea typeface="Ebrima" pitchFamily="34" charset="-122"/>
                <a:cs typeface="Ebrima" pitchFamily="34" charset="-120"/>
              </a:rPr>
              <a:t>ማጠቃለያ ሉህና ለእያንዳንዱ ሰንጠረዥ ሉህ</a:t>
            </a:r>
            <a:endParaRPr lang="en-US" sz="1250" dirty="0"/>
          </a:p>
        </p:txBody>
      </p:sp>
      <p:sp>
        <p:nvSpPr>
          <p:cNvPr id="40" name="Shape 38"/>
          <p:cNvSpPr/>
          <p:nvPr/>
        </p:nvSpPr>
        <p:spPr>
          <a:xfrm>
            <a:off x="7406640" y="3374136"/>
            <a:ext cx="4251960" cy="896112"/>
          </a:xfrm>
          <a:prstGeom prst="roundRect">
            <a:avLst>
              <a:gd name="adj" fmla="val 12245"/>
            </a:avLst>
          </a:prstGeom>
          <a:solidFill>
            <a:schemeClr val="accent1"/>
          </a:solidFill>
          <a:ln/>
        </p:spPr>
      </p:sp>
      <p:sp>
        <p:nvSpPr>
          <p:cNvPr id="41" name="Text 39"/>
          <p:cNvSpPr txBox="1"/>
          <p:nvPr/>
        </p:nvSpPr>
        <p:spPr>
          <a:xfrm>
            <a:off x="7589520" y="3374136"/>
            <a:ext cx="1097280" cy="896112"/>
          </a:xfrm>
          <a:prstGeom prst="rect">
            <a:avLst/>
          </a:prstGeom>
          <a:noFill/>
          <a:ln/>
        </p:spPr>
        <p:txBody>
          <a:bodyPr wrap="square" lIns="0" tIns="0" rIns="0" bIns="0" rtlCol="0" anchor="ctr"/>
          <a:lstStyle/>
          <a:p>
            <a:pPr indent="0" marL="0">
              <a:buNone/>
            </a:pPr>
            <a:r>
              <a:rPr lang="en-US" sz="2000" b="1" dirty="0">
                <a:solidFill>
                  <a:schemeClr val="accent2"/>
                </a:solidFill>
                <a:latin typeface="Ebrima" pitchFamily="34" charset="0"/>
                <a:ea typeface="Ebrima" pitchFamily="34" charset="-122"/>
                <a:cs typeface="Ebrima" pitchFamily="34" charset="-120"/>
              </a:rPr>
              <a:t>CSV</a:t>
            </a:r>
            <a:endParaRPr lang="en-US" sz="2000" dirty="0"/>
          </a:p>
        </p:txBody>
      </p:sp>
      <p:sp>
        <p:nvSpPr>
          <p:cNvPr id="42" name="Text 40"/>
          <p:cNvSpPr txBox="1"/>
          <p:nvPr/>
        </p:nvSpPr>
        <p:spPr>
          <a:xfrm>
            <a:off x="8686800" y="3374136"/>
            <a:ext cx="2834640" cy="896112"/>
          </a:xfrm>
          <a:prstGeom prst="rect">
            <a:avLst/>
          </a:prstGeom>
          <a:noFill/>
          <a:ln/>
        </p:spPr>
        <p:txBody>
          <a:bodyPr wrap="square" lIns="0" tIns="0" rIns="0" bIns="0" rtlCol="0" anchor="ctr"/>
          <a:lstStyle/>
          <a:p>
            <a:pPr indent="0" marL="0">
              <a:buNone/>
            </a:pPr>
            <a:r>
              <a:rPr lang="en-US" sz="1250" dirty="0">
                <a:solidFill>
                  <a:schemeClr val="bg1"/>
                </a:solidFill>
                <a:latin typeface="Ebrima" pitchFamily="34" charset="0"/>
                <a:ea typeface="Ebrima" pitchFamily="34" charset="-122"/>
                <a:cs typeface="Ebrima" pitchFamily="34" charset="-120"/>
              </a:rPr>
              <a:t>ለሌሎች ሥርዓቶች የሚሆን ቀላል ሰንጠረዥ</a:t>
            </a:r>
            <a:endParaRPr lang="en-US" sz="1250" dirty="0"/>
          </a:p>
        </p:txBody>
      </p:sp>
      <p:sp>
        <p:nvSpPr>
          <p:cNvPr id="43" name="Shape 41"/>
          <p:cNvSpPr/>
          <p:nvPr/>
        </p:nvSpPr>
        <p:spPr>
          <a:xfrm>
            <a:off x="7406640" y="4526280"/>
            <a:ext cx="4251960" cy="1645920"/>
          </a:xfrm>
          <a:prstGeom prst="roundRect">
            <a:avLst>
              <a:gd name="adj" fmla="val 6667"/>
            </a:avLst>
          </a:prstGeom>
          <a:solidFill>
            <a:schemeClr val="accent2">
              <a:alpha val="22000"/>
            </a:schemeClr>
          </a:solidFill>
          <a:ln/>
        </p:spPr>
      </p:sp>
      <p:sp>
        <p:nvSpPr>
          <p:cNvPr id="44" name="Text 42"/>
          <p:cNvSpPr txBox="1"/>
          <p:nvPr/>
        </p:nvSpPr>
        <p:spPr>
          <a:xfrm>
            <a:off x="7635240" y="4617720"/>
            <a:ext cx="3840480" cy="365760"/>
          </a:xfrm>
          <a:prstGeom prst="rect">
            <a:avLst/>
          </a:prstGeom>
          <a:noFill/>
          <a:ln/>
        </p:spPr>
        <p:txBody>
          <a:bodyPr wrap="square" lIns="0" tIns="0" rIns="0" bIns="0" rtlCol="0" anchor="t"/>
          <a:lstStyle/>
          <a:p>
            <a:pPr indent="0" marL="0">
              <a:buNone/>
            </a:pPr>
            <a:r>
              <a:rPr lang="en-US" sz="1500" b="1" dirty="0">
                <a:solidFill>
                  <a:schemeClr val="accent1"/>
                </a:solidFill>
                <a:latin typeface="Ebrima" pitchFamily="34" charset="0"/>
                <a:ea typeface="Ebrima" pitchFamily="34" charset="-122"/>
                <a:cs typeface="Ebrima" pitchFamily="34" charset="-120"/>
              </a:rPr>
              <a:t>ተጠያቂነት</a:t>
            </a:r>
            <a:endParaRPr lang="en-US" sz="1500" dirty="0"/>
          </a:p>
        </p:txBody>
      </p:sp>
      <p:sp>
        <p:nvSpPr>
          <p:cNvPr id="45" name="Text 43"/>
          <p:cNvSpPr txBox="1"/>
          <p:nvPr/>
        </p:nvSpPr>
        <p:spPr>
          <a:xfrm>
            <a:off x="7635240" y="5029200"/>
            <a:ext cx="3840480" cy="1097280"/>
          </a:xfrm>
          <a:prstGeom prst="rect">
            <a:avLst/>
          </a:prstGeom>
          <a:noFill/>
          <a:ln/>
        </p:spPr>
        <p:txBody>
          <a:bodyPr wrap="square" lIns="0" tIns="0" rIns="0" bIns="0" rtlCol="0" anchor="t"/>
          <a:lstStyle/>
          <a:p>
            <a:pPr indent="0" marL="0">
              <a:buNone/>
            </a:pPr>
            <a:r>
              <a:rPr lang="en-US" sz="1300" dirty="0">
                <a:solidFill>
                  <a:schemeClr val="tx1"/>
                </a:solidFill>
                <a:latin typeface="Ebrima" pitchFamily="34" charset="0"/>
                <a:ea typeface="Ebrima" pitchFamily="34" charset="-122"/>
                <a:cs typeface="Ebrima" pitchFamily="34" charset="-120"/>
              </a:rPr>
              <a:t>እያንዳንዱ የአስተዳዳሪ ተግባርና እያንዳንዱ የወጣ ሪፖርት በኦዲት መዝገብ ይያዛል — ማን፣ ምን፣ መቼ</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Ebrima"/>
                <a:ea typeface="Ebrima"/>
                <a:cs typeface="Ebrima"/>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0241280" cy="777240"/>
          </a:xfrm>
          <a:prstGeom prst="rect">
            <a:avLst/>
          </a:prstGeom>
          <a:noFill/>
          <a:ln/>
        </p:spPr>
        <p:txBody>
          <a:bodyPr wrap="square" lIns="0" tIns="0" rIns="0" bIns="0" rtlCol="0" anchor="ctr"/>
          <a:lstStyle/>
          <a:p>
            <a:pPr algn="l" indent="0" marL="0">
              <a:buNone/>
            </a:pPr>
            <a:r>
              <a:rPr lang="en-US" sz="3400" dirty="0">
                <a:solidFill>
                  <a:schemeClr val="accent1"/>
                </a:solidFill>
                <a:latin typeface="Nyala" pitchFamily="34" charset="0"/>
                <a:ea typeface="Nyala" pitchFamily="34" charset="-122"/>
                <a:cs typeface="Nyala" pitchFamily="34" charset="-120"/>
              </a:rPr>
              <a:t>ያለ ኢንተርኔት መሥራትና ማመሳሰል</a:t>
            </a:r>
            <a:endParaRPr lang="en-US" sz="3400" dirty="0"/>
          </a:p>
        </p:txBody>
      </p:sp>
      <p:sp>
        <p:nvSpPr>
          <p:cNvPr id="3" name="Text 1"/>
          <p:cNvSpPr txBox="1"/>
          <p:nvPr/>
        </p:nvSpPr>
        <p:spPr>
          <a:xfrm>
            <a:off x="548640" y="1325880"/>
            <a:ext cx="5486400" cy="411480"/>
          </a:xfrm>
          <a:prstGeom prst="rect">
            <a:avLst/>
          </a:prstGeom>
          <a:noFill/>
          <a:ln/>
        </p:spPr>
        <p:txBody>
          <a:bodyPr wrap="square" lIns="0" tIns="0" rIns="0" bIns="0" rtlCol="0" anchor="t"/>
          <a:lstStyle/>
          <a:p>
            <a:pPr indent="0" marL="0">
              <a:buNone/>
            </a:pPr>
            <a:r>
              <a:rPr lang="en-US" sz="1700" b="1" dirty="0">
                <a:solidFill>
                  <a:schemeClr val="accent1"/>
                </a:solidFill>
                <a:latin typeface="Ebrima" pitchFamily="34" charset="0"/>
                <a:ea typeface="Ebrima" pitchFamily="34" charset="-122"/>
                <a:cs typeface="Ebrima" pitchFamily="34" charset="-120"/>
              </a:rPr>
              <a:t>ያለ ኢንተርኔት የሚሠሩ</a:t>
            </a:r>
            <a:endParaRPr lang="en-US" sz="1700" dirty="0"/>
          </a:p>
        </p:txBody>
      </p:sp>
      <p:sp>
        <p:nvSpPr>
          <p:cNvPr id="4" name="Shape 2"/>
          <p:cNvSpPr/>
          <p:nvPr/>
        </p:nvSpPr>
        <p:spPr>
          <a:xfrm>
            <a:off x="548640" y="1828800"/>
            <a:ext cx="457200" cy="457200"/>
          </a:xfrm>
          <a:prstGeom prst="ellipse">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658368" y="1938528"/>
            <a:ext cx="237744" cy="237744"/>
          </a:xfrm>
          <a:prstGeom prst="rect">
            <a:avLst/>
          </a:prstGeom>
        </p:spPr>
      </p:pic>
      <p:sp>
        <p:nvSpPr>
          <p:cNvPr id="6" name="Text 3"/>
          <p:cNvSpPr txBox="1"/>
          <p:nvPr/>
        </p:nvSpPr>
        <p:spPr>
          <a:xfrm>
            <a:off x="1188720" y="1828800"/>
            <a:ext cx="4846320" cy="457200"/>
          </a:xfrm>
          <a:prstGeom prst="rect">
            <a:avLst/>
          </a:prstGeom>
          <a:noFill/>
          <a:ln/>
        </p:spPr>
        <p:txBody>
          <a:bodyPr wrap="square" lIns="0" tIns="0" rIns="0" bIns="0" rtlCol="0" anchor="ctr"/>
          <a:lstStyle/>
          <a:p>
            <a:pPr indent="0" marL="0">
              <a:buNone/>
            </a:pPr>
            <a:r>
              <a:rPr lang="en-US" sz="1450" dirty="0">
                <a:solidFill>
                  <a:schemeClr val="tx1"/>
                </a:solidFill>
                <a:latin typeface="Ebrima" pitchFamily="34" charset="0"/>
                <a:ea typeface="Ebrima" pitchFamily="34" charset="-122"/>
                <a:cs typeface="Ebrima" pitchFamily="34" charset="-120"/>
              </a:rPr>
              <a:t>የወረዱ መዝሙራትና ተወዳጆች</a:t>
            </a:r>
            <a:endParaRPr lang="en-US" sz="1450" dirty="0"/>
          </a:p>
        </p:txBody>
      </p:sp>
      <p:sp>
        <p:nvSpPr>
          <p:cNvPr id="7" name="Shape 4"/>
          <p:cNvSpPr/>
          <p:nvPr/>
        </p:nvSpPr>
        <p:spPr>
          <a:xfrm>
            <a:off x="548640" y="2432304"/>
            <a:ext cx="457200" cy="457200"/>
          </a:xfrm>
          <a:prstGeom prst="ellipse">
            <a:avLst/>
          </a:prstGeom>
          <a:solidFill>
            <a:schemeClr val="accent1"/>
          </a:solidFill>
          <a:ln/>
        </p:spPr>
      </p:sp>
      <p:pic>
        <p:nvPicPr>
          <p:cNvPr id="8" name="Image 1" descr="preencoded.png">    </p:cNvPr>
          <p:cNvPicPr>
            <a:picLocks noChangeAspect="1"/>
          </p:cNvPicPr>
          <p:nvPr/>
        </p:nvPicPr>
        <p:blipFill>
          <a:blip r:embed="rId2"/>
          <a:stretch>
            <a:fillRect/>
          </a:stretch>
        </p:blipFill>
        <p:spPr>
          <a:xfrm>
            <a:off x="658368" y="2542032"/>
            <a:ext cx="237744" cy="237744"/>
          </a:xfrm>
          <a:prstGeom prst="rect">
            <a:avLst/>
          </a:prstGeom>
        </p:spPr>
      </p:pic>
      <p:sp>
        <p:nvSpPr>
          <p:cNvPr id="9" name="Text 5"/>
          <p:cNvSpPr txBox="1"/>
          <p:nvPr/>
        </p:nvSpPr>
        <p:spPr>
          <a:xfrm>
            <a:off x="1188720" y="2432304"/>
            <a:ext cx="4846320" cy="457200"/>
          </a:xfrm>
          <a:prstGeom prst="rect">
            <a:avLst/>
          </a:prstGeom>
          <a:noFill/>
          <a:ln/>
        </p:spPr>
        <p:txBody>
          <a:bodyPr wrap="square" lIns="0" tIns="0" rIns="0" bIns="0" rtlCol="0" anchor="ctr"/>
          <a:lstStyle/>
          <a:p>
            <a:pPr indent="0" marL="0">
              <a:buNone/>
            </a:pPr>
            <a:r>
              <a:rPr lang="en-US" sz="1450" dirty="0">
                <a:solidFill>
                  <a:schemeClr val="tx1"/>
                </a:solidFill>
                <a:latin typeface="Ebrima" pitchFamily="34" charset="0"/>
                <a:ea typeface="Ebrima" pitchFamily="34" charset="-122"/>
                <a:cs typeface="Ebrima" pitchFamily="34" charset="-120"/>
              </a:rPr>
              <a:t>የራስ መታወቂያና QR ኮድ</a:t>
            </a:r>
            <a:endParaRPr lang="en-US" sz="1450" dirty="0"/>
          </a:p>
        </p:txBody>
      </p:sp>
      <p:sp>
        <p:nvSpPr>
          <p:cNvPr id="10" name="Shape 6"/>
          <p:cNvSpPr/>
          <p:nvPr/>
        </p:nvSpPr>
        <p:spPr>
          <a:xfrm>
            <a:off x="548640" y="3035808"/>
            <a:ext cx="457200" cy="457200"/>
          </a:xfrm>
          <a:prstGeom prst="ellipse">
            <a:avLst/>
          </a:prstGeom>
          <a:solidFill>
            <a:schemeClr val="accent1"/>
          </a:solidFill>
          <a:ln/>
        </p:spPr>
      </p:sp>
      <p:pic>
        <p:nvPicPr>
          <p:cNvPr id="11" name="Image 2" descr="preencoded.png">    </p:cNvPr>
          <p:cNvPicPr>
            <a:picLocks noChangeAspect="1"/>
          </p:cNvPicPr>
          <p:nvPr/>
        </p:nvPicPr>
        <p:blipFill>
          <a:blip r:embed="rId3"/>
          <a:stretch>
            <a:fillRect/>
          </a:stretch>
        </p:blipFill>
        <p:spPr>
          <a:xfrm>
            <a:off x="658368" y="3145536"/>
            <a:ext cx="237744" cy="237744"/>
          </a:xfrm>
          <a:prstGeom prst="rect">
            <a:avLst/>
          </a:prstGeom>
        </p:spPr>
      </p:pic>
      <p:sp>
        <p:nvSpPr>
          <p:cNvPr id="12" name="Text 7"/>
          <p:cNvSpPr txBox="1"/>
          <p:nvPr/>
        </p:nvSpPr>
        <p:spPr>
          <a:xfrm>
            <a:off x="1188720" y="3035808"/>
            <a:ext cx="4846320" cy="457200"/>
          </a:xfrm>
          <a:prstGeom prst="rect">
            <a:avLst/>
          </a:prstGeom>
          <a:noFill/>
          <a:ln/>
        </p:spPr>
        <p:txBody>
          <a:bodyPr wrap="square" lIns="0" tIns="0" rIns="0" bIns="0" rtlCol="0" anchor="ctr"/>
          <a:lstStyle/>
          <a:p>
            <a:pPr indent="0" marL="0">
              <a:buNone/>
            </a:pPr>
            <a:r>
              <a:rPr lang="en-US" sz="1450" dirty="0">
                <a:solidFill>
                  <a:schemeClr val="tx1"/>
                </a:solidFill>
                <a:latin typeface="Ebrima" pitchFamily="34" charset="0"/>
                <a:ea typeface="Ebrima" pitchFamily="34" charset="-122"/>
                <a:cs typeface="Ebrima" pitchFamily="34" charset="-120"/>
              </a:rPr>
              <a:t>የግል አስታዋሾችና የፕሮግራም ማንቂያዎች</a:t>
            </a:r>
            <a:endParaRPr lang="en-US" sz="1450" dirty="0"/>
          </a:p>
        </p:txBody>
      </p:sp>
      <p:sp>
        <p:nvSpPr>
          <p:cNvPr id="13" name="Shape 8"/>
          <p:cNvSpPr/>
          <p:nvPr/>
        </p:nvSpPr>
        <p:spPr>
          <a:xfrm>
            <a:off x="548640" y="3639312"/>
            <a:ext cx="457200" cy="457200"/>
          </a:xfrm>
          <a:prstGeom prst="ellipse">
            <a:avLst/>
          </a:prstGeom>
          <a:solidFill>
            <a:schemeClr val="accent1"/>
          </a:solidFill>
          <a:ln/>
        </p:spPr>
      </p:sp>
      <p:pic>
        <p:nvPicPr>
          <p:cNvPr id="14" name="Image 3" descr="preencoded.png">    </p:cNvPr>
          <p:cNvPicPr>
            <a:picLocks noChangeAspect="1"/>
          </p:cNvPicPr>
          <p:nvPr/>
        </p:nvPicPr>
        <p:blipFill>
          <a:blip r:embed="rId4"/>
          <a:stretch>
            <a:fillRect/>
          </a:stretch>
        </p:blipFill>
        <p:spPr>
          <a:xfrm>
            <a:off x="658368" y="3749040"/>
            <a:ext cx="237744" cy="237744"/>
          </a:xfrm>
          <a:prstGeom prst="rect">
            <a:avLst/>
          </a:prstGeom>
        </p:spPr>
      </p:pic>
      <p:sp>
        <p:nvSpPr>
          <p:cNvPr id="15" name="Text 9"/>
          <p:cNvSpPr txBox="1"/>
          <p:nvPr/>
        </p:nvSpPr>
        <p:spPr>
          <a:xfrm>
            <a:off x="1188720" y="3639312"/>
            <a:ext cx="4846320" cy="457200"/>
          </a:xfrm>
          <a:prstGeom prst="rect">
            <a:avLst/>
          </a:prstGeom>
          <a:noFill/>
          <a:ln/>
        </p:spPr>
        <p:txBody>
          <a:bodyPr wrap="square" lIns="0" tIns="0" rIns="0" bIns="0" rtlCol="0" anchor="ctr"/>
          <a:lstStyle/>
          <a:p>
            <a:pPr indent="0" marL="0">
              <a:buNone/>
            </a:pPr>
            <a:r>
              <a:rPr lang="en-US" sz="1450" dirty="0">
                <a:solidFill>
                  <a:schemeClr val="tx1"/>
                </a:solidFill>
                <a:latin typeface="Ebrima" pitchFamily="34" charset="0"/>
                <a:ea typeface="Ebrima" pitchFamily="34" charset="-122"/>
                <a:cs typeface="Ebrima" pitchFamily="34" charset="-120"/>
              </a:rPr>
              <a:t>መገኘት መመዝገብ (ለተመደቡ መዝጋቢዎች)</a:t>
            </a:r>
            <a:endParaRPr lang="en-US" sz="1450" dirty="0"/>
          </a:p>
        </p:txBody>
      </p:sp>
      <p:sp>
        <p:nvSpPr>
          <p:cNvPr id="16" name="Shape 10"/>
          <p:cNvSpPr/>
          <p:nvPr/>
        </p:nvSpPr>
        <p:spPr>
          <a:xfrm>
            <a:off x="548640" y="4242816"/>
            <a:ext cx="457200" cy="457200"/>
          </a:xfrm>
          <a:prstGeom prst="ellipse">
            <a:avLst/>
          </a:prstGeom>
          <a:solidFill>
            <a:schemeClr val="accent1"/>
          </a:solidFill>
          <a:ln/>
        </p:spPr>
      </p:sp>
      <p:pic>
        <p:nvPicPr>
          <p:cNvPr id="17" name="Image 4" descr="preencoded.png">    </p:cNvPr>
          <p:cNvPicPr>
            <a:picLocks noChangeAspect="1"/>
          </p:cNvPicPr>
          <p:nvPr/>
        </p:nvPicPr>
        <p:blipFill>
          <a:blip r:embed="rId5"/>
          <a:stretch>
            <a:fillRect/>
          </a:stretch>
        </p:blipFill>
        <p:spPr>
          <a:xfrm>
            <a:off x="658368" y="4352544"/>
            <a:ext cx="237744" cy="237744"/>
          </a:xfrm>
          <a:prstGeom prst="rect">
            <a:avLst/>
          </a:prstGeom>
        </p:spPr>
      </p:pic>
      <p:sp>
        <p:nvSpPr>
          <p:cNvPr id="18" name="Text 11"/>
          <p:cNvSpPr txBox="1"/>
          <p:nvPr/>
        </p:nvSpPr>
        <p:spPr>
          <a:xfrm>
            <a:off x="1188720" y="4242816"/>
            <a:ext cx="4846320" cy="457200"/>
          </a:xfrm>
          <a:prstGeom prst="rect">
            <a:avLst/>
          </a:prstGeom>
          <a:noFill/>
          <a:ln/>
        </p:spPr>
        <p:txBody>
          <a:bodyPr wrap="square" lIns="0" tIns="0" rIns="0" bIns="0" rtlCol="0" anchor="ctr"/>
          <a:lstStyle/>
          <a:p>
            <a:pPr indent="0" marL="0">
              <a:buNone/>
            </a:pPr>
            <a:r>
              <a:rPr lang="en-US" sz="1450" dirty="0">
                <a:solidFill>
                  <a:schemeClr val="tx1"/>
                </a:solidFill>
                <a:latin typeface="Ebrima" pitchFamily="34" charset="0"/>
                <a:ea typeface="Ebrima" pitchFamily="34" charset="-122"/>
                <a:cs typeface="Ebrima" pitchFamily="34" charset="-120"/>
              </a:rPr>
              <a:t>ውሰትና መመለስ (ለንብረት ሠራተኞች)</a:t>
            </a:r>
            <a:endParaRPr lang="en-US" sz="1450" dirty="0"/>
          </a:p>
        </p:txBody>
      </p:sp>
      <p:sp>
        <p:nvSpPr>
          <p:cNvPr id="19" name="Shape 12"/>
          <p:cNvSpPr/>
          <p:nvPr/>
        </p:nvSpPr>
        <p:spPr>
          <a:xfrm>
            <a:off x="548640" y="4846320"/>
            <a:ext cx="457200" cy="457200"/>
          </a:xfrm>
          <a:prstGeom prst="ellipse">
            <a:avLst/>
          </a:prstGeom>
          <a:solidFill>
            <a:schemeClr val="accent1"/>
          </a:solidFill>
          <a:ln/>
        </p:spPr>
      </p:sp>
      <p:pic>
        <p:nvPicPr>
          <p:cNvPr id="20" name="Image 5" descr="preencoded.png">    </p:cNvPr>
          <p:cNvPicPr>
            <a:picLocks noChangeAspect="1"/>
          </p:cNvPicPr>
          <p:nvPr/>
        </p:nvPicPr>
        <p:blipFill>
          <a:blip r:embed="rId6"/>
          <a:stretch>
            <a:fillRect/>
          </a:stretch>
        </p:blipFill>
        <p:spPr>
          <a:xfrm>
            <a:off x="658368" y="4956048"/>
            <a:ext cx="237744" cy="237744"/>
          </a:xfrm>
          <a:prstGeom prst="rect">
            <a:avLst/>
          </a:prstGeom>
        </p:spPr>
      </p:pic>
      <p:sp>
        <p:nvSpPr>
          <p:cNvPr id="21" name="Text 13"/>
          <p:cNvSpPr txBox="1"/>
          <p:nvPr/>
        </p:nvSpPr>
        <p:spPr>
          <a:xfrm>
            <a:off x="1188720" y="4846320"/>
            <a:ext cx="4846320" cy="457200"/>
          </a:xfrm>
          <a:prstGeom prst="rect">
            <a:avLst/>
          </a:prstGeom>
          <a:noFill/>
          <a:ln/>
        </p:spPr>
        <p:txBody>
          <a:bodyPr wrap="square" lIns="0" tIns="0" rIns="0" bIns="0" rtlCol="0" anchor="ctr"/>
          <a:lstStyle/>
          <a:p>
            <a:pPr indent="0" marL="0">
              <a:buNone/>
            </a:pPr>
            <a:r>
              <a:rPr lang="en-US" sz="1450" dirty="0">
                <a:solidFill>
                  <a:schemeClr val="tx1"/>
                </a:solidFill>
                <a:latin typeface="Ebrima" pitchFamily="34" charset="0"/>
                <a:ea typeface="Ebrima" pitchFamily="34" charset="-122"/>
                <a:cs typeface="Ebrima" pitchFamily="34" charset="-120"/>
              </a:rPr>
              <a:t>የተግባር ሁኔታ ማሻሻያ</a:t>
            </a:r>
            <a:endParaRPr lang="en-US" sz="1450" dirty="0"/>
          </a:p>
        </p:txBody>
      </p:sp>
      <p:sp>
        <p:nvSpPr>
          <p:cNvPr id="22" name="Shape 14"/>
          <p:cNvSpPr/>
          <p:nvPr/>
        </p:nvSpPr>
        <p:spPr>
          <a:xfrm>
            <a:off x="548640" y="5449824"/>
            <a:ext cx="457200" cy="457200"/>
          </a:xfrm>
          <a:prstGeom prst="ellipse">
            <a:avLst/>
          </a:prstGeom>
          <a:solidFill>
            <a:schemeClr val="accent1"/>
          </a:solidFill>
          <a:ln/>
        </p:spPr>
      </p:sp>
      <p:pic>
        <p:nvPicPr>
          <p:cNvPr id="23" name="Image 6" descr="preencoded.png">    </p:cNvPr>
          <p:cNvPicPr>
            <a:picLocks noChangeAspect="1"/>
          </p:cNvPicPr>
          <p:nvPr/>
        </p:nvPicPr>
        <p:blipFill>
          <a:blip r:embed="rId7"/>
          <a:stretch>
            <a:fillRect/>
          </a:stretch>
        </p:blipFill>
        <p:spPr>
          <a:xfrm>
            <a:off x="658368" y="5559552"/>
            <a:ext cx="237744" cy="237744"/>
          </a:xfrm>
          <a:prstGeom prst="rect">
            <a:avLst/>
          </a:prstGeom>
        </p:spPr>
      </p:pic>
      <p:sp>
        <p:nvSpPr>
          <p:cNvPr id="24" name="Text 15"/>
          <p:cNvSpPr txBox="1"/>
          <p:nvPr/>
        </p:nvSpPr>
        <p:spPr>
          <a:xfrm>
            <a:off x="1188720" y="5449824"/>
            <a:ext cx="4846320" cy="457200"/>
          </a:xfrm>
          <a:prstGeom prst="rect">
            <a:avLst/>
          </a:prstGeom>
          <a:noFill/>
          <a:ln/>
        </p:spPr>
        <p:txBody>
          <a:bodyPr wrap="square" lIns="0" tIns="0" rIns="0" bIns="0" rtlCol="0" anchor="ctr"/>
          <a:lstStyle/>
          <a:p>
            <a:pPr indent="0" marL="0">
              <a:buNone/>
            </a:pPr>
            <a:r>
              <a:rPr lang="en-US" sz="1450" dirty="0">
                <a:solidFill>
                  <a:schemeClr val="tx1"/>
                </a:solidFill>
                <a:latin typeface="Ebrima" pitchFamily="34" charset="0"/>
                <a:ea typeface="Ebrima" pitchFamily="34" charset="-122"/>
                <a:cs typeface="Ebrima" pitchFamily="34" charset="-120"/>
              </a:rPr>
              <a:t>ቀድሞ የታዩ ገጾች (ለንባብ ብቻ)</a:t>
            </a:r>
            <a:endParaRPr lang="en-US" sz="1450" dirty="0"/>
          </a:p>
        </p:txBody>
      </p:sp>
      <p:sp>
        <p:nvSpPr>
          <p:cNvPr id="25" name="Text 16"/>
          <p:cNvSpPr txBox="1"/>
          <p:nvPr/>
        </p:nvSpPr>
        <p:spPr>
          <a:xfrm>
            <a:off x="6400800" y="1325880"/>
            <a:ext cx="5212080" cy="411480"/>
          </a:xfrm>
          <a:prstGeom prst="rect">
            <a:avLst/>
          </a:prstGeom>
          <a:noFill/>
          <a:ln/>
        </p:spPr>
        <p:txBody>
          <a:bodyPr wrap="square" lIns="0" tIns="0" rIns="0" bIns="0" rtlCol="0" anchor="t"/>
          <a:lstStyle/>
          <a:p>
            <a:pPr indent="0" marL="0">
              <a:buNone/>
            </a:pPr>
            <a:r>
              <a:rPr lang="en-US" sz="1700" b="1" dirty="0">
                <a:solidFill>
                  <a:schemeClr val="accent1"/>
                </a:solidFill>
                <a:latin typeface="Ebrima" pitchFamily="34" charset="0"/>
                <a:ea typeface="Ebrima" pitchFamily="34" charset="-122"/>
                <a:cs typeface="Ebrima" pitchFamily="34" charset="-120"/>
              </a:rPr>
              <a:t>እንዴት ይመሳሰላል</a:t>
            </a:r>
            <a:endParaRPr lang="en-US" sz="1700" dirty="0"/>
          </a:p>
        </p:txBody>
      </p:sp>
      <p:sp>
        <p:nvSpPr>
          <p:cNvPr id="26" name="Shape 17"/>
          <p:cNvSpPr/>
          <p:nvPr/>
        </p:nvSpPr>
        <p:spPr>
          <a:xfrm>
            <a:off x="6400800" y="1828800"/>
            <a:ext cx="5257800" cy="749808"/>
          </a:xfrm>
          <a:prstGeom prst="roundRect">
            <a:avLst>
              <a:gd name="adj" fmla="val 14634"/>
            </a:avLst>
          </a:prstGeom>
          <a:solidFill>
            <a:schemeClr val="bg2">
              <a:alpha val="60000"/>
            </a:schemeClr>
          </a:solidFill>
          <a:ln/>
        </p:spPr>
      </p:sp>
      <p:sp>
        <p:nvSpPr>
          <p:cNvPr id="27" name="Text 18"/>
          <p:cNvSpPr txBox="1"/>
          <p:nvPr/>
        </p:nvSpPr>
        <p:spPr>
          <a:xfrm>
            <a:off x="6537960" y="1828800"/>
            <a:ext cx="457200" cy="749808"/>
          </a:xfrm>
          <a:prstGeom prst="rect">
            <a:avLst/>
          </a:prstGeom>
          <a:noFill/>
          <a:ln/>
        </p:spPr>
        <p:txBody>
          <a:bodyPr wrap="square" lIns="0" tIns="0" rIns="0" bIns="0" rtlCol="0" anchor="ctr"/>
          <a:lstStyle/>
          <a:p>
            <a:pPr indent="0" marL="0">
              <a:buNone/>
            </a:pPr>
            <a:r>
              <a:rPr lang="en-US" sz="2200" b="1" dirty="0">
                <a:solidFill>
                  <a:schemeClr val="accent1"/>
                </a:solidFill>
                <a:latin typeface="Ebrima" pitchFamily="34" charset="0"/>
                <a:ea typeface="Ebrima" pitchFamily="34" charset="-122"/>
                <a:cs typeface="Ebrima" pitchFamily="34" charset="-120"/>
              </a:rPr>
              <a:t>1</a:t>
            </a:r>
            <a:endParaRPr lang="en-US" sz="2200" dirty="0"/>
          </a:p>
        </p:txBody>
      </p:sp>
      <p:sp>
        <p:nvSpPr>
          <p:cNvPr id="28" name="Text 19"/>
          <p:cNvSpPr txBox="1"/>
          <p:nvPr/>
        </p:nvSpPr>
        <p:spPr>
          <a:xfrm>
            <a:off x="7040880" y="1828800"/>
            <a:ext cx="4480560" cy="749808"/>
          </a:xfrm>
          <a:prstGeom prst="rect">
            <a:avLst/>
          </a:prstGeom>
          <a:noFill/>
          <a:ln/>
        </p:spPr>
        <p:txBody>
          <a:bodyPr wrap="square" lIns="0" tIns="0" rIns="0" bIns="0" rtlCol="0" anchor="ctr"/>
          <a:lstStyle/>
          <a:p>
            <a:pPr indent="0" marL="0">
              <a:buNone/>
            </a:pPr>
            <a:r>
              <a:rPr lang="en-US" sz="1400" b="1" dirty="0">
                <a:solidFill>
                  <a:schemeClr val="tx1"/>
                </a:solidFill>
                <a:latin typeface="Ebrima" pitchFamily="34" charset="0"/>
                <a:ea typeface="Ebrima" pitchFamily="34" charset="-122"/>
                <a:cs typeface="Ebrima" pitchFamily="34" charset="-120"/>
              </a:rPr>
              <a:t>ስልኩ ላይ ይቀመጣል — </a:t>
            </a:r>
            <a:pPr indent="0" marL="0">
              <a:buNone/>
            </a:pPr>
            <a:r>
              <a:rPr lang="en-US" sz="1400" dirty="0">
                <a:solidFill>
                  <a:schemeClr val="tx1"/>
                </a:solidFill>
                <a:latin typeface="Ebrima" pitchFamily="34" charset="0"/>
                <a:ea typeface="Ebrima" pitchFamily="34" charset="-122"/>
                <a:cs typeface="Ebrima" pitchFamily="34" charset="-120"/>
              </a:rPr>
              <a:t>ፊርማዎች ተመስጥረው</a:t>
            </a:r>
            <a:endParaRPr lang="en-US" sz="1400" dirty="0"/>
          </a:p>
        </p:txBody>
      </p:sp>
      <p:sp>
        <p:nvSpPr>
          <p:cNvPr id="29" name="Shape 20"/>
          <p:cNvSpPr/>
          <p:nvPr/>
        </p:nvSpPr>
        <p:spPr>
          <a:xfrm>
            <a:off x="6400800" y="2743200"/>
            <a:ext cx="5257800" cy="749808"/>
          </a:xfrm>
          <a:prstGeom prst="roundRect">
            <a:avLst>
              <a:gd name="adj" fmla="val 14634"/>
            </a:avLst>
          </a:prstGeom>
          <a:solidFill>
            <a:schemeClr val="bg2">
              <a:alpha val="60000"/>
            </a:schemeClr>
          </a:solidFill>
          <a:ln/>
        </p:spPr>
      </p:sp>
      <p:sp>
        <p:nvSpPr>
          <p:cNvPr id="30" name="Text 21"/>
          <p:cNvSpPr txBox="1"/>
          <p:nvPr/>
        </p:nvSpPr>
        <p:spPr>
          <a:xfrm>
            <a:off x="6537960" y="2743200"/>
            <a:ext cx="457200" cy="749808"/>
          </a:xfrm>
          <a:prstGeom prst="rect">
            <a:avLst/>
          </a:prstGeom>
          <a:noFill/>
          <a:ln/>
        </p:spPr>
        <p:txBody>
          <a:bodyPr wrap="square" lIns="0" tIns="0" rIns="0" bIns="0" rtlCol="0" anchor="ctr"/>
          <a:lstStyle/>
          <a:p>
            <a:pPr indent="0" marL="0">
              <a:buNone/>
            </a:pPr>
            <a:r>
              <a:rPr lang="en-US" sz="2200" b="1" dirty="0">
                <a:solidFill>
                  <a:schemeClr val="accent1"/>
                </a:solidFill>
                <a:latin typeface="Ebrima" pitchFamily="34" charset="0"/>
                <a:ea typeface="Ebrima" pitchFamily="34" charset="-122"/>
                <a:cs typeface="Ebrima" pitchFamily="34" charset="-120"/>
              </a:rPr>
              <a:t>2</a:t>
            </a:r>
            <a:endParaRPr lang="en-US" sz="2200" dirty="0"/>
          </a:p>
        </p:txBody>
      </p:sp>
      <p:sp>
        <p:nvSpPr>
          <p:cNvPr id="31" name="Text 22"/>
          <p:cNvSpPr txBox="1"/>
          <p:nvPr/>
        </p:nvSpPr>
        <p:spPr>
          <a:xfrm>
            <a:off x="7040880" y="2743200"/>
            <a:ext cx="4480560" cy="749808"/>
          </a:xfrm>
          <a:prstGeom prst="rect">
            <a:avLst/>
          </a:prstGeom>
          <a:noFill/>
          <a:ln/>
        </p:spPr>
        <p:txBody>
          <a:bodyPr wrap="square" lIns="0" tIns="0" rIns="0" bIns="0" rtlCol="0" anchor="ctr"/>
          <a:lstStyle/>
          <a:p>
            <a:pPr indent="0" marL="0">
              <a:buNone/>
            </a:pPr>
            <a:r>
              <a:rPr lang="en-US" sz="1400" b="1" dirty="0">
                <a:solidFill>
                  <a:schemeClr val="tx1"/>
                </a:solidFill>
                <a:latin typeface="Ebrima" pitchFamily="34" charset="0"/>
                <a:ea typeface="Ebrima" pitchFamily="34" charset="-122"/>
                <a:cs typeface="Ebrima" pitchFamily="34" charset="-120"/>
              </a:rPr>
              <a:t>ኢንተርኔት ሲመለስ — </a:t>
            </a:r>
            <a:pPr indent="0" marL="0">
              <a:buNone/>
            </a:pPr>
            <a:r>
              <a:rPr lang="en-US" sz="1400" dirty="0">
                <a:solidFill>
                  <a:schemeClr val="tx1"/>
                </a:solidFill>
                <a:latin typeface="Ebrima" pitchFamily="34" charset="0"/>
                <a:ea typeface="Ebrima" pitchFamily="34" charset="-122"/>
                <a:cs typeface="Ebrima" pitchFamily="34" charset="-120"/>
              </a:rPr>
              <a:t>በራሱ ይላካል</a:t>
            </a:r>
            <a:endParaRPr lang="en-US" sz="1400" dirty="0"/>
          </a:p>
        </p:txBody>
      </p:sp>
      <p:sp>
        <p:nvSpPr>
          <p:cNvPr id="32" name="Shape 23"/>
          <p:cNvSpPr/>
          <p:nvPr/>
        </p:nvSpPr>
        <p:spPr>
          <a:xfrm>
            <a:off x="6400800" y="3657600"/>
            <a:ext cx="5257800" cy="749808"/>
          </a:xfrm>
          <a:prstGeom prst="roundRect">
            <a:avLst>
              <a:gd name="adj" fmla="val 14634"/>
            </a:avLst>
          </a:prstGeom>
          <a:solidFill>
            <a:schemeClr val="bg2">
              <a:alpha val="60000"/>
            </a:schemeClr>
          </a:solidFill>
          <a:ln/>
        </p:spPr>
      </p:sp>
      <p:sp>
        <p:nvSpPr>
          <p:cNvPr id="33" name="Text 24"/>
          <p:cNvSpPr txBox="1"/>
          <p:nvPr/>
        </p:nvSpPr>
        <p:spPr>
          <a:xfrm>
            <a:off x="6537960" y="3657600"/>
            <a:ext cx="457200" cy="749808"/>
          </a:xfrm>
          <a:prstGeom prst="rect">
            <a:avLst/>
          </a:prstGeom>
          <a:noFill/>
          <a:ln/>
        </p:spPr>
        <p:txBody>
          <a:bodyPr wrap="square" lIns="0" tIns="0" rIns="0" bIns="0" rtlCol="0" anchor="ctr"/>
          <a:lstStyle/>
          <a:p>
            <a:pPr indent="0" marL="0">
              <a:buNone/>
            </a:pPr>
            <a:r>
              <a:rPr lang="en-US" sz="2200" b="1" dirty="0">
                <a:solidFill>
                  <a:schemeClr val="accent1"/>
                </a:solidFill>
                <a:latin typeface="Ebrima" pitchFamily="34" charset="0"/>
                <a:ea typeface="Ebrima" pitchFamily="34" charset="-122"/>
                <a:cs typeface="Ebrima" pitchFamily="34" charset="-120"/>
              </a:rPr>
              <a:t>3</a:t>
            </a:r>
            <a:endParaRPr lang="en-US" sz="2200" dirty="0"/>
          </a:p>
        </p:txBody>
      </p:sp>
      <p:sp>
        <p:nvSpPr>
          <p:cNvPr id="34" name="Text 25"/>
          <p:cNvSpPr txBox="1"/>
          <p:nvPr/>
        </p:nvSpPr>
        <p:spPr>
          <a:xfrm>
            <a:off x="7040880" y="3657600"/>
            <a:ext cx="4480560" cy="749808"/>
          </a:xfrm>
          <a:prstGeom prst="rect">
            <a:avLst/>
          </a:prstGeom>
          <a:noFill/>
          <a:ln/>
        </p:spPr>
        <p:txBody>
          <a:bodyPr wrap="square" lIns="0" tIns="0" rIns="0" bIns="0" rtlCol="0" anchor="ctr"/>
          <a:lstStyle/>
          <a:p>
            <a:pPr indent="0" marL="0">
              <a:buNone/>
            </a:pPr>
            <a:r>
              <a:rPr lang="en-US" sz="1400" b="1" dirty="0">
                <a:solidFill>
                  <a:schemeClr val="tx1"/>
                </a:solidFill>
                <a:latin typeface="Ebrima" pitchFamily="34" charset="0"/>
                <a:ea typeface="Ebrima" pitchFamily="34" charset="-122"/>
                <a:cs typeface="Ebrima" pitchFamily="34" charset="-120"/>
              </a:rPr>
              <a:t>አገልጋዩ ያረጋግጣል — </a:t>
            </a:r>
            <a:pPr indent="0" marL="0">
              <a:buNone/>
            </a:pPr>
            <a:r>
              <a:rPr lang="en-US" sz="1400" dirty="0">
                <a:solidFill>
                  <a:schemeClr val="tx1"/>
                </a:solidFill>
                <a:latin typeface="Ebrima" pitchFamily="34" charset="0"/>
                <a:ea typeface="Ebrima" pitchFamily="34" charset="-122"/>
                <a:cs typeface="Ebrima" pitchFamily="34" charset="-120"/>
              </a:rPr>
              <a:t>የመጨረሻውን ቃል አገልጋዩ ይወስናል</a:t>
            </a:r>
            <a:endParaRPr lang="en-US" sz="1400" dirty="0"/>
          </a:p>
        </p:txBody>
      </p:sp>
      <p:sp>
        <p:nvSpPr>
          <p:cNvPr id="35" name="Shape 26"/>
          <p:cNvSpPr/>
          <p:nvPr/>
        </p:nvSpPr>
        <p:spPr>
          <a:xfrm>
            <a:off x="6400800" y="4572000"/>
            <a:ext cx="5257800" cy="749808"/>
          </a:xfrm>
          <a:prstGeom prst="roundRect">
            <a:avLst>
              <a:gd name="adj" fmla="val 14634"/>
            </a:avLst>
          </a:prstGeom>
          <a:solidFill>
            <a:schemeClr val="accent1"/>
          </a:solidFill>
          <a:ln/>
        </p:spPr>
      </p:sp>
      <p:sp>
        <p:nvSpPr>
          <p:cNvPr id="36" name="Text 27"/>
          <p:cNvSpPr txBox="1"/>
          <p:nvPr/>
        </p:nvSpPr>
        <p:spPr>
          <a:xfrm>
            <a:off x="6537960" y="4572000"/>
            <a:ext cx="457200" cy="749808"/>
          </a:xfrm>
          <a:prstGeom prst="rect">
            <a:avLst/>
          </a:prstGeom>
          <a:noFill/>
          <a:ln/>
        </p:spPr>
        <p:txBody>
          <a:bodyPr wrap="square" lIns="0" tIns="0" rIns="0" bIns="0" rtlCol="0" anchor="ctr"/>
          <a:lstStyle/>
          <a:p>
            <a:pPr indent="0" marL="0">
              <a:buNone/>
            </a:pPr>
            <a:r>
              <a:rPr lang="en-US" sz="2200" b="1" dirty="0">
                <a:solidFill>
                  <a:schemeClr val="accent2"/>
                </a:solidFill>
                <a:latin typeface="Ebrima" pitchFamily="34" charset="0"/>
                <a:ea typeface="Ebrima" pitchFamily="34" charset="-122"/>
                <a:cs typeface="Ebrima" pitchFamily="34" charset="-120"/>
              </a:rPr>
              <a:t>4</a:t>
            </a:r>
            <a:endParaRPr lang="en-US" sz="2200" dirty="0"/>
          </a:p>
        </p:txBody>
      </p:sp>
      <p:sp>
        <p:nvSpPr>
          <p:cNvPr id="37" name="Text 28"/>
          <p:cNvSpPr txBox="1"/>
          <p:nvPr/>
        </p:nvSpPr>
        <p:spPr>
          <a:xfrm>
            <a:off x="7040880" y="4572000"/>
            <a:ext cx="4480560" cy="749808"/>
          </a:xfrm>
          <a:prstGeom prst="rect">
            <a:avLst/>
          </a:prstGeom>
          <a:noFill/>
          <a:ln/>
        </p:spPr>
        <p:txBody>
          <a:bodyPr wrap="square" lIns="0" tIns="0" rIns="0" bIns="0" rtlCol="0" anchor="ctr"/>
          <a:lstStyle/>
          <a:p>
            <a:pPr indent="0" marL="0">
              <a:buNone/>
            </a:pPr>
            <a:r>
              <a:rPr lang="en-US" sz="1400" b="1" dirty="0">
                <a:solidFill>
                  <a:schemeClr val="bg1"/>
                </a:solidFill>
                <a:latin typeface="Ebrima" pitchFamily="34" charset="0"/>
                <a:ea typeface="Ebrima" pitchFamily="34" charset="-122"/>
                <a:cs typeface="Ebrima" pitchFamily="34" charset="-120"/>
              </a:rPr>
              <a:t>ያልተቀበለው — </a:t>
            </a:r>
            <a:pPr indent="0" marL="0">
              <a:buNone/>
            </a:pPr>
            <a:r>
              <a:rPr lang="en-US" sz="1400" dirty="0">
                <a:solidFill>
                  <a:schemeClr val="bg1"/>
                </a:solidFill>
                <a:latin typeface="Ebrima" pitchFamily="34" charset="0"/>
                <a:ea typeface="Ebrima" pitchFamily="34" charset="-122"/>
                <a:cs typeface="Ebrima" pitchFamily="34" charset="-120"/>
              </a:rPr>
              <a:t>ለሰው ሀብት ግምገማ ይቀርባል — አይጠፋም</a:t>
            </a:r>
            <a:endParaRPr lang="en-US" sz="1400" dirty="0"/>
          </a:p>
        </p:txBody>
      </p:sp>
      <p:sp>
        <p:nvSpPr>
          <p:cNvPr id="38" name="Text 29"/>
          <p:cNvSpPr txBox="1"/>
          <p:nvPr/>
        </p:nvSpPr>
        <p:spPr>
          <a:xfrm>
            <a:off x="6400800" y="5623560"/>
            <a:ext cx="5257800" cy="548640"/>
          </a:xfrm>
          <a:prstGeom prst="rect">
            <a:avLst/>
          </a:prstGeom>
          <a:noFill/>
          <a:ln/>
        </p:spPr>
        <p:txBody>
          <a:bodyPr wrap="square" lIns="0" tIns="0" rIns="0" bIns="0" rtlCol="0" anchor="t"/>
          <a:lstStyle/>
          <a:p>
            <a:pPr indent="0" marL="0">
              <a:buNone/>
            </a:pPr>
            <a:r>
              <a:rPr lang="en-US" sz="1250" i="1" dirty="0">
                <a:solidFill>
                  <a:schemeClr val="accent4"/>
                </a:solidFill>
                <a:latin typeface="Ebrima" pitchFamily="34" charset="0"/>
                <a:ea typeface="Ebrima" pitchFamily="34" charset="-122"/>
                <a:cs typeface="Ebrima" pitchFamily="34" charset="-120"/>
              </a:rPr>
              <a:t>ገደብ፦ አብዛኞቹ የአስተዳደር ሥራዎች ኢንተርኔት ይፈልጋሉ፤ ሙሉ በሙሉ ያለ ኢንተርኔት መሥራት በዕቅድ ላይ ነው።</a:t>
            </a:r>
            <a:endParaRPr lang="en-US" sz="125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Ebrima"/>
                <a:ea typeface="Ebrima"/>
                <a:cs typeface="Ebrima"/>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0241280" cy="777240"/>
          </a:xfrm>
          <a:prstGeom prst="rect">
            <a:avLst/>
          </a:prstGeom>
          <a:noFill/>
          <a:ln/>
        </p:spPr>
        <p:txBody>
          <a:bodyPr wrap="square" lIns="0" tIns="0" rIns="0" bIns="0" rtlCol="0" anchor="ctr"/>
          <a:lstStyle/>
          <a:p>
            <a:pPr algn="l" indent="0" marL="0">
              <a:buNone/>
            </a:pPr>
            <a:r>
              <a:rPr lang="en-US" sz="3400" dirty="0">
                <a:solidFill>
                  <a:schemeClr val="accent1"/>
                </a:solidFill>
                <a:latin typeface="Nyala" pitchFamily="34" charset="0"/>
                <a:ea typeface="Nyala" pitchFamily="34" charset="-122"/>
                <a:cs typeface="Nyala" pitchFamily="34" charset="-120"/>
              </a:rPr>
              <a:t>ግላዊነትና ደህንነት</a:t>
            </a:r>
            <a:endParaRPr lang="en-US" sz="3400" dirty="0"/>
          </a:p>
        </p:txBody>
      </p:sp>
      <p:sp>
        <p:nvSpPr>
          <p:cNvPr id="3" name="Shape 1"/>
          <p:cNvSpPr/>
          <p:nvPr/>
        </p:nvSpPr>
        <p:spPr>
          <a:xfrm>
            <a:off x="548640" y="1325880"/>
            <a:ext cx="3520440" cy="2286000"/>
          </a:xfrm>
          <a:prstGeom prst="roundRect">
            <a:avLst>
              <a:gd name="adj" fmla="val 4800"/>
            </a:avLst>
          </a:prstGeom>
          <a:solidFill>
            <a:schemeClr val="bg2">
              <a:alpha val="55000"/>
            </a:schemeClr>
          </a:solidFill>
          <a:ln/>
        </p:spPr>
      </p:sp>
      <p:sp>
        <p:nvSpPr>
          <p:cNvPr id="4" name="Shape 2"/>
          <p:cNvSpPr/>
          <p:nvPr/>
        </p:nvSpPr>
        <p:spPr>
          <a:xfrm>
            <a:off x="777240" y="1554480"/>
            <a:ext cx="658368" cy="658368"/>
          </a:xfrm>
          <a:prstGeom prst="ellipse">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935248" y="1712488"/>
            <a:ext cx="342351" cy="342351"/>
          </a:xfrm>
          <a:prstGeom prst="rect">
            <a:avLst/>
          </a:prstGeom>
        </p:spPr>
      </p:pic>
      <p:sp>
        <p:nvSpPr>
          <p:cNvPr id="6" name="Text 3"/>
          <p:cNvSpPr txBox="1"/>
          <p:nvPr/>
        </p:nvSpPr>
        <p:spPr>
          <a:xfrm>
            <a:off x="1600200" y="1600200"/>
            <a:ext cx="2331720" cy="594360"/>
          </a:xfrm>
          <a:prstGeom prst="rect">
            <a:avLst/>
          </a:prstGeom>
          <a:noFill/>
          <a:ln/>
        </p:spPr>
        <p:txBody>
          <a:bodyPr wrap="square" lIns="0" tIns="0" rIns="0" bIns="0" rtlCol="0" anchor="ctr"/>
          <a:lstStyle/>
          <a:p>
            <a:pPr indent="0" marL="0">
              <a:buNone/>
            </a:pPr>
            <a:r>
              <a:rPr lang="en-US" sz="1550" b="1" dirty="0">
                <a:solidFill>
                  <a:schemeClr val="accent1"/>
                </a:solidFill>
                <a:latin typeface="Ebrima" pitchFamily="34" charset="0"/>
                <a:ea typeface="Ebrima" pitchFamily="34" charset="-122"/>
                <a:cs typeface="Ebrima" pitchFamily="34" charset="-120"/>
              </a:rPr>
              <a:t>በፈቃድ ላይ የተመሠረተ መዳረሻ</a:t>
            </a:r>
            <a:endParaRPr lang="en-US" sz="1550" dirty="0"/>
          </a:p>
        </p:txBody>
      </p:sp>
      <p:sp>
        <p:nvSpPr>
          <p:cNvPr id="7" name="Text 4"/>
          <p:cNvSpPr txBox="1"/>
          <p:nvPr/>
        </p:nvSpPr>
        <p:spPr>
          <a:xfrm>
            <a:off x="777240" y="2377440"/>
            <a:ext cx="3108960" cy="1097280"/>
          </a:xfrm>
          <a:prstGeom prst="rect">
            <a:avLst/>
          </a:prstGeom>
          <a:noFill/>
          <a:ln/>
        </p:spPr>
        <p:txBody>
          <a:bodyPr wrap="square" lIns="0" tIns="0" rIns="0" bIns="0" rtlCol="0" anchor="t"/>
          <a:lstStyle/>
          <a:p>
            <a:pPr indent="0" marL="0">
              <a:buNone/>
            </a:pPr>
            <a:r>
              <a:rPr lang="en-US" sz="1300" dirty="0">
                <a:solidFill>
                  <a:schemeClr val="tx1"/>
                </a:solidFill>
                <a:latin typeface="Ebrima" pitchFamily="34" charset="0"/>
                <a:ea typeface="Ebrima" pitchFamily="34" charset="-122"/>
                <a:cs typeface="Ebrima" pitchFamily="34" charset="-120"/>
              </a:rPr>
              <a:t>እያንዳንዱ ሰው የሚያየው ለሥራው የሚያስፈልገውን ብቻ</a:t>
            </a:r>
            <a:endParaRPr lang="en-US" sz="1300" dirty="0"/>
          </a:p>
        </p:txBody>
      </p:sp>
      <p:sp>
        <p:nvSpPr>
          <p:cNvPr id="8" name="Shape 5"/>
          <p:cNvSpPr/>
          <p:nvPr/>
        </p:nvSpPr>
        <p:spPr>
          <a:xfrm>
            <a:off x="4297680" y="1325880"/>
            <a:ext cx="3520440" cy="2286000"/>
          </a:xfrm>
          <a:prstGeom prst="roundRect">
            <a:avLst>
              <a:gd name="adj" fmla="val 4800"/>
            </a:avLst>
          </a:prstGeom>
          <a:solidFill>
            <a:schemeClr val="bg2">
              <a:alpha val="55000"/>
            </a:schemeClr>
          </a:solidFill>
          <a:ln/>
        </p:spPr>
      </p:sp>
      <p:sp>
        <p:nvSpPr>
          <p:cNvPr id="9" name="Shape 6"/>
          <p:cNvSpPr/>
          <p:nvPr/>
        </p:nvSpPr>
        <p:spPr>
          <a:xfrm>
            <a:off x="4526280" y="1554480"/>
            <a:ext cx="658368" cy="658368"/>
          </a:xfrm>
          <a:prstGeom prst="ellipse">
            <a:avLst/>
          </a:prstGeom>
          <a:solidFill>
            <a:schemeClr val="accent1"/>
          </a:solidFill>
          <a:ln/>
        </p:spPr>
      </p:sp>
      <p:pic>
        <p:nvPicPr>
          <p:cNvPr id="10" name="Image 1" descr="preencoded.png">    </p:cNvPr>
          <p:cNvPicPr>
            <a:picLocks noChangeAspect="1"/>
          </p:cNvPicPr>
          <p:nvPr/>
        </p:nvPicPr>
        <p:blipFill>
          <a:blip r:embed="rId2"/>
          <a:stretch>
            <a:fillRect/>
          </a:stretch>
        </p:blipFill>
        <p:spPr>
          <a:xfrm>
            <a:off x="4684288" y="1712488"/>
            <a:ext cx="342351" cy="342351"/>
          </a:xfrm>
          <a:prstGeom prst="rect">
            <a:avLst/>
          </a:prstGeom>
        </p:spPr>
      </p:pic>
      <p:sp>
        <p:nvSpPr>
          <p:cNvPr id="11" name="Text 7"/>
          <p:cNvSpPr txBox="1"/>
          <p:nvPr/>
        </p:nvSpPr>
        <p:spPr>
          <a:xfrm>
            <a:off x="5349240" y="1600200"/>
            <a:ext cx="2331720" cy="594360"/>
          </a:xfrm>
          <a:prstGeom prst="rect">
            <a:avLst/>
          </a:prstGeom>
          <a:noFill/>
          <a:ln/>
        </p:spPr>
        <p:txBody>
          <a:bodyPr wrap="square" lIns="0" tIns="0" rIns="0" bIns="0" rtlCol="0" anchor="ctr"/>
          <a:lstStyle/>
          <a:p>
            <a:pPr indent="0" marL="0">
              <a:buNone/>
            </a:pPr>
            <a:r>
              <a:rPr lang="en-US" sz="1550" b="1" dirty="0">
                <a:solidFill>
                  <a:schemeClr val="accent1"/>
                </a:solidFill>
                <a:latin typeface="Ebrima" pitchFamily="34" charset="0"/>
                <a:ea typeface="Ebrima" pitchFamily="34" charset="-122"/>
                <a:cs typeface="Ebrima" pitchFamily="34" charset="-120"/>
              </a:rPr>
              <a:t>የተመሰጠረ የግል መረጃ</a:t>
            </a:r>
            <a:endParaRPr lang="en-US" sz="1550" dirty="0"/>
          </a:p>
        </p:txBody>
      </p:sp>
      <p:sp>
        <p:nvSpPr>
          <p:cNvPr id="12" name="Text 8"/>
          <p:cNvSpPr txBox="1"/>
          <p:nvPr/>
        </p:nvSpPr>
        <p:spPr>
          <a:xfrm>
            <a:off x="4526280" y="2377440"/>
            <a:ext cx="3108960" cy="1097280"/>
          </a:xfrm>
          <a:prstGeom prst="rect">
            <a:avLst/>
          </a:prstGeom>
          <a:noFill/>
          <a:ln/>
        </p:spPr>
        <p:txBody>
          <a:bodyPr wrap="square" lIns="0" tIns="0" rIns="0" bIns="0" rtlCol="0" anchor="t"/>
          <a:lstStyle/>
          <a:p>
            <a:pPr indent="0" marL="0">
              <a:buNone/>
            </a:pPr>
            <a:r>
              <a:rPr lang="en-US" sz="1300" dirty="0">
                <a:solidFill>
                  <a:schemeClr val="tx1"/>
                </a:solidFill>
                <a:latin typeface="Ebrima" pitchFamily="34" charset="0"/>
                <a:ea typeface="Ebrima" pitchFamily="34" charset="-122"/>
                <a:cs typeface="Ebrima" pitchFamily="34" charset="-120"/>
              </a:rPr>
              <a:t>ስሱ የአባላት መረጃዎች፣ መልእክቶችና ማስታወሻዎች በመረጃ ቋቱ ውስጥ ተመስጥረው ይቀመጣሉ</a:t>
            </a:r>
            <a:endParaRPr lang="en-US" sz="1300" dirty="0"/>
          </a:p>
        </p:txBody>
      </p:sp>
      <p:sp>
        <p:nvSpPr>
          <p:cNvPr id="13" name="Shape 9"/>
          <p:cNvSpPr/>
          <p:nvPr/>
        </p:nvSpPr>
        <p:spPr>
          <a:xfrm>
            <a:off x="8046720" y="1325880"/>
            <a:ext cx="3520440" cy="2286000"/>
          </a:xfrm>
          <a:prstGeom prst="roundRect">
            <a:avLst>
              <a:gd name="adj" fmla="val 4800"/>
            </a:avLst>
          </a:prstGeom>
          <a:solidFill>
            <a:schemeClr val="bg2">
              <a:alpha val="55000"/>
            </a:schemeClr>
          </a:solidFill>
          <a:ln/>
        </p:spPr>
      </p:sp>
      <p:sp>
        <p:nvSpPr>
          <p:cNvPr id="14" name="Shape 10"/>
          <p:cNvSpPr/>
          <p:nvPr/>
        </p:nvSpPr>
        <p:spPr>
          <a:xfrm>
            <a:off x="8275320" y="1554480"/>
            <a:ext cx="658368" cy="658368"/>
          </a:xfrm>
          <a:prstGeom prst="ellipse">
            <a:avLst/>
          </a:prstGeom>
          <a:solidFill>
            <a:schemeClr val="accent1"/>
          </a:solidFill>
          <a:ln/>
        </p:spPr>
      </p:sp>
      <p:pic>
        <p:nvPicPr>
          <p:cNvPr id="15" name="Image 2" descr="preencoded.png">    </p:cNvPr>
          <p:cNvPicPr>
            <a:picLocks noChangeAspect="1"/>
          </p:cNvPicPr>
          <p:nvPr/>
        </p:nvPicPr>
        <p:blipFill>
          <a:blip r:embed="rId3"/>
          <a:stretch>
            <a:fillRect/>
          </a:stretch>
        </p:blipFill>
        <p:spPr>
          <a:xfrm>
            <a:off x="8433328" y="1712488"/>
            <a:ext cx="342351" cy="342351"/>
          </a:xfrm>
          <a:prstGeom prst="rect">
            <a:avLst/>
          </a:prstGeom>
        </p:spPr>
      </p:pic>
      <p:sp>
        <p:nvSpPr>
          <p:cNvPr id="16" name="Text 11"/>
          <p:cNvSpPr txBox="1"/>
          <p:nvPr/>
        </p:nvSpPr>
        <p:spPr>
          <a:xfrm>
            <a:off x="9098280" y="1600200"/>
            <a:ext cx="2331720" cy="594360"/>
          </a:xfrm>
          <a:prstGeom prst="rect">
            <a:avLst/>
          </a:prstGeom>
          <a:noFill/>
          <a:ln/>
        </p:spPr>
        <p:txBody>
          <a:bodyPr wrap="square" lIns="0" tIns="0" rIns="0" bIns="0" rtlCol="0" anchor="ctr"/>
          <a:lstStyle/>
          <a:p>
            <a:pPr indent="0" marL="0">
              <a:buNone/>
            </a:pPr>
            <a:r>
              <a:rPr lang="en-US" sz="1550" b="1" dirty="0">
                <a:solidFill>
                  <a:schemeClr val="accent1"/>
                </a:solidFill>
                <a:latin typeface="Ebrima" pitchFamily="34" charset="0"/>
                <a:ea typeface="Ebrima" pitchFamily="34" charset="-122"/>
                <a:cs typeface="Ebrima" pitchFamily="34" charset="-120"/>
              </a:rPr>
              <a:t>የግል ማከማቻ</a:t>
            </a:r>
            <a:endParaRPr lang="en-US" sz="1550" dirty="0"/>
          </a:p>
        </p:txBody>
      </p:sp>
      <p:sp>
        <p:nvSpPr>
          <p:cNvPr id="17" name="Text 12"/>
          <p:cNvSpPr txBox="1"/>
          <p:nvPr/>
        </p:nvSpPr>
        <p:spPr>
          <a:xfrm>
            <a:off x="8275320" y="2377440"/>
            <a:ext cx="3108960" cy="1097280"/>
          </a:xfrm>
          <a:prstGeom prst="rect">
            <a:avLst/>
          </a:prstGeom>
          <a:noFill/>
          <a:ln/>
        </p:spPr>
        <p:txBody>
          <a:bodyPr wrap="square" lIns="0" tIns="0" rIns="0" bIns="0" rtlCol="0" anchor="t"/>
          <a:lstStyle/>
          <a:p>
            <a:pPr indent="0" marL="0">
              <a:buNone/>
            </a:pPr>
            <a:r>
              <a:rPr lang="en-US" sz="1300" dirty="0">
                <a:solidFill>
                  <a:schemeClr val="tx1"/>
                </a:solidFill>
                <a:latin typeface="Ebrima" pitchFamily="34" charset="0"/>
                <a:ea typeface="Ebrima" pitchFamily="34" charset="-122"/>
                <a:cs typeface="Ebrima" pitchFamily="34" charset="-120"/>
              </a:rPr>
              <a:t>ፊርማዎች፣ የውይይት ፋይሎችና መጻሕፍት ለተፈቀደላቸው ብቻ ይከፈታሉ</a:t>
            </a:r>
            <a:endParaRPr lang="en-US" sz="1300" dirty="0"/>
          </a:p>
        </p:txBody>
      </p:sp>
      <p:sp>
        <p:nvSpPr>
          <p:cNvPr id="18" name="Shape 13"/>
          <p:cNvSpPr/>
          <p:nvPr/>
        </p:nvSpPr>
        <p:spPr>
          <a:xfrm>
            <a:off x="548640" y="3794760"/>
            <a:ext cx="3520440" cy="2286000"/>
          </a:xfrm>
          <a:prstGeom prst="roundRect">
            <a:avLst>
              <a:gd name="adj" fmla="val 4800"/>
            </a:avLst>
          </a:prstGeom>
          <a:solidFill>
            <a:schemeClr val="bg2">
              <a:alpha val="55000"/>
            </a:schemeClr>
          </a:solidFill>
          <a:ln/>
        </p:spPr>
      </p:sp>
      <p:sp>
        <p:nvSpPr>
          <p:cNvPr id="19" name="Shape 14"/>
          <p:cNvSpPr/>
          <p:nvPr/>
        </p:nvSpPr>
        <p:spPr>
          <a:xfrm>
            <a:off x="777240" y="4023360"/>
            <a:ext cx="658368" cy="658368"/>
          </a:xfrm>
          <a:prstGeom prst="ellipse">
            <a:avLst/>
          </a:prstGeom>
          <a:solidFill>
            <a:schemeClr val="accent2"/>
          </a:solidFill>
          <a:ln/>
        </p:spPr>
      </p:sp>
      <p:pic>
        <p:nvPicPr>
          <p:cNvPr id="20" name="Image 3" descr="preencoded.png">    </p:cNvPr>
          <p:cNvPicPr>
            <a:picLocks noChangeAspect="1"/>
          </p:cNvPicPr>
          <p:nvPr/>
        </p:nvPicPr>
        <p:blipFill>
          <a:blip r:embed="rId4"/>
          <a:stretch>
            <a:fillRect/>
          </a:stretch>
        </p:blipFill>
        <p:spPr>
          <a:xfrm>
            <a:off x="935248" y="4181368"/>
            <a:ext cx="342351" cy="342351"/>
          </a:xfrm>
          <a:prstGeom prst="rect">
            <a:avLst/>
          </a:prstGeom>
        </p:spPr>
      </p:pic>
      <p:sp>
        <p:nvSpPr>
          <p:cNvPr id="21" name="Text 15"/>
          <p:cNvSpPr txBox="1"/>
          <p:nvPr/>
        </p:nvSpPr>
        <p:spPr>
          <a:xfrm>
            <a:off x="1600200" y="4069080"/>
            <a:ext cx="2331720" cy="594360"/>
          </a:xfrm>
          <a:prstGeom prst="rect">
            <a:avLst/>
          </a:prstGeom>
          <a:noFill/>
          <a:ln/>
        </p:spPr>
        <p:txBody>
          <a:bodyPr wrap="square" lIns="0" tIns="0" rIns="0" bIns="0" rtlCol="0" anchor="ctr"/>
          <a:lstStyle/>
          <a:p>
            <a:pPr indent="0" marL="0">
              <a:buNone/>
            </a:pPr>
            <a:r>
              <a:rPr lang="en-US" sz="1550" b="1" dirty="0">
                <a:solidFill>
                  <a:schemeClr val="accent1"/>
                </a:solidFill>
                <a:latin typeface="Ebrima" pitchFamily="34" charset="0"/>
                <a:ea typeface="Ebrima" pitchFamily="34" charset="-122"/>
                <a:cs typeface="Ebrima" pitchFamily="34" charset="-120"/>
              </a:rPr>
              <a:t>የመግቢያ ጥበቃ</a:t>
            </a:r>
            <a:endParaRPr lang="en-US" sz="1550" dirty="0"/>
          </a:p>
        </p:txBody>
      </p:sp>
      <p:sp>
        <p:nvSpPr>
          <p:cNvPr id="22" name="Text 16"/>
          <p:cNvSpPr txBox="1"/>
          <p:nvPr/>
        </p:nvSpPr>
        <p:spPr>
          <a:xfrm>
            <a:off x="777240" y="4846320"/>
            <a:ext cx="3108960" cy="1097280"/>
          </a:xfrm>
          <a:prstGeom prst="rect">
            <a:avLst/>
          </a:prstGeom>
          <a:noFill/>
          <a:ln/>
        </p:spPr>
        <p:txBody>
          <a:bodyPr wrap="square" lIns="0" tIns="0" rIns="0" bIns="0" rtlCol="0" anchor="t"/>
          <a:lstStyle/>
          <a:p>
            <a:pPr indent="0" marL="0">
              <a:buNone/>
            </a:pPr>
            <a:r>
              <a:rPr lang="en-US" sz="1300" dirty="0">
                <a:solidFill>
                  <a:schemeClr val="tx1"/>
                </a:solidFill>
                <a:latin typeface="Ebrima" pitchFamily="34" charset="0"/>
                <a:ea typeface="Ebrima" pitchFamily="34" charset="-122"/>
                <a:cs typeface="Ebrima" pitchFamily="34" charset="-120"/>
              </a:rPr>
              <a:t>ፒን፣ ጊዜያዊ መቆለፍ፣ አንድ የታመነ ስልክና የክፍለ ጊዜ ቁጥጥር</a:t>
            </a:r>
            <a:endParaRPr lang="en-US" sz="1300" dirty="0"/>
          </a:p>
        </p:txBody>
      </p:sp>
      <p:sp>
        <p:nvSpPr>
          <p:cNvPr id="23" name="Shape 17"/>
          <p:cNvSpPr/>
          <p:nvPr/>
        </p:nvSpPr>
        <p:spPr>
          <a:xfrm>
            <a:off x="4297680" y="3794760"/>
            <a:ext cx="3520440" cy="2286000"/>
          </a:xfrm>
          <a:prstGeom prst="roundRect">
            <a:avLst>
              <a:gd name="adj" fmla="val 4800"/>
            </a:avLst>
          </a:prstGeom>
          <a:solidFill>
            <a:schemeClr val="bg2">
              <a:alpha val="55000"/>
            </a:schemeClr>
          </a:solidFill>
          <a:ln/>
        </p:spPr>
      </p:sp>
      <p:sp>
        <p:nvSpPr>
          <p:cNvPr id="24" name="Shape 18"/>
          <p:cNvSpPr/>
          <p:nvPr/>
        </p:nvSpPr>
        <p:spPr>
          <a:xfrm>
            <a:off x="4526280" y="4023360"/>
            <a:ext cx="658368" cy="658368"/>
          </a:xfrm>
          <a:prstGeom prst="ellipse">
            <a:avLst/>
          </a:prstGeom>
          <a:solidFill>
            <a:schemeClr val="accent2"/>
          </a:solidFill>
          <a:ln/>
        </p:spPr>
      </p:sp>
      <p:pic>
        <p:nvPicPr>
          <p:cNvPr id="25" name="Image 4" descr="preencoded.png">    </p:cNvPr>
          <p:cNvPicPr>
            <a:picLocks noChangeAspect="1"/>
          </p:cNvPicPr>
          <p:nvPr/>
        </p:nvPicPr>
        <p:blipFill>
          <a:blip r:embed="rId5"/>
          <a:stretch>
            <a:fillRect/>
          </a:stretch>
        </p:blipFill>
        <p:spPr>
          <a:xfrm>
            <a:off x="4684288" y="4181368"/>
            <a:ext cx="342351" cy="342351"/>
          </a:xfrm>
          <a:prstGeom prst="rect">
            <a:avLst/>
          </a:prstGeom>
        </p:spPr>
      </p:pic>
      <p:sp>
        <p:nvSpPr>
          <p:cNvPr id="26" name="Text 19"/>
          <p:cNvSpPr txBox="1"/>
          <p:nvPr/>
        </p:nvSpPr>
        <p:spPr>
          <a:xfrm>
            <a:off x="5349240" y="4069080"/>
            <a:ext cx="2331720" cy="594360"/>
          </a:xfrm>
          <a:prstGeom prst="rect">
            <a:avLst/>
          </a:prstGeom>
          <a:noFill/>
          <a:ln/>
        </p:spPr>
        <p:txBody>
          <a:bodyPr wrap="square" lIns="0" tIns="0" rIns="0" bIns="0" rtlCol="0" anchor="ctr"/>
          <a:lstStyle/>
          <a:p>
            <a:pPr indent="0" marL="0">
              <a:buNone/>
            </a:pPr>
            <a:r>
              <a:rPr lang="en-US" sz="1550" b="1" dirty="0">
                <a:solidFill>
                  <a:schemeClr val="accent1"/>
                </a:solidFill>
                <a:latin typeface="Ebrima" pitchFamily="34" charset="0"/>
                <a:ea typeface="Ebrima" pitchFamily="34" charset="-122"/>
                <a:cs typeface="Ebrima" pitchFamily="34" charset="-120"/>
              </a:rPr>
              <a:t>የኦዲት መዝገብ</a:t>
            </a:r>
            <a:endParaRPr lang="en-US" sz="1550" dirty="0"/>
          </a:p>
        </p:txBody>
      </p:sp>
      <p:sp>
        <p:nvSpPr>
          <p:cNvPr id="27" name="Text 20"/>
          <p:cNvSpPr txBox="1"/>
          <p:nvPr/>
        </p:nvSpPr>
        <p:spPr>
          <a:xfrm>
            <a:off x="4526280" y="4846320"/>
            <a:ext cx="3108960" cy="1097280"/>
          </a:xfrm>
          <a:prstGeom prst="rect">
            <a:avLst/>
          </a:prstGeom>
          <a:noFill/>
          <a:ln/>
        </p:spPr>
        <p:txBody>
          <a:bodyPr wrap="square" lIns="0" tIns="0" rIns="0" bIns="0" rtlCol="0" anchor="t"/>
          <a:lstStyle/>
          <a:p>
            <a:pPr indent="0" marL="0">
              <a:buNone/>
            </a:pPr>
            <a:r>
              <a:rPr lang="en-US" sz="1300" dirty="0">
                <a:solidFill>
                  <a:schemeClr val="tx1"/>
                </a:solidFill>
                <a:latin typeface="Ebrima" pitchFamily="34" charset="0"/>
                <a:ea typeface="Ebrima" pitchFamily="34" charset="-122"/>
                <a:cs typeface="Ebrima" pitchFamily="34" charset="-120"/>
              </a:rPr>
              <a:t>የአስተዳዳሪ ተግባራትና ሪፖርቶች ሁሉ ይመዘገባሉ</a:t>
            </a:r>
            <a:endParaRPr lang="en-US" sz="1300" dirty="0"/>
          </a:p>
        </p:txBody>
      </p:sp>
      <p:sp>
        <p:nvSpPr>
          <p:cNvPr id="28" name="Shape 21"/>
          <p:cNvSpPr/>
          <p:nvPr/>
        </p:nvSpPr>
        <p:spPr>
          <a:xfrm>
            <a:off x="8046720" y="3794760"/>
            <a:ext cx="3520440" cy="2286000"/>
          </a:xfrm>
          <a:prstGeom prst="roundRect">
            <a:avLst>
              <a:gd name="adj" fmla="val 4800"/>
            </a:avLst>
          </a:prstGeom>
          <a:solidFill>
            <a:schemeClr val="bg2">
              <a:alpha val="55000"/>
            </a:schemeClr>
          </a:solidFill>
          <a:ln/>
        </p:spPr>
      </p:sp>
      <p:sp>
        <p:nvSpPr>
          <p:cNvPr id="29" name="Shape 22"/>
          <p:cNvSpPr/>
          <p:nvPr/>
        </p:nvSpPr>
        <p:spPr>
          <a:xfrm>
            <a:off x="8275320" y="4023360"/>
            <a:ext cx="658368" cy="658368"/>
          </a:xfrm>
          <a:prstGeom prst="ellipse">
            <a:avLst/>
          </a:prstGeom>
          <a:solidFill>
            <a:schemeClr val="accent2"/>
          </a:solidFill>
          <a:ln/>
        </p:spPr>
      </p:sp>
      <p:pic>
        <p:nvPicPr>
          <p:cNvPr id="30" name="Image 5" descr="preencoded.png">    </p:cNvPr>
          <p:cNvPicPr>
            <a:picLocks noChangeAspect="1"/>
          </p:cNvPicPr>
          <p:nvPr/>
        </p:nvPicPr>
        <p:blipFill>
          <a:blip r:embed="rId6"/>
          <a:stretch>
            <a:fillRect/>
          </a:stretch>
        </p:blipFill>
        <p:spPr>
          <a:xfrm>
            <a:off x="8433328" y="4181368"/>
            <a:ext cx="342351" cy="342351"/>
          </a:xfrm>
          <a:prstGeom prst="rect">
            <a:avLst/>
          </a:prstGeom>
        </p:spPr>
      </p:pic>
      <p:sp>
        <p:nvSpPr>
          <p:cNvPr id="31" name="Text 23"/>
          <p:cNvSpPr txBox="1"/>
          <p:nvPr/>
        </p:nvSpPr>
        <p:spPr>
          <a:xfrm>
            <a:off x="9098280" y="4069080"/>
            <a:ext cx="2331720" cy="594360"/>
          </a:xfrm>
          <a:prstGeom prst="rect">
            <a:avLst/>
          </a:prstGeom>
          <a:noFill/>
          <a:ln/>
        </p:spPr>
        <p:txBody>
          <a:bodyPr wrap="square" lIns="0" tIns="0" rIns="0" bIns="0" rtlCol="0" anchor="ctr"/>
          <a:lstStyle/>
          <a:p>
            <a:pPr indent="0" marL="0">
              <a:buNone/>
            </a:pPr>
            <a:r>
              <a:rPr lang="en-US" sz="1550" b="1" dirty="0">
                <a:solidFill>
                  <a:schemeClr val="accent1"/>
                </a:solidFill>
                <a:latin typeface="Ebrima" pitchFamily="34" charset="0"/>
                <a:ea typeface="Ebrima" pitchFamily="34" charset="-122"/>
                <a:cs typeface="Ebrima" pitchFamily="34" charset="-120"/>
              </a:rPr>
              <a:t>በስልክ ላይ ጥበቃ</a:t>
            </a:r>
            <a:endParaRPr lang="en-US" sz="1550" dirty="0"/>
          </a:p>
        </p:txBody>
      </p:sp>
      <p:sp>
        <p:nvSpPr>
          <p:cNvPr id="32" name="Text 24"/>
          <p:cNvSpPr txBox="1"/>
          <p:nvPr/>
        </p:nvSpPr>
        <p:spPr>
          <a:xfrm>
            <a:off x="8275320" y="4846320"/>
            <a:ext cx="3108960" cy="1097280"/>
          </a:xfrm>
          <a:prstGeom prst="rect">
            <a:avLst/>
          </a:prstGeom>
          <a:noFill/>
          <a:ln/>
        </p:spPr>
        <p:txBody>
          <a:bodyPr wrap="square" lIns="0" tIns="0" rIns="0" bIns="0" rtlCol="0" anchor="t"/>
          <a:lstStyle/>
          <a:p>
            <a:pPr indent="0" marL="0">
              <a:buNone/>
            </a:pPr>
            <a:r>
              <a:rPr lang="en-US" sz="1300" dirty="0">
                <a:solidFill>
                  <a:schemeClr val="tx1"/>
                </a:solidFill>
                <a:latin typeface="Ebrima" pitchFamily="34" charset="0"/>
                <a:ea typeface="Ebrima" pitchFamily="34" charset="-122"/>
                <a:cs typeface="Ebrima" pitchFamily="34" charset="-120"/>
              </a:rPr>
              <a:t>ምስጠራ፣ የጣት አሻራ መቆለፊያና ስክሪንሾት መከልከል</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Ebrima"/>
                <a:ea typeface="Ebrima"/>
                <a:cs typeface="Ebrima"/>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0241280" cy="777240"/>
          </a:xfrm>
          <a:prstGeom prst="rect">
            <a:avLst/>
          </a:prstGeom>
          <a:noFill/>
          <a:ln/>
        </p:spPr>
        <p:txBody>
          <a:bodyPr wrap="square" lIns="0" tIns="0" rIns="0" bIns="0" rtlCol="0" anchor="ctr"/>
          <a:lstStyle/>
          <a:p>
            <a:pPr algn="l" indent="0" marL="0">
              <a:buNone/>
            </a:pPr>
            <a:r>
              <a:rPr lang="en-US" sz="3400" dirty="0">
                <a:solidFill>
                  <a:schemeClr val="accent1"/>
                </a:solidFill>
                <a:latin typeface="Nyala" pitchFamily="34" charset="0"/>
                <a:ea typeface="Nyala" pitchFamily="34" charset="-122"/>
                <a:cs typeface="Nyala" pitchFamily="34" charset="-120"/>
              </a:rPr>
              <a:t>ሥርዓቱ በቴክኒክ እንዴት ይሠራል</a:t>
            </a:r>
            <a:endParaRPr lang="en-US" sz="3400" dirty="0"/>
          </a:p>
        </p:txBody>
      </p:sp>
      <p:sp>
        <p:nvSpPr>
          <p:cNvPr id="3" name="Shape 1"/>
          <p:cNvSpPr/>
          <p:nvPr/>
        </p:nvSpPr>
        <p:spPr>
          <a:xfrm>
            <a:off x="548640" y="1325880"/>
            <a:ext cx="3108960" cy="4526280"/>
          </a:xfrm>
          <a:prstGeom prst="roundRect">
            <a:avLst>
              <a:gd name="adj" fmla="val 3529"/>
            </a:avLst>
          </a:prstGeom>
          <a:solidFill>
            <a:schemeClr val="bg2">
              <a:alpha val="60000"/>
            </a:schemeClr>
          </a:solidFill>
          <a:ln/>
        </p:spPr>
      </p:sp>
      <p:sp>
        <p:nvSpPr>
          <p:cNvPr id="4" name="Text 2"/>
          <p:cNvSpPr txBox="1"/>
          <p:nvPr/>
        </p:nvSpPr>
        <p:spPr>
          <a:xfrm>
            <a:off x="731520" y="1417320"/>
            <a:ext cx="2743200" cy="411480"/>
          </a:xfrm>
          <a:prstGeom prst="rect">
            <a:avLst/>
          </a:prstGeom>
          <a:noFill/>
          <a:ln/>
        </p:spPr>
        <p:txBody>
          <a:bodyPr wrap="square" lIns="0" tIns="0" rIns="0" bIns="0" rtlCol="0" anchor="t"/>
          <a:lstStyle/>
          <a:p>
            <a:pPr algn="ctr" indent="0" marL="0">
              <a:buNone/>
            </a:pPr>
            <a:r>
              <a:rPr lang="en-US" sz="1600" b="1" dirty="0">
                <a:solidFill>
                  <a:schemeClr val="accent1"/>
                </a:solidFill>
                <a:latin typeface="Ebrima" pitchFamily="34" charset="0"/>
                <a:ea typeface="Ebrima" pitchFamily="34" charset="-122"/>
                <a:cs typeface="Ebrima" pitchFamily="34" charset="-120"/>
              </a:rPr>
              <a:t>ተጠቃሚዎች</a:t>
            </a:r>
            <a:endParaRPr lang="en-US" sz="1600" dirty="0"/>
          </a:p>
        </p:txBody>
      </p:sp>
      <p:sp>
        <p:nvSpPr>
          <p:cNvPr id="5" name="Shape 3"/>
          <p:cNvSpPr/>
          <p:nvPr/>
        </p:nvSpPr>
        <p:spPr>
          <a:xfrm>
            <a:off x="777240" y="1920240"/>
            <a:ext cx="2651760" cy="1051560"/>
          </a:xfrm>
          <a:prstGeom prst="roundRect">
            <a:avLst>
              <a:gd name="adj" fmla="val 8696"/>
            </a:avLst>
          </a:prstGeom>
          <a:solidFill>
            <a:schemeClr val="accent1"/>
          </a:solidFill>
          <a:ln/>
        </p:spPr>
      </p:sp>
      <p:pic>
        <p:nvPicPr>
          <p:cNvPr id="6" name="Image 0" descr="preencoded.png">    </p:cNvPr>
          <p:cNvPicPr>
            <a:picLocks noChangeAspect="1"/>
          </p:cNvPicPr>
          <p:nvPr/>
        </p:nvPicPr>
        <p:blipFill>
          <a:blip r:embed="rId1"/>
          <a:stretch>
            <a:fillRect/>
          </a:stretch>
        </p:blipFill>
        <p:spPr>
          <a:xfrm>
            <a:off x="914400" y="2194560"/>
            <a:ext cx="502920" cy="502920"/>
          </a:xfrm>
          <a:prstGeom prst="rect">
            <a:avLst/>
          </a:prstGeom>
        </p:spPr>
      </p:pic>
      <p:sp>
        <p:nvSpPr>
          <p:cNvPr id="7" name="Text 4"/>
          <p:cNvSpPr txBox="1"/>
          <p:nvPr/>
        </p:nvSpPr>
        <p:spPr>
          <a:xfrm>
            <a:off x="1508760" y="1920240"/>
            <a:ext cx="1828800" cy="1051560"/>
          </a:xfrm>
          <a:prstGeom prst="rect">
            <a:avLst/>
          </a:prstGeom>
          <a:noFill/>
          <a:ln/>
        </p:spPr>
        <p:txBody>
          <a:bodyPr wrap="square" lIns="0" tIns="0" rIns="0" bIns="0" rtlCol="0" anchor="ctr"/>
          <a:lstStyle/>
          <a:p>
            <a:pPr indent="0" marL="0">
              <a:buNone/>
            </a:pPr>
            <a:r>
              <a:rPr lang="en-US" sz="1350" dirty="0">
                <a:solidFill>
                  <a:schemeClr val="bg1"/>
                </a:solidFill>
                <a:latin typeface="Ebrima" pitchFamily="34" charset="0"/>
                <a:ea typeface="Ebrima" pitchFamily="34" charset="-122"/>
                <a:cs typeface="Ebrima" pitchFamily="34" charset="-120"/>
              </a:rPr>
              <a:t>Android መተግበሪያ</a:t>
            </a:r>
            <a:endParaRPr lang="en-US" sz="1350" dirty="0"/>
          </a:p>
        </p:txBody>
      </p:sp>
      <p:sp>
        <p:nvSpPr>
          <p:cNvPr id="8" name="Shape 5"/>
          <p:cNvSpPr/>
          <p:nvPr/>
        </p:nvSpPr>
        <p:spPr>
          <a:xfrm>
            <a:off x="777240" y="3200400"/>
            <a:ext cx="2651760" cy="1051560"/>
          </a:xfrm>
          <a:prstGeom prst="roundRect">
            <a:avLst>
              <a:gd name="adj" fmla="val 8696"/>
            </a:avLst>
          </a:prstGeom>
          <a:solidFill>
            <a:schemeClr val="accent1"/>
          </a:solidFill>
          <a:ln/>
        </p:spPr>
      </p:sp>
      <p:pic>
        <p:nvPicPr>
          <p:cNvPr id="9" name="Image 1" descr="preencoded.png">    </p:cNvPr>
          <p:cNvPicPr>
            <a:picLocks noChangeAspect="1"/>
          </p:cNvPicPr>
          <p:nvPr/>
        </p:nvPicPr>
        <p:blipFill>
          <a:blip r:embed="rId2"/>
          <a:stretch>
            <a:fillRect/>
          </a:stretch>
        </p:blipFill>
        <p:spPr>
          <a:xfrm>
            <a:off x="914400" y="3474720"/>
            <a:ext cx="502920" cy="502920"/>
          </a:xfrm>
          <a:prstGeom prst="rect">
            <a:avLst/>
          </a:prstGeom>
        </p:spPr>
      </p:pic>
      <p:sp>
        <p:nvSpPr>
          <p:cNvPr id="10" name="Text 6"/>
          <p:cNvSpPr txBox="1"/>
          <p:nvPr/>
        </p:nvSpPr>
        <p:spPr>
          <a:xfrm>
            <a:off x="1508760" y="3200400"/>
            <a:ext cx="1828800" cy="1051560"/>
          </a:xfrm>
          <a:prstGeom prst="rect">
            <a:avLst/>
          </a:prstGeom>
          <a:noFill/>
          <a:ln/>
        </p:spPr>
        <p:txBody>
          <a:bodyPr wrap="square" lIns="0" tIns="0" rIns="0" bIns="0" rtlCol="0" anchor="ctr"/>
          <a:lstStyle/>
          <a:p>
            <a:pPr indent="0" marL="0">
              <a:buNone/>
            </a:pPr>
            <a:r>
              <a:rPr lang="en-US" sz="1350" dirty="0">
                <a:solidFill>
                  <a:schemeClr val="bg1"/>
                </a:solidFill>
                <a:latin typeface="Ebrima" pitchFamily="34" charset="0"/>
                <a:ea typeface="Ebrima" pitchFamily="34" charset="-122"/>
                <a:cs typeface="Ebrima" pitchFamily="34" charset="-120"/>
              </a:rPr>
              <a:t>የድር መተግበሪያ</a:t>
            </a:r>
            <a:endParaRPr lang="en-US" sz="1350" dirty="0"/>
          </a:p>
        </p:txBody>
      </p:sp>
      <p:sp>
        <p:nvSpPr>
          <p:cNvPr id="11" name="Shape 7"/>
          <p:cNvSpPr/>
          <p:nvPr/>
        </p:nvSpPr>
        <p:spPr>
          <a:xfrm>
            <a:off x="777240" y="4480560"/>
            <a:ext cx="2651760" cy="1051560"/>
          </a:xfrm>
          <a:prstGeom prst="roundRect">
            <a:avLst>
              <a:gd name="adj" fmla="val 8696"/>
            </a:avLst>
          </a:prstGeom>
          <a:solidFill>
            <a:schemeClr val="bg1"/>
          </a:solidFill>
          <a:ln w="15875">
            <a:solidFill>
              <a:schemeClr val="accent2"/>
            </a:solidFill>
            <a:prstDash val="solid"/>
          </a:ln>
        </p:spPr>
      </p:sp>
      <p:pic>
        <p:nvPicPr>
          <p:cNvPr id="12" name="Image 2" descr="preencoded.png">    </p:cNvPr>
          <p:cNvPicPr>
            <a:picLocks noChangeAspect="1"/>
          </p:cNvPicPr>
          <p:nvPr/>
        </p:nvPicPr>
        <p:blipFill>
          <a:blip r:embed="rId3"/>
          <a:stretch>
            <a:fillRect/>
          </a:stretch>
        </p:blipFill>
        <p:spPr>
          <a:xfrm>
            <a:off x="914400" y="4754880"/>
            <a:ext cx="502920" cy="502920"/>
          </a:xfrm>
          <a:prstGeom prst="rect">
            <a:avLst/>
          </a:prstGeom>
        </p:spPr>
      </p:pic>
      <p:sp>
        <p:nvSpPr>
          <p:cNvPr id="13" name="Text 8"/>
          <p:cNvSpPr txBox="1"/>
          <p:nvPr/>
        </p:nvSpPr>
        <p:spPr>
          <a:xfrm>
            <a:off x="1508760" y="4480560"/>
            <a:ext cx="1828800" cy="1051560"/>
          </a:xfrm>
          <a:prstGeom prst="rect">
            <a:avLst/>
          </a:prstGeom>
          <a:noFill/>
          <a:ln/>
        </p:spPr>
        <p:txBody>
          <a:bodyPr wrap="square" lIns="0" tIns="0" rIns="0" bIns="0" rtlCol="0" anchor="ctr"/>
          <a:lstStyle/>
          <a:p>
            <a:pPr indent="0" marL="0">
              <a:buNone/>
            </a:pPr>
            <a:r>
              <a:rPr lang="en-US" sz="1350" dirty="0">
                <a:solidFill>
                  <a:schemeClr val="tx1"/>
                </a:solidFill>
                <a:latin typeface="Ebrima" pitchFamily="34" charset="0"/>
                <a:ea typeface="Ebrima" pitchFamily="34" charset="-122"/>
                <a:cs typeface="Ebrima" pitchFamily="34" charset="-120"/>
              </a:rPr>
              <a:t>በስልኩ ውስጥ ያለ የራስ ማከማቻ (ያለ ኢንተርኔት)</a:t>
            </a:r>
            <a:endParaRPr lang="en-US" sz="1350" dirty="0"/>
          </a:p>
        </p:txBody>
      </p:sp>
      <p:sp>
        <p:nvSpPr>
          <p:cNvPr id="14" name="Shape 9"/>
          <p:cNvSpPr/>
          <p:nvPr/>
        </p:nvSpPr>
        <p:spPr>
          <a:xfrm>
            <a:off x="3703320" y="3291840"/>
            <a:ext cx="777240" cy="0"/>
          </a:xfrm>
          <a:prstGeom prst="line">
            <a:avLst/>
          </a:prstGeom>
          <a:noFill/>
          <a:ln w="25400">
            <a:solidFill>
              <a:schemeClr val="accent2"/>
            </a:solidFill>
            <a:prstDash val="solid"/>
            <a:tailEnd type="triangle"/>
          </a:ln>
        </p:spPr>
      </p:sp>
      <p:sp>
        <p:nvSpPr>
          <p:cNvPr id="15" name="Text 10"/>
          <p:cNvSpPr txBox="1"/>
          <p:nvPr/>
        </p:nvSpPr>
        <p:spPr>
          <a:xfrm>
            <a:off x="3657600" y="3383280"/>
            <a:ext cx="868680" cy="274320"/>
          </a:xfrm>
          <a:prstGeom prst="rect">
            <a:avLst/>
          </a:prstGeom>
          <a:noFill/>
          <a:ln/>
        </p:spPr>
        <p:txBody>
          <a:bodyPr wrap="square" lIns="0" tIns="0" rIns="0" bIns="0" rtlCol="0" anchor="t"/>
          <a:lstStyle/>
          <a:p>
            <a:pPr algn="ctr" indent="0" marL="0">
              <a:buNone/>
            </a:pPr>
            <a:r>
              <a:rPr lang="en-US" sz="1100" dirty="0">
                <a:solidFill>
                  <a:schemeClr val="accent4"/>
                </a:solidFill>
                <a:latin typeface="Ebrima" pitchFamily="34" charset="0"/>
                <a:ea typeface="Ebrima" pitchFamily="34" charset="-122"/>
                <a:cs typeface="Ebrima" pitchFamily="34" charset="-120"/>
              </a:rPr>
              <a:t>HTTPS</a:t>
            </a:r>
            <a:endParaRPr lang="en-US" sz="1100" dirty="0"/>
          </a:p>
        </p:txBody>
      </p:sp>
      <p:sp>
        <p:nvSpPr>
          <p:cNvPr id="16" name="Shape 11"/>
          <p:cNvSpPr/>
          <p:nvPr/>
        </p:nvSpPr>
        <p:spPr>
          <a:xfrm>
            <a:off x="4572000" y="1325880"/>
            <a:ext cx="3931920" cy="4526280"/>
          </a:xfrm>
          <a:prstGeom prst="roundRect">
            <a:avLst>
              <a:gd name="adj" fmla="val 2791"/>
            </a:avLst>
          </a:prstGeom>
          <a:solidFill>
            <a:schemeClr val="accent1"/>
          </a:solidFill>
          <a:ln/>
        </p:spPr>
      </p:sp>
      <p:sp>
        <p:nvSpPr>
          <p:cNvPr id="17" name="Text 12"/>
          <p:cNvSpPr txBox="1"/>
          <p:nvPr/>
        </p:nvSpPr>
        <p:spPr>
          <a:xfrm>
            <a:off x="4754880" y="1417320"/>
            <a:ext cx="3566160" cy="411480"/>
          </a:xfrm>
          <a:prstGeom prst="rect">
            <a:avLst/>
          </a:prstGeom>
          <a:noFill/>
          <a:ln/>
        </p:spPr>
        <p:txBody>
          <a:bodyPr wrap="square" lIns="0" tIns="0" rIns="0" bIns="0" rtlCol="0" anchor="t"/>
          <a:lstStyle/>
          <a:p>
            <a:pPr algn="ctr" indent="0" marL="0">
              <a:buNone/>
            </a:pPr>
            <a:r>
              <a:rPr lang="en-US" sz="1600" b="1" dirty="0">
                <a:solidFill>
                  <a:schemeClr val="accent2"/>
                </a:solidFill>
                <a:latin typeface="Ebrima" pitchFamily="34" charset="0"/>
                <a:ea typeface="Ebrima" pitchFamily="34" charset="-122"/>
                <a:cs typeface="Ebrima" pitchFamily="34" charset="-120"/>
              </a:rPr>
              <a:t>አገልጋይ (Server)</a:t>
            </a:r>
            <a:endParaRPr lang="en-US" sz="1600" dirty="0"/>
          </a:p>
        </p:txBody>
      </p:sp>
      <p:sp>
        <p:nvSpPr>
          <p:cNvPr id="18" name="Shape 13"/>
          <p:cNvSpPr/>
          <p:nvPr/>
        </p:nvSpPr>
        <p:spPr>
          <a:xfrm>
            <a:off x="4800600" y="1965960"/>
            <a:ext cx="3474720" cy="804672"/>
          </a:xfrm>
          <a:prstGeom prst="roundRect">
            <a:avLst>
              <a:gd name="adj" fmla="val 9091"/>
            </a:avLst>
          </a:prstGeom>
          <a:solidFill>
            <a:schemeClr val="bg1">
              <a:alpha val="12000"/>
            </a:schemeClr>
          </a:solidFill>
          <a:ln w="9525">
            <a:solidFill>
              <a:schemeClr val="accent2"/>
            </a:solidFill>
            <a:prstDash val="solid"/>
          </a:ln>
        </p:spPr>
      </p:sp>
      <p:sp>
        <p:nvSpPr>
          <p:cNvPr id="19" name="Text 14"/>
          <p:cNvSpPr txBox="1"/>
          <p:nvPr/>
        </p:nvSpPr>
        <p:spPr>
          <a:xfrm>
            <a:off x="4937760" y="1965960"/>
            <a:ext cx="3200400" cy="804672"/>
          </a:xfrm>
          <a:prstGeom prst="rect">
            <a:avLst/>
          </a:prstGeom>
          <a:noFill/>
          <a:ln/>
        </p:spPr>
        <p:txBody>
          <a:bodyPr wrap="square" lIns="0" tIns="0" rIns="0" bIns="0" rtlCol="0" anchor="ctr"/>
          <a:lstStyle/>
          <a:p>
            <a:pPr algn="ctr" indent="0" marL="0">
              <a:buNone/>
            </a:pPr>
            <a:r>
              <a:rPr lang="en-US" sz="1300" dirty="0">
                <a:solidFill>
                  <a:schemeClr val="bg1"/>
                </a:solidFill>
                <a:latin typeface="Ebrima" pitchFamily="34" charset="0"/>
                <a:ea typeface="Ebrima" pitchFamily="34" charset="-122"/>
                <a:cs typeface="Ebrima" pitchFamily="34" charset="-120"/>
              </a:rPr>
              <a:t>የመግቢያና የፈቃድ ፍተሻ</a:t>
            </a:r>
            <a:endParaRPr lang="en-US" sz="1300" dirty="0"/>
          </a:p>
        </p:txBody>
      </p:sp>
      <p:sp>
        <p:nvSpPr>
          <p:cNvPr id="20" name="Shape 15"/>
          <p:cNvSpPr/>
          <p:nvPr/>
        </p:nvSpPr>
        <p:spPr>
          <a:xfrm>
            <a:off x="6537960" y="2770632"/>
            <a:ext cx="0" cy="155448"/>
          </a:xfrm>
          <a:prstGeom prst="line">
            <a:avLst/>
          </a:prstGeom>
          <a:noFill/>
          <a:ln w="25400">
            <a:solidFill>
              <a:schemeClr val="accent2"/>
            </a:solidFill>
            <a:prstDash val="solid"/>
            <a:tailEnd type="triangle"/>
          </a:ln>
        </p:spPr>
      </p:sp>
      <p:sp>
        <p:nvSpPr>
          <p:cNvPr id="21" name="Shape 16"/>
          <p:cNvSpPr/>
          <p:nvPr/>
        </p:nvSpPr>
        <p:spPr>
          <a:xfrm>
            <a:off x="4800600" y="2926080"/>
            <a:ext cx="3474720" cy="804672"/>
          </a:xfrm>
          <a:prstGeom prst="roundRect">
            <a:avLst>
              <a:gd name="adj" fmla="val 9091"/>
            </a:avLst>
          </a:prstGeom>
          <a:solidFill>
            <a:schemeClr val="bg1">
              <a:alpha val="12000"/>
            </a:schemeClr>
          </a:solidFill>
          <a:ln w="9525">
            <a:solidFill>
              <a:schemeClr val="accent2"/>
            </a:solidFill>
            <a:prstDash val="solid"/>
          </a:ln>
        </p:spPr>
      </p:sp>
      <p:sp>
        <p:nvSpPr>
          <p:cNvPr id="22" name="Text 17"/>
          <p:cNvSpPr txBox="1"/>
          <p:nvPr/>
        </p:nvSpPr>
        <p:spPr>
          <a:xfrm>
            <a:off x="4937760" y="2926080"/>
            <a:ext cx="3200400" cy="804672"/>
          </a:xfrm>
          <a:prstGeom prst="rect">
            <a:avLst/>
          </a:prstGeom>
          <a:noFill/>
          <a:ln/>
        </p:spPr>
        <p:txBody>
          <a:bodyPr wrap="square" lIns="0" tIns="0" rIns="0" bIns="0" rtlCol="0" anchor="ctr"/>
          <a:lstStyle/>
          <a:p>
            <a:pPr algn="ctr" indent="0" marL="0">
              <a:buNone/>
            </a:pPr>
            <a:r>
              <a:rPr lang="en-US" sz="1300" dirty="0">
                <a:solidFill>
                  <a:schemeClr val="bg1"/>
                </a:solidFill>
                <a:latin typeface="Ebrima" pitchFamily="34" charset="0"/>
                <a:ea typeface="Ebrima" pitchFamily="34" charset="-122"/>
                <a:cs typeface="Ebrima" pitchFamily="34" charset="-120"/>
              </a:rPr>
              <a:t>የአገልግሎት ሎጂክ — መዝሙር፣ ትምህርት፣ መገኘት፣ ምርጫ፣ መዋጮ…</a:t>
            </a:r>
            <a:endParaRPr lang="en-US" sz="1300" dirty="0"/>
          </a:p>
        </p:txBody>
      </p:sp>
      <p:sp>
        <p:nvSpPr>
          <p:cNvPr id="23" name="Shape 18"/>
          <p:cNvSpPr/>
          <p:nvPr/>
        </p:nvSpPr>
        <p:spPr>
          <a:xfrm>
            <a:off x="6537960" y="3730752"/>
            <a:ext cx="0" cy="155448"/>
          </a:xfrm>
          <a:prstGeom prst="line">
            <a:avLst/>
          </a:prstGeom>
          <a:noFill/>
          <a:ln w="25400">
            <a:solidFill>
              <a:schemeClr val="accent2"/>
            </a:solidFill>
            <a:prstDash val="solid"/>
            <a:tailEnd type="triangle"/>
          </a:ln>
        </p:spPr>
      </p:sp>
      <p:sp>
        <p:nvSpPr>
          <p:cNvPr id="24" name="Shape 19"/>
          <p:cNvSpPr/>
          <p:nvPr/>
        </p:nvSpPr>
        <p:spPr>
          <a:xfrm>
            <a:off x="4800600" y="3886200"/>
            <a:ext cx="3474720" cy="804672"/>
          </a:xfrm>
          <a:prstGeom prst="roundRect">
            <a:avLst>
              <a:gd name="adj" fmla="val 9091"/>
            </a:avLst>
          </a:prstGeom>
          <a:solidFill>
            <a:schemeClr val="bg1">
              <a:alpha val="12000"/>
            </a:schemeClr>
          </a:solidFill>
          <a:ln w="9525">
            <a:solidFill>
              <a:schemeClr val="accent2"/>
            </a:solidFill>
            <a:prstDash val="solid"/>
          </a:ln>
        </p:spPr>
      </p:sp>
      <p:sp>
        <p:nvSpPr>
          <p:cNvPr id="25" name="Text 20"/>
          <p:cNvSpPr txBox="1"/>
          <p:nvPr/>
        </p:nvSpPr>
        <p:spPr>
          <a:xfrm>
            <a:off x="4937760" y="3886200"/>
            <a:ext cx="3200400" cy="804672"/>
          </a:xfrm>
          <a:prstGeom prst="rect">
            <a:avLst/>
          </a:prstGeom>
          <a:noFill/>
          <a:ln/>
        </p:spPr>
        <p:txBody>
          <a:bodyPr wrap="square" lIns="0" tIns="0" rIns="0" bIns="0" rtlCol="0" anchor="ctr"/>
          <a:lstStyle/>
          <a:p>
            <a:pPr algn="ctr" indent="0" marL="0">
              <a:buNone/>
            </a:pPr>
            <a:r>
              <a:rPr lang="en-US" sz="1300" dirty="0">
                <a:solidFill>
                  <a:schemeClr val="bg1"/>
                </a:solidFill>
                <a:latin typeface="Ebrima" pitchFamily="34" charset="0"/>
                <a:ea typeface="Ebrima" pitchFamily="34" charset="-122"/>
                <a:cs typeface="Ebrima" pitchFamily="34" charset="-120"/>
              </a:rPr>
              <a:t>የበስተጀርባ ሥራዎች — አስታዋሾች፣ ቅጣቶች፣ ማጽዳት</a:t>
            </a:r>
            <a:endParaRPr lang="en-US" sz="1300" dirty="0"/>
          </a:p>
        </p:txBody>
      </p:sp>
      <p:sp>
        <p:nvSpPr>
          <p:cNvPr id="26" name="Shape 21"/>
          <p:cNvSpPr/>
          <p:nvPr/>
        </p:nvSpPr>
        <p:spPr>
          <a:xfrm>
            <a:off x="6537960" y="4736592"/>
            <a:ext cx="0" cy="155448"/>
          </a:xfrm>
          <a:prstGeom prst="line">
            <a:avLst/>
          </a:prstGeom>
          <a:noFill/>
          <a:ln w="25400">
            <a:solidFill>
              <a:schemeClr val="accent2"/>
            </a:solidFill>
            <a:prstDash val="solid"/>
            <a:tailEnd type="triangle"/>
          </a:ln>
        </p:spPr>
      </p:sp>
      <p:sp>
        <p:nvSpPr>
          <p:cNvPr id="27" name="Shape 22"/>
          <p:cNvSpPr/>
          <p:nvPr/>
        </p:nvSpPr>
        <p:spPr>
          <a:xfrm>
            <a:off x="4800600" y="4919472"/>
            <a:ext cx="1664208" cy="777240"/>
          </a:xfrm>
          <a:prstGeom prst="roundRect">
            <a:avLst>
              <a:gd name="adj" fmla="val 9412"/>
            </a:avLst>
          </a:prstGeom>
          <a:solidFill>
            <a:schemeClr val="accent2"/>
          </a:solidFill>
          <a:ln/>
        </p:spPr>
      </p:sp>
      <p:sp>
        <p:nvSpPr>
          <p:cNvPr id="28" name="Text 23"/>
          <p:cNvSpPr txBox="1"/>
          <p:nvPr/>
        </p:nvSpPr>
        <p:spPr>
          <a:xfrm>
            <a:off x="4800600" y="4919472"/>
            <a:ext cx="1664208" cy="777240"/>
          </a:xfrm>
          <a:prstGeom prst="rect">
            <a:avLst/>
          </a:prstGeom>
          <a:noFill/>
          <a:ln/>
        </p:spPr>
        <p:txBody>
          <a:bodyPr wrap="square" lIns="0" tIns="0" rIns="0" bIns="0" rtlCol="0" anchor="ctr"/>
          <a:lstStyle/>
          <a:p>
            <a:pPr algn="ctr" indent="0" marL="0">
              <a:buNone/>
            </a:pPr>
            <a:r>
              <a:rPr lang="en-US" sz="1350" b="1" dirty="0">
                <a:solidFill>
                  <a:schemeClr val="bg1"/>
                </a:solidFill>
                <a:latin typeface="Ebrima" pitchFamily="34" charset="0"/>
                <a:ea typeface="Ebrima" pitchFamily="34" charset="-122"/>
                <a:cs typeface="Ebrima" pitchFamily="34" charset="-120"/>
              </a:rPr>
              <a:t>የመረጃ ቋት</a:t>
            </a:r>
            <a:endParaRPr lang="en-US" sz="1350" dirty="0"/>
          </a:p>
        </p:txBody>
      </p:sp>
      <p:sp>
        <p:nvSpPr>
          <p:cNvPr id="29" name="Shape 24"/>
          <p:cNvSpPr/>
          <p:nvPr/>
        </p:nvSpPr>
        <p:spPr>
          <a:xfrm>
            <a:off x="6611112" y="4919472"/>
            <a:ext cx="1664208" cy="777240"/>
          </a:xfrm>
          <a:prstGeom prst="roundRect">
            <a:avLst>
              <a:gd name="adj" fmla="val 9412"/>
            </a:avLst>
          </a:prstGeom>
          <a:solidFill>
            <a:schemeClr val="accent2"/>
          </a:solidFill>
          <a:ln/>
        </p:spPr>
      </p:sp>
      <p:sp>
        <p:nvSpPr>
          <p:cNvPr id="30" name="Text 25"/>
          <p:cNvSpPr txBox="1"/>
          <p:nvPr/>
        </p:nvSpPr>
        <p:spPr>
          <a:xfrm>
            <a:off x="6611112" y="4919472"/>
            <a:ext cx="1664208" cy="777240"/>
          </a:xfrm>
          <a:prstGeom prst="rect">
            <a:avLst/>
          </a:prstGeom>
          <a:noFill/>
          <a:ln/>
        </p:spPr>
        <p:txBody>
          <a:bodyPr wrap="square" lIns="0" tIns="0" rIns="0" bIns="0" rtlCol="0" anchor="ctr"/>
          <a:lstStyle/>
          <a:p>
            <a:pPr algn="ctr" indent="0" marL="0">
              <a:buNone/>
            </a:pPr>
            <a:r>
              <a:rPr lang="en-US" sz="1350" b="1" dirty="0">
                <a:solidFill>
                  <a:schemeClr val="bg1"/>
                </a:solidFill>
                <a:latin typeface="Ebrima" pitchFamily="34" charset="0"/>
                <a:ea typeface="Ebrima" pitchFamily="34" charset="-122"/>
                <a:cs typeface="Ebrima" pitchFamily="34" charset="-120"/>
              </a:rPr>
              <a:t>የፋይል ማከማቻ</a:t>
            </a:r>
            <a:endParaRPr lang="en-US" sz="1350" dirty="0"/>
          </a:p>
        </p:txBody>
      </p:sp>
      <p:sp>
        <p:nvSpPr>
          <p:cNvPr id="31" name="Shape 26"/>
          <p:cNvSpPr/>
          <p:nvPr/>
        </p:nvSpPr>
        <p:spPr>
          <a:xfrm>
            <a:off x="8549640" y="3291840"/>
            <a:ext cx="685800" cy="0"/>
          </a:xfrm>
          <a:prstGeom prst="line">
            <a:avLst/>
          </a:prstGeom>
          <a:noFill/>
          <a:ln w="25400">
            <a:solidFill>
              <a:schemeClr val="accent2"/>
            </a:solidFill>
            <a:prstDash val="solid"/>
            <a:tailEnd type="triangle"/>
          </a:ln>
        </p:spPr>
      </p:sp>
      <p:sp>
        <p:nvSpPr>
          <p:cNvPr id="32" name="Shape 27"/>
          <p:cNvSpPr/>
          <p:nvPr/>
        </p:nvSpPr>
        <p:spPr>
          <a:xfrm>
            <a:off x="9281160" y="1325880"/>
            <a:ext cx="2377440" cy="4526280"/>
          </a:xfrm>
          <a:prstGeom prst="roundRect">
            <a:avLst>
              <a:gd name="adj" fmla="val 4615"/>
            </a:avLst>
          </a:prstGeom>
          <a:solidFill>
            <a:schemeClr val="bg2">
              <a:alpha val="60000"/>
            </a:schemeClr>
          </a:solidFill>
          <a:ln/>
        </p:spPr>
      </p:sp>
      <p:sp>
        <p:nvSpPr>
          <p:cNvPr id="33" name="Text 28"/>
          <p:cNvSpPr txBox="1"/>
          <p:nvPr/>
        </p:nvSpPr>
        <p:spPr>
          <a:xfrm>
            <a:off x="9372600" y="1417320"/>
            <a:ext cx="2194560" cy="640080"/>
          </a:xfrm>
          <a:prstGeom prst="rect">
            <a:avLst/>
          </a:prstGeom>
          <a:noFill/>
          <a:ln/>
        </p:spPr>
        <p:txBody>
          <a:bodyPr wrap="square" lIns="0" tIns="0" rIns="0" bIns="0" rtlCol="0" anchor="t"/>
          <a:lstStyle/>
          <a:p>
            <a:pPr algn="ctr" indent="0" marL="0">
              <a:buNone/>
            </a:pPr>
            <a:r>
              <a:rPr lang="en-US" sz="1500" b="1" dirty="0">
                <a:solidFill>
                  <a:schemeClr val="accent1"/>
                </a:solidFill>
                <a:latin typeface="Ebrima" pitchFamily="34" charset="0"/>
                <a:ea typeface="Ebrima" pitchFamily="34" charset="-122"/>
                <a:cs typeface="Ebrima" pitchFamily="34" charset="-120"/>
              </a:rPr>
              <a:t>ውጫዊ አገልግሎቶች</a:t>
            </a:r>
            <a:endParaRPr lang="en-US" sz="1500" dirty="0"/>
          </a:p>
        </p:txBody>
      </p:sp>
      <p:sp>
        <p:nvSpPr>
          <p:cNvPr id="34" name="Shape 29"/>
          <p:cNvSpPr/>
          <p:nvPr/>
        </p:nvSpPr>
        <p:spPr>
          <a:xfrm>
            <a:off x="10104120" y="2194560"/>
            <a:ext cx="640080" cy="640080"/>
          </a:xfrm>
          <a:prstGeom prst="ellipse">
            <a:avLst/>
          </a:prstGeom>
          <a:solidFill>
            <a:schemeClr val="accent1"/>
          </a:solidFill>
          <a:ln/>
        </p:spPr>
      </p:sp>
      <p:pic>
        <p:nvPicPr>
          <p:cNvPr id="35" name="Image 3" descr="preencoded.png">    </p:cNvPr>
          <p:cNvPicPr>
            <a:picLocks noChangeAspect="1"/>
          </p:cNvPicPr>
          <p:nvPr/>
        </p:nvPicPr>
        <p:blipFill>
          <a:blip r:embed="rId4"/>
          <a:stretch>
            <a:fillRect/>
          </a:stretch>
        </p:blipFill>
        <p:spPr>
          <a:xfrm>
            <a:off x="10257739" y="2348179"/>
            <a:ext cx="332842" cy="332842"/>
          </a:xfrm>
          <a:prstGeom prst="rect">
            <a:avLst/>
          </a:prstGeom>
        </p:spPr>
      </p:pic>
      <p:sp>
        <p:nvSpPr>
          <p:cNvPr id="36" name="Text 30"/>
          <p:cNvSpPr txBox="1"/>
          <p:nvPr/>
        </p:nvSpPr>
        <p:spPr>
          <a:xfrm>
            <a:off x="9372600" y="2880360"/>
            <a:ext cx="2194560" cy="365760"/>
          </a:xfrm>
          <a:prstGeom prst="rect">
            <a:avLst/>
          </a:prstGeom>
          <a:noFill/>
          <a:ln/>
        </p:spPr>
        <p:txBody>
          <a:bodyPr wrap="square" lIns="0" tIns="0" rIns="0" bIns="0" rtlCol="0" anchor="t"/>
          <a:lstStyle/>
          <a:p>
            <a:pPr algn="ctr" indent="0" marL="0">
              <a:buNone/>
            </a:pPr>
            <a:r>
              <a:rPr lang="en-US" sz="1300" dirty="0">
                <a:solidFill>
                  <a:schemeClr val="tx1"/>
                </a:solidFill>
                <a:latin typeface="Ebrima" pitchFamily="34" charset="0"/>
                <a:ea typeface="Ebrima" pitchFamily="34" charset="-122"/>
                <a:cs typeface="Ebrima" pitchFamily="34" charset="-120"/>
              </a:rPr>
              <a:t>Firebase (Push)</a:t>
            </a:r>
            <a:endParaRPr lang="en-US" sz="1300" dirty="0"/>
          </a:p>
        </p:txBody>
      </p:sp>
      <p:sp>
        <p:nvSpPr>
          <p:cNvPr id="37" name="Shape 31"/>
          <p:cNvSpPr/>
          <p:nvPr/>
        </p:nvSpPr>
        <p:spPr>
          <a:xfrm>
            <a:off x="10104120" y="3474720"/>
            <a:ext cx="640080" cy="640080"/>
          </a:xfrm>
          <a:prstGeom prst="ellipse">
            <a:avLst/>
          </a:prstGeom>
          <a:solidFill>
            <a:schemeClr val="accent1"/>
          </a:solidFill>
          <a:ln/>
        </p:spPr>
      </p:sp>
      <p:pic>
        <p:nvPicPr>
          <p:cNvPr id="38" name="Image 4" descr="preencoded.png">    </p:cNvPr>
          <p:cNvPicPr>
            <a:picLocks noChangeAspect="1"/>
          </p:cNvPicPr>
          <p:nvPr/>
        </p:nvPicPr>
        <p:blipFill>
          <a:blip r:embed="rId5"/>
          <a:stretch>
            <a:fillRect/>
          </a:stretch>
        </p:blipFill>
        <p:spPr>
          <a:xfrm>
            <a:off x="10257739" y="3628339"/>
            <a:ext cx="332842" cy="332842"/>
          </a:xfrm>
          <a:prstGeom prst="rect">
            <a:avLst/>
          </a:prstGeom>
        </p:spPr>
      </p:pic>
      <p:sp>
        <p:nvSpPr>
          <p:cNvPr id="39" name="Text 32"/>
          <p:cNvSpPr txBox="1"/>
          <p:nvPr/>
        </p:nvSpPr>
        <p:spPr>
          <a:xfrm>
            <a:off x="9372600" y="4160520"/>
            <a:ext cx="2194560" cy="365760"/>
          </a:xfrm>
          <a:prstGeom prst="rect">
            <a:avLst/>
          </a:prstGeom>
          <a:noFill/>
          <a:ln/>
        </p:spPr>
        <p:txBody>
          <a:bodyPr wrap="square" lIns="0" tIns="0" rIns="0" bIns="0" rtlCol="0" anchor="t"/>
          <a:lstStyle/>
          <a:p>
            <a:pPr algn="ctr" indent="0" marL="0">
              <a:buNone/>
            </a:pPr>
            <a:r>
              <a:rPr lang="en-US" sz="1300" dirty="0">
                <a:solidFill>
                  <a:schemeClr val="tx1"/>
                </a:solidFill>
                <a:latin typeface="Ebrima" pitchFamily="34" charset="0"/>
                <a:ea typeface="Ebrima" pitchFamily="34" charset="-122"/>
                <a:cs typeface="Ebrima" pitchFamily="34" charset="-120"/>
              </a:rPr>
              <a:t>ኢሜይል</a:t>
            </a:r>
            <a:endParaRPr lang="en-US" sz="1300" dirty="0"/>
          </a:p>
        </p:txBody>
      </p:sp>
      <p:sp>
        <p:nvSpPr>
          <p:cNvPr id="40" name="Shape 33"/>
          <p:cNvSpPr/>
          <p:nvPr/>
        </p:nvSpPr>
        <p:spPr>
          <a:xfrm>
            <a:off x="10104120" y="4754880"/>
            <a:ext cx="640080" cy="640080"/>
          </a:xfrm>
          <a:prstGeom prst="ellipse">
            <a:avLst/>
          </a:prstGeom>
          <a:solidFill>
            <a:schemeClr val="accent1"/>
          </a:solidFill>
          <a:ln/>
        </p:spPr>
      </p:sp>
      <p:pic>
        <p:nvPicPr>
          <p:cNvPr id="41" name="Image 5" descr="preencoded.png">    </p:cNvPr>
          <p:cNvPicPr>
            <a:picLocks noChangeAspect="1"/>
          </p:cNvPicPr>
          <p:nvPr/>
        </p:nvPicPr>
        <p:blipFill>
          <a:blip r:embed="rId6"/>
          <a:stretch>
            <a:fillRect/>
          </a:stretch>
        </p:blipFill>
        <p:spPr>
          <a:xfrm>
            <a:off x="10257739" y="4908499"/>
            <a:ext cx="332842" cy="332842"/>
          </a:xfrm>
          <a:prstGeom prst="rect">
            <a:avLst/>
          </a:prstGeom>
        </p:spPr>
      </p:pic>
      <p:sp>
        <p:nvSpPr>
          <p:cNvPr id="42" name="Text 34"/>
          <p:cNvSpPr txBox="1"/>
          <p:nvPr/>
        </p:nvSpPr>
        <p:spPr>
          <a:xfrm>
            <a:off x="9372600" y="5440680"/>
            <a:ext cx="2194560" cy="365760"/>
          </a:xfrm>
          <a:prstGeom prst="rect">
            <a:avLst/>
          </a:prstGeom>
          <a:noFill/>
          <a:ln/>
        </p:spPr>
        <p:txBody>
          <a:bodyPr wrap="square" lIns="0" tIns="0" rIns="0" bIns="0" rtlCol="0" anchor="t"/>
          <a:lstStyle/>
          <a:p>
            <a:pPr algn="ctr" indent="0" marL="0">
              <a:buNone/>
            </a:pPr>
            <a:r>
              <a:rPr lang="en-US" sz="1300" dirty="0">
                <a:solidFill>
                  <a:schemeClr val="tx1"/>
                </a:solidFill>
                <a:latin typeface="Ebrima" pitchFamily="34" charset="0"/>
                <a:ea typeface="Ebrima" pitchFamily="34" charset="-122"/>
                <a:cs typeface="Ebrima" pitchFamily="34" charset="-120"/>
              </a:rPr>
              <a:t>ቴሌግራም</a:t>
            </a:r>
            <a:endParaRPr lang="en-US" sz="1300" dirty="0"/>
          </a:p>
        </p:txBody>
      </p:sp>
      <p:sp>
        <p:nvSpPr>
          <p:cNvPr id="43" name="Text 35"/>
          <p:cNvSpPr txBox="1"/>
          <p:nvPr/>
        </p:nvSpPr>
        <p:spPr>
          <a:xfrm>
            <a:off x="548640" y="6016752"/>
            <a:ext cx="11064240" cy="274320"/>
          </a:xfrm>
          <a:prstGeom prst="rect">
            <a:avLst/>
          </a:prstGeom>
          <a:noFill/>
          <a:ln/>
        </p:spPr>
        <p:txBody>
          <a:bodyPr wrap="square" lIns="0" tIns="0" rIns="0" bIns="0" rtlCol="0" anchor="t"/>
          <a:lstStyle/>
          <a:p>
            <a:pPr indent="0" marL="0">
              <a:buNone/>
            </a:pPr>
            <a:r>
              <a:rPr lang="en-US" sz="1100" dirty="0">
                <a:solidFill>
                  <a:schemeClr val="accent4"/>
                </a:solidFill>
                <a:latin typeface="Ebrima" pitchFamily="34" charset="0"/>
                <a:ea typeface="Ebrima" pitchFamily="34" charset="-122"/>
                <a:cs typeface="Ebrima" pitchFamily="34" charset="-120"/>
              </a:rPr>
              <a:t>ቴክኖሎጂዎች፦ Flutter (መተግበሪያ) · Laravel 12 / PHP (አገልጋይ) · MariaDB/MySQL (የመረጃ ቋት)</a:t>
            </a:r>
            <a:endParaRPr lang="en-US" sz="11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Ebrima"/>
                <a:ea typeface="Ebrima"/>
                <a:cs typeface="Ebrima"/>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0241280" cy="777240"/>
          </a:xfrm>
          <a:prstGeom prst="rect">
            <a:avLst/>
          </a:prstGeom>
          <a:noFill/>
          <a:ln/>
        </p:spPr>
        <p:txBody>
          <a:bodyPr wrap="square" lIns="0" tIns="0" rIns="0" bIns="0" rtlCol="0" anchor="ctr"/>
          <a:lstStyle/>
          <a:p>
            <a:pPr algn="l" indent="0" marL="0">
              <a:buNone/>
            </a:pPr>
            <a:r>
              <a:rPr lang="en-US" sz="3400" dirty="0">
                <a:solidFill>
                  <a:schemeClr val="accent1"/>
                </a:solidFill>
                <a:latin typeface="Nyala" pitchFamily="34" charset="0"/>
                <a:ea typeface="Nyala" pitchFamily="34" charset="-122"/>
                <a:cs typeface="Nyala" pitchFamily="34" charset="-120"/>
              </a:rPr>
              <a:t>የኢትዮጵያ የቀን አቆጣጠርና ቋንቋ</a:t>
            </a:r>
            <a:endParaRPr lang="en-US" sz="3400" dirty="0"/>
          </a:p>
        </p:txBody>
      </p:sp>
      <p:sp>
        <p:nvSpPr>
          <p:cNvPr id="3" name="Shape 1"/>
          <p:cNvSpPr/>
          <p:nvPr/>
        </p:nvSpPr>
        <p:spPr>
          <a:xfrm>
            <a:off x="548640" y="1371600"/>
            <a:ext cx="1353312" cy="868680"/>
          </a:xfrm>
          <a:prstGeom prst="roundRect">
            <a:avLst>
              <a:gd name="adj" fmla="val 10526"/>
            </a:avLst>
          </a:prstGeom>
          <a:solidFill>
            <a:schemeClr val="accent1"/>
          </a:solidFill>
          <a:ln/>
        </p:spPr>
      </p:sp>
      <p:sp>
        <p:nvSpPr>
          <p:cNvPr id="4" name="Text 2"/>
          <p:cNvSpPr txBox="1"/>
          <p:nvPr/>
        </p:nvSpPr>
        <p:spPr>
          <a:xfrm>
            <a:off x="640080" y="1426464"/>
            <a:ext cx="457200" cy="274320"/>
          </a:xfrm>
          <a:prstGeom prst="rect">
            <a:avLst/>
          </a:prstGeom>
          <a:noFill/>
          <a:ln/>
        </p:spPr>
        <p:txBody>
          <a:bodyPr wrap="square" lIns="0" tIns="0" rIns="0" bIns="0" rtlCol="0" anchor="t"/>
          <a:lstStyle/>
          <a:p>
            <a:pPr indent="0" marL="0">
              <a:buNone/>
            </a:pPr>
            <a:r>
              <a:rPr lang="en-US" sz="1100" dirty="0">
                <a:solidFill>
                  <a:schemeClr val="accent2"/>
                </a:solidFill>
                <a:latin typeface="Ebrima" pitchFamily="34" charset="0"/>
                <a:ea typeface="Ebrima" pitchFamily="34" charset="-122"/>
                <a:cs typeface="Ebrima" pitchFamily="34" charset="-120"/>
              </a:rPr>
              <a:t>1</a:t>
            </a:r>
            <a:endParaRPr lang="en-US" sz="1100" dirty="0"/>
          </a:p>
        </p:txBody>
      </p:sp>
      <p:sp>
        <p:nvSpPr>
          <p:cNvPr id="5" name="Text 3"/>
          <p:cNvSpPr txBox="1"/>
          <p:nvPr/>
        </p:nvSpPr>
        <p:spPr>
          <a:xfrm>
            <a:off x="548640" y="1645920"/>
            <a:ext cx="1353312"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Ebrima" pitchFamily="34" charset="0"/>
                <a:ea typeface="Ebrima" pitchFamily="34" charset="-122"/>
                <a:cs typeface="Ebrima" pitchFamily="34" charset="-120"/>
              </a:rPr>
              <a:t>መስከረም</a:t>
            </a:r>
            <a:endParaRPr lang="en-US" sz="1500" dirty="0"/>
          </a:p>
        </p:txBody>
      </p:sp>
      <p:sp>
        <p:nvSpPr>
          <p:cNvPr id="6" name="Shape 4"/>
          <p:cNvSpPr/>
          <p:nvPr/>
        </p:nvSpPr>
        <p:spPr>
          <a:xfrm>
            <a:off x="2029968" y="1371600"/>
            <a:ext cx="1353312" cy="868680"/>
          </a:xfrm>
          <a:prstGeom prst="roundRect">
            <a:avLst>
              <a:gd name="adj" fmla="val 10526"/>
            </a:avLst>
          </a:prstGeom>
          <a:solidFill>
            <a:schemeClr val="accent1">
              <a:alpha val="85000"/>
            </a:schemeClr>
          </a:solidFill>
          <a:ln/>
        </p:spPr>
      </p:sp>
      <p:sp>
        <p:nvSpPr>
          <p:cNvPr id="7" name="Text 5"/>
          <p:cNvSpPr txBox="1"/>
          <p:nvPr/>
        </p:nvSpPr>
        <p:spPr>
          <a:xfrm>
            <a:off x="2121408" y="1426464"/>
            <a:ext cx="457200" cy="274320"/>
          </a:xfrm>
          <a:prstGeom prst="rect">
            <a:avLst/>
          </a:prstGeom>
          <a:noFill/>
          <a:ln/>
        </p:spPr>
        <p:txBody>
          <a:bodyPr wrap="square" lIns="0" tIns="0" rIns="0" bIns="0" rtlCol="0" anchor="t"/>
          <a:lstStyle/>
          <a:p>
            <a:pPr indent="0" marL="0">
              <a:buNone/>
            </a:pPr>
            <a:r>
              <a:rPr lang="en-US" sz="1100" dirty="0">
                <a:solidFill>
                  <a:schemeClr val="accent2"/>
                </a:solidFill>
                <a:latin typeface="Ebrima" pitchFamily="34" charset="0"/>
                <a:ea typeface="Ebrima" pitchFamily="34" charset="-122"/>
                <a:cs typeface="Ebrima" pitchFamily="34" charset="-120"/>
              </a:rPr>
              <a:t>2</a:t>
            </a:r>
            <a:endParaRPr lang="en-US" sz="1100" dirty="0"/>
          </a:p>
        </p:txBody>
      </p:sp>
      <p:sp>
        <p:nvSpPr>
          <p:cNvPr id="8" name="Text 6"/>
          <p:cNvSpPr txBox="1"/>
          <p:nvPr/>
        </p:nvSpPr>
        <p:spPr>
          <a:xfrm>
            <a:off x="2029968" y="1645920"/>
            <a:ext cx="1353312"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Ebrima" pitchFamily="34" charset="0"/>
                <a:ea typeface="Ebrima" pitchFamily="34" charset="-122"/>
                <a:cs typeface="Ebrima" pitchFamily="34" charset="-120"/>
              </a:rPr>
              <a:t>ጥቅምት</a:t>
            </a:r>
            <a:endParaRPr lang="en-US" sz="1500" dirty="0"/>
          </a:p>
        </p:txBody>
      </p:sp>
      <p:sp>
        <p:nvSpPr>
          <p:cNvPr id="9" name="Shape 7"/>
          <p:cNvSpPr/>
          <p:nvPr/>
        </p:nvSpPr>
        <p:spPr>
          <a:xfrm>
            <a:off x="3511296" y="1371600"/>
            <a:ext cx="1353312" cy="868680"/>
          </a:xfrm>
          <a:prstGeom prst="roundRect">
            <a:avLst>
              <a:gd name="adj" fmla="val 10526"/>
            </a:avLst>
          </a:prstGeom>
          <a:solidFill>
            <a:schemeClr val="accent1"/>
          </a:solidFill>
          <a:ln/>
        </p:spPr>
      </p:sp>
      <p:sp>
        <p:nvSpPr>
          <p:cNvPr id="10" name="Text 8"/>
          <p:cNvSpPr txBox="1"/>
          <p:nvPr/>
        </p:nvSpPr>
        <p:spPr>
          <a:xfrm>
            <a:off x="3602736" y="1426464"/>
            <a:ext cx="457200" cy="274320"/>
          </a:xfrm>
          <a:prstGeom prst="rect">
            <a:avLst/>
          </a:prstGeom>
          <a:noFill/>
          <a:ln/>
        </p:spPr>
        <p:txBody>
          <a:bodyPr wrap="square" lIns="0" tIns="0" rIns="0" bIns="0" rtlCol="0" anchor="t"/>
          <a:lstStyle/>
          <a:p>
            <a:pPr indent="0" marL="0">
              <a:buNone/>
            </a:pPr>
            <a:r>
              <a:rPr lang="en-US" sz="1100" dirty="0">
                <a:solidFill>
                  <a:schemeClr val="accent2"/>
                </a:solidFill>
                <a:latin typeface="Ebrima" pitchFamily="34" charset="0"/>
                <a:ea typeface="Ebrima" pitchFamily="34" charset="-122"/>
                <a:cs typeface="Ebrima" pitchFamily="34" charset="-120"/>
              </a:rPr>
              <a:t>3</a:t>
            </a:r>
            <a:endParaRPr lang="en-US" sz="1100" dirty="0"/>
          </a:p>
        </p:txBody>
      </p:sp>
      <p:sp>
        <p:nvSpPr>
          <p:cNvPr id="11" name="Text 9"/>
          <p:cNvSpPr txBox="1"/>
          <p:nvPr/>
        </p:nvSpPr>
        <p:spPr>
          <a:xfrm>
            <a:off x="3511296" y="1645920"/>
            <a:ext cx="1353312"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Ebrima" pitchFamily="34" charset="0"/>
                <a:ea typeface="Ebrima" pitchFamily="34" charset="-122"/>
                <a:cs typeface="Ebrima" pitchFamily="34" charset="-120"/>
              </a:rPr>
              <a:t>ኅዳር</a:t>
            </a:r>
            <a:endParaRPr lang="en-US" sz="1500" dirty="0"/>
          </a:p>
        </p:txBody>
      </p:sp>
      <p:sp>
        <p:nvSpPr>
          <p:cNvPr id="12" name="Shape 10"/>
          <p:cNvSpPr/>
          <p:nvPr/>
        </p:nvSpPr>
        <p:spPr>
          <a:xfrm>
            <a:off x="4992624" y="1371600"/>
            <a:ext cx="1353312" cy="868680"/>
          </a:xfrm>
          <a:prstGeom prst="roundRect">
            <a:avLst>
              <a:gd name="adj" fmla="val 10526"/>
            </a:avLst>
          </a:prstGeom>
          <a:solidFill>
            <a:schemeClr val="accent1">
              <a:alpha val="85000"/>
            </a:schemeClr>
          </a:solidFill>
          <a:ln/>
        </p:spPr>
      </p:sp>
      <p:sp>
        <p:nvSpPr>
          <p:cNvPr id="13" name="Text 11"/>
          <p:cNvSpPr txBox="1"/>
          <p:nvPr/>
        </p:nvSpPr>
        <p:spPr>
          <a:xfrm>
            <a:off x="5084064" y="1426464"/>
            <a:ext cx="457200" cy="274320"/>
          </a:xfrm>
          <a:prstGeom prst="rect">
            <a:avLst/>
          </a:prstGeom>
          <a:noFill/>
          <a:ln/>
        </p:spPr>
        <p:txBody>
          <a:bodyPr wrap="square" lIns="0" tIns="0" rIns="0" bIns="0" rtlCol="0" anchor="t"/>
          <a:lstStyle/>
          <a:p>
            <a:pPr indent="0" marL="0">
              <a:buNone/>
            </a:pPr>
            <a:r>
              <a:rPr lang="en-US" sz="1100" dirty="0">
                <a:solidFill>
                  <a:schemeClr val="accent2"/>
                </a:solidFill>
                <a:latin typeface="Ebrima" pitchFamily="34" charset="0"/>
                <a:ea typeface="Ebrima" pitchFamily="34" charset="-122"/>
                <a:cs typeface="Ebrima" pitchFamily="34" charset="-120"/>
              </a:rPr>
              <a:t>4</a:t>
            </a:r>
            <a:endParaRPr lang="en-US" sz="1100" dirty="0"/>
          </a:p>
        </p:txBody>
      </p:sp>
      <p:sp>
        <p:nvSpPr>
          <p:cNvPr id="14" name="Text 12"/>
          <p:cNvSpPr txBox="1"/>
          <p:nvPr/>
        </p:nvSpPr>
        <p:spPr>
          <a:xfrm>
            <a:off x="4992624" y="1645920"/>
            <a:ext cx="1353312"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Ebrima" pitchFamily="34" charset="0"/>
                <a:ea typeface="Ebrima" pitchFamily="34" charset="-122"/>
                <a:cs typeface="Ebrima" pitchFamily="34" charset="-120"/>
              </a:rPr>
              <a:t>ታኅሣሥ</a:t>
            </a:r>
            <a:endParaRPr lang="en-US" sz="1500" dirty="0"/>
          </a:p>
        </p:txBody>
      </p:sp>
      <p:sp>
        <p:nvSpPr>
          <p:cNvPr id="15" name="Shape 13"/>
          <p:cNvSpPr/>
          <p:nvPr/>
        </p:nvSpPr>
        <p:spPr>
          <a:xfrm>
            <a:off x="548640" y="2377440"/>
            <a:ext cx="1353312" cy="868680"/>
          </a:xfrm>
          <a:prstGeom prst="roundRect">
            <a:avLst>
              <a:gd name="adj" fmla="val 10526"/>
            </a:avLst>
          </a:prstGeom>
          <a:solidFill>
            <a:schemeClr val="accent1"/>
          </a:solidFill>
          <a:ln/>
        </p:spPr>
      </p:sp>
      <p:sp>
        <p:nvSpPr>
          <p:cNvPr id="16" name="Text 14"/>
          <p:cNvSpPr txBox="1"/>
          <p:nvPr/>
        </p:nvSpPr>
        <p:spPr>
          <a:xfrm>
            <a:off x="640080" y="2432304"/>
            <a:ext cx="457200" cy="274320"/>
          </a:xfrm>
          <a:prstGeom prst="rect">
            <a:avLst/>
          </a:prstGeom>
          <a:noFill/>
          <a:ln/>
        </p:spPr>
        <p:txBody>
          <a:bodyPr wrap="square" lIns="0" tIns="0" rIns="0" bIns="0" rtlCol="0" anchor="t"/>
          <a:lstStyle/>
          <a:p>
            <a:pPr indent="0" marL="0">
              <a:buNone/>
            </a:pPr>
            <a:r>
              <a:rPr lang="en-US" sz="1100" dirty="0">
                <a:solidFill>
                  <a:schemeClr val="accent2"/>
                </a:solidFill>
                <a:latin typeface="Ebrima" pitchFamily="34" charset="0"/>
                <a:ea typeface="Ebrima" pitchFamily="34" charset="-122"/>
                <a:cs typeface="Ebrima" pitchFamily="34" charset="-120"/>
              </a:rPr>
              <a:t>5</a:t>
            </a:r>
            <a:endParaRPr lang="en-US" sz="1100" dirty="0"/>
          </a:p>
        </p:txBody>
      </p:sp>
      <p:sp>
        <p:nvSpPr>
          <p:cNvPr id="17" name="Text 15"/>
          <p:cNvSpPr txBox="1"/>
          <p:nvPr/>
        </p:nvSpPr>
        <p:spPr>
          <a:xfrm>
            <a:off x="548640" y="2651760"/>
            <a:ext cx="1353312"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Ebrima" pitchFamily="34" charset="0"/>
                <a:ea typeface="Ebrima" pitchFamily="34" charset="-122"/>
                <a:cs typeface="Ebrima" pitchFamily="34" charset="-120"/>
              </a:rPr>
              <a:t>ጥር</a:t>
            </a:r>
            <a:endParaRPr lang="en-US" sz="1500" dirty="0"/>
          </a:p>
        </p:txBody>
      </p:sp>
      <p:sp>
        <p:nvSpPr>
          <p:cNvPr id="18" name="Shape 16"/>
          <p:cNvSpPr/>
          <p:nvPr/>
        </p:nvSpPr>
        <p:spPr>
          <a:xfrm>
            <a:off x="2029968" y="2377440"/>
            <a:ext cx="1353312" cy="868680"/>
          </a:xfrm>
          <a:prstGeom prst="roundRect">
            <a:avLst>
              <a:gd name="adj" fmla="val 10526"/>
            </a:avLst>
          </a:prstGeom>
          <a:solidFill>
            <a:schemeClr val="accent1">
              <a:alpha val="85000"/>
            </a:schemeClr>
          </a:solidFill>
          <a:ln/>
        </p:spPr>
      </p:sp>
      <p:sp>
        <p:nvSpPr>
          <p:cNvPr id="19" name="Text 17"/>
          <p:cNvSpPr txBox="1"/>
          <p:nvPr/>
        </p:nvSpPr>
        <p:spPr>
          <a:xfrm>
            <a:off x="2121408" y="2432304"/>
            <a:ext cx="457200" cy="274320"/>
          </a:xfrm>
          <a:prstGeom prst="rect">
            <a:avLst/>
          </a:prstGeom>
          <a:noFill/>
          <a:ln/>
        </p:spPr>
        <p:txBody>
          <a:bodyPr wrap="square" lIns="0" tIns="0" rIns="0" bIns="0" rtlCol="0" anchor="t"/>
          <a:lstStyle/>
          <a:p>
            <a:pPr indent="0" marL="0">
              <a:buNone/>
            </a:pPr>
            <a:r>
              <a:rPr lang="en-US" sz="1100" dirty="0">
                <a:solidFill>
                  <a:schemeClr val="accent2"/>
                </a:solidFill>
                <a:latin typeface="Ebrima" pitchFamily="34" charset="0"/>
                <a:ea typeface="Ebrima" pitchFamily="34" charset="-122"/>
                <a:cs typeface="Ebrima" pitchFamily="34" charset="-120"/>
              </a:rPr>
              <a:t>6</a:t>
            </a:r>
            <a:endParaRPr lang="en-US" sz="1100" dirty="0"/>
          </a:p>
        </p:txBody>
      </p:sp>
      <p:sp>
        <p:nvSpPr>
          <p:cNvPr id="20" name="Text 18"/>
          <p:cNvSpPr txBox="1"/>
          <p:nvPr/>
        </p:nvSpPr>
        <p:spPr>
          <a:xfrm>
            <a:off x="2029968" y="2651760"/>
            <a:ext cx="1353312"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Ebrima" pitchFamily="34" charset="0"/>
                <a:ea typeface="Ebrima" pitchFamily="34" charset="-122"/>
                <a:cs typeface="Ebrima" pitchFamily="34" charset="-120"/>
              </a:rPr>
              <a:t>የካቲት</a:t>
            </a:r>
            <a:endParaRPr lang="en-US" sz="1500" dirty="0"/>
          </a:p>
        </p:txBody>
      </p:sp>
      <p:sp>
        <p:nvSpPr>
          <p:cNvPr id="21" name="Shape 19"/>
          <p:cNvSpPr/>
          <p:nvPr/>
        </p:nvSpPr>
        <p:spPr>
          <a:xfrm>
            <a:off x="3511296" y="2377440"/>
            <a:ext cx="1353312" cy="868680"/>
          </a:xfrm>
          <a:prstGeom prst="roundRect">
            <a:avLst>
              <a:gd name="adj" fmla="val 10526"/>
            </a:avLst>
          </a:prstGeom>
          <a:solidFill>
            <a:schemeClr val="accent1"/>
          </a:solidFill>
          <a:ln/>
        </p:spPr>
      </p:sp>
      <p:sp>
        <p:nvSpPr>
          <p:cNvPr id="22" name="Text 20"/>
          <p:cNvSpPr txBox="1"/>
          <p:nvPr/>
        </p:nvSpPr>
        <p:spPr>
          <a:xfrm>
            <a:off x="3602736" y="2432304"/>
            <a:ext cx="457200" cy="274320"/>
          </a:xfrm>
          <a:prstGeom prst="rect">
            <a:avLst/>
          </a:prstGeom>
          <a:noFill/>
          <a:ln/>
        </p:spPr>
        <p:txBody>
          <a:bodyPr wrap="square" lIns="0" tIns="0" rIns="0" bIns="0" rtlCol="0" anchor="t"/>
          <a:lstStyle/>
          <a:p>
            <a:pPr indent="0" marL="0">
              <a:buNone/>
            </a:pPr>
            <a:r>
              <a:rPr lang="en-US" sz="1100" dirty="0">
                <a:solidFill>
                  <a:schemeClr val="accent2"/>
                </a:solidFill>
                <a:latin typeface="Ebrima" pitchFamily="34" charset="0"/>
                <a:ea typeface="Ebrima" pitchFamily="34" charset="-122"/>
                <a:cs typeface="Ebrima" pitchFamily="34" charset="-120"/>
              </a:rPr>
              <a:t>7</a:t>
            </a:r>
            <a:endParaRPr lang="en-US" sz="1100" dirty="0"/>
          </a:p>
        </p:txBody>
      </p:sp>
      <p:sp>
        <p:nvSpPr>
          <p:cNvPr id="23" name="Text 21"/>
          <p:cNvSpPr txBox="1"/>
          <p:nvPr/>
        </p:nvSpPr>
        <p:spPr>
          <a:xfrm>
            <a:off x="3511296" y="2651760"/>
            <a:ext cx="1353312"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Ebrima" pitchFamily="34" charset="0"/>
                <a:ea typeface="Ebrima" pitchFamily="34" charset="-122"/>
                <a:cs typeface="Ebrima" pitchFamily="34" charset="-120"/>
              </a:rPr>
              <a:t>መጋቢት</a:t>
            </a:r>
            <a:endParaRPr lang="en-US" sz="1500" dirty="0"/>
          </a:p>
        </p:txBody>
      </p:sp>
      <p:sp>
        <p:nvSpPr>
          <p:cNvPr id="24" name="Shape 22"/>
          <p:cNvSpPr/>
          <p:nvPr/>
        </p:nvSpPr>
        <p:spPr>
          <a:xfrm>
            <a:off x="4992624" y="2377440"/>
            <a:ext cx="1353312" cy="868680"/>
          </a:xfrm>
          <a:prstGeom prst="roundRect">
            <a:avLst>
              <a:gd name="adj" fmla="val 10526"/>
            </a:avLst>
          </a:prstGeom>
          <a:solidFill>
            <a:schemeClr val="accent1">
              <a:alpha val="85000"/>
            </a:schemeClr>
          </a:solidFill>
          <a:ln/>
        </p:spPr>
      </p:sp>
      <p:sp>
        <p:nvSpPr>
          <p:cNvPr id="25" name="Text 23"/>
          <p:cNvSpPr txBox="1"/>
          <p:nvPr/>
        </p:nvSpPr>
        <p:spPr>
          <a:xfrm>
            <a:off x="5084064" y="2432304"/>
            <a:ext cx="457200" cy="274320"/>
          </a:xfrm>
          <a:prstGeom prst="rect">
            <a:avLst/>
          </a:prstGeom>
          <a:noFill/>
          <a:ln/>
        </p:spPr>
        <p:txBody>
          <a:bodyPr wrap="square" lIns="0" tIns="0" rIns="0" bIns="0" rtlCol="0" anchor="t"/>
          <a:lstStyle/>
          <a:p>
            <a:pPr indent="0" marL="0">
              <a:buNone/>
            </a:pPr>
            <a:r>
              <a:rPr lang="en-US" sz="1100" dirty="0">
                <a:solidFill>
                  <a:schemeClr val="accent2"/>
                </a:solidFill>
                <a:latin typeface="Ebrima" pitchFamily="34" charset="0"/>
                <a:ea typeface="Ebrima" pitchFamily="34" charset="-122"/>
                <a:cs typeface="Ebrima" pitchFamily="34" charset="-120"/>
              </a:rPr>
              <a:t>8</a:t>
            </a:r>
            <a:endParaRPr lang="en-US" sz="1100" dirty="0"/>
          </a:p>
        </p:txBody>
      </p:sp>
      <p:sp>
        <p:nvSpPr>
          <p:cNvPr id="26" name="Text 24"/>
          <p:cNvSpPr txBox="1"/>
          <p:nvPr/>
        </p:nvSpPr>
        <p:spPr>
          <a:xfrm>
            <a:off x="4992624" y="2651760"/>
            <a:ext cx="1353312"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Ebrima" pitchFamily="34" charset="0"/>
                <a:ea typeface="Ebrima" pitchFamily="34" charset="-122"/>
                <a:cs typeface="Ebrima" pitchFamily="34" charset="-120"/>
              </a:rPr>
              <a:t>ሚያዝያ</a:t>
            </a:r>
            <a:endParaRPr lang="en-US" sz="1500" dirty="0"/>
          </a:p>
        </p:txBody>
      </p:sp>
      <p:sp>
        <p:nvSpPr>
          <p:cNvPr id="27" name="Shape 25"/>
          <p:cNvSpPr/>
          <p:nvPr/>
        </p:nvSpPr>
        <p:spPr>
          <a:xfrm>
            <a:off x="548640" y="3383280"/>
            <a:ext cx="1353312" cy="868680"/>
          </a:xfrm>
          <a:prstGeom prst="roundRect">
            <a:avLst>
              <a:gd name="adj" fmla="val 10526"/>
            </a:avLst>
          </a:prstGeom>
          <a:solidFill>
            <a:schemeClr val="accent1"/>
          </a:solidFill>
          <a:ln/>
        </p:spPr>
      </p:sp>
      <p:sp>
        <p:nvSpPr>
          <p:cNvPr id="28" name="Text 26"/>
          <p:cNvSpPr txBox="1"/>
          <p:nvPr/>
        </p:nvSpPr>
        <p:spPr>
          <a:xfrm>
            <a:off x="640080" y="3438144"/>
            <a:ext cx="457200" cy="274320"/>
          </a:xfrm>
          <a:prstGeom prst="rect">
            <a:avLst/>
          </a:prstGeom>
          <a:noFill/>
          <a:ln/>
        </p:spPr>
        <p:txBody>
          <a:bodyPr wrap="square" lIns="0" tIns="0" rIns="0" bIns="0" rtlCol="0" anchor="t"/>
          <a:lstStyle/>
          <a:p>
            <a:pPr indent="0" marL="0">
              <a:buNone/>
            </a:pPr>
            <a:r>
              <a:rPr lang="en-US" sz="1100" dirty="0">
                <a:solidFill>
                  <a:schemeClr val="accent2"/>
                </a:solidFill>
                <a:latin typeface="Ebrima" pitchFamily="34" charset="0"/>
                <a:ea typeface="Ebrima" pitchFamily="34" charset="-122"/>
                <a:cs typeface="Ebrima" pitchFamily="34" charset="-120"/>
              </a:rPr>
              <a:t>9</a:t>
            </a:r>
            <a:endParaRPr lang="en-US" sz="1100" dirty="0"/>
          </a:p>
        </p:txBody>
      </p:sp>
      <p:sp>
        <p:nvSpPr>
          <p:cNvPr id="29" name="Text 27"/>
          <p:cNvSpPr txBox="1"/>
          <p:nvPr/>
        </p:nvSpPr>
        <p:spPr>
          <a:xfrm>
            <a:off x="548640" y="3657600"/>
            <a:ext cx="1353312"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Ebrima" pitchFamily="34" charset="0"/>
                <a:ea typeface="Ebrima" pitchFamily="34" charset="-122"/>
                <a:cs typeface="Ebrima" pitchFamily="34" charset="-120"/>
              </a:rPr>
              <a:t>ግንቦት</a:t>
            </a:r>
            <a:endParaRPr lang="en-US" sz="1500" dirty="0"/>
          </a:p>
        </p:txBody>
      </p:sp>
      <p:sp>
        <p:nvSpPr>
          <p:cNvPr id="30" name="Shape 28"/>
          <p:cNvSpPr/>
          <p:nvPr/>
        </p:nvSpPr>
        <p:spPr>
          <a:xfrm>
            <a:off x="2029968" y="3383280"/>
            <a:ext cx="1353312" cy="868680"/>
          </a:xfrm>
          <a:prstGeom prst="roundRect">
            <a:avLst>
              <a:gd name="adj" fmla="val 10526"/>
            </a:avLst>
          </a:prstGeom>
          <a:solidFill>
            <a:schemeClr val="accent1">
              <a:alpha val="85000"/>
            </a:schemeClr>
          </a:solidFill>
          <a:ln/>
        </p:spPr>
      </p:sp>
      <p:sp>
        <p:nvSpPr>
          <p:cNvPr id="31" name="Text 29"/>
          <p:cNvSpPr txBox="1"/>
          <p:nvPr/>
        </p:nvSpPr>
        <p:spPr>
          <a:xfrm>
            <a:off x="2121408" y="3438144"/>
            <a:ext cx="457200" cy="274320"/>
          </a:xfrm>
          <a:prstGeom prst="rect">
            <a:avLst/>
          </a:prstGeom>
          <a:noFill/>
          <a:ln/>
        </p:spPr>
        <p:txBody>
          <a:bodyPr wrap="square" lIns="0" tIns="0" rIns="0" bIns="0" rtlCol="0" anchor="t"/>
          <a:lstStyle/>
          <a:p>
            <a:pPr indent="0" marL="0">
              <a:buNone/>
            </a:pPr>
            <a:r>
              <a:rPr lang="en-US" sz="1100" dirty="0">
                <a:solidFill>
                  <a:schemeClr val="accent2"/>
                </a:solidFill>
                <a:latin typeface="Ebrima" pitchFamily="34" charset="0"/>
                <a:ea typeface="Ebrima" pitchFamily="34" charset="-122"/>
                <a:cs typeface="Ebrima" pitchFamily="34" charset="-120"/>
              </a:rPr>
              <a:t>10</a:t>
            </a:r>
            <a:endParaRPr lang="en-US" sz="1100" dirty="0"/>
          </a:p>
        </p:txBody>
      </p:sp>
      <p:sp>
        <p:nvSpPr>
          <p:cNvPr id="32" name="Text 30"/>
          <p:cNvSpPr txBox="1"/>
          <p:nvPr/>
        </p:nvSpPr>
        <p:spPr>
          <a:xfrm>
            <a:off x="2029968" y="3657600"/>
            <a:ext cx="1353312"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Ebrima" pitchFamily="34" charset="0"/>
                <a:ea typeface="Ebrima" pitchFamily="34" charset="-122"/>
                <a:cs typeface="Ebrima" pitchFamily="34" charset="-120"/>
              </a:rPr>
              <a:t>ሰኔ</a:t>
            </a:r>
            <a:endParaRPr lang="en-US" sz="1500" dirty="0"/>
          </a:p>
        </p:txBody>
      </p:sp>
      <p:sp>
        <p:nvSpPr>
          <p:cNvPr id="33" name="Shape 31"/>
          <p:cNvSpPr/>
          <p:nvPr/>
        </p:nvSpPr>
        <p:spPr>
          <a:xfrm>
            <a:off x="3511296" y="3383280"/>
            <a:ext cx="1353312" cy="868680"/>
          </a:xfrm>
          <a:prstGeom prst="roundRect">
            <a:avLst>
              <a:gd name="adj" fmla="val 10526"/>
            </a:avLst>
          </a:prstGeom>
          <a:solidFill>
            <a:schemeClr val="accent1"/>
          </a:solidFill>
          <a:ln/>
        </p:spPr>
      </p:sp>
      <p:sp>
        <p:nvSpPr>
          <p:cNvPr id="34" name="Text 32"/>
          <p:cNvSpPr txBox="1"/>
          <p:nvPr/>
        </p:nvSpPr>
        <p:spPr>
          <a:xfrm>
            <a:off x="3602736" y="3438144"/>
            <a:ext cx="457200" cy="274320"/>
          </a:xfrm>
          <a:prstGeom prst="rect">
            <a:avLst/>
          </a:prstGeom>
          <a:noFill/>
          <a:ln/>
        </p:spPr>
        <p:txBody>
          <a:bodyPr wrap="square" lIns="0" tIns="0" rIns="0" bIns="0" rtlCol="0" anchor="t"/>
          <a:lstStyle/>
          <a:p>
            <a:pPr indent="0" marL="0">
              <a:buNone/>
            </a:pPr>
            <a:r>
              <a:rPr lang="en-US" sz="1100" dirty="0">
                <a:solidFill>
                  <a:schemeClr val="accent2"/>
                </a:solidFill>
                <a:latin typeface="Ebrima" pitchFamily="34" charset="0"/>
                <a:ea typeface="Ebrima" pitchFamily="34" charset="-122"/>
                <a:cs typeface="Ebrima" pitchFamily="34" charset="-120"/>
              </a:rPr>
              <a:t>11</a:t>
            </a:r>
            <a:endParaRPr lang="en-US" sz="1100" dirty="0"/>
          </a:p>
        </p:txBody>
      </p:sp>
      <p:sp>
        <p:nvSpPr>
          <p:cNvPr id="35" name="Text 33"/>
          <p:cNvSpPr txBox="1"/>
          <p:nvPr/>
        </p:nvSpPr>
        <p:spPr>
          <a:xfrm>
            <a:off x="3511296" y="3657600"/>
            <a:ext cx="1353312"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Ebrima" pitchFamily="34" charset="0"/>
                <a:ea typeface="Ebrima" pitchFamily="34" charset="-122"/>
                <a:cs typeface="Ebrima" pitchFamily="34" charset="-120"/>
              </a:rPr>
              <a:t>ሐምሌ</a:t>
            </a:r>
            <a:endParaRPr lang="en-US" sz="1500" dirty="0"/>
          </a:p>
        </p:txBody>
      </p:sp>
      <p:sp>
        <p:nvSpPr>
          <p:cNvPr id="36" name="Shape 34"/>
          <p:cNvSpPr/>
          <p:nvPr/>
        </p:nvSpPr>
        <p:spPr>
          <a:xfrm>
            <a:off x="4992624" y="3383280"/>
            <a:ext cx="1353312" cy="868680"/>
          </a:xfrm>
          <a:prstGeom prst="roundRect">
            <a:avLst>
              <a:gd name="adj" fmla="val 10526"/>
            </a:avLst>
          </a:prstGeom>
          <a:solidFill>
            <a:schemeClr val="accent1">
              <a:alpha val="85000"/>
            </a:schemeClr>
          </a:solidFill>
          <a:ln/>
        </p:spPr>
      </p:sp>
      <p:sp>
        <p:nvSpPr>
          <p:cNvPr id="37" name="Text 35"/>
          <p:cNvSpPr txBox="1"/>
          <p:nvPr/>
        </p:nvSpPr>
        <p:spPr>
          <a:xfrm>
            <a:off x="5084064" y="3438144"/>
            <a:ext cx="457200" cy="274320"/>
          </a:xfrm>
          <a:prstGeom prst="rect">
            <a:avLst/>
          </a:prstGeom>
          <a:noFill/>
          <a:ln/>
        </p:spPr>
        <p:txBody>
          <a:bodyPr wrap="square" lIns="0" tIns="0" rIns="0" bIns="0" rtlCol="0" anchor="t"/>
          <a:lstStyle/>
          <a:p>
            <a:pPr indent="0" marL="0">
              <a:buNone/>
            </a:pPr>
            <a:r>
              <a:rPr lang="en-US" sz="1100" dirty="0">
                <a:solidFill>
                  <a:schemeClr val="accent2"/>
                </a:solidFill>
                <a:latin typeface="Ebrima" pitchFamily="34" charset="0"/>
                <a:ea typeface="Ebrima" pitchFamily="34" charset="-122"/>
                <a:cs typeface="Ebrima" pitchFamily="34" charset="-120"/>
              </a:rPr>
              <a:t>12</a:t>
            </a:r>
            <a:endParaRPr lang="en-US" sz="1100" dirty="0"/>
          </a:p>
        </p:txBody>
      </p:sp>
      <p:sp>
        <p:nvSpPr>
          <p:cNvPr id="38" name="Text 36"/>
          <p:cNvSpPr txBox="1"/>
          <p:nvPr/>
        </p:nvSpPr>
        <p:spPr>
          <a:xfrm>
            <a:off x="4992624" y="3657600"/>
            <a:ext cx="1353312"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Ebrima" pitchFamily="34" charset="0"/>
                <a:ea typeface="Ebrima" pitchFamily="34" charset="-122"/>
                <a:cs typeface="Ebrima" pitchFamily="34" charset="-120"/>
              </a:rPr>
              <a:t>ነሐሴ</a:t>
            </a:r>
            <a:endParaRPr lang="en-US" sz="1500" dirty="0"/>
          </a:p>
        </p:txBody>
      </p:sp>
      <p:sp>
        <p:nvSpPr>
          <p:cNvPr id="39" name="Shape 37"/>
          <p:cNvSpPr/>
          <p:nvPr/>
        </p:nvSpPr>
        <p:spPr>
          <a:xfrm>
            <a:off x="548640" y="4389120"/>
            <a:ext cx="1353312" cy="868680"/>
          </a:xfrm>
          <a:prstGeom prst="roundRect">
            <a:avLst>
              <a:gd name="adj" fmla="val 10526"/>
            </a:avLst>
          </a:prstGeom>
          <a:solidFill>
            <a:schemeClr val="accent2"/>
          </a:solidFill>
          <a:ln/>
        </p:spPr>
      </p:sp>
      <p:sp>
        <p:nvSpPr>
          <p:cNvPr id="40" name="Text 38"/>
          <p:cNvSpPr txBox="1"/>
          <p:nvPr/>
        </p:nvSpPr>
        <p:spPr>
          <a:xfrm>
            <a:off x="640080" y="4443984"/>
            <a:ext cx="457200" cy="274320"/>
          </a:xfrm>
          <a:prstGeom prst="rect">
            <a:avLst/>
          </a:prstGeom>
          <a:noFill/>
          <a:ln/>
        </p:spPr>
        <p:txBody>
          <a:bodyPr wrap="square" lIns="0" tIns="0" rIns="0" bIns="0" rtlCol="0" anchor="t"/>
          <a:lstStyle/>
          <a:p>
            <a:pPr indent="0" marL="0">
              <a:buNone/>
            </a:pPr>
            <a:r>
              <a:rPr lang="en-US" sz="1100" dirty="0">
                <a:solidFill>
                  <a:schemeClr val="bg1"/>
                </a:solidFill>
                <a:latin typeface="Ebrima" pitchFamily="34" charset="0"/>
                <a:ea typeface="Ebrima" pitchFamily="34" charset="-122"/>
                <a:cs typeface="Ebrima" pitchFamily="34" charset="-120"/>
              </a:rPr>
              <a:t>13</a:t>
            </a:r>
            <a:endParaRPr lang="en-US" sz="1100" dirty="0"/>
          </a:p>
        </p:txBody>
      </p:sp>
      <p:sp>
        <p:nvSpPr>
          <p:cNvPr id="41" name="Text 39"/>
          <p:cNvSpPr txBox="1"/>
          <p:nvPr/>
        </p:nvSpPr>
        <p:spPr>
          <a:xfrm>
            <a:off x="548640" y="4663440"/>
            <a:ext cx="1353312"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Ebrima" pitchFamily="34" charset="0"/>
                <a:ea typeface="Ebrima" pitchFamily="34" charset="-122"/>
                <a:cs typeface="Ebrima" pitchFamily="34" charset="-120"/>
              </a:rPr>
              <a:t>ጳጉሜ</a:t>
            </a:r>
            <a:endParaRPr lang="en-US" sz="1500" dirty="0"/>
          </a:p>
        </p:txBody>
      </p:sp>
      <p:sp>
        <p:nvSpPr>
          <p:cNvPr id="42" name="Text 40"/>
          <p:cNvSpPr txBox="1"/>
          <p:nvPr/>
        </p:nvSpPr>
        <p:spPr>
          <a:xfrm>
            <a:off x="6766560" y="1371600"/>
            <a:ext cx="4892040" cy="475488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chemeClr val="tx1"/>
                </a:solidFill>
                <a:latin typeface="Ebrima" pitchFamily="34" charset="0"/>
                <a:ea typeface="Ebrima" pitchFamily="34" charset="-122"/>
                <a:cs typeface="Ebrima" pitchFamily="34" charset="-120"/>
              </a:rPr>
              <a:t>ቀኖች በዓመተ ምሕረት ይታያሉ፤ የቀን መምረጫውም ኢትዮጵያዊ ነው</a:t>
            </a:r>
            <a:endParaRPr lang="en-US" sz="1500" dirty="0"/>
          </a:p>
          <a:p>
            <a:pPr marL="342900" indent="-342900">
              <a:spcAft>
                <a:spcPts val="900"/>
              </a:spcAft>
              <a:buSzPct val="100000"/>
              <a:buChar char="●"/>
            </a:pPr>
            <a:r>
              <a:rPr lang="en-US" sz="1500" dirty="0">
                <a:solidFill>
                  <a:schemeClr val="tx1"/>
                </a:solidFill>
                <a:latin typeface="Ebrima" pitchFamily="34" charset="0"/>
                <a:ea typeface="Ebrima" pitchFamily="34" charset="-122"/>
                <a:cs typeface="Ebrima" pitchFamily="34" charset="-120"/>
              </a:rPr>
              <a:t>ወርሃዊ መዋጮ በኢትዮጵያ ወር ይቆጠራል</a:t>
            </a:r>
            <a:endParaRPr lang="en-US" sz="1500" dirty="0"/>
          </a:p>
          <a:p>
            <a:pPr marL="342900" indent="-342900">
              <a:spcAft>
                <a:spcPts val="900"/>
              </a:spcAft>
              <a:buSzPct val="100000"/>
              <a:buChar char="●"/>
            </a:pPr>
            <a:r>
              <a:rPr lang="en-US" sz="1500" dirty="0">
                <a:solidFill>
                  <a:schemeClr val="tx1"/>
                </a:solidFill>
                <a:latin typeface="Ebrima" pitchFamily="34" charset="0"/>
                <a:ea typeface="Ebrima" pitchFamily="34" charset="-122"/>
                <a:cs typeface="Ebrima" pitchFamily="34" charset="-120"/>
              </a:rPr>
              <a:t>ፕሮግራሞች በኢትዮጵያ የወር ቀናት ሊደጋገሙ ይችላሉ</a:t>
            </a:r>
            <a:endParaRPr lang="en-US" sz="1500" dirty="0"/>
          </a:p>
          <a:p>
            <a:pPr marL="342900" indent="-342900">
              <a:spcAft>
                <a:spcPts val="900"/>
              </a:spcAft>
              <a:buSzPct val="100000"/>
              <a:buChar char="●"/>
            </a:pPr>
            <a:r>
              <a:rPr lang="en-US" sz="1500" dirty="0">
                <a:solidFill>
                  <a:schemeClr val="tx1"/>
                </a:solidFill>
                <a:latin typeface="Ebrima" pitchFamily="34" charset="0"/>
                <a:ea typeface="Ebrima" pitchFamily="34" charset="-122"/>
                <a:cs typeface="Ebrima" pitchFamily="34" charset="-120"/>
              </a:rPr>
              <a:t>ሪፖርቶች ኢትዮጵያዊ ቀንና የወር ስም ይይዛሉ</a:t>
            </a:r>
            <a:endParaRPr lang="en-US" sz="1500" dirty="0"/>
          </a:p>
          <a:p>
            <a:pPr marL="342900" indent="-342900">
              <a:spcAft>
                <a:spcPts val="900"/>
              </a:spcAft>
              <a:buSzPct val="100000"/>
              <a:buChar char="●"/>
            </a:pPr>
            <a:r>
              <a:rPr lang="en-US" sz="1500" dirty="0">
                <a:solidFill>
                  <a:schemeClr val="tx1"/>
                </a:solidFill>
                <a:latin typeface="Ebrima" pitchFamily="34" charset="0"/>
                <a:ea typeface="Ebrima" pitchFamily="34" charset="-122"/>
                <a:cs typeface="Ebrima" pitchFamily="34" charset="-120"/>
              </a:rPr>
              <a:t>ሰዓት በአዲስ አበባ ሰዓት አቆጣጠር</a:t>
            </a:r>
            <a:endParaRPr lang="en-US" sz="1500" dirty="0"/>
          </a:p>
          <a:p>
            <a:pPr marL="342900" indent="-342900">
              <a:spcAft>
                <a:spcPts val="900"/>
              </a:spcAft>
              <a:buSzPct val="100000"/>
              <a:buChar char="●"/>
            </a:pPr>
            <a:r>
              <a:rPr lang="en-US" sz="1500" dirty="0">
                <a:solidFill>
                  <a:schemeClr val="tx1"/>
                </a:solidFill>
                <a:latin typeface="Ebrima" pitchFamily="34" charset="0"/>
                <a:ea typeface="Ebrima" pitchFamily="34" charset="-122"/>
                <a:cs typeface="Ebrima" pitchFamily="34" charset="-120"/>
              </a:rPr>
              <a:t>አማርኛ ዋና ቋንቋ፤ በአንድ ጠቅታ ወደ እንግሊዝኛ</a:t>
            </a:r>
            <a:endParaRPr lang="en-US" sz="1500" dirty="0"/>
          </a:p>
          <a:p>
            <a:pPr marL="342900" indent="-342900">
              <a:spcAft>
                <a:spcPts val="900"/>
              </a:spcAft>
              <a:buSzPct val="100000"/>
              <a:buChar char="●"/>
            </a:pPr>
            <a:r>
              <a:rPr lang="en-US" sz="1500" dirty="0">
                <a:solidFill>
                  <a:schemeClr val="tx1"/>
                </a:solidFill>
                <a:latin typeface="Ebrima" pitchFamily="34" charset="0"/>
                <a:ea typeface="Ebrima" pitchFamily="34" charset="-122"/>
                <a:cs typeface="Ebrima" pitchFamily="34" charset="-120"/>
              </a:rPr>
              <a:t>የግዕዝ ፊደል በሁሉም ገጾችና ሪፖርቶች በጥራት ይታያል</a:t>
            </a:r>
            <a:endParaRPr lang="en-US" sz="1500" dirty="0"/>
          </a:p>
        </p:txBody>
      </p:sp>
      <p:sp>
        <p:nvSpPr>
          <p:cNvPr id="43" name="Text 41"/>
          <p:cNvSpPr txBox="1"/>
          <p:nvPr/>
        </p:nvSpPr>
        <p:spPr>
          <a:xfrm>
            <a:off x="548640" y="5715000"/>
            <a:ext cx="5852160" cy="320040"/>
          </a:xfrm>
          <a:prstGeom prst="rect">
            <a:avLst/>
          </a:prstGeom>
          <a:noFill/>
          <a:ln/>
        </p:spPr>
        <p:txBody>
          <a:bodyPr wrap="square" lIns="0" tIns="0" rIns="0" bIns="0" rtlCol="0" anchor="t"/>
          <a:lstStyle/>
          <a:p>
            <a:pPr indent="0" marL="0">
              <a:buNone/>
            </a:pPr>
            <a:r>
              <a:rPr lang="en-US" sz="1200" i="1" dirty="0">
                <a:solidFill>
                  <a:schemeClr val="accent4"/>
                </a:solidFill>
                <a:latin typeface="Ebrima" pitchFamily="34" charset="0"/>
                <a:ea typeface="Ebrima" pitchFamily="34" charset="-122"/>
                <a:cs typeface="Ebrima" pitchFamily="34" charset="-120"/>
              </a:rPr>
              <a:t>ጳጉሜ ለክፍያ ከነሐሴ ጋር ይቆጠራል</a:t>
            </a:r>
            <a:endParaRPr lang="en-US" sz="1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Ebrima"/>
                <a:ea typeface="Ebrima"/>
                <a:cs typeface="Ebrima"/>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0241280" cy="777240"/>
          </a:xfrm>
          <a:prstGeom prst="rect">
            <a:avLst/>
          </a:prstGeom>
          <a:noFill/>
          <a:ln/>
        </p:spPr>
        <p:txBody>
          <a:bodyPr wrap="square" lIns="0" tIns="0" rIns="0" bIns="0" rtlCol="0" anchor="ctr"/>
          <a:lstStyle/>
          <a:p>
            <a:pPr algn="l" indent="0" marL="0">
              <a:buNone/>
            </a:pPr>
            <a:r>
              <a:rPr lang="en-US" sz="3400" dirty="0">
                <a:solidFill>
                  <a:schemeClr val="accent1"/>
                </a:solidFill>
                <a:latin typeface="Nyala" pitchFamily="34" charset="0"/>
                <a:ea typeface="Nyala" pitchFamily="34" charset="-122"/>
                <a:cs typeface="Nyala" pitchFamily="34" charset="-120"/>
              </a:rPr>
              <a:t>ጥቅሞች — ለመሪዎች፣ ለሥራ ክፍሎችና ለአባላት</a:t>
            </a:r>
            <a:endParaRPr lang="en-US" sz="3400" dirty="0"/>
          </a:p>
        </p:txBody>
      </p:sp>
      <p:sp>
        <p:nvSpPr>
          <p:cNvPr id="3" name="Shape 1"/>
          <p:cNvSpPr/>
          <p:nvPr/>
        </p:nvSpPr>
        <p:spPr>
          <a:xfrm>
            <a:off x="548640" y="1325880"/>
            <a:ext cx="3520440" cy="4846320"/>
          </a:xfrm>
          <a:prstGeom prst="roundRect">
            <a:avLst>
              <a:gd name="adj" fmla="val 3117"/>
            </a:avLst>
          </a:prstGeom>
          <a:solidFill>
            <a:schemeClr val="bg2">
              <a:alpha val="55000"/>
            </a:schemeClr>
          </a:solidFill>
          <a:ln/>
        </p:spPr>
      </p:sp>
      <p:sp>
        <p:nvSpPr>
          <p:cNvPr id="4" name="Shape 2"/>
          <p:cNvSpPr/>
          <p:nvPr/>
        </p:nvSpPr>
        <p:spPr>
          <a:xfrm>
            <a:off x="1874520" y="1554480"/>
            <a:ext cx="868680" cy="868680"/>
          </a:xfrm>
          <a:prstGeom prst="ellipse">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2083003" y="1762963"/>
            <a:ext cx="451714" cy="451714"/>
          </a:xfrm>
          <a:prstGeom prst="rect">
            <a:avLst/>
          </a:prstGeom>
        </p:spPr>
      </p:pic>
      <p:sp>
        <p:nvSpPr>
          <p:cNvPr id="6" name="Text 3"/>
          <p:cNvSpPr txBox="1"/>
          <p:nvPr/>
        </p:nvSpPr>
        <p:spPr>
          <a:xfrm>
            <a:off x="731520" y="2560320"/>
            <a:ext cx="3154680" cy="457200"/>
          </a:xfrm>
          <a:prstGeom prst="rect">
            <a:avLst/>
          </a:prstGeom>
          <a:noFill/>
          <a:ln/>
        </p:spPr>
        <p:txBody>
          <a:bodyPr wrap="square" lIns="0" tIns="0" rIns="0" bIns="0" rtlCol="0" anchor="t"/>
          <a:lstStyle/>
          <a:p>
            <a:pPr algn="ctr" indent="0" marL="0">
              <a:buNone/>
            </a:pPr>
            <a:r>
              <a:rPr lang="en-US" sz="2000" b="1" dirty="0">
                <a:solidFill>
                  <a:schemeClr val="accent1"/>
                </a:solidFill>
                <a:latin typeface="Ebrima" pitchFamily="34" charset="0"/>
                <a:ea typeface="Ebrima" pitchFamily="34" charset="-122"/>
                <a:cs typeface="Ebrima" pitchFamily="34" charset="-120"/>
              </a:rPr>
              <a:t>ለመሪዎች</a:t>
            </a:r>
            <a:endParaRPr lang="en-US" sz="2000" dirty="0"/>
          </a:p>
        </p:txBody>
      </p:sp>
      <p:sp>
        <p:nvSpPr>
          <p:cNvPr id="7" name="Text 4"/>
          <p:cNvSpPr txBox="1"/>
          <p:nvPr/>
        </p:nvSpPr>
        <p:spPr>
          <a:xfrm>
            <a:off x="868680" y="3200400"/>
            <a:ext cx="2926080" cy="2834640"/>
          </a:xfrm>
          <a:prstGeom prst="rect">
            <a:avLst/>
          </a:prstGeom>
          <a:noFill/>
          <a:ln/>
        </p:spPr>
        <p:txBody>
          <a:bodyPr wrap="square" lIns="0" tIns="0" rIns="0" bIns="0" rtlCol="0" anchor="t"/>
          <a:lstStyle/>
          <a:p>
            <a:pPr marL="342900" indent="-342900">
              <a:spcAft>
                <a:spcPts val="900"/>
              </a:spcAft>
              <a:buSzPct val="100000"/>
              <a:buChar char="●"/>
            </a:pPr>
            <a:r>
              <a:rPr lang="en-US" sz="1450" dirty="0">
                <a:solidFill>
                  <a:schemeClr val="tx1"/>
                </a:solidFill>
                <a:latin typeface="Ebrima" pitchFamily="34" charset="0"/>
                <a:ea typeface="Ebrima" pitchFamily="34" charset="-122"/>
                <a:cs typeface="Ebrima" pitchFamily="34" charset="-120"/>
              </a:rPr>
              <a:t>ወቅታዊና አስተማማኝ ሪፖርት</a:t>
            </a:r>
            <a:endParaRPr lang="en-US" sz="1450" dirty="0"/>
          </a:p>
          <a:p>
            <a:pPr marL="342900" indent="-342900">
              <a:spcAft>
                <a:spcPts val="900"/>
              </a:spcAft>
              <a:buSzPct val="100000"/>
              <a:buChar char="●"/>
            </a:pPr>
            <a:r>
              <a:rPr lang="en-US" sz="1450" dirty="0">
                <a:solidFill>
                  <a:schemeClr val="tx1"/>
                </a:solidFill>
                <a:latin typeface="Ebrima" pitchFamily="34" charset="0"/>
                <a:ea typeface="Ebrima" pitchFamily="34" charset="-122"/>
                <a:cs typeface="Ebrima" pitchFamily="34" charset="-120"/>
              </a:rPr>
              <a:t>በግልጽ ሕግ የሚሰላ የምርጫ ውጤት</a:t>
            </a:r>
            <a:endParaRPr lang="en-US" sz="1450" dirty="0"/>
          </a:p>
          <a:p>
            <a:pPr marL="342900" indent="-342900">
              <a:spcAft>
                <a:spcPts val="900"/>
              </a:spcAft>
              <a:buSzPct val="100000"/>
              <a:buChar char="●"/>
            </a:pPr>
            <a:r>
              <a:rPr lang="en-US" sz="1450" dirty="0">
                <a:solidFill>
                  <a:schemeClr val="tx1"/>
                </a:solidFill>
                <a:latin typeface="Ebrima" pitchFamily="34" charset="0"/>
                <a:ea typeface="Ebrima" pitchFamily="34" charset="-122"/>
                <a:cs typeface="Ebrima" pitchFamily="34" charset="-120"/>
              </a:rPr>
              <a:t>በኦዲት መዝገብ የሚረጋገጥ ተጠያቂነት</a:t>
            </a:r>
            <a:endParaRPr lang="en-US" sz="1450" dirty="0"/>
          </a:p>
          <a:p>
            <a:pPr marL="342900" indent="-342900">
              <a:spcAft>
                <a:spcPts val="900"/>
              </a:spcAft>
              <a:buSzPct val="100000"/>
              <a:buChar char="●"/>
            </a:pPr>
            <a:r>
              <a:rPr lang="en-US" sz="1450" dirty="0">
                <a:solidFill>
                  <a:schemeClr val="tx1"/>
                </a:solidFill>
                <a:latin typeface="Ebrima" pitchFamily="34" charset="0"/>
                <a:ea typeface="Ebrima" pitchFamily="34" charset="-122"/>
                <a:cs typeface="Ebrima" pitchFamily="34" charset="-120"/>
              </a:rPr>
              <a:t>ውሳኔ ለመስጠት የሚረዳ ማጠቃለያ</a:t>
            </a:r>
            <a:endParaRPr lang="en-US" sz="1450" dirty="0"/>
          </a:p>
        </p:txBody>
      </p:sp>
      <p:sp>
        <p:nvSpPr>
          <p:cNvPr id="8" name="Shape 5"/>
          <p:cNvSpPr/>
          <p:nvPr/>
        </p:nvSpPr>
        <p:spPr>
          <a:xfrm>
            <a:off x="4297680" y="1325880"/>
            <a:ext cx="3520440" cy="4846320"/>
          </a:xfrm>
          <a:prstGeom prst="roundRect">
            <a:avLst>
              <a:gd name="adj" fmla="val 3117"/>
            </a:avLst>
          </a:prstGeom>
          <a:solidFill>
            <a:schemeClr val="bg2">
              <a:alpha val="55000"/>
            </a:schemeClr>
          </a:solidFill>
          <a:ln/>
        </p:spPr>
      </p:sp>
      <p:sp>
        <p:nvSpPr>
          <p:cNvPr id="9" name="Shape 6"/>
          <p:cNvSpPr/>
          <p:nvPr/>
        </p:nvSpPr>
        <p:spPr>
          <a:xfrm>
            <a:off x="5623560" y="1554480"/>
            <a:ext cx="868680" cy="868680"/>
          </a:xfrm>
          <a:prstGeom prst="ellipse">
            <a:avLst/>
          </a:prstGeom>
          <a:solidFill>
            <a:schemeClr val="accent2"/>
          </a:solidFill>
          <a:ln/>
        </p:spPr>
      </p:sp>
      <p:pic>
        <p:nvPicPr>
          <p:cNvPr id="10" name="Image 1" descr="preencoded.png">    </p:cNvPr>
          <p:cNvPicPr>
            <a:picLocks noChangeAspect="1"/>
          </p:cNvPicPr>
          <p:nvPr/>
        </p:nvPicPr>
        <p:blipFill>
          <a:blip r:embed="rId2"/>
          <a:stretch>
            <a:fillRect/>
          </a:stretch>
        </p:blipFill>
        <p:spPr>
          <a:xfrm>
            <a:off x="5832043" y="1762963"/>
            <a:ext cx="451714" cy="451714"/>
          </a:xfrm>
          <a:prstGeom prst="rect">
            <a:avLst/>
          </a:prstGeom>
        </p:spPr>
      </p:pic>
      <p:sp>
        <p:nvSpPr>
          <p:cNvPr id="11" name="Text 7"/>
          <p:cNvSpPr txBox="1"/>
          <p:nvPr/>
        </p:nvSpPr>
        <p:spPr>
          <a:xfrm>
            <a:off x="4480560" y="2560320"/>
            <a:ext cx="3154680" cy="457200"/>
          </a:xfrm>
          <a:prstGeom prst="rect">
            <a:avLst/>
          </a:prstGeom>
          <a:noFill/>
          <a:ln/>
        </p:spPr>
        <p:txBody>
          <a:bodyPr wrap="square" lIns="0" tIns="0" rIns="0" bIns="0" rtlCol="0" anchor="t"/>
          <a:lstStyle/>
          <a:p>
            <a:pPr algn="ctr" indent="0" marL="0">
              <a:buNone/>
            </a:pPr>
            <a:r>
              <a:rPr lang="en-US" sz="2000" b="1" dirty="0">
                <a:solidFill>
                  <a:schemeClr val="accent1"/>
                </a:solidFill>
                <a:latin typeface="Ebrima" pitchFamily="34" charset="0"/>
                <a:ea typeface="Ebrima" pitchFamily="34" charset="-122"/>
                <a:cs typeface="Ebrima" pitchFamily="34" charset="-120"/>
              </a:rPr>
              <a:t>ለሥራ ክፍሎች</a:t>
            </a:r>
            <a:endParaRPr lang="en-US" sz="2000" dirty="0"/>
          </a:p>
        </p:txBody>
      </p:sp>
      <p:sp>
        <p:nvSpPr>
          <p:cNvPr id="12" name="Text 8"/>
          <p:cNvSpPr txBox="1"/>
          <p:nvPr/>
        </p:nvSpPr>
        <p:spPr>
          <a:xfrm>
            <a:off x="4617720" y="3200400"/>
            <a:ext cx="2926080" cy="2834640"/>
          </a:xfrm>
          <a:prstGeom prst="rect">
            <a:avLst/>
          </a:prstGeom>
          <a:noFill/>
          <a:ln/>
        </p:spPr>
        <p:txBody>
          <a:bodyPr wrap="square" lIns="0" tIns="0" rIns="0" bIns="0" rtlCol="0" anchor="t"/>
          <a:lstStyle/>
          <a:p>
            <a:pPr marL="342900" indent="-342900">
              <a:spcAft>
                <a:spcPts val="900"/>
              </a:spcAft>
              <a:buSzPct val="100000"/>
              <a:buChar char="●"/>
            </a:pPr>
            <a:r>
              <a:rPr lang="en-US" sz="1450" dirty="0">
                <a:solidFill>
                  <a:schemeClr val="tx1"/>
                </a:solidFill>
                <a:latin typeface="Ebrima" pitchFamily="34" charset="0"/>
                <a:ea typeface="Ebrima" pitchFamily="34" charset="-122"/>
                <a:cs typeface="Ebrima" pitchFamily="34" charset="-120"/>
              </a:rPr>
              <a:t>ፕሮጀክት፣ ተግባርና በጀትን በአንድ ቦታ</a:t>
            </a:r>
            <a:endParaRPr lang="en-US" sz="1450" dirty="0"/>
          </a:p>
          <a:p>
            <a:pPr marL="342900" indent="-342900">
              <a:spcAft>
                <a:spcPts val="900"/>
              </a:spcAft>
              <a:buSzPct val="100000"/>
              <a:buChar char="●"/>
            </a:pPr>
            <a:r>
              <a:rPr lang="en-US" sz="1450" dirty="0">
                <a:solidFill>
                  <a:schemeClr val="tx1"/>
                </a:solidFill>
                <a:latin typeface="Ebrima" pitchFamily="34" charset="0"/>
                <a:ea typeface="Ebrima" pitchFamily="34" charset="-122"/>
                <a:cs typeface="Ebrima" pitchFamily="34" charset="-120"/>
              </a:rPr>
              <a:t>የክፍል ውይይትና የተግባር ቦት</a:t>
            </a:r>
            <a:endParaRPr lang="en-US" sz="1450" dirty="0"/>
          </a:p>
          <a:p>
            <a:pPr marL="342900" indent="-342900">
              <a:spcAft>
                <a:spcPts val="900"/>
              </a:spcAft>
              <a:buSzPct val="100000"/>
              <a:buChar char="●"/>
            </a:pPr>
            <a:r>
              <a:rPr lang="en-US" sz="1450" dirty="0">
                <a:solidFill>
                  <a:schemeClr val="tx1"/>
                </a:solidFill>
                <a:latin typeface="Ebrima" pitchFamily="34" charset="0"/>
                <a:ea typeface="Ebrima" pitchFamily="34" charset="-122"/>
                <a:cs typeface="Ebrima" pitchFamily="34" charset="-120"/>
              </a:rPr>
              <a:t>የንብረት ጥያቄና ክትትል</a:t>
            </a:r>
            <a:endParaRPr lang="en-US" sz="1450" dirty="0"/>
          </a:p>
          <a:p>
            <a:pPr marL="342900" indent="-342900">
              <a:spcAft>
                <a:spcPts val="900"/>
              </a:spcAft>
              <a:buSzPct val="100000"/>
              <a:buChar char="●"/>
            </a:pPr>
            <a:r>
              <a:rPr lang="en-US" sz="1450" dirty="0">
                <a:solidFill>
                  <a:schemeClr val="tx1"/>
                </a:solidFill>
                <a:latin typeface="Ebrima" pitchFamily="34" charset="0"/>
                <a:ea typeface="Ebrima" pitchFamily="34" charset="-122"/>
                <a:cs typeface="Ebrima" pitchFamily="34" charset="-120"/>
              </a:rPr>
              <a:t>የአባላት ተሳትፎ መመዝገቢያ</a:t>
            </a:r>
            <a:endParaRPr lang="en-US" sz="1450" dirty="0"/>
          </a:p>
        </p:txBody>
      </p:sp>
      <p:sp>
        <p:nvSpPr>
          <p:cNvPr id="13" name="Shape 9"/>
          <p:cNvSpPr/>
          <p:nvPr/>
        </p:nvSpPr>
        <p:spPr>
          <a:xfrm>
            <a:off x="8046720" y="1325880"/>
            <a:ext cx="3520440" cy="4846320"/>
          </a:xfrm>
          <a:prstGeom prst="roundRect">
            <a:avLst>
              <a:gd name="adj" fmla="val 3117"/>
            </a:avLst>
          </a:prstGeom>
          <a:solidFill>
            <a:schemeClr val="bg2">
              <a:alpha val="55000"/>
            </a:schemeClr>
          </a:solidFill>
          <a:ln/>
        </p:spPr>
      </p:sp>
      <p:sp>
        <p:nvSpPr>
          <p:cNvPr id="14" name="Shape 10"/>
          <p:cNvSpPr/>
          <p:nvPr/>
        </p:nvSpPr>
        <p:spPr>
          <a:xfrm>
            <a:off x="9372600" y="1554480"/>
            <a:ext cx="868680" cy="868680"/>
          </a:xfrm>
          <a:prstGeom prst="ellipse">
            <a:avLst/>
          </a:prstGeom>
          <a:solidFill>
            <a:schemeClr val="accent6"/>
          </a:solidFill>
          <a:ln/>
        </p:spPr>
      </p:sp>
      <p:pic>
        <p:nvPicPr>
          <p:cNvPr id="15" name="Image 2" descr="preencoded.png">    </p:cNvPr>
          <p:cNvPicPr>
            <a:picLocks noChangeAspect="1"/>
          </p:cNvPicPr>
          <p:nvPr/>
        </p:nvPicPr>
        <p:blipFill>
          <a:blip r:embed="rId3"/>
          <a:stretch>
            <a:fillRect/>
          </a:stretch>
        </p:blipFill>
        <p:spPr>
          <a:xfrm>
            <a:off x="9581083" y="1762963"/>
            <a:ext cx="451714" cy="451714"/>
          </a:xfrm>
          <a:prstGeom prst="rect">
            <a:avLst/>
          </a:prstGeom>
        </p:spPr>
      </p:pic>
      <p:sp>
        <p:nvSpPr>
          <p:cNvPr id="16" name="Text 11"/>
          <p:cNvSpPr txBox="1"/>
          <p:nvPr/>
        </p:nvSpPr>
        <p:spPr>
          <a:xfrm>
            <a:off x="8229600" y="2560320"/>
            <a:ext cx="3154680" cy="457200"/>
          </a:xfrm>
          <a:prstGeom prst="rect">
            <a:avLst/>
          </a:prstGeom>
          <a:noFill/>
          <a:ln/>
        </p:spPr>
        <p:txBody>
          <a:bodyPr wrap="square" lIns="0" tIns="0" rIns="0" bIns="0" rtlCol="0" anchor="t"/>
          <a:lstStyle/>
          <a:p>
            <a:pPr algn="ctr" indent="0" marL="0">
              <a:buNone/>
            </a:pPr>
            <a:r>
              <a:rPr lang="en-US" sz="2000" b="1" dirty="0">
                <a:solidFill>
                  <a:schemeClr val="accent1"/>
                </a:solidFill>
                <a:latin typeface="Ebrima" pitchFamily="34" charset="0"/>
                <a:ea typeface="Ebrima" pitchFamily="34" charset="-122"/>
                <a:cs typeface="Ebrima" pitchFamily="34" charset="-120"/>
              </a:rPr>
              <a:t>ለአባላት</a:t>
            </a:r>
            <a:endParaRPr lang="en-US" sz="2000" dirty="0"/>
          </a:p>
        </p:txBody>
      </p:sp>
      <p:sp>
        <p:nvSpPr>
          <p:cNvPr id="17" name="Text 12"/>
          <p:cNvSpPr txBox="1"/>
          <p:nvPr/>
        </p:nvSpPr>
        <p:spPr>
          <a:xfrm>
            <a:off x="8366760" y="3200400"/>
            <a:ext cx="2926080" cy="2834640"/>
          </a:xfrm>
          <a:prstGeom prst="rect">
            <a:avLst/>
          </a:prstGeom>
          <a:noFill/>
          <a:ln/>
        </p:spPr>
        <p:txBody>
          <a:bodyPr wrap="square" lIns="0" tIns="0" rIns="0" bIns="0" rtlCol="0" anchor="t"/>
          <a:lstStyle/>
          <a:p>
            <a:pPr marL="342900" indent="-342900">
              <a:spcAft>
                <a:spcPts val="900"/>
              </a:spcAft>
              <a:buSzPct val="100000"/>
              <a:buChar char="●"/>
            </a:pPr>
            <a:r>
              <a:rPr lang="en-US" sz="1450" dirty="0">
                <a:solidFill>
                  <a:schemeClr val="tx1"/>
                </a:solidFill>
                <a:latin typeface="Ebrima" pitchFamily="34" charset="0"/>
                <a:ea typeface="Ebrima" pitchFamily="34" charset="-122"/>
                <a:cs typeface="Ebrima" pitchFamily="34" charset="-120"/>
              </a:rPr>
              <a:t>መዝሙርና ትምህርት በኪስ</a:t>
            </a:r>
            <a:endParaRPr lang="en-US" sz="1450" dirty="0"/>
          </a:p>
          <a:p>
            <a:pPr marL="342900" indent="-342900">
              <a:spcAft>
                <a:spcPts val="900"/>
              </a:spcAft>
              <a:buSzPct val="100000"/>
              <a:buChar char="●"/>
            </a:pPr>
            <a:r>
              <a:rPr lang="en-US" sz="1450" dirty="0">
                <a:solidFill>
                  <a:schemeClr val="tx1"/>
                </a:solidFill>
                <a:latin typeface="Ebrima" pitchFamily="34" charset="0"/>
                <a:ea typeface="Ebrima" pitchFamily="34" charset="-122"/>
                <a:cs typeface="Ebrima" pitchFamily="34" charset="-120"/>
              </a:rPr>
              <a:t>የፕሮግራም አስታዋሾች</a:t>
            </a:r>
            <a:endParaRPr lang="en-US" sz="1450" dirty="0"/>
          </a:p>
          <a:p>
            <a:pPr marL="342900" indent="-342900">
              <a:spcAft>
                <a:spcPts val="900"/>
              </a:spcAft>
              <a:buSzPct val="100000"/>
              <a:buChar char="●"/>
            </a:pPr>
            <a:r>
              <a:rPr lang="en-US" sz="1450" dirty="0">
                <a:solidFill>
                  <a:schemeClr val="tx1"/>
                </a:solidFill>
                <a:latin typeface="Ebrima" pitchFamily="34" charset="0"/>
                <a:ea typeface="Ebrima" pitchFamily="34" charset="-122"/>
                <a:cs typeface="Ebrima" pitchFamily="34" charset="-120"/>
              </a:rPr>
              <a:t>የራስን መገኘት፣ መዋጮና ውጤት ማየት</a:t>
            </a:r>
            <a:endParaRPr lang="en-US" sz="1450" dirty="0"/>
          </a:p>
          <a:p>
            <a:pPr marL="342900" indent="-342900">
              <a:spcAft>
                <a:spcPts val="900"/>
              </a:spcAft>
              <a:buSzPct val="100000"/>
              <a:buChar char="●"/>
            </a:pPr>
            <a:r>
              <a:rPr lang="en-US" sz="1450" dirty="0">
                <a:solidFill>
                  <a:schemeClr val="tx1"/>
                </a:solidFill>
                <a:latin typeface="Ebrima" pitchFamily="34" charset="0"/>
                <a:ea typeface="Ebrima" pitchFamily="34" charset="-122"/>
                <a:cs typeface="Ebrima" pitchFamily="34" charset="-120"/>
              </a:rPr>
              <a:t>ዲጂታል መታወቂያና QR</a:t>
            </a:r>
            <a:endParaRPr lang="en-US" sz="145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Ebrima"/>
                <a:ea typeface="Ebrima"/>
                <a:cs typeface="Ebrima"/>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0241280" cy="777240"/>
          </a:xfrm>
          <a:prstGeom prst="rect">
            <a:avLst/>
          </a:prstGeom>
          <a:noFill/>
          <a:ln/>
        </p:spPr>
        <p:txBody>
          <a:bodyPr wrap="square" lIns="0" tIns="0" rIns="0" bIns="0" rtlCol="0" anchor="ctr"/>
          <a:lstStyle/>
          <a:p>
            <a:pPr algn="l" indent="0" marL="0">
              <a:buNone/>
            </a:pPr>
            <a:r>
              <a:rPr lang="en-US" sz="3400" dirty="0">
                <a:solidFill>
                  <a:schemeClr val="accent1"/>
                </a:solidFill>
                <a:latin typeface="Nyala" pitchFamily="34" charset="0"/>
                <a:ea typeface="Nyala" pitchFamily="34" charset="-122"/>
                <a:cs typeface="Nyala" pitchFamily="34" charset="-120"/>
              </a:rPr>
              <a:t>የአሁኑ የትግበራ ሁኔታ</a:t>
            </a:r>
            <a:endParaRPr lang="en-US" sz="3400" dirty="0"/>
          </a:p>
        </p:txBody>
      </p:sp>
      <p:graphicFrame>
        <p:nvGraphicFramePr>
          <p:cNvPr id="3" name="Chart 0" descr=""/>
          <p:cNvGraphicFramePr/>
          <p:nvPr/>
        </p:nvGraphicFramePr>
        <p:xfrm>
          <a:off x="457200" y="1280160"/>
          <a:ext cx="6035040" cy="489204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6812280" y="1325880"/>
            <a:ext cx="4846320" cy="1417320"/>
          </a:xfrm>
          <a:prstGeom prst="roundRect">
            <a:avLst>
              <a:gd name="adj" fmla="val 7742"/>
            </a:avLst>
          </a:prstGeom>
          <a:solidFill>
            <a:schemeClr val="accent1"/>
          </a:solidFill>
          <a:ln/>
        </p:spPr>
      </p:sp>
      <p:sp>
        <p:nvSpPr>
          <p:cNvPr id="5" name="Text 2"/>
          <p:cNvSpPr txBox="1"/>
          <p:nvPr/>
        </p:nvSpPr>
        <p:spPr>
          <a:xfrm>
            <a:off x="7040880" y="1417320"/>
            <a:ext cx="4480560" cy="365760"/>
          </a:xfrm>
          <a:prstGeom prst="rect">
            <a:avLst/>
          </a:prstGeom>
          <a:noFill/>
          <a:ln/>
        </p:spPr>
        <p:txBody>
          <a:bodyPr wrap="square" lIns="0" tIns="0" rIns="0" bIns="0" rtlCol="0" anchor="t"/>
          <a:lstStyle/>
          <a:p>
            <a:pPr indent="0" marL="0">
              <a:buNone/>
            </a:pPr>
            <a:r>
              <a:rPr lang="en-US" sz="1300" dirty="0">
                <a:solidFill>
                  <a:schemeClr val="accent2"/>
                </a:solidFill>
                <a:latin typeface="Ebrima" pitchFamily="34" charset="0"/>
                <a:ea typeface="Ebrima" pitchFamily="34" charset="-122"/>
                <a:cs typeface="Ebrima" pitchFamily="34" charset="-120"/>
              </a:rPr>
              <a:t>የቅርብ ጊዜ ይፋዊ ስሪት</a:t>
            </a:r>
            <a:endParaRPr lang="en-US" sz="1300" dirty="0"/>
          </a:p>
        </p:txBody>
      </p:sp>
      <p:sp>
        <p:nvSpPr>
          <p:cNvPr id="6" name="Text 3"/>
          <p:cNvSpPr txBox="1"/>
          <p:nvPr/>
        </p:nvSpPr>
        <p:spPr>
          <a:xfrm>
            <a:off x="7040880" y="1783080"/>
            <a:ext cx="4480560" cy="457200"/>
          </a:xfrm>
          <a:prstGeom prst="rect">
            <a:avLst/>
          </a:prstGeom>
          <a:noFill/>
          <a:ln/>
        </p:spPr>
        <p:txBody>
          <a:bodyPr wrap="square" lIns="0" tIns="0" rIns="0" bIns="0" rtlCol="0" anchor="t"/>
          <a:lstStyle/>
          <a:p>
            <a:pPr indent="0" marL="0">
              <a:buNone/>
            </a:pPr>
            <a:r>
              <a:rPr lang="en-US" sz="1800" b="1" dirty="0">
                <a:solidFill>
                  <a:schemeClr val="bg1"/>
                </a:solidFill>
                <a:latin typeface="Ebrima" pitchFamily="34" charset="0"/>
                <a:ea typeface="Ebrima" pitchFamily="34" charset="-122"/>
                <a:cs typeface="Ebrima" pitchFamily="34" charset="-120"/>
              </a:rPr>
              <a:t>1.5.3 (ግንባታ 16) — ጥቅምት 2019 ዓ.ም</a:t>
            </a:r>
            <a:endParaRPr lang="en-US" sz="1800" dirty="0"/>
          </a:p>
        </p:txBody>
      </p:sp>
      <p:sp>
        <p:nvSpPr>
          <p:cNvPr id="7" name="Text 4"/>
          <p:cNvSpPr txBox="1"/>
          <p:nvPr/>
        </p:nvSpPr>
        <p:spPr>
          <a:xfrm>
            <a:off x="7040880" y="2240280"/>
            <a:ext cx="4480560" cy="365760"/>
          </a:xfrm>
          <a:prstGeom prst="rect">
            <a:avLst/>
          </a:prstGeom>
          <a:noFill/>
          <a:ln/>
        </p:spPr>
        <p:txBody>
          <a:bodyPr wrap="square" lIns="0" tIns="0" rIns="0" bIns="0" rtlCol="0" anchor="t"/>
          <a:lstStyle/>
          <a:p>
            <a:pPr indent="0" marL="0">
              <a:buNone/>
            </a:pPr>
            <a:r>
              <a:rPr lang="en-US" sz="1250" dirty="0">
                <a:solidFill>
                  <a:schemeClr val="bg1"/>
                </a:solidFill>
                <a:latin typeface="Ebrima" pitchFamily="34" charset="0"/>
                <a:ea typeface="Ebrima" pitchFamily="34" charset="-122"/>
                <a:cs typeface="Ebrima" pitchFamily="34" charset="-120"/>
              </a:rPr>
              <a:t>የቆዩ ስሪቶች እንዲያዘምኑ ይገደዳሉ</a:t>
            </a:r>
            <a:endParaRPr lang="en-US" sz="1250" dirty="0"/>
          </a:p>
        </p:txBody>
      </p:sp>
      <p:sp>
        <p:nvSpPr>
          <p:cNvPr id="8" name="Text 5"/>
          <p:cNvSpPr txBox="1"/>
          <p:nvPr/>
        </p:nvSpPr>
        <p:spPr>
          <a:xfrm>
            <a:off x="6812280" y="2971800"/>
            <a:ext cx="4846320" cy="365760"/>
          </a:xfrm>
          <a:prstGeom prst="rect">
            <a:avLst/>
          </a:prstGeom>
          <a:noFill/>
          <a:ln/>
        </p:spPr>
        <p:txBody>
          <a:bodyPr wrap="square" lIns="0" tIns="0" rIns="0" bIns="0" rtlCol="0" anchor="t"/>
          <a:lstStyle/>
          <a:p>
            <a:pPr indent="0" marL="0">
              <a:buNone/>
            </a:pPr>
            <a:r>
              <a:rPr lang="en-US" sz="1500" b="1" dirty="0">
                <a:solidFill>
                  <a:schemeClr val="accent1"/>
                </a:solidFill>
                <a:latin typeface="Ebrima" pitchFamily="34" charset="0"/>
                <a:ea typeface="Ebrima" pitchFamily="34" charset="-122"/>
                <a:cs typeface="Ebrima" pitchFamily="34" charset="-120"/>
              </a:rPr>
              <a:t>ተሠርተው በመሞከር ላይ ያሉ (ገና ያልተለቀቁ)</a:t>
            </a:r>
            <a:endParaRPr lang="en-US" sz="1500" dirty="0"/>
          </a:p>
        </p:txBody>
      </p:sp>
      <p:sp>
        <p:nvSpPr>
          <p:cNvPr id="9" name="Text 6"/>
          <p:cNvSpPr txBox="1"/>
          <p:nvPr/>
        </p:nvSpPr>
        <p:spPr>
          <a:xfrm>
            <a:off x="6812280" y="3383280"/>
            <a:ext cx="4846320" cy="2194560"/>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chemeClr val="tx1"/>
                </a:solidFill>
                <a:latin typeface="Ebrima" pitchFamily="34" charset="0"/>
                <a:ea typeface="Ebrima" pitchFamily="34" charset="-122"/>
                <a:cs typeface="Ebrima" pitchFamily="34" charset="-120"/>
              </a:rPr>
              <a:t>የትምህርት ዘመን፣ ወሰን (term) እና የክፍል ደረጃዎች (1–12)</a:t>
            </a:r>
            <a:endParaRPr lang="en-US" sz="1350" dirty="0"/>
          </a:p>
          <a:p>
            <a:pPr marL="342900" indent="-342900">
              <a:spcAft>
                <a:spcPts val="500"/>
              </a:spcAft>
              <a:buSzPct val="100000"/>
              <a:buChar char="●"/>
            </a:pPr>
            <a:r>
              <a:rPr lang="en-US" sz="1350" dirty="0">
                <a:solidFill>
                  <a:schemeClr val="tx1"/>
                </a:solidFill>
                <a:latin typeface="Ebrima" pitchFamily="34" charset="0"/>
                <a:ea typeface="Ebrima" pitchFamily="34" charset="-122"/>
                <a:cs typeface="Ebrima" pitchFamily="34" charset="-120"/>
              </a:rPr>
              <a:t>የክፍል መገኘት በፕሮግራም በኩል</a:t>
            </a:r>
            <a:endParaRPr lang="en-US" sz="1350" dirty="0"/>
          </a:p>
          <a:p>
            <a:pPr marL="342900" indent="-342900">
              <a:spcAft>
                <a:spcPts val="500"/>
              </a:spcAft>
              <a:buSzPct val="100000"/>
              <a:buChar char="●"/>
            </a:pPr>
            <a:r>
              <a:rPr lang="en-US" sz="1350" dirty="0">
                <a:solidFill>
                  <a:schemeClr val="tx1"/>
                </a:solidFill>
                <a:latin typeface="Ebrima" pitchFamily="34" charset="0"/>
                <a:ea typeface="Ebrima" pitchFamily="34" charset="-122"/>
                <a:cs typeface="Ebrima" pitchFamily="34" charset="-120"/>
              </a:rPr>
              <a:t>የምርጫ የደቂቃ ክፍተት ስሌትና የውቅር ስሪቶች</a:t>
            </a:r>
            <a:endParaRPr lang="en-US" sz="1350" dirty="0"/>
          </a:p>
          <a:p>
            <a:pPr marL="342900" indent="-342900">
              <a:spcAft>
                <a:spcPts val="500"/>
              </a:spcAft>
              <a:buSzPct val="100000"/>
              <a:buChar char="●"/>
            </a:pPr>
            <a:r>
              <a:rPr lang="en-US" sz="1350" dirty="0">
                <a:solidFill>
                  <a:schemeClr val="tx1"/>
                </a:solidFill>
                <a:latin typeface="Ebrima" pitchFamily="34" charset="0"/>
                <a:ea typeface="Ebrima" pitchFamily="34" charset="-122"/>
                <a:cs typeface="Ebrima" pitchFamily="34" charset="-120"/>
              </a:rPr>
              <a:t>የመዋጮ ወራት ክልል ማስተካከያ</a:t>
            </a:r>
            <a:endParaRPr lang="en-US" sz="1350" dirty="0"/>
          </a:p>
          <a:p>
            <a:pPr marL="342900" indent="-342900">
              <a:spcAft>
                <a:spcPts val="500"/>
              </a:spcAft>
              <a:buSzPct val="100000"/>
              <a:buChar char="●"/>
            </a:pPr>
            <a:r>
              <a:rPr lang="en-US" sz="1350" dirty="0">
                <a:solidFill>
                  <a:schemeClr val="tx1"/>
                </a:solidFill>
                <a:latin typeface="Ebrima" pitchFamily="34" charset="0"/>
                <a:ea typeface="Ebrima" pitchFamily="34" charset="-122"/>
                <a:cs typeface="Ebrima" pitchFamily="34" charset="-120"/>
              </a:rPr>
              <a:t>ያለ ኢንተርኔት የተመዘገበ መረጃ ሲወጡ እንዳይጠፋ</a:t>
            </a:r>
            <a:endParaRPr lang="en-US" sz="1350" dirty="0"/>
          </a:p>
        </p:txBody>
      </p:sp>
      <p:sp>
        <p:nvSpPr>
          <p:cNvPr id="10" name="Text 7"/>
          <p:cNvSpPr txBox="1"/>
          <p:nvPr/>
        </p:nvSpPr>
        <p:spPr>
          <a:xfrm>
            <a:off x="6812280" y="5760720"/>
            <a:ext cx="4846320" cy="365760"/>
          </a:xfrm>
          <a:prstGeom prst="rect">
            <a:avLst/>
          </a:prstGeom>
          <a:noFill/>
          <a:ln/>
        </p:spPr>
        <p:txBody>
          <a:bodyPr wrap="square" lIns="0" tIns="0" rIns="0" bIns="0" rtlCol="0" anchor="t"/>
          <a:lstStyle/>
          <a:p>
            <a:pPr indent="0" marL="0">
              <a:buNone/>
            </a:pPr>
            <a:r>
              <a:rPr lang="en-US" sz="1200" i="1" dirty="0">
                <a:solidFill>
                  <a:schemeClr val="accent4"/>
                </a:solidFill>
                <a:latin typeface="Ebrima" pitchFamily="34" charset="0"/>
                <a:ea typeface="Ebrima" pitchFamily="34" charset="-122"/>
                <a:cs typeface="Ebrima" pitchFamily="34" charset="-120"/>
              </a:rPr>
              <a:t>ራስ-ሰር ሙከራዎች፦ የመተግበሪያው 176 ሙከራዎች አልፈዋል</a:t>
            </a:r>
            <a:endParaRPr lang="en-US" sz="1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Ebrima"/>
                <a:ea typeface="Ebrima"/>
                <a:cs typeface="Ebrima"/>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0241280" cy="777240"/>
          </a:xfrm>
          <a:prstGeom prst="rect">
            <a:avLst/>
          </a:prstGeom>
          <a:noFill/>
          <a:ln/>
        </p:spPr>
        <p:txBody>
          <a:bodyPr wrap="square" lIns="0" tIns="0" rIns="0" bIns="0" rtlCol="0" anchor="ctr"/>
          <a:lstStyle/>
          <a:p>
            <a:pPr algn="l" indent="0" marL="0">
              <a:buNone/>
            </a:pPr>
            <a:r>
              <a:rPr lang="en-US" sz="3400" dirty="0">
                <a:solidFill>
                  <a:schemeClr val="accent1"/>
                </a:solidFill>
                <a:latin typeface="Nyala" pitchFamily="34" charset="0"/>
                <a:ea typeface="Nyala" pitchFamily="34" charset="-122"/>
                <a:cs typeface="Nyala" pitchFamily="34" charset="-120"/>
              </a:rPr>
              <a:t>ቀጣይ የልማት ቅድሚያዎች</a:t>
            </a:r>
            <a:endParaRPr lang="en-US" sz="3400" dirty="0"/>
          </a:p>
        </p:txBody>
      </p:sp>
      <p:sp>
        <p:nvSpPr>
          <p:cNvPr id="3" name="Shape 1"/>
          <p:cNvSpPr/>
          <p:nvPr/>
        </p:nvSpPr>
        <p:spPr>
          <a:xfrm>
            <a:off x="1078992" y="1463040"/>
            <a:ext cx="0" cy="4206240"/>
          </a:xfrm>
          <a:prstGeom prst="line">
            <a:avLst/>
          </a:prstGeom>
          <a:noFill/>
          <a:ln w="25400">
            <a:solidFill>
              <a:schemeClr val="accent2"/>
            </a:solidFill>
            <a:prstDash val="solid"/>
          </a:ln>
        </p:spPr>
      </p:sp>
      <p:sp>
        <p:nvSpPr>
          <p:cNvPr id="4" name="Shape 2"/>
          <p:cNvSpPr/>
          <p:nvPr/>
        </p:nvSpPr>
        <p:spPr>
          <a:xfrm>
            <a:off x="758952" y="1353312"/>
            <a:ext cx="640080" cy="457200"/>
          </a:xfrm>
          <a:prstGeom prst="ellipse">
            <a:avLst/>
          </a:prstGeom>
          <a:solidFill>
            <a:schemeClr val="accent1"/>
          </a:solidFill>
          <a:ln w="15875">
            <a:solidFill>
              <a:schemeClr val="accent1"/>
            </a:solidFill>
            <a:prstDash val="solid"/>
          </a:ln>
        </p:spPr>
      </p:sp>
      <p:sp>
        <p:nvSpPr>
          <p:cNvPr id="5" name="Text 3"/>
          <p:cNvSpPr txBox="1"/>
          <p:nvPr/>
        </p:nvSpPr>
        <p:spPr>
          <a:xfrm>
            <a:off x="758952" y="1353312"/>
            <a:ext cx="640080" cy="457200"/>
          </a:xfrm>
          <a:prstGeom prst="rect">
            <a:avLst/>
          </a:prstGeom>
          <a:noFill/>
          <a:ln/>
        </p:spPr>
        <p:txBody>
          <a:bodyPr wrap="square" lIns="0" tIns="0" rIns="0" bIns="0" rtlCol="0" anchor="ctr"/>
          <a:lstStyle/>
          <a:p>
            <a:pPr algn="ctr" indent="0" marL="0">
              <a:buNone/>
            </a:pPr>
            <a:r>
              <a:rPr lang="en-US" sz="1200" b="1" dirty="0">
                <a:solidFill>
                  <a:schemeClr val="bg1"/>
                </a:solidFill>
                <a:latin typeface="Ebrima" pitchFamily="34" charset="0"/>
                <a:ea typeface="Ebrima" pitchFamily="34" charset="-122"/>
                <a:cs typeface="Ebrima" pitchFamily="34" charset="-120"/>
              </a:rPr>
              <a:t>+17</a:t>
            </a:r>
            <a:endParaRPr lang="en-US" sz="1200" dirty="0"/>
          </a:p>
        </p:txBody>
      </p:sp>
      <p:sp>
        <p:nvSpPr>
          <p:cNvPr id="6" name="Text 4"/>
          <p:cNvSpPr txBox="1"/>
          <p:nvPr/>
        </p:nvSpPr>
        <p:spPr>
          <a:xfrm>
            <a:off x="1600200" y="1325880"/>
            <a:ext cx="5943600" cy="512064"/>
          </a:xfrm>
          <a:prstGeom prst="rect">
            <a:avLst/>
          </a:prstGeom>
          <a:noFill/>
          <a:ln/>
        </p:spPr>
        <p:txBody>
          <a:bodyPr wrap="square" lIns="0" tIns="0" rIns="0" bIns="0" rtlCol="0" anchor="ctr"/>
          <a:lstStyle/>
          <a:p>
            <a:pPr indent="0" marL="0">
              <a:buNone/>
            </a:pPr>
            <a:r>
              <a:rPr lang="en-US" sz="1450" dirty="0">
                <a:solidFill>
                  <a:schemeClr val="tx1"/>
                </a:solidFill>
                <a:latin typeface="Ebrima" pitchFamily="34" charset="0"/>
                <a:ea typeface="Ebrima" pitchFamily="34" charset="-122"/>
                <a:cs typeface="Ebrima" pitchFamily="34" charset="-120"/>
              </a:rPr>
              <a:t>ያለ ኢንተርኔት የተመዘገበ መረጃ እንዳይጠፋ፤ የመዋጮ ወራት ማስተካከያ</a:t>
            </a:r>
            <a:endParaRPr lang="en-US" sz="1450" dirty="0"/>
          </a:p>
        </p:txBody>
      </p:sp>
      <p:sp>
        <p:nvSpPr>
          <p:cNvPr id="7" name="Shape 5"/>
          <p:cNvSpPr/>
          <p:nvPr/>
        </p:nvSpPr>
        <p:spPr>
          <a:xfrm>
            <a:off x="758952" y="1929384"/>
            <a:ext cx="640080" cy="457200"/>
          </a:xfrm>
          <a:prstGeom prst="ellipse">
            <a:avLst/>
          </a:prstGeom>
          <a:solidFill>
            <a:schemeClr val="accent1"/>
          </a:solidFill>
          <a:ln w="15875">
            <a:solidFill>
              <a:schemeClr val="accent1"/>
            </a:solidFill>
            <a:prstDash val="solid"/>
          </a:ln>
        </p:spPr>
      </p:sp>
      <p:sp>
        <p:nvSpPr>
          <p:cNvPr id="8" name="Text 6"/>
          <p:cNvSpPr txBox="1"/>
          <p:nvPr/>
        </p:nvSpPr>
        <p:spPr>
          <a:xfrm>
            <a:off x="758952" y="1929384"/>
            <a:ext cx="640080" cy="457200"/>
          </a:xfrm>
          <a:prstGeom prst="rect">
            <a:avLst/>
          </a:prstGeom>
          <a:noFill/>
          <a:ln/>
        </p:spPr>
        <p:txBody>
          <a:bodyPr wrap="square" lIns="0" tIns="0" rIns="0" bIns="0" rtlCol="0" anchor="ctr"/>
          <a:lstStyle/>
          <a:p>
            <a:pPr algn="ctr" indent="0" marL="0">
              <a:buNone/>
            </a:pPr>
            <a:r>
              <a:rPr lang="en-US" sz="1200" b="1" dirty="0">
                <a:solidFill>
                  <a:schemeClr val="bg1"/>
                </a:solidFill>
                <a:latin typeface="Ebrima" pitchFamily="34" charset="0"/>
                <a:ea typeface="Ebrima" pitchFamily="34" charset="-122"/>
                <a:cs typeface="Ebrima" pitchFamily="34" charset="-120"/>
              </a:rPr>
              <a:t>+18</a:t>
            </a:r>
            <a:endParaRPr lang="en-US" sz="1200" dirty="0"/>
          </a:p>
        </p:txBody>
      </p:sp>
      <p:sp>
        <p:nvSpPr>
          <p:cNvPr id="9" name="Text 7"/>
          <p:cNvSpPr txBox="1"/>
          <p:nvPr/>
        </p:nvSpPr>
        <p:spPr>
          <a:xfrm>
            <a:off x="1600200" y="1901952"/>
            <a:ext cx="5943600" cy="512064"/>
          </a:xfrm>
          <a:prstGeom prst="rect">
            <a:avLst/>
          </a:prstGeom>
          <a:noFill/>
          <a:ln/>
        </p:spPr>
        <p:txBody>
          <a:bodyPr wrap="square" lIns="0" tIns="0" rIns="0" bIns="0" rtlCol="0" anchor="ctr"/>
          <a:lstStyle/>
          <a:p>
            <a:pPr indent="0" marL="0">
              <a:buNone/>
            </a:pPr>
            <a:r>
              <a:rPr lang="en-US" sz="1450" dirty="0">
                <a:solidFill>
                  <a:schemeClr val="tx1"/>
                </a:solidFill>
                <a:latin typeface="Ebrima" pitchFamily="34" charset="0"/>
                <a:ea typeface="Ebrima" pitchFamily="34" charset="-122"/>
                <a:cs typeface="Ebrima" pitchFamily="34" charset="-120"/>
              </a:rPr>
              <a:t>የትምህርት ዘመን፣ ወሰንና የክፍል ደረጃዎች፤ ብቸኛ ምዝገባ</a:t>
            </a:r>
            <a:endParaRPr lang="en-US" sz="1450" dirty="0"/>
          </a:p>
        </p:txBody>
      </p:sp>
      <p:sp>
        <p:nvSpPr>
          <p:cNvPr id="10" name="Shape 8"/>
          <p:cNvSpPr/>
          <p:nvPr/>
        </p:nvSpPr>
        <p:spPr>
          <a:xfrm>
            <a:off x="758952" y="2505456"/>
            <a:ext cx="640080" cy="457200"/>
          </a:xfrm>
          <a:prstGeom prst="ellipse">
            <a:avLst/>
          </a:prstGeom>
          <a:solidFill>
            <a:schemeClr val="accent1"/>
          </a:solidFill>
          <a:ln w="15875">
            <a:solidFill>
              <a:schemeClr val="accent1"/>
            </a:solidFill>
            <a:prstDash val="solid"/>
          </a:ln>
        </p:spPr>
      </p:sp>
      <p:sp>
        <p:nvSpPr>
          <p:cNvPr id="11" name="Text 9"/>
          <p:cNvSpPr txBox="1"/>
          <p:nvPr/>
        </p:nvSpPr>
        <p:spPr>
          <a:xfrm>
            <a:off x="758952" y="2505456"/>
            <a:ext cx="640080" cy="457200"/>
          </a:xfrm>
          <a:prstGeom prst="rect">
            <a:avLst/>
          </a:prstGeom>
          <a:noFill/>
          <a:ln/>
        </p:spPr>
        <p:txBody>
          <a:bodyPr wrap="square" lIns="0" tIns="0" rIns="0" bIns="0" rtlCol="0" anchor="ctr"/>
          <a:lstStyle/>
          <a:p>
            <a:pPr algn="ctr" indent="0" marL="0">
              <a:buNone/>
            </a:pPr>
            <a:r>
              <a:rPr lang="en-US" sz="1200" b="1" dirty="0">
                <a:solidFill>
                  <a:schemeClr val="bg1"/>
                </a:solidFill>
                <a:latin typeface="Ebrima" pitchFamily="34" charset="0"/>
                <a:ea typeface="Ebrima" pitchFamily="34" charset="-122"/>
                <a:cs typeface="Ebrima" pitchFamily="34" charset="-120"/>
              </a:rPr>
              <a:t>+19</a:t>
            </a:r>
            <a:endParaRPr lang="en-US" sz="1200" dirty="0"/>
          </a:p>
        </p:txBody>
      </p:sp>
      <p:sp>
        <p:nvSpPr>
          <p:cNvPr id="12" name="Text 10"/>
          <p:cNvSpPr txBox="1"/>
          <p:nvPr/>
        </p:nvSpPr>
        <p:spPr>
          <a:xfrm>
            <a:off x="1600200" y="2478024"/>
            <a:ext cx="5943600" cy="512064"/>
          </a:xfrm>
          <a:prstGeom prst="rect">
            <a:avLst/>
          </a:prstGeom>
          <a:noFill/>
          <a:ln/>
        </p:spPr>
        <p:txBody>
          <a:bodyPr wrap="square" lIns="0" tIns="0" rIns="0" bIns="0" rtlCol="0" anchor="ctr"/>
          <a:lstStyle/>
          <a:p>
            <a:pPr indent="0" marL="0">
              <a:buNone/>
            </a:pPr>
            <a:r>
              <a:rPr lang="en-US" sz="1450" dirty="0">
                <a:solidFill>
                  <a:schemeClr val="tx1"/>
                </a:solidFill>
                <a:latin typeface="Ebrima" pitchFamily="34" charset="0"/>
                <a:ea typeface="Ebrima" pitchFamily="34" charset="-122"/>
                <a:cs typeface="Ebrima" pitchFamily="34" charset="-120"/>
              </a:rPr>
              <a:t>የክፍል መገኘት በፕሮግራም፤ የደቂቃ ክፍተት ስሌት ለምርጫ</a:t>
            </a:r>
            <a:endParaRPr lang="en-US" sz="1450" dirty="0"/>
          </a:p>
        </p:txBody>
      </p:sp>
      <p:sp>
        <p:nvSpPr>
          <p:cNvPr id="13" name="Shape 11"/>
          <p:cNvSpPr/>
          <p:nvPr/>
        </p:nvSpPr>
        <p:spPr>
          <a:xfrm>
            <a:off x="758952" y="3081528"/>
            <a:ext cx="640080" cy="457200"/>
          </a:xfrm>
          <a:prstGeom prst="ellipse">
            <a:avLst/>
          </a:prstGeom>
          <a:solidFill>
            <a:schemeClr val="bg1"/>
          </a:solidFill>
          <a:ln w="15875">
            <a:solidFill>
              <a:schemeClr val="accent1"/>
            </a:solidFill>
            <a:prstDash val="solid"/>
          </a:ln>
        </p:spPr>
      </p:sp>
      <p:sp>
        <p:nvSpPr>
          <p:cNvPr id="14" name="Text 12"/>
          <p:cNvSpPr txBox="1"/>
          <p:nvPr/>
        </p:nvSpPr>
        <p:spPr>
          <a:xfrm>
            <a:off x="758952" y="3081528"/>
            <a:ext cx="640080" cy="457200"/>
          </a:xfrm>
          <a:prstGeom prst="rect">
            <a:avLst/>
          </a:prstGeom>
          <a:noFill/>
          <a:ln/>
        </p:spPr>
        <p:txBody>
          <a:bodyPr wrap="square" lIns="0" tIns="0" rIns="0" bIns="0" rtlCol="0" anchor="ctr"/>
          <a:lstStyle/>
          <a:p>
            <a:pPr algn="ctr" indent="0" marL="0">
              <a:buNone/>
            </a:pPr>
            <a:r>
              <a:rPr lang="en-US" sz="1200" b="1" dirty="0">
                <a:solidFill>
                  <a:schemeClr val="accent1"/>
                </a:solidFill>
                <a:latin typeface="Ebrima" pitchFamily="34" charset="0"/>
                <a:ea typeface="Ebrima" pitchFamily="34" charset="-122"/>
                <a:cs typeface="Ebrima" pitchFamily="34" charset="-120"/>
              </a:rPr>
              <a:t>+20</a:t>
            </a:r>
            <a:endParaRPr lang="en-US" sz="1200" dirty="0"/>
          </a:p>
        </p:txBody>
      </p:sp>
      <p:sp>
        <p:nvSpPr>
          <p:cNvPr id="15" name="Text 13"/>
          <p:cNvSpPr txBox="1"/>
          <p:nvPr/>
        </p:nvSpPr>
        <p:spPr>
          <a:xfrm>
            <a:off x="1600200" y="3054096"/>
            <a:ext cx="5943600" cy="512064"/>
          </a:xfrm>
          <a:prstGeom prst="rect">
            <a:avLst/>
          </a:prstGeom>
          <a:noFill/>
          <a:ln/>
        </p:spPr>
        <p:txBody>
          <a:bodyPr wrap="square" lIns="0" tIns="0" rIns="0" bIns="0" rtlCol="0" anchor="ctr"/>
          <a:lstStyle/>
          <a:p>
            <a:pPr indent="0" marL="0">
              <a:buNone/>
            </a:pPr>
            <a:r>
              <a:rPr lang="en-US" sz="1450" dirty="0">
                <a:solidFill>
                  <a:schemeClr val="tx1"/>
                </a:solidFill>
                <a:latin typeface="Ebrima" pitchFamily="34" charset="0"/>
                <a:ea typeface="Ebrima" pitchFamily="34" charset="-122"/>
                <a:cs typeface="Ebrima" pitchFamily="34" charset="-120"/>
              </a:rPr>
              <a:t>ለሁሉም ገጾችና ለአስተዳዳሪዎች ያለ ኢንተርኔት መሥራት</a:t>
            </a:r>
            <a:endParaRPr lang="en-US" sz="1450" dirty="0"/>
          </a:p>
        </p:txBody>
      </p:sp>
      <p:sp>
        <p:nvSpPr>
          <p:cNvPr id="16" name="Shape 14"/>
          <p:cNvSpPr/>
          <p:nvPr/>
        </p:nvSpPr>
        <p:spPr>
          <a:xfrm>
            <a:off x="758952" y="3657600"/>
            <a:ext cx="640080" cy="457200"/>
          </a:xfrm>
          <a:prstGeom prst="ellipse">
            <a:avLst/>
          </a:prstGeom>
          <a:solidFill>
            <a:schemeClr val="bg1"/>
          </a:solidFill>
          <a:ln w="15875">
            <a:solidFill>
              <a:schemeClr val="accent1"/>
            </a:solidFill>
            <a:prstDash val="solid"/>
          </a:ln>
        </p:spPr>
      </p:sp>
      <p:sp>
        <p:nvSpPr>
          <p:cNvPr id="17" name="Text 15"/>
          <p:cNvSpPr txBox="1"/>
          <p:nvPr/>
        </p:nvSpPr>
        <p:spPr>
          <a:xfrm>
            <a:off x="758952" y="3657600"/>
            <a:ext cx="640080" cy="457200"/>
          </a:xfrm>
          <a:prstGeom prst="rect">
            <a:avLst/>
          </a:prstGeom>
          <a:noFill/>
          <a:ln/>
        </p:spPr>
        <p:txBody>
          <a:bodyPr wrap="square" lIns="0" tIns="0" rIns="0" bIns="0" rtlCol="0" anchor="ctr"/>
          <a:lstStyle/>
          <a:p>
            <a:pPr algn="ctr" indent="0" marL="0">
              <a:buNone/>
            </a:pPr>
            <a:r>
              <a:rPr lang="en-US" sz="1200" b="1" dirty="0">
                <a:solidFill>
                  <a:schemeClr val="accent1"/>
                </a:solidFill>
                <a:latin typeface="Ebrima" pitchFamily="34" charset="0"/>
                <a:ea typeface="Ebrima" pitchFamily="34" charset="-122"/>
                <a:cs typeface="Ebrima" pitchFamily="34" charset="-120"/>
              </a:rPr>
              <a:t>+21</a:t>
            </a:r>
            <a:endParaRPr lang="en-US" sz="1200" dirty="0"/>
          </a:p>
        </p:txBody>
      </p:sp>
      <p:sp>
        <p:nvSpPr>
          <p:cNvPr id="18" name="Text 16"/>
          <p:cNvSpPr txBox="1"/>
          <p:nvPr/>
        </p:nvSpPr>
        <p:spPr>
          <a:xfrm>
            <a:off x="1600200" y="3630168"/>
            <a:ext cx="5943600" cy="512064"/>
          </a:xfrm>
          <a:prstGeom prst="rect">
            <a:avLst/>
          </a:prstGeom>
          <a:noFill/>
          <a:ln/>
        </p:spPr>
        <p:txBody>
          <a:bodyPr wrap="square" lIns="0" tIns="0" rIns="0" bIns="0" rtlCol="0" anchor="ctr"/>
          <a:lstStyle/>
          <a:p>
            <a:pPr indent="0" marL="0">
              <a:buNone/>
            </a:pPr>
            <a:r>
              <a:rPr lang="en-US" sz="1450" dirty="0">
                <a:solidFill>
                  <a:schemeClr val="tx1"/>
                </a:solidFill>
                <a:latin typeface="Ebrima" pitchFamily="34" charset="0"/>
                <a:ea typeface="Ebrima" pitchFamily="34" charset="-122"/>
                <a:cs typeface="Ebrima" pitchFamily="34" charset="-120"/>
              </a:rPr>
              <a:t>የትምህርት ውጤት ሂደት፦ ማለፊያ ነጥብ፣ ድጋሚ ፈተና፣ የጥያቄ ባንክ</a:t>
            </a:r>
            <a:endParaRPr lang="en-US" sz="1450" dirty="0"/>
          </a:p>
        </p:txBody>
      </p:sp>
      <p:sp>
        <p:nvSpPr>
          <p:cNvPr id="19" name="Shape 17"/>
          <p:cNvSpPr/>
          <p:nvPr/>
        </p:nvSpPr>
        <p:spPr>
          <a:xfrm>
            <a:off x="758952" y="4233672"/>
            <a:ext cx="640080" cy="457200"/>
          </a:xfrm>
          <a:prstGeom prst="ellipse">
            <a:avLst/>
          </a:prstGeom>
          <a:solidFill>
            <a:schemeClr val="bg1"/>
          </a:solidFill>
          <a:ln w="15875">
            <a:solidFill>
              <a:schemeClr val="accent1"/>
            </a:solidFill>
            <a:prstDash val="solid"/>
          </a:ln>
        </p:spPr>
      </p:sp>
      <p:sp>
        <p:nvSpPr>
          <p:cNvPr id="20" name="Text 18"/>
          <p:cNvSpPr txBox="1"/>
          <p:nvPr/>
        </p:nvSpPr>
        <p:spPr>
          <a:xfrm>
            <a:off x="758952" y="4233672"/>
            <a:ext cx="640080" cy="457200"/>
          </a:xfrm>
          <a:prstGeom prst="rect">
            <a:avLst/>
          </a:prstGeom>
          <a:noFill/>
          <a:ln/>
        </p:spPr>
        <p:txBody>
          <a:bodyPr wrap="square" lIns="0" tIns="0" rIns="0" bIns="0" rtlCol="0" anchor="ctr"/>
          <a:lstStyle/>
          <a:p>
            <a:pPr algn="ctr" indent="0" marL="0">
              <a:buNone/>
            </a:pPr>
            <a:r>
              <a:rPr lang="en-US" sz="1200" b="1" dirty="0">
                <a:solidFill>
                  <a:schemeClr val="accent1"/>
                </a:solidFill>
                <a:latin typeface="Ebrima" pitchFamily="34" charset="0"/>
                <a:ea typeface="Ebrima" pitchFamily="34" charset="-122"/>
                <a:cs typeface="Ebrima" pitchFamily="34" charset="-120"/>
              </a:rPr>
              <a:t>+22</a:t>
            </a:r>
            <a:endParaRPr lang="en-US" sz="1200" dirty="0"/>
          </a:p>
        </p:txBody>
      </p:sp>
      <p:sp>
        <p:nvSpPr>
          <p:cNvPr id="21" name="Text 19"/>
          <p:cNvSpPr txBox="1"/>
          <p:nvPr/>
        </p:nvSpPr>
        <p:spPr>
          <a:xfrm>
            <a:off x="1600200" y="4206240"/>
            <a:ext cx="5943600" cy="512064"/>
          </a:xfrm>
          <a:prstGeom prst="rect">
            <a:avLst/>
          </a:prstGeom>
          <a:noFill/>
          <a:ln/>
        </p:spPr>
        <p:txBody>
          <a:bodyPr wrap="square" lIns="0" tIns="0" rIns="0" bIns="0" rtlCol="0" anchor="ctr"/>
          <a:lstStyle/>
          <a:p>
            <a:pPr indent="0" marL="0">
              <a:buNone/>
            </a:pPr>
            <a:r>
              <a:rPr lang="en-US" sz="1450" dirty="0">
                <a:solidFill>
                  <a:schemeClr val="tx1"/>
                </a:solidFill>
                <a:latin typeface="Ebrima" pitchFamily="34" charset="0"/>
                <a:ea typeface="Ebrima" pitchFamily="34" charset="-122"/>
                <a:cs typeface="Ebrima" pitchFamily="34" charset="-120"/>
              </a:rPr>
              <a:t>የምስክር ወረቀት፣ የተማሪ ዳሽቦርድና የተሳትፎ ነጥቦች</a:t>
            </a:r>
            <a:endParaRPr lang="en-US" sz="1450" dirty="0"/>
          </a:p>
        </p:txBody>
      </p:sp>
      <p:sp>
        <p:nvSpPr>
          <p:cNvPr id="22" name="Shape 20"/>
          <p:cNvSpPr/>
          <p:nvPr/>
        </p:nvSpPr>
        <p:spPr>
          <a:xfrm>
            <a:off x="758952" y="4809744"/>
            <a:ext cx="640080" cy="457200"/>
          </a:xfrm>
          <a:prstGeom prst="ellipse">
            <a:avLst/>
          </a:prstGeom>
          <a:solidFill>
            <a:schemeClr val="bg1"/>
          </a:solidFill>
          <a:ln w="15875">
            <a:solidFill>
              <a:schemeClr val="accent1"/>
            </a:solidFill>
            <a:prstDash val="solid"/>
          </a:ln>
        </p:spPr>
      </p:sp>
      <p:sp>
        <p:nvSpPr>
          <p:cNvPr id="23" name="Text 21"/>
          <p:cNvSpPr txBox="1"/>
          <p:nvPr/>
        </p:nvSpPr>
        <p:spPr>
          <a:xfrm>
            <a:off x="758952" y="4809744"/>
            <a:ext cx="640080" cy="457200"/>
          </a:xfrm>
          <a:prstGeom prst="rect">
            <a:avLst/>
          </a:prstGeom>
          <a:noFill/>
          <a:ln/>
        </p:spPr>
        <p:txBody>
          <a:bodyPr wrap="square" lIns="0" tIns="0" rIns="0" bIns="0" rtlCol="0" anchor="ctr"/>
          <a:lstStyle/>
          <a:p>
            <a:pPr algn="ctr" indent="0" marL="0">
              <a:buNone/>
            </a:pPr>
            <a:r>
              <a:rPr lang="en-US" sz="1200" b="1" dirty="0">
                <a:solidFill>
                  <a:schemeClr val="accent1"/>
                </a:solidFill>
                <a:latin typeface="Ebrima" pitchFamily="34" charset="0"/>
                <a:ea typeface="Ebrima" pitchFamily="34" charset="-122"/>
                <a:cs typeface="Ebrima" pitchFamily="34" charset="-120"/>
              </a:rPr>
              <a:t>+23</a:t>
            </a:r>
            <a:endParaRPr lang="en-US" sz="1200" dirty="0"/>
          </a:p>
        </p:txBody>
      </p:sp>
      <p:sp>
        <p:nvSpPr>
          <p:cNvPr id="24" name="Text 22"/>
          <p:cNvSpPr txBox="1"/>
          <p:nvPr/>
        </p:nvSpPr>
        <p:spPr>
          <a:xfrm>
            <a:off x="1600200" y="4782312"/>
            <a:ext cx="5943600" cy="512064"/>
          </a:xfrm>
          <a:prstGeom prst="rect">
            <a:avLst/>
          </a:prstGeom>
          <a:noFill/>
          <a:ln/>
        </p:spPr>
        <p:txBody>
          <a:bodyPr wrap="square" lIns="0" tIns="0" rIns="0" bIns="0" rtlCol="0" anchor="ctr"/>
          <a:lstStyle/>
          <a:p>
            <a:pPr indent="0" marL="0">
              <a:buNone/>
            </a:pPr>
            <a:r>
              <a:rPr lang="en-US" sz="1450" dirty="0">
                <a:solidFill>
                  <a:schemeClr val="tx1"/>
                </a:solidFill>
                <a:latin typeface="Ebrima" pitchFamily="34" charset="0"/>
                <a:ea typeface="Ebrima" pitchFamily="34" charset="-122"/>
                <a:cs typeface="Ebrima" pitchFamily="34" charset="-120"/>
              </a:rPr>
              <a:t>ዲጂታልና የሕትመት ቤተ መጻሕፍት (ለእያንዳንዱ ቅጂ መለያ)</a:t>
            </a:r>
            <a:endParaRPr lang="en-US" sz="1450" dirty="0"/>
          </a:p>
        </p:txBody>
      </p:sp>
      <p:sp>
        <p:nvSpPr>
          <p:cNvPr id="25" name="Shape 23"/>
          <p:cNvSpPr/>
          <p:nvPr/>
        </p:nvSpPr>
        <p:spPr>
          <a:xfrm>
            <a:off x="758952" y="5385816"/>
            <a:ext cx="640080" cy="457200"/>
          </a:xfrm>
          <a:prstGeom prst="ellipse">
            <a:avLst/>
          </a:prstGeom>
          <a:solidFill>
            <a:schemeClr val="bg1"/>
          </a:solidFill>
          <a:ln w="15875">
            <a:solidFill>
              <a:schemeClr val="accent1"/>
            </a:solidFill>
            <a:prstDash val="solid"/>
          </a:ln>
        </p:spPr>
      </p:sp>
      <p:sp>
        <p:nvSpPr>
          <p:cNvPr id="26" name="Text 24"/>
          <p:cNvSpPr txBox="1"/>
          <p:nvPr/>
        </p:nvSpPr>
        <p:spPr>
          <a:xfrm>
            <a:off x="758952" y="5385816"/>
            <a:ext cx="640080" cy="457200"/>
          </a:xfrm>
          <a:prstGeom prst="rect">
            <a:avLst/>
          </a:prstGeom>
          <a:noFill/>
          <a:ln/>
        </p:spPr>
        <p:txBody>
          <a:bodyPr wrap="square" lIns="0" tIns="0" rIns="0" bIns="0" rtlCol="0" anchor="ctr"/>
          <a:lstStyle/>
          <a:p>
            <a:pPr algn="ctr" indent="0" marL="0">
              <a:buNone/>
            </a:pPr>
            <a:r>
              <a:rPr lang="en-US" sz="1200" b="1" dirty="0">
                <a:solidFill>
                  <a:schemeClr val="accent1"/>
                </a:solidFill>
                <a:latin typeface="Ebrima" pitchFamily="34" charset="0"/>
                <a:ea typeface="Ebrima" pitchFamily="34" charset="-122"/>
                <a:cs typeface="Ebrima" pitchFamily="34" charset="-120"/>
              </a:rPr>
              <a:t>+24</a:t>
            </a:r>
            <a:endParaRPr lang="en-US" sz="1200" dirty="0"/>
          </a:p>
        </p:txBody>
      </p:sp>
      <p:sp>
        <p:nvSpPr>
          <p:cNvPr id="27" name="Text 25"/>
          <p:cNvSpPr txBox="1"/>
          <p:nvPr/>
        </p:nvSpPr>
        <p:spPr>
          <a:xfrm>
            <a:off x="1600200" y="5358384"/>
            <a:ext cx="5943600" cy="512064"/>
          </a:xfrm>
          <a:prstGeom prst="rect">
            <a:avLst/>
          </a:prstGeom>
          <a:noFill/>
          <a:ln/>
        </p:spPr>
        <p:txBody>
          <a:bodyPr wrap="square" lIns="0" tIns="0" rIns="0" bIns="0" rtlCol="0" anchor="ctr"/>
          <a:lstStyle/>
          <a:p>
            <a:pPr indent="0" marL="0">
              <a:buNone/>
            </a:pPr>
            <a:r>
              <a:rPr lang="en-US" sz="1450" dirty="0">
                <a:solidFill>
                  <a:schemeClr val="tx1"/>
                </a:solidFill>
                <a:latin typeface="Ebrima" pitchFamily="34" charset="0"/>
                <a:ea typeface="Ebrima" pitchFamily="34" charset="-122"/>
                <a:cs typeface="Ebrima" pitchFamily="34" charset="-120"/>
              </a:rPr>
              <a:t>የቅንብሮች፣ የመመሪያና የስክሪን ማስማሚያ ማሻሻያዎች</a:t>
            </a:r>
            <a:endParaRPr lang="en-US" sz="1450" dirty="0"/>
          </a:p>
        </p:txBody>
      </p:sp>
      <p:sp>
        <p:nvSpPr>
          <p:cNvPr id="28" name="Shape 26"/>
          <p:cNvSpPr/>
          <p:nvPr/>
        </p:nvSpPr>
        <p:spPr>
          <a:xfrm>
            <a:off x="7863840" y="1325880"/>
            <a:ext cx="3794760" cy="4846320"/>
          </a:xfrm>
          <a:prstGeom prst="roundRect">
            <a:avLst>
              <a:gd name="adj" fmla="val 2892"/>
            </a:avLst>
          </a:prstGeom>
          <a:solidFill>
            <a:schemeClr val="bg2">
              <a:alpha val="60000"/>
            </a:schemeClr>
          </a:solidFill>
          <a:ln/>
        </p:spPr>
      </p:sp>
      <p:sp>
        <p:nvSpPr>
          <p:cNvPr id="29" name="Text 27"/>
          <p:cNvSpPr txBox="1"/>
          <p:nvPr/>
        </p:nvSpPr>
        <p:spPr>
          <a:xfrm>
            <a:off x="8092440" y="1463040"/>
            <a:ext cx="3383280" cy="685800"/>
          </a:xfrm>
          <a:prstGeom prst="rect">
            <a:avLst/>
          </a:prstGeom>
          <a:noFill/>
          <a:ln/>
        </p:spPr>
        <p:txBody>
          <a:bodyPr wrap="square" lIns="0" tIns="0" rIns="0" bIns="0" rtlCol="0" anchor="t"/>
          <a:lstStyle/>
          <a:p>
            <a:pPr indent="0" marL="0">
              <a:buNone/>
            </a:pPr>
            <a:r>
              <a:rPr lang="en-US" sz="1550" b="1" dirty="0">
                <a:solidFill>
                  <a:schemeClr val="accent1"/>
                </a:solidFill>
                <a:latin typeface="Ebrima" pitchFamily="34" charset="0"/>
                <a:ea typeface="Ebrima" pitchFamily="34" charset="-122"/>
                <a:cs typeface="Ebrima" pitchFamily="34" charset="-120"/>
              </a:rPr>
              <a:t>ከአመራሩ የሚጠበቁ ውሳኔዎች</a:t>
            </a:r>
            <a:endParaRPr lang="en-US" sz="1550" dirty="0"/>
          </a:p>
        </p:txBody>
      </p:sp>
      <p:sp>
        <p:nvSpPr>
          <p:cNvPr id="30" name="Text 28"/>
          <p:cNvSpPr txBox="1"/>
          <p:nvPr/>
        </p:nvSpPr>
        <p:spPr>
          <a:xfrm>
            <a:off x="8092440" y="2240280"/>
            <a:ext cx="3429000" cy="384048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chemeClr val="tx1"/>
                </a:solidFill>
                <a:latin typeface="Ebrima" pitchFamily="34" charset="0"/>
                <a:ea typeface="Ebrima" pitchFamily="34" charset="-122"/>
                <a:cs typeface="Ebrima" pitchFamily="34" charset="-120"/>
              </a:rPr>
              <a:t>የምስክር ወረቀቱ ጽሑፍ፣ ፈራሚና ማኅተም</a:t>
            </a:r>
            <a:endParaRPr lang="en-US" sz="1350" dirty="0"/>
          </a:p>
          <a:p>
            <a:pPr marL="342900" indent="-342900">
              <a:spcAft>
                <a:spcPts val="800"/>
              </a:spcAft>
              <a:buSzPct val="100000"/>
              <a:buChar char="●"/>
            </a:pPr>
            <a:r>
              <a:rPr lang="en-US" sz="1350" dirty="0">
                <a:solidFill>
                  <a:schemeClr val="tx1"/>
                </a:solidFill>
                <a:latin typeface="Ebrima" pitchFamily="34" charset="0"/>
                <a:ea typeface="Ebrima" pitchFamily="34" charset="-122"/>
                <a:cs typeface="Ebrima" pitchFamily="34" charset="-120"/>
              </a:rPr>
              <a:t>የቆዩ መጻሕፍት ወደ አዲሱ ቤተ መጻሕፍት የሚዛወሩበት መንገድ</a:t>
            </a:r>
            <a:endParaRPr lang="en-US" sz="1350" dirty="0"/>
          </a:p>
          <a:p>
            <a:pPr marL="342900" indent="-342900">
              <a:spcAft>
                <a:spcPts val="800"/>
              </a:spcAft>
              <a:buSzPct val="100000"/>
              <a:buChar char="●"/>
            </a:pPr>
            <a:r>
              <a:rPr lang="en-US" sz="1350" dirty="0">
                <a:solidFill>
                  <a:schemeClr val="tx1"/>
                </a:solidFill>
                <a:latin typeface="Ebrima" pitchFamily="34" charset="0"/>
                <a:ea typeface="Ebrima" pitchFamily="34" charset="-122"/>
                <a:cs typeface="Ebrima" pitchFamily="34" charset="-120"/>
              </a:rPr>
              <a:t>የተሳትፎና የትምህርት ነጥብ ቀመር</a:t>
            </a:r>
            <a:endParaRPr lang="en-US" sz="1350" dirty="0"/>
          </a:p>
          <a:p>
            <a:pPr marL="342900" indent="-342900">
              <a:spcAft>
                <a:spcPts val="800"/>
              </a:spcAft>
              <a:buSzPct val="100000"/>
              <a:buChar char="●"/>
            </a:pPr>
            <a:r>
              <a:rPr lang="en-US" sz="1350" dirty="0">
                <a:solidFill>
                  <a:schemeClr val="tx1"/>
                </a:solidFill>
                <a:latin typeface="Ebrima" pitchFamily="34" charset="0"/>
                <a:ea typeface="Ebrima" pitchFamily="34" charset="-122"/>
                <a:cs typeface="Ebrima" pitchFamily="34" charset="-120"/>
              </a:rPr>
              <a:t>ያልተላከ መረጃ እያለ መውጣት ሲፈለግ የሚወሰደው እርምጃ</a:t>
            </a:r>
            <a:endParaRPr lang="en-US" sz="1350" dirty="0"/>
          </a:p>
          <a:p>
            <a:pPr marL="342900" indent="-342900">
              <a:spcAft>
                <a:spcPts val="800"/>
              </a:spcAft>
              <a:buSzPct val="100000"/>
              <a:buChar char="●"/>
            </a:pPr>
            <a:r>
              <a:rPr lang="en-US" sz="1350" dirty="0">
                <a:solidFill>
                  <a:schemeClr val="tx1"/>
                </a:solidFill>
                <a:latin typeface="Ebrima" pitchFamily="34" charset="0"/>
                <a:ea typeface="Ebrima" pitchFamily="34" charset="-122"/>
                <a:cs typeface="Ebrima" pitchFamily="34" charset="-120"/>
              </a:rPr>
              <a:t>የምርጫው የአገልግሎት ጉርሻ ሕግ</a:t>
            </a:r>
            <a:endParaRPr lang="en-US" sz="1350" dirty="0"/>
          </a:p>
        </p:txBody>
      </p:sp>
      <p:sp>
        <p:nvSpPr>
          <p:cNvPr id="31" name="Text 29"/>
          <p:cNvSpPr txBox="1"/>
          <p:nvPr/>
        </p:nvSpPr>
        <p:spPr>
          <a:xfrm>
            <a:off x="548640" y="5989320"/>
            <a:ext cx="7040880" cy="274320"/>
          </a:xfrm>
          <a:prstGeom prst="rect">
            <a:avLst/>
          </a:prstGeom>
          <a:noFill/>
          <a:ln/>
        </p:spPr>
        <p:txBody>
          <a:bodyPr wrap="square" lIns="0" tIns="0" rIns="0" bIns="0" rtlCol="0" anchor="t"/>
          <a:lstStyle/>
          <a:p>
            <a:pPr indent="0" marL="0">
              <a:buNone/>
            </a:pPr>
            <a:r>
              <a:rPr lang="en-US" sz="1050" i="1" dirty="0">
                <a:solidFill>
                  <a:schemeClr val="accent4"/>
                </a:solidFill>
                <a:latin typeface="Ebrima" pitchFamily="34" charset="0"/>
                <a:ea typeface="Ebrima" pitchFamily="34" charset="-122"/>
                <a:cs typeface="Ebrima" pitchFamily="34" charset="-120"/>
              </a:rPr>
              <a:t>ቁጥሮቹ (+17…+24) የታቀዱ የግንባታ ቁጥሮች ናቸው፤ የመጀመሪያዎቹ ሦስቱ በሙከራ ላይ ናቸው</a:t>
            </a:r>
            <a:endParaRPr lang="en-US" sz="105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Ebrima"/>
                <a:ea typeface="Ebrima"/>
                <a:cs typeface="Ebrima"/>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0241280" cy="777240"/>
          </a:xfrm>
          <a:prstGeom prst="rect">
            <a:avLst/>
          </a:prstGeom>
          <a:noFill/>
          <a:ln/>
        </p:spPr>
        <p:txBody>
          <a:bodyPr wrap="square" lIns="0" tIns="0" rIns="0" bIns="0" rtlCol="0" anchor="ctr"/>
          <a:lstStyle/>
          <a:p>
            <a:pPr algn="l" indent="0" marL="0">
              <a:buNone/>
            </a:pPr>
            <a:r>
              <a:rPr lang="en-US" sz="3400" dirty="0">
                <a:solidFill>
                  <a:schemeClr val="accent1"/>
                </a:solidFill>
                <a:latin typeface="Nyala" pitchFamily="34" charset="0"/>
                <a:ea typeface="Nyala" pitchFamily="34" charset="-122"/>
                <a:cs typeface="Nyala" pitchFamily="34" charset="-120"/>
              </a:rPr>
              <a:t>የወደፊት ዕድሎች (ሐሳቦች)</a:t>
            </a:r>
            <a:endParaRPr lang="en-US" sz="3400" dirty="0"/>
          </a:p>
        </p:txBody>
      </p:sp>
      <p:sp>
        <p:nvSpPr>
          <p:cNvPr id="3" name="Shape 1"/>
          <p:cNvSpPr/>
          <p:nvPr/>
        </p:nvSpPr>
        <p:spPr>
          <a:xfrm>
            <a:off x="548640" y="1325880"/>
            <a:ext cx="5120640" cy="502920"/>
          </a:xfrm>
          <a:prstGeom prst="roundRect">
            <a:avLst>
              <a:gd name="adj" fmla="val 36364"/>
            </a:avLst>
          </a:prstGeom>
          <a:solidFill>
            <a:schemeClr val="accent2"/>
          </a:solidFill>
          <a:ln/>
        </p:spPr>
      </p:sp>
      <p:sp>
        <p:nvSpPr>
          <p:cNvPr id="4" name="Text 2"/>
          <p:cNvSpPr txBox="1"/>
          <p:nvPr/>
        </p:nvSpPr>
        <p:spPr>
          <a:xfrm>
            <a:off x="548640" y="1325880"/>
            <a:ext cx="5120640" cy="502920"/>
          </a:xfrm>
          <a:prstGeom prst="rect">
            <a:avLst/>
          </a:prstGeom>
          <a:noFill/>
          <a:ln/>
        </p:spPr>
        <p:txBody>
          <a:bodyPr wrap="square" lIns="0" tIns="0" rIns="0" bIns="0" rtlCol="0" anchor="ctr"/>
          <a:lstStyle/>
          <a:p>
            <a:pPr algn="ctr" indent="0" marL="0">
              <a:buNone/>
            </a:pPr>
            <a:r>
              <a:rPr lang="en-US" sz="1400" b="1" dirty="0">
                <a:solidFill>
                  <a:schemeClr val="bg1"/>
                </a:solidFill>
                <a:latin typeface="Ebrima" pitchFamily="34" charset="0"/>
                <a:ea typeface="Ebrima" pitchFamily="34" charset="-122"/>
                <a:cs typeface="Ebrima" pitchFamily="34" charset="-120"/>
              </a:rPr>
              <a:t>ሐሳብ ብቻ — ገና ያልተወሰኑና ያልተሠሩ</a:t>
            </a:r>
            <a:endParaRPr lang="en-US" sz="1400" dirty="0"/>
          </a:p>
        </p:txBody>
      </p:sp>
      <p:sp>
        <p:nvSpPr>
          <p:cNvPr id="5" name="Shape 3"/>
          <p:cNvSpPr/>
          <p:nvPr/>
        </p:nvSpPr>
        <p:spPr>
          <a:xfrm>
            <a:off x="548640" y="2103120"/>
            <a:ext cx="3520440" cy="1874520"/>
          </a:xfrm>
          <a:prstGeom prst="roundRect">
            <a:avLst>
              <a:gd name="adj" fmla="val 5854"/>
            </a:avLst>
          </a:prstGeom>
          <a:solidFill>
            <a:schemeClr val="bg1"/>
          </a:solidFill>
          <a:ln w="12700">
            <a:solidFill>
              <a:srgbClr val="E0C9CE"/>
            </a:solidFill>
            <a:prstDash val="solid"/>
          </a:ln>
        </p:spPr>
      </p:sp>
      <p:sp>
        <p:nvSpPr>
          <p:cNvPr id="6" name="Shape 4"/>
          <p:cNvSpPr/>
          <p:nvPr/>
        </p:nvSpPr>
        <p:spPr>
          <a:xfrm>
            <a:off x="777240" y="2331720"/>
            <a:ext cx="594360" cy="594360"/>
          </a:xfrm>
          <a:prstGeom prst="ellipse">
            <a:avLst/>
          </a:prstGeom>
          <a:solidFill>
            <a:schemeClr val="accent1"/>
          </a:solidFill>
          <a:ln/>
        </p:spPr>
      </p:sp>
      <p:pic>
        <p:nvPicPr>
          <p:cNvPr id="7" name="Image 0" descr="preencoded.png">    </p:cNvPr>
          <p:cNvPicPr>
            <a:picLocks noChangeAspect="1"/>
          </p:cNvPicPr>
          <p:nvPr/>
        </p:nvPicPr>
        <p:blipFill>
          <a:blip r:embed="rId1"/>
          <a:stretch>
            <a:fillRect/>
          </a:stretch>
        </p:blipFill>
        <p:spPr>
          <a:xfrm>
            <a:off x="919886" y="2474366"/>
            <a:ext cx="309067" cy="309067"/>
          </a:xfrm>
          <a:prstGeom prst="rect">
            <a:avLst/>
          </a:prstGeom>
        </p:spPr>
      </p:pic>
      <p:sp>
        <p:nvSpPr>
          <p:cNvPr id="8" name="Text 5"/>
          <p:cNvSpPr txBox="1"/>
          <p:nvPr/>
        </p:nvSpPr>
        <p:spPr>
          <a:xfrm>
            <a:off x="1508760" y="2359152"/>
            <a:ext cx="2423160" cy="548640"/>
          </a:xfrm>
          <a:prstGeom prst="rect">
            <a:avLst/>
          </a:prstGeom>
          <a:noFill/>
          <a:ln/>
        </p:spPr>
        <p:txBody>
          <a:bodyPr wrap="square" lIns="0" tIns="0" rIns="0" bIns="0" rtlCol="0" anchor="ctr"/>
          <a:lstStyle/>
          <a:p>
            <a:pPr indent="0" marL="0">
              <a:buNone/>
            </a:pPr>
            <a:r>
              <a:rPr lang="en-US" sz="1500" b="1" dirty="0">
                <a:solidFill>
                  <a:schemeClr val="accent1"/>
                </a:solidFill>
                <a:latin typeface="Ebrima" pitchFamily="34" charset="0"/>
                <a:ea typeface="Ebrima" pitchFamily="34" charset="-122"/>
                <a:cs typeface="Ebrima" pitchFamily="34" charset="-120"/>
              </a:rPr>
              <a:t>የiPhone (iOS) ስሪት</a:t>
            </a:r>
            <a:endParaRPr lang="en-US" sz="1500" dirty="0"/>
          </a:p>
        </p:txBody>
      </p:sp>
      <p:sp>
        <p:nvSpPr>
          <p:cNvPr id="9" name="Text 6"/>
          <p:cNvSpPr txBox="1"/>
          <p:nvPr/>
        </p:nvSpPr>
        <p:spPr>
          <a:xfrm>
            <a:off x="777240" y="3063240"/>
            <a:ext cx="3108960" cy="822960"/>
          </a:xfrm>
          <a:prstGeom prst="rect">
            <a:avLst/>
          </a:prstGeom>
          <a:noFill/>
          <a:ln/>
        </p:spPr>
        <p:txBody>
          <a:bodyPr wrap="square" lIns="0" tIns="0" rIns="0" bIns="0" rtlCol="0" anchor="t"/>
          <a:lstStyle/>
          <a:p>
            <a:pPr indent="0" marL="0">
              <a:buNone/>
            </a:pPr>
            <a:r>
              <a:rPr lang="en-US" sz="1300" dirty="0">
                <a:solidFill>
                  <a:schemeClr val="tx1"/>
                </a:solidFill>
                <a:latin typeface="Ebrima" pitchFamily="34" charset="0"/>
                <a:ea typeface="Ebrima" pitchFamily="34" charset="-122"/>
                <a:cs typeface="Ebrima" pitchFamily="34" charset="-120"/>
              </a:rPr>
              <a:t>ፕሮጀክቱ ተዘጋጅቷል፤ መገንባትና ማሰራጨት ይቀራል</a:t>
            </a:r>
            <a:endParaRPr lang="en-US" sz="1300" dirty="0"/>
          </a:p>
        </p:txBody>
      </p:sp>
      <p:sp>
        <p:nvSpPr>
          <p:cNvPr id="10" name="Shape 7"/>
          <p:cNvSpPr/>
          <p:nvPr/>
        </p:nvSpPr>
        <p:spPr>
          <a:xfrm>
            <a:off x="4297680" y="2103120"/>
            <a:ext cx="3520440" cy="1874520"/>
          </a:xfrm>
          <a:prstGeom prst="roundRect">
            <a:avLst>
              <a:gd name="adj" fmla="val 5854"/>
            </a:avLst>
          </a:prstGeom>
          <a:solidFill>
            <a:schemeClr val="bg1"/>
          </a:solidFill>
          <a:ln w="12700">
            <a:solidFill>
              <a:srgbClr val="E0C9CE"/>
            </a:solidFill>
            <a:prstDash val="solid"/>
          </a:ln>
        </p:spPr>
      </p:sp>
      <p:sp>
        <p:nvSpPr>
          <p:cNvPr id="11" name="Shape 8"/>
          <p:cNvSpPr/>
          <p:nvPr/>
        </p:nvSpPr>
        <p:spPr>
          <a:xfrm>
            <a:off x="4526280" y="2331720"/>
            <a:ext cx="594360" cy="594360"/>
          </a:xfrm>
          <a:prstGeom prst="ellipse">
            <a:avLst/>
          </a:prstGeom>
          <a:solidFill>
            <a:schemeClr val="accent1"/>
          </a:solidFill>
          <a:ln/>
        </p:spPr>
      </p:sp>
      <p:pic>
        <p:nvPicPr>
          <p:cNvPr id="12" name="Image 1" descr="preencoded.png">    </p:cNvPr>
          <p:cNvPicPr>
            <a:picLocks noChangeAspect="1"/>
          </p:cNvPicPr>
          <p:nvPr/>
        </p:nvPicPr>
        <p:blipFill>
          <a:blip r:embed="rId2"/>
          <a:stretch>
            <a:fillRect/>
          </a:stretch>
        </p:blipFill>
        <p:spPr>
          <a:xfrm>
            <a:off x="4668926" y="2474366"/>
            <a:ext cx="309067" cy="309067"/>
          </a:xfrm>
          <a:prstGeom prst="rect">
            <a:avLst/>
          </a:prstGeom>
        </p:spPr>
      </p:pic>
      <p:sp>
        <p:nvSpPr>
          <p:cNvPr id="13" name="Text 9"/>
          <p:cNvSpPr txBox="1"/>
          <p:nvPr/>
        </p:nvSpPr>
        <p:spPr>
          <a:xfrm>
            <a:off x="5257800" y="2359152"/>
            <a:ext cx="2423160" cy="548640"/>
          </a:xfrm>
          <a:prstGeom prst="rect">
            <a:avLst/>
          </a:prstGeom>
          <a:noFill/>
          <a:ln/>
        </p:spPr>
        <p:txBody>
          <a:bodyPr wrap="square" lIns="0" tIns="0" rIns="0" bIns="0" rtlCol="0" anchor="ctr"/>
          <a:lstStyle/>
          <a:p>
            <a:pPr indent="0" marL="0">
              <a:buNone/>
            </a:pPr>
            <a:r>
              <a:rPr lang="en-US" sz="1500" b="1" dirty="0">
                <a:solidFill>
                  <a:schemeClr val="accent1"/>
                </a:solidFill>
                <a:latin typeface="Ebrima" pitchFamily="34" charset="0"/>
                <a:ea typeface="Ebrima" pitchFamily="34" charset="-122"/>
                <a:cs typeface="Ebrima" pitchFamily="34" charset="-120"/>
              </a:rPr>
              <a:t>ራስ-ሰር ምትኬ</a:t>
            </a:r>
            <a:endParaRPr lang="en-US" sz="1500" dirty="0"/>
          </a:p>
        </p:txBody>
      </p:sp>
      <p:sp>
        <p:nvSpPr>
          <p:cNvPr id="14" name="Text 10"/>
          <p:cNvSpPr txBox="1"/>
          <p:nvPr/>
        </p:nvSpPr>
        <p:spPr>
          <a:xfrm>
            <a:off x="4526280" y="3063240"/>
            <a:ext cx="3108960" cy="822960"/>
          </a:xfrm>
          <a:prstGeom prst="rect">
            <a:avLst/>
          </a:prstGeom>
          <a:noFill/>
          <a:ln/>
        </p:spPr>
        <p:txBody>
          <a:bodyPr wrap="square" lIns="0" tIns="0" rIns="0" bIns="0" rtlCol="0" anchor="t"/>
          <a:lstStyle/>
          <a:p>
            <a:pPr indent="0" marL="0">
              <a:buNone/>
            </a:pPr>
            <a:r>
              <a:rPr lang="en-US" sz="1300" dirty="0">
                <a:solidFill>
                  <a:schemeClr val="tx1"/>
                </a:solidFill>
                <a:latin typeface="Ebrima" pitchFamily="34" charset="0"/>
                <a:ea typeface="Ebrima" pitchFamily="34" charset="-122"/>
                <a:cs typeface="Ebrima" pitchFamily="34" charset="-120"/>
              </a:rPr>
              <a:t>የመረጃ ቋትና የፋይሎች ምትኬ ከአገልጋዩ ውጭ በየጊዜው</a:t>
            </a:r>
            <a:endParaRPr lang="en-US" sz="1300" dirty="0"/>
          </a:p>
        </p:txBody>
      </p:sp>
      <p:sp>
        <p:nvSpPr>
          <p:cNvPr id="15" name="Shape 11"/>
          <p:cNvSpPr/>
          <p:nvPr/>
        </p:nvSpPr>
        <p:spPr>
          <a:xfrm>
            <a:off x="8046720" y="2103120"/>
            <a:ext cx="3520440" cy="1874520"/>
          </a:xfrm>
          <a:prstGeom prst="roundRect">
            <a:avLst>
              <a:gd name="adj" fmla="val 5854"/>
            </a:avLst>
          </a:prstGeom>
          <a:solidFill>
            <a:schemeClr val="bg1"/>
          </a:solidFill>
          <a:ln w="12700">
            <a:solidFill>
              <a:srgbClr val="E0C9CE"/>
            </a:solidFill>
            <a:prstDash val="solid"/>
          </a:ln>
        </p:spPr>
      </p:sp>
      <p:sp>
        <p:nvSpPr>
          <p:cNvPr id="16" name="Shape 12"/>
          <p:cNvSpPr/>
          <p:nvPr/>
        </p:nvSpPr>
        <p:spPr>
          <a:xfrm>
            <a:off x="8275320" y="2331720"/>
            <a:ext cx="594360" cy="594360"/>
          </a:xfrm>
          <a:prstGeom prst="ellipse">
            <a:avLst/>
          </a:prstGeom>
          <a:solidFill>
            <a:schemeClr val="accent1"/>
          </a:solidFill>
          <a:ln/>
        </p:spPr>
      </p:sp>
      <p:pic>
        <p:nvPicPr>
          <p:cNvPr id="17" name="Image 2" descr="preencoded.png">    </p:cNvPr>
          <p:cNvPicPr>
            <a:picLocks noChangeAspect="1"/>
          </p:cNvPicPr>
          <p:nvPr/>
        </p:nvPicPr>
        <p:blipFill>
          <a:blip r:embed="rId3"/>
          <a:stretch>
            <a:fillRect/>
          </a:stretch>
        </p:blipFill>
        <p:spPr>
          <a:xfrm>
            <a:off x="8417966" y="2474366"/>
            <a:ext cx="309067" cy="309067"/>
          </a:xfrm>
          <a:prstGeom prst="rect">
            <a:avLst/>
          </a:prstGeom>
        </p:spPr>
      </p:pic>
      <p:sp>
        <p:nvSpPr>
          <p:cNvPr id="18" name="Text 13"/>
          <p:cNvSpPr txBox="1"/>
          <p:nvPr/>
        </p:nvSpPr>
        <p:spPr>
          <a:xfrm>
            <a:off x="9006840" y="2359152"/>
            <a:ext cx="2423160" cy="548640"/>
          </a:xfrm>
          <a:prstGeom prst="rect">
            <a:avLst/>
          </a:prstGeom>
          <a:noFill/>
          <a:ln/>
        </p:spPr>
        <p:txBody>
          <a:bodyPr wrap="square" lIns="0" tIns="0" rIns="0" bIns="0" rtlCol="0" anchor="ctr"/>
          <a:lstStyle/>
          <a:p>
            <a:pPr indent="0" marL="0">
              <a:buNone/>
            </a:pPr>
            <a:r>
              <a:rPr lang="en-US" sz="1500" b="1" dirty="0">
                <a:solidFill>
                  <a:schemeClr val="accent1"/>
                </a:solidFill>
                <a:latin typeface="Ebrima" pitchFamily="34" charset="0"/>
                <a:ea typeface="Ebrima" pitchFamily="34" charset="-122"/>
                <a:cs typeface="Ebrima" pitchFamily="34" charset="-120"/>
              </a:rPr>
              <a:t>ክትትልና ማንቂያ</a:t>
            </a:r>
            <a:endParaRPr lang="en-US" sz="1500" dirty="0"/>
          </a:p>
        </p:txBody>
      </p:sp>
      <p:sp>
        <p:nvSpPr>
          <p:cNvPr id="19" name="Text 14"/>
          <p:cNvSpPr txBox="1"/>
          <p:nvPr/>
        </p:nvSpPr>
        <p:spPr>
          <a:xfrm>
            <a:off x="8275320" y="3063240"/>
            <a:ext cx="3108960" cy="822960"/>
          </a:xfrm>
          <a:prstGeom prst="rect">
            <a:avLst/>
          </a:prstGeom>
          <a:noFill/>
          <a:ln/>
        </p:spPr>
        <p:txBody>
          <a:bodyPr wrap="square" lIns="0" tIns="0" rIns="0" bIns="0" rtlCol="0" anchor="t"/>
          <a:lstStyle/>
          <a:p>
            <a:pPr indent="0" marL="0">
              <a:buNone/>
            </a:pPr>
            <a:r>
              <a:rPr lang="en-US" sz="1300" dirty="0">
                <a:solidFill>
                  <a:schemeClr val="tx1"/>
                </a:solidFill>
                <a:latin typeface="Ebrima" pitchFamily="34" charset="0"/>
                <a:ea typeface="Ebrima" pitchFamily="34" charset="-122"/>
                <a:cs typeface="Ebrima" pitchFamily="34" charset="-120"/>
              </a:rPr>
              <a:t>አገልጋዩ ሲቋረጥ ወይም ሥራ ሲሳካ ለኃላፊዎች ማሳወቅ</a:t>
            </a:r>
            <a:endParaRPr lang="en-US" sz="1300" dirty="0"/>
          </a:p>
        </p:txBody>
      </p:sp>
      <p:sp>
        <p:nvSpPr>
          <p:cNvPr id="20" name="Shape 15"/>
          <p:cNvSpPr/>
          <p:nvPr/>
        </p:nvSpPr>
        <p:spPr>
          <a:xfrm>
            <a:off x="548640" y="4160520"/>
            <a:ext cx="3520440" cy="1874520"/>
          </a:xfrm>
          <a:prstGeom prst="roundRect">
            <a:avLst>
              <a:gd name="adj" fmla="val 5854"/>
            </a:avLst>
          </a:prstGeom>
          <a:solidFill>
            <a:schemeClr val="bg1"/>
          </a:solidFill>
          <a:ln w="12700">
            <a:solidFill>
              <a:srgbClr val="E0C9CE"/>
            </a:solidFill>
            <a:prstDash val="solid"/>
          </a:ln>
        </p:spPr>
      </p:sp>
      <p:sp>
        <p:nvSpPr>
          <p:cNvPr id="21" name="Shape 16"/>
          <p:cNvSpPr/>
          <p:nvPr/>
        </p:nvSpPr>
        <p:spPr>
          <a:xfrm>
            <a:off x="777240" y="4389120"/>
            <a:ext cx="594360" cy="594360"/>
          </a:xfrm>
          <a:prstGeom prst="ellipse">
            <a:avLst/>
          </a:prstGeom>
          <a:solidFill>
            <a:schemeClr val="accent2"/>
          </a:solidFill>
          <a:ln/>
        </p:spPr>
      </p:sp>
      <p:pic>
        <p:nvPicPr>
          <p:cNvPr id="22" name="Image 3" descr="preencoded.png">    </p:cNvPr>
          <p:cNvPicPr>
            <a:picLocks noChangeAspect="1"/>
          </p:cNvPicPr>
          <p:nvPr/>
        </p:nvPicPr>
        <p:blipFill>
          <a:blip r:embed="rId4"/>
          <a:stretch>
            <a:fillRect/>
          </a:stretch>
        </p:blipFill>
        <p:spPr>
          <a:xfrm>
            <a:off x="919886" y="4531766"/>
            <a:ext cx="309067" cy="309067"/>
          </a:xfrm>
          <a:prstGeom prst="rect">
            <a:avLst/>
          </a:prstGeom>
        </p:spPr>
      </p:pic>
      <p:sp>
        <p:nvSpPr>
          <p:cNvPr id="23" name="Text 17"/>
          <p:cNvSpPr txBox="1"/>
          <p:nvPr/>
        </p:nvSpPr>
        <p:spPr>
          <a:xfrm>
            <a:off x="1508760" y="4416552"/>
            <a:ext cx="2423160" cy="548640"/>
          </a:xfrm>
          <a:prstGeom prst="rect">
            <a:avLst/>
          </a:prstGeom>
          <a:noFill/>
          <a:ln/>
        </p:spPr>
        <p:txBody>
          <a:bodyPr wrap="square" lIns="0" tIns="0" rIns="0" bIns="0" rtlCol="0" anchor="ctr"/>
          <a:lstStyle/>
          <a:p>
            <a:pPr indent="0" marL="0">
              <a:buNone/>
            </a:pPr>
            <a:r>
              <a:rPr lang="en-US" sz="1500" b="1" dirty="0">
                <a:solidFill>
                  <a:schemeClr val="accent1"/>
                </a:solidFill>
                <a:latin typeface="Ebrima" pitchFamily="34" charset="0"/>
                <a:ea typeface="Ebrima" pitchFamily="34" charset="-122"/>
                <a:cs typeface="Ebrima" pitchFamily="34" charset="-120"/>
              </a:rPr>
              <a:t>መደበኛ የሥራ መርሐ ግብር</a:t>
            </a:r>
            <a:endParaRPr lang="en-US" sz="1500" dirty="0"/>
          </a:p>
        </p:txBody>
      </p:sp>
      <p:sp>
        <p:nvSpPr>
          <p:cNvPr id="24" name="Text 18"/>
          <p:cNvSpPr txBox="1"/>
          <p:nvPr/>
        </p:nvSpPr>
        <p:spPr>
          <a:xfrm>
            <a:off x="777240" y="5120640"/>
            <a:ext cx="3108960" cy="822960"/>
          </a:xfrm>
          <a:prstGeom prst="rect">
            <a:avLst/>
          </a:prstGeom>
          <a:noFill/>
          <a:ln/>
        </p:spPr>
        <p:txBody>
          <a:bodyPr wrap="square" lIns="0" tIns="0" rIns="0" bIns="0" rtlCol="0" anchor="t"/>
          <a:lstStyle/>
          <a:p>
            <a:pPr indent="0" marL="0">
              <a:buNone/>
            </a:pPr>
            <a:r>
              <a:rPr lang="en-US" sz="1300" dirty="0">
                <a:solidFill>
                  <a:schemeClr val="tx1"/>
                </a:solidFill>
                <a:latin typeface="Ebrima" pitchFamily="34" charset="0"/>
                <a:ea typeface="Ebrima" pitchFamily="34" charset="-122"/>
                <a:cs typeface="Ebrima" pitchFamily="34" charset="-120"/>
              </a:rPr>
              <a:t>አስታዋሾች በትክክለኛው ሰዓት እንዲላኩ (cron)</a:t>
            </a:r>
            <a:endParaRPr lang="en-US" sz="1300" dirty="0"/>
          </a:p>
        </p:txBody>
      </p:sp>
      <p:sp>
        <p:nvSpPr>
          <p:cNvPr id="25" name="Shape 19"/>
          <p:cNvSpPr/>
          <p:nvPr/>
        </p:nvSpPr>
        <p:spPr>
          <a:xfrm>
            <a:off x="4297680" y="4160520"/>
            <a:ext cx="3520440" cy="1874520"/>
          </a:xfrm>
          <a:prstGeom prst="roundRect">
            <a:avLst>
              <a:gd name="adj" fmla="val 5854"/>
            </a:avLst>
          </a:prstGeom>
          <a:solidFill>
            <a:schemeClr val="bg1"/>
          </a:solidFill>
          <a:ln w="12700">
            <a:solidFill>
              <a:srgbClr val="E0C9CE"/>
            </a:solidFill>
            <a:prstDash val="solid"/>
          </a:ln>
        </p:spPr>
      </p:sp>
      <p:sp>
        <p:nvSpPr>
          <p:cNvPr id="26" name="Shape 20"/>
          <p:cNvSpPr/>
          <p:nvPr/>
        </p:nvSpPr>
        <p:spPr>
          <a:xfrm>
            <a:off x="4526280" y="4389120"/>
            <a:ext cx="594360" cy="594360"/>
          </a:xfrm>
          <a:prstGeom prst="ellipse">
            <a:avLst/>
          </a:prstGeom>
          <a:solidFill>
            <a:schemeClr val="accent2"/>
          </a:solidFill>
          <a:ln/>
        </p:spPr>
      </p:sp>
      <p:pic>
        <p:nvPicPr>
          <p:cNvPr id="27" name="Image 4" descr="preencoded.png">    </p:cNvPr>
          <p:cNvPicPr>
            <a:picLocks noChangeAspect="1"/>
          </p:cNvPicPr>
          <p:nvPr/>
        </p:nvPicPr>
        <p:blipFill>
          <a:blip r:embed="rId5"/>
          <a:stretch>
            <a:fillRect/>
          </a:stretch>
        </p:blipFill>
        <p:spPr>
          <a:xfrm>
            <a:off x="4668926" y="4531766"/>
            <a:ext cx="309067" cy="309067"/>
          </a:xfrm>
          <a:prstGeom prst="rect">
            <a:avLst/>
          </a:prstGeom>
        </p:spPr>
      </p:pic>
      <p:sp>
        <p:nvSpPr>
          <p:cNvPr id="28" name="Text 21"/>
          <p:cNvSpPr txBox="1"/>
          <p:nvPr/>
        </p:nvSpPr>
        <p:spPr>
          <a:xfrm>
            <a:off x="5257800" y="4416552"/>
            <a:ext cx="2423160" cy="548640"/>
          </a:xfrm>
          <a:prstGeom prst="rect">
            <a:avLst/>
          </a:prstGeom>
          <a:noFill/>
          <a:ln/>
        </p:spPr>
        <p:txBody>
          <a:bodyPr wrap="square" lIns="0" tIns="0" rIns="0" bIns="0" rtlCol="0" anchor="ctr"/>
          <a:lstStyle/>
          <a:p>
            <a:pPr indent="0" marL="0">
              <a:buNone/>
            </a:pPr>
            <a:r>
              <a:rPr lang="en-US" sz="1500" b="1" dirty="0">
                <a:solidFill>
                  <a:schemeClr val="accent1"/>
                </a:solidFill>
                <a:latin typeface="Ebrima" pitchFamily="34" charset="0"/>
                <a:ea typeface="Ebrima" pitchFamily="34" charset="-122"/>
                <a:cs typeface="Ebrima" pitchFamily="34" charset="-120"/>
              </a:rPr>
              <a:t>የኦንላይን ክፍያ አማራጭ</a:t>
            </a:r>
            <a:endParaRPr lang="en-US" sz="1500" dirty="0"/>
          </a:p>
        </p:txBody>
      </p:sp>
      <p:sp>
        <p:nvSpPr>
          <p:cNvPr id="29" name="Text 22"/>
          <p:cNvSpPr txBox="1"/>
          <p:nvPr/>
        </p:nvSpPr>
        <p:spPr>
          <a:xfrm>
            <a:off x="4526280" y="5120640"/>
            <a:ext cx="3108960" cy="822960"/>
          </a:xfrm>
          <a:prstGeom prst="rect">
            <a:avLst/>
          </a:prstGeom>
          <a:noFill/>
          <a:ln/>
        </p:spPr>
        <p:txBody>
          <a:bodyPr wrap="square" lIns="0" tIns="0" rIns="0" bIns="0" rtlCol="0" anchor="t"/>
          <a:lstStyle/>
          <a:p>
            <a:pPr indent="0" marL="0">
              <a:buNone/>
            </a:pPr>
            <a:r>
              <a:rPr lang="en-US" sz="1300" dirty="0">
                <a:solidFill>
                  <a:schemeClr val="tx1"/>
                </a:solidFill>
                <a:latin typeface="Ebrima" pitchFamily="34" charset="0"/>
                <a:ea typeface="Ebrima" pitchFamily="34" charset="-122"/>
                <a:cs typeface="Ebrima" pitchFamily="34" charset="-120"/>
              </a:rPr>
              <a:t>ለውይይት — የአመራሩን ውሳኔ የሚጠይቅ</a:t>
            </a:r>
            <a:endParaRPr lang="en-US" sz="1300" dirty="0"/>
          </a:p>
        </p:txBody>
      </p:sp>
      <p:sp>
        <p:nvSpPr>
          <p:cNvPr id="30" name="Shape 23"/>
          <p:cNvSpPr/>
          <p:nvPr/>
        </p:nvSpPr>
        <p:spPr>
          <a:xfrm>
            <a:off x="8046720" y="4160520"/>
            <a:ext cx="3520440" cy="1874520"/>
          </a:xfrm>
          <a:prstGeom prst="roundRect">
            <a:avLst>
              <a:gd name="adj" fmla="val 5854"/>
            </a:avLst>
          </a:prstGeom>
          <a:solidFill>
            <a:schemeClr val="bg1"/>
          </a:solidFill>
          <a:ln w="12700">
            <a:solidFill>
              <a:srgbClr val="E0C9CE"/>
            </a:solidFill>
            <a:prstDash val="solid"/>
          </a:ln>
        </p:spPr>
      </p:sp>
      <p:sp>
        <p:nvSpPr>
          <p:cNvPr id="31" name="Shape 24"/>
          <p:cNvSpPr/>
          <p:nvPr/>
        </p:nvSpPr>
        <p:spPr>
          <a:xfrm>
            <a:off x="8275320" y="4389120"/>
            <a:ext cx="594360" cy="594360"/>
          </a:xfrm>
          <a:prstGeom prst="ellipse">
            <a:avLst/>
          </a:prstGeom>
          <a:solidFill>
            <a:schemeClr val="accent2"/>
          </a:solidFill>
          <a:ln/>
        </p:spPr>
      </p:sp>
      <p:pic>
        <p:nvPicPr>
          <p:cNvPr id="32" name="Image 5" descr="preencoded.png">    </p:cNvPr>
          <p:cNvPicPr>
            <a:picLocks noChangeAspect="1"/>
          </p:cNvPicPr>
          <p:nvPr/>
        </p:nvPicPr>
        <p:blipFill>
          <a:blip r:embed="rId6"/>
          <a:stretch>
            <a:fillRect/>
          </a:stretch>
        </p:blipFill>
        <p:spPr>
          <a:xfrm>
            <a:off x="8417966" y="4531766"/>
            <a:ext cx="309067" cy="309067"/>
          </a:xfrm>
          <a:prstGeom prst="rect">
            <a:avLst/>
          </a:prstGeom>
        </p:spPr>
      </p:pic>
      <p:sp>
        <p:nvSpPr>
          <p:cNvPr id="33" name="Text 25"/>
          <p:cNvSpPr txBox="1"/>
          <p:nvPr/>
        </p:nvSpPr>
        <p:spPr>
          <a:xfrm>
            <a:off x="9006840" y="4416552"/>
            <a:ext cx="2423160" cy="548640"/>
          </a:xfrm>
          <a:prstGeom prst="rect">
            <a:avLst/>
          </a:prstGeom>
          <a:noFill/>
          <a:ln/>
        </p:spPr>
        <p:txBody>
          <a:bodyPr wrap="square" lIns="0" tIns="0" rIns="0" bIns="0" rtlCol="0" anchor="ctr"/>
          <a:lstStyle/>
          <a:p>
            <a:pPr indent="0" marL="0">
              <a:buNone/>
            </a:pPr>
            <a:r>
              <a:rPr lang="en-US" sz="1500" b="1" dirty="0">
                <a:solidFill>
                  <a:schemeClr val="accent1"/>
                </a:solidFill>
                <a:latin typeface="Ebrima" pitchFamily="34" charset="0"/>
                <a:ea typeface="Ebrima" pitchFamily="34" charset="-122"/>
                <a:cs typeface="Ebrima" pitchFamily="34" charset="-120"/>
              </a:rPr>
              <a:t>ራስ-ሰር የጥራት ፍተሻ</a:t>
            </a:r>
            <a:endParaRPr lang="en-US" sz="1500" dirty="0"/>
          </a:p>
        </p:txBody>
      </p:sp>
      <p:sp>
        <p:nvSpPr>
          <p:cNvPr id="34" name="Text 26"/>
          <p:cNvSpPr txBox="1"/>
          <p:nvPr/>
        </p:nvSpPr>
        <p:spPr>
          <a:xfrm>
            <a:off x="8275320" y="5120640"/>
            <a:ext cx="3108960" cy="822960"/>
          </a:xfrm>
          <a:prstGeom prst="rect">
            <a:avLst/>
          </a:prstGeom>
          <a:noFill/>
          <a:ln/>
        </p:spPr>
        <p:txBody>
          <a:bodyPr wrap="square" lIns="0" tIns="0" rIns="0" bIns="0" rtlCol="0" anchor="t"/>
          <a:lstStyle/>
          <a:p>
            <a:pPr indent="0" marL="0">
              <a:buNone/>
            </a:pPr>
            <a:r>
              <a:rPr lang="en-US" sz="1300" dirty="0">
                <a:solidFill>
                  <a:schemeClr val="tx1"/>
                </a:solidFill>
                <a:latin typeface="Ebrima" pitchFamily="34" charset="0"/>
                <a:ea typeface="Ebrima" pitchFamily="34" charset="-122"/>
                <a:cs typeface="Ebrima" pitchFamily="34" charset="-120"/>
              </a:rPr>
              <a:t>እያንዳንዱ ለውጥ ከመለቀቁ በፊት በራሱ እንዲሞከር</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Ebrima"/>
                <a:ea typeface="Ebrima"/>
                <a:cs typeface="Ebrima"/>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0241280" cy="777240"/>
          </a:xfrm>
          <a:prstGeom prst="rect">
            <a:avLst/>
          </a:prstGeom>
          <a:noFill/>
          <a:ln/>
        </p:spPr>
        <p:txBody>
          <a:bodyPr wrap="square" lIns="0" tIns="0" rIns="0" bIns="0" rtlCol="0" anchor="ctr"/>
          <a:lstStyle/>
          <a:p>
            <a:pPr algn="l" indent="0" marL="0">
              <a:buNone/>
            </a:pPr>
            <a:r>
              <a:rPr lang="en-US" sz="3400" dirty="0">
                <a:solidFill>
                  <a:schemeClr val="accent1"/>
                </a:solidFill>
                <a:latin typeface="Nyala" pitchFamily="34" charset="0"/>
                <a:ea typeface="Nyala" pitchFamily="34" charset="-122"/>
                <a:cs typeface="Nyala" pitchFamily="34" charset="-120"/>
              </a:rPr>
              <a:t>ማጠቃለያና ቀጣይ እርምጃዎች</a:t>
            </a:r>
            <a:endParaRPr lang="en-US" sz="3400" dirty="0"/>
          </a:p>
        </p:txBody>
      </p:sp>
      <p:sp>
        <p:nvSpPr>
          <p:cNvPr id="3" name="Shape 1"/>
          <p:cNvSpPr/>
          <p:nvPr/>
        </p:nvSpPr>
        <p:spPr>
          <a:xfrm>
            <a:off x="548640" y="1325880"/>
            <a:ext cx="5394960" cy="4846320"/>
          </a:xfrm>
          <a:prstGeom prst="roundRect">
            <a:avLst>
              <a:gd name="adj" fmla="val 2264"/>
            </a:avLst>
          </a:prstGeom>
          <a:solidFill>
            <a:schemeClr val="accent1"/>
          </a:solidFill>
          <a:ln/>
        </p:spPr>
      </p:sp>
      <p:sp>
        <p:nvSpPr>
          <p:cNvPr id="4" name="Text 2"/>
          <p:cNvSpPr txBox="1"/>
          <p:nvPr/>
        </p:nvSpPr>
        <p:spPr>
          <a:xfrm>
            <a:off x="822960" y="1463040"/>
            <a:ext cx="4846320" cy="457200"/>
          </a:xfrm>
          <a:prstGeom prst="rect">
            <a:avLst/>
          </a:prstGeom>
          <a:noFill/>
          <a:ln/>
        </p:spPr>
        <p:txBody>
          <a:bodyPr wrap="square" lIns="0" tIns="0" rIns="0" bIns="0" rtlCol="0" anchor="t"/>
          <a:lstStyle/>
          <a:p>
            <a:pPr indent="0" marL="0">
              <a:buNone/>
            </a:pPr>
            <a:r>
              <a:rPr lang="en-US" sz="1900" b="1" dirty="0">
                <a:solidFill>
                  <a:schemeClr val="accent2"/>
                </a:solidFill>
                <a:latin typeface="Ebrima" pitchFamily="34" charset="0"/>
                <a:ea typeface="Ebrima" pitchFamily="34" charset="-122"/>
                <a:cs typeface="Ebrima" pitchFamily="34" charset="-120"/>
              </a:rPr>
              <a:t>ማጠቃለያ</a:t>
            </a:r>
            <a:endParaRPr lang="en-US" sz="1900" dirty="0"/>
          </a:p>
        </p:txBody>
      </p:sp>
      <p:sp>
        <p:nvSpPr>
          <p:cNvPr id="5" name="Text 3"/>
          <p:cNvSpPr txBox="1"/>
          <p:nvPr/>
        </p:nvSpPr>
        <p:spPr>
          <a:xfrm>
            <a:off x="822960" y="2057400"/>
            <a:ext cx="4892040" cy="3931920"/>
          </a:xfrm>
          <a:prstGeom prst="rect">
            <a:avLst/>
          </a:prstGeom>
          <a:noFill/>
          <a:ln/>
        </p:spPr>
        <p:txBody>
          <a:bodyPr wrap="square" lIns="0" tIns="0" rIns="0" bIns="0" rtlCol="0" anchor="t"/>
          <a:lstStyle/>
          <a:p>
            <a:pPr marL="342900" indent="-342900">
              <a:spcAft>
                <a:spcPts val="1200"/>
              </a:spcAft>
              <a:buSzPct val="100000"/>
              <a:buChar char="●"/>
            </a:pPr>
            <a:r>
              <a:rPr lang="en-US" sz="1550" dirty="0">
                <a:solidFill>
                  <a:schemeClr val="bg1"/>
                </a:solidFill>
                <a:latin typeface="Ebrima" pitchFamily="34" charset="0"/>
                <a:ea typeface="Ebrima" pitchFamily="34" charset="-122"/>
                <a:cs typeface="Ebrima" pitchFamily="34" charset="-120"/>
              </a:rPr>
              <a:t>መሠረተ ሕይወት የሰንበት ትምህርት ቤቱን ዋና ዋና ሥራዎች በአንድ መተግበሪያ ያገናኛል</a:t>
            </a:r>
            <a:endParaRPr lang="en-US" sz="1550" dirty="0"/>
          </a:p>
          <a:p>
            <a:pPr marL="342900" indent="-342900">
              <a:spcAft>
                <a:spcPts val="1200"/>
              </a:spcAft>
              <a:buSzPct val="100000"/>
              <a:buChar char="●"/>
            </a:pPr>
            <a:r>
              <a:rPr lang="en-US" sz="1550" dirty="0">
                <a:solidFill>
                  <a:schemeClr val="bg1"/>
                </a:solidFill>
                <a:latin typeface="Ebrima" pitchFamily="34" charset="0"/>
                <a:ea typeface="Ebrima" pitchFamily="34" charset="-122"/>
                <a:cs typeface="Ebrima" pitchFamily="34" charset="-120"/>
              </a:rPr>
              <a:t>መገኘት፣ ውጤትና ምርጫ ግልጽና ተጠያቂነት ባለው መንገድ ይሠራሉ</a:t>
            </a:r>
            <a:endParaRPr lang="en-US" sz="1550" dirty="0"/>
          </a:p>
          <a:p>
            <a:pPr marL="342900" indent="-342900">
              <a:spcAft>
                <a:spcPts val="1200"/>
              </a:spcAft>
              <a:buSzPct val="100000"/>
              <a:buChar char="●"/>
            </a:pPr>
            <a:r>
              <a:rPr lang="en-US" sz="1550" dirty="0">
                <a:solidFill>
                  <a:schemeClr val="bg1"/>
                </a:solidFill>
                <a:latin typeface="Ebrima" pitchFamily="34" charset="0"/>
                <a:ea typeface="Ebrima" pitchFamily="34" charset="-122"/>
                <a:cs typeface="Ebrima" pitchFamily="34" charset="-120"/>
              </a:rPr>
              <a:t>የአባላት መረጃ በጥንቃቄ ይጠበቃል</a:t>
            </a:r>
            <a:endParaRPr lang="en-US" sz="1550" dirty="0"/>
          </a:p>
          <a:p>
            <a:pPr marL="342900" indent="-342900">
              <a:spcAft>
                <a:spcPts val="1200"/>
              </a:spcAft>
              <a:buSzPct val="100000"/>
              <a:buChar char="●"/>
            </a:pPr>
            <a:r>
              <a:rPr lang="en-US" sz="1550" dirty="0">
                <a:solidFill>
                  <a:schemeClr val="bg1"/>
                </a:solidFill>
                <a:latin typeface="Ebrima" pitchFamily="34" charset="0"/>
                <a:ea typeface="Ebrima" pitchFamily="34" charset="-122"/>
                <a:cs typeface="Ebrima" pitchFamily="34" charset="-120"/>
              </a:rPr>
              <a:t>አብዛኞቹ ባሕሪያት ዛሬ እየሠሩ ናቸው፤ ቀሪዎቹ በግልጽ ዕቅድ ላይ ናቸው</a:t>
            </a:r>
            <a:endParaRPr lang="en-US" sz="1550" dirty="0"/>
          </a:p>
        </p:txBody>
      </p:sp>
      <p:sp>
        <p:nvSpPr>
          <p:cNvPr id="6" name="Text 4"/>
          <p:cNvSpPr txBox="1"/>
          <p:nvPr/>
        </p:nvSpPr>
        <p:spPr>
          <a:xfrm>
            <a:off x="6355080" y="1325880"/>
            <a:ext cx="5303520" cy="457200"/>
          </a:xfrm>
          <a:prstGeom prst="rect">
            <a:avLst/>
          </a:prstGeom>
          <a:noFill/>
          <a:ln/>
        </p:spPr>
        <p:txBody>
          <a:bodyPr wrap="square" lIns="0" tIns="0" rIns="0" bIns="0" rtlCol="0" anchor="t"/>
          <a:lstStyle/>
          <a:p>
            <a:pPr indent="0" marL="0">
              <a:buNone/>
            </a:pPr>
            <a:r>
              <a:rPr lang="en-US" sz="1900" b="1" dirty="0">
                <a:solidFill>
                  <a:schemeClr val="accent1"/>
                </a:solidFill>
                <a:latin typeface="Ebrima" pitchFamily="34" charset="0"/>
                <a:ea typeface="Ebrima" pitchFamily="34" charset="-122"/>
                <a:cs typeface="Ebrima" pitchFamily="34" charset="-120"/>
              </a:rPr>
              <a:t>ቀጣይ እርምጃዎች</a:t>
            </a:r>
            <a:endParaRPr lang="en-US" sz="1900" dirty="0"/>
          </a:p>
        </p:txBody>
      </p:sp>
      <p:sp>
        <p:nvSpPr>
          <p:cNvPr id="7" name="Shape 5"/>
          <p:cNvSpPr/>
          <p:nvPr/>
        </p:nvSpPr>
        <p:spPr>
          <a:xfrm>
            <a:off x="6355080" y="1920240"/>
            <a:ext cx="566928" cy="566928"/>
          </a:xfrm>
          <a:prstGeom prst="ellipse">
            <a:avLst/>
          </a:prstGeom>
          <a:solidFill>
            <a:schemeClr val="accent2"/>
          </a:solidFill>
          <a:ln/>
        </p:spPr>
      </p:sp>
      <p:sp>
        <p:nvSpPr>
          <p:cNvPr id="8" name="Text 6"/>
          <p:cNvSpPr txBox="1"/>
          <p:nvPr/>
        </p:nvSpPr>
        <p:spPr>
          <a:xfrm>
            <a:off x="6355080" y="1920240"/>
            <a:ext cx="566928" cy="566928"/>
          </a:xfrm>
          <a:prstGeom prst="rect">
            <a:avLst/>
          </a:prstGeom>
          <a:noFill/>
          <a:ln/>
        </p:spPr>
        <p:txBody>
          <a:bodyPr wrap="square" lIns="0" tIns="0" rIns="0" bIns="0" rtlCol="0" anchor="ctr"/>
          <a:lstStyle/>
          <a:p>
            <a:pPr algn="ctr" indent="0" marL="0">
              <a:buNone/>
            </a:pPr>
            <a:r>
              <a:rPr lang="en-US" sz="1600" b="1" dirty="0">
                <a:solidFill>
                  <a:schemeClr val="bg1"/>
                </a:solidFill>
                <a:latin typeface="Ebrima" pitchFamily="34" charset="0"/>
                <a:ea typeface="Ebrima" pitchFamily="34" charset="-122"/>
                <a:cs typeface="Ebrima" pitchFamily="34" charset="-120"/>
              </a:rPr>
              <a:t>1</a:t>
            </a:r>
            <a:endParaRPr lang="en-US" sz="1600" dirty="0"/>
          </a:p>
        </p:txBody>
      </p:sp>
      <p:sp>
        <p:nvSpPr>
          <p:cNvPr id="9" name="Text 7"/>
          <p:cNvSpPr txBox="1"/>
          <p:nvPr/>
        </p:nvSpPr>
        <p:spPr>
          <a:xfrm>
            <a:off x="7086600" y="1920240"/>
            <a:ext cx="4572000" cy="566928"/>
          </a:xfrm>
          <a:prstGeom prst="rect">
            <a:avLst/>
          </a:prstGeom>
          <a:noFill/>
          <a:ln/>
        </p:spPr>
        <p:txBody>
          <a:bodyPr wrap="square" lIns="0" tIns="0" rIns="0" bIns="0" rtlCol="0" anchor="ctr"/>
          <a:lstStyle/>
          <a:p>
            <a:pPr indent="0" marL="0">
              <a:buNone/>
            </a:pPr>
            <a:r>
              <a:rPr lang="en-US" sz="1500" dirty="0">
                <a:solidFill>
                  <a:schemeClr val="tx1"/>
                </a:solidFill>
                <a:latin typeface="Ebrima" pitchFamily="34" charset="0"/>
                <a:ea typeface="Ebrima" pitchFamily="34" charset="-122"/>
                <a:cs typeface="Ebrima" pitchFamily="34" charset="-120"/>
              </a:rPr>
              <a:t>ያልተለቀቁ ማሻሻያዎችን መሞከርና መልቀቅ</a:t>
            </a:r>
            <a:endParaRPr lang="en-US" sz="1500" dirty="0"/>
          </a:p>
        </p:txBody>
      </p:sp>
      <p:sp>
        <p:nvSpPr>
          <p:cNvPr id="10" name="Shape 8"/>
          <p:cNvSpPr/>
          <p:nvPr/>
        </p:nvSpPr>
        <p:spPr>
          <a:xfrm>
            <a:off x="6355080" y="2761488"/>
            <a:ext cx="566928" cy="566928"/>
          </a:xfrm>
          <a:prstGeom prst="ellipse">
            <a:avLst/>
          </a:prstGeom>
          <a:solidFill>
            <a:schemeClr val="accent2"/>
          </a:solidFill>
          <a:ln/>
        </p:spPr>
      </p:sp>
      <p:sp>
        <p:nvSpPr>
          <p:cNvPr id="11" name="Text 9"/>
          <p:cNvSpPr txBox="1"/>
          <p:nvPr/>
        </p:nvSpPr>
        <p:spPr>
          <a:xfrm>
            <a:off x="6355080" y="2761488"/>
            <a:ext cx="566928" cy="566928"/>
          </a:xfrm>
          <a:prstGeom prst="rect">
            <a:avLst/>
          </a:prstGeom>
          <a:noFill/>
          <a:ln/>
        </p:spPr>
        <p:txBody>
          <a:bodyPr wrap="square" lIns="0" tIns="0" rIns="0" bIns="0" rtlCol="0" anchor="ctr"/>
          <a:lstStyle/>
          <a:p>
            <a:pPr algn="ctr" indent="0" marL="0">
              <a:buNone/>
            </a:pPr>
            <a:r>
              <a:rPr lang="en-US" sz="1600" b="1" dirty="0">
                <a:solidFill>
                  <a:schemeClr val="bg1"/>
                </a:solidFill>
                <a:latin typeface="Ebrima" pitchFamily="34" charset="0"/>
                <a:ea typeface="Ebrima" pitchFamily="34" charset="-122"/>
                <a:cs typeface="Ebrima" pitchFamily="34" charset="-120"/>
              </a:rPr>
              <a:t>2</a:t>
            </a:r>
            <a:endParaRPr lang="en-US" sz="1600" dirty="0"/>
          </a:p>
        </p:txBody>
      </p:sp>
      <p:sp>
        <p:nvSpPr>
          <p:cNvPr id="12" name="Text 10"/>
          <p:cNvSpPr txBox="1"/>
          <p:nvPr/>
        </p:nvSpPr>
        <p:spPr>
          <a:xfrm>
            <a:off x="7086600" y="2761488"/>
            <a:ext cx="4572000" cy="566928"/>
          </a:xfrm>
          <a:prstGeom prst="rect">
            <a:avLst/>
          </a:prstGeom>
          <a:noFill/>
          <a:ln/>
        </p:spPr>
        <p:txBody>
          <a:bodyPr wrap="square" lIns="0" tIns="0" rIns="0" bIns="0" rtlCol="0" anchor="ctr"/>
          <a:lstStyle/>
          <a:p>
            <a:pPr indent="0" marL="0">
              <a:buNone/>
            </a:pPr>
            <a:r>
              <a:rPr lang="en-US" sz="1500" dirty="0">
                <a:solidFill>
                  <a:schemeClr val="tx1"/>
                </a:solidFill>
                <a:latin typeface="Ebrima" pitchFamily="34" charset="0"/>
                <a:ea typeface="Ebrima" pitchFamily="34" charset="-122"/>
                <a:cs typeface="Ebrima" pitchFamily="34" charset="-120"/>
              </a:rPr>
              <a:t>የሚጠበቁ የአመራር ውሳኔዎችን መስጠት</a:t>
            </a:r>
            <a:endParaRPr lang="en-US" sz="1500" dirty="0"/>
          </a:p>
        </p:txBody>
      </p:sp>
      <p:sp>
        <p:nvSpPr>
          <p:cNvPr id="13" name="Shape 11"/>
          <p:cNvSpPr/>
          <p:nvPr/>
        </p:nvSpPr>
        <p:spPr>
          <a:xfrm>
            <a:off x="6355080" y="3602736"/>
            <a:ext cx="566928" cy="566928"/>
          </a:xfrm>
          <a:prstGeom prst="ellipse">
            <a:avLst/>
          </a:prstGeom>
          <a:solidFill>
            <a:schemeClr val="accent2"/>
          </a:solidFill>
          <a:ln/>
        </p:spPr>
      </p:sp>
      <p:sp>
        <p:nvSpPr>
          <p:cNvPr id="14" name="Text 12"/>
          <p:cNvSpPr txBox="1"/>
          <p:nvPr/>
        </p:nvSpPr>
        <p:spPr>
          <a:xfrm>
            <a:off x="6355080" y="3602736"/>
            <a:ext cx="566928" cy="566928"/>
          </a:xfrm>
          <a:prstGeom prst="rect">
            <a:avLst/>
          </a:prstGeom>
          <a:noFill/>
          <a:ln/>
        </p:spPr>
        <p:txBody>
          <a:bodyPr wrap="square" lIns="0" tIns="0" rIns="0" bIns="0" rtlCol="0" anchor="ctr"/>
          <a:lstStyle/>
          <a:p>
            <a:pPr algn="ctr" indent="0" marL="0">
              <a:buNone/>
            </a:pPr>
            <a:r>
              <a:rPr lang="en-US" sz="1600" b="1" dirty="0">
                <a:solidFill>
                  <a:schemeClr val="bg1"/>
                </a:solidFill>
                <a:latin typeface="Ebrima" pitchFamily="34" charset="0"/>
                <a:ea typeface="Ebrima" pitchFamily="34" charset="-122"/>
                <a:cs typeface="Ebrima" pitchFamily="34" charset="-120"/>
              </a:rPr>
              <a:t>3</a:t>
            </a:r>
            <a:endParaRPr lang="en-US" sz="1600" dirty="0"/>
          </a:p>
        </p:txBody>
      </p:sp>
      <p:sp>
        <p:nvSpPr>
          <p:cNvPr id="15" name="Text 13"/>
          <p:cNvSpPr txBox="1"/>
          <p:nvPr/>
        </p:nvSpPr>
        <p:spPr>
          <a:xfrm>
            <a:off x="7086600" y="3602736"/>
            <a:ext cx="4572000" cy="566928"/>
          </a:xfrm>
          <a:prstGeom prst="rect">
            <a:avLst/>
          </a:prstGeom>
          <a:noFill/>
          <a:ln/>
        </p:spPr>
        <p:txBody>
          <a:bodyPr wrap="square" lIns="0" tIns="0" rIns="0" bIns="0" rtlCol="0" anchor="ctr"/>
          <a:lstStyle/>
          <a:p>
            <a:pPr indent="0" marL="0">
              <a:buNone/>
            </a:pPr>
            <a:r>
              <a:rPr lang="en-US" sz="1500" dirty="0">
                <a:solidFill>
                  <a:schemeClr val="tx1"/>
                </a:solidFill>
                <a:latin typeface="Ebrima" pitchFamily="34" charset="0"/>
                <a:ea typeface="Ebrima" pitchFamily="34" charset="-122"/>
                <a:cs typeface="Ebrima" pitchFamily="34" charset="-120"/>
              </a:rPr>
              <a:t>የአገልጋይ የይለፍ ቃሎችን መቀየርና ደህንነትን ማጠናከር</a:t>
            </a:r>
            <a:endParaRPr lang="en-US" sz="1500" dirty="0"/>
          </a:p>
        </p:txBody>
      </p:sp>
      <p:sp>
        <p:nvSpPr>
          <p:cNvPr id="16" name="Shape 14"/>
          <p:cNvSpPr/>
          <p:nvPr/>
        </p:nvSpPr>
        <p:spPr>
          <a:xfrm>
            <a:off x="6355080" y="4443984"/>
            <a:ext cx="566928" cy="566928"/>
          </a:xfrm>
          <a:prstGeom prst="ellipse">
            <a:avLst/>
          </a:prstGeom>
          <a:solidFill>
            <a:schemeClr val="accent2"/>
          </a:solidFill>
          <a:ln/>
        </p:spPr>
      </p:sp>
      <p:sp>
        <p:nvSpPr>
          <p:cNvPr id="17" name="Text 15"/>
          <p:cNvSpPr txBox="1"/>
          <p:nvPr/>
        </p:nvSpPr>
        <p:spPr>
          <a:xfrm>
            <a:off x="6355080" y="4443984"/>
            <a:ext cx="566928" cy="566928"/>
          </a:xfrm>
          <a:prstGeom prst="rect">
            <a:avLst/>
          </a:prstGeom>
          <a:noFill/>
          <a:ln/>
        </p:spPr>
        <p:txBody>
          <a:bodyPr wrap="square" lIns="0" tIns="0" rIns="0" bIns="0" rtlCol="0" anchor="ctr"/>
          <a:lstStyle/>
          <a:p>
            <a:pPr algn="ctr" indent="0" marL="0">
              <a:buNone/>
            </a:pPr>
            <a:r>
              <a:rPr lang="en-US" sz="1600" b="1" dirty="0">
                <a:solidFill>
                  <a:schemeClr val="bg1"/>
                </a:solidFill>
                <a:latin typeface="Ebrima" pitchFamily="34" charset="0"/>
                <a:ea typeface="Ebrima" pitchFamily="34" charset="-122"/>
                <a:cs typeface="Ebrima" pitchFamily="34" charset="-120"/>
              </a:rPr>
              <a:t>4</a:t>
            </a:r>
            <a:endParaRPr lang="en-US" sz="1600" dirty="0"/>
          </a:p>
        </p:txBody>
      </p:sp>
      <p:sp>
        <p:nvSpPr>
          <p:cNvPr id="18" name="Text 16"/>
          <p:cNvSpPr txBox="1"/>
          <p:nvPr/>
        </p:nvSpPr>
        <p:spPr>
          <a:xfrm>
            <a:off x="7086600" y="4443984"/>
            <a:ext cx="4572000" cy="566928"/>
          </a:xfrm>
          <a:prstGeom prst="rect">
            <a:avLst/>
          </a:prstGeom>
          <a:noFill/>
          <a:ln/>
        </p:spPr>
        <p:txBody>
          <a:bodyPr wrap="square" lIns="0" tIns="0" rIns="0" bIns="0" rtlCol="0" anchor="ctr"/>
          <a:lstStyle/>
          <a:p>
            <a:pPr indent="0" marL="0">
              <a:buNone/>
            </a:pPr>
            <a:r>
              <a:rPr lang="en-US" sz="1500" dirty="0">
                <a:solidFill>
                  <a:schemeClr val="tx1"/>
                </a:solidFill>
                <a:latin typeface="Ebrima" pitchFamily="34" charset="0"/>
                <a:ea typeface="Ebrima" pitchFamily="34" charset="-122"/>
                <a:cs typeface="Ebrima" pitchFamily="34" charset="-120"/>
              </a:rPr>
              <a:t>አባላት መተግበሪያውን እንዲጭኑ ማበረታታት</a:t>
            </a:r>
            <a:endParaRPr lang="en-US" sz="1500" dirty="0"/>
          </a:p>
        </p:txBody>
      </p:sp>
      <p:sp>
        <p:nvSpPr>
          <p:cNvPr id="19" name="Shape 17"/>
          <p:cNvSpPr/>
          <p:nvPr/>
        </p:nvSpPr>
        <p:spPr>
          <a:xfrm>
            <a:off x="6355080" y="5285232"/>
            <a:ext cx="566928" cy="566928"/>
          </a:xfrm>
          <a:prstGeom prst="ellipse">
            <a:avLst/>
          </a:prstGeom>
          <a:solidFill>
            <a:schemeClr val="accent2"/>
          </a:solidFill>
          <a:ln/>
        </p:spPr>
      </p:sp>
      <p:sp>
        <p:nvSpPr>
          <p:cNvPr id="20" name="Text 18"/>
          <p:cNvSpPr txBox="1"/>
          <p:nvPr/>
        </p:nvSpPr>
        <p:spPr>
          <a:xfrm>
            <a:off x="6355080" y="5285232"/>
            <a:ext cx="566928" cy="566928"/>
          </a:xfrm>
          <a:prstGeom prst="rect">
            <a:avLst/>
          </a:prstGeom>
          <a:noFill/>
          <a:ln/>
        </p:spPr>
        <p:txBody>
          <a:bodyPr wrap="square" lIns="0" tIns="0" rIns="0" bIns="0" rtlCol="0" anchor="ctr"/>
          <a:lstStyle/>
          <a:p>
            <a:pPr algn="ctr" indent="0" marL="0">
              <a:buNone/>
            </a:pPr>
            <a:r>
              <a:rPr lang="en-US" sz="1600" b="1" dirty="0">
                <a:solidFill>
                  <a:schemeClr val="bg1"/>
                </a:solidFill>
                <a:latin typeface="Ebrima" pitchFamily="34" charset="0"/>
                <a:ea typeface="Ebrima" pitchFamily="34" charset="-122"/>
                <a:cs typeface="Ebrima" pitchFamily="34" charset="-120"/>
              </a:rPr>
              <a:t>5</a:t>
            </a:r>
            <a:endParaRPr lang="en-US" sz="1600" dirty="0"/>
          </a:p>
        </p:txBody>
      </p:sp>
      <p:sp>
        <p:nvSpPr>
          <p:cNvPr id="21" name="Text 19"/>
          <p:cNvSpPr txBox="1"/>
          <p:nvPr/>
        </p:nvSpPr>
        <p:spPr>
          <a:xfrm>
            <a:off x="7086600" y="5285232"/>
            <a:ext cx="4572000" cy="566928"/>
          </a:xfrm>
          <a:prstGeom prst="rect">
            <a:avLst/>
          </a:prstGeom>
          <a:noFill/>
          <a:ln/>
        </p:spPr>
        <p:txBody>
          <a:bodyPr wrap="square" lIns="0" tIns="0" rIns="0" bIns="0" rtlCol="0" anchor="ctr"/>
          <a:lstStyle/>
          <a:p>
            <a:pPr indent="0" marL="0">
              <a:buNone/>
            </a:pPr>
            <a:r>
              <a:rPr lang="en-US" sz="1500" dirty="0">
                <a:solidFill>
                  <a:schemeClr val="tx1"/>
                </a:solidFill>
                <a:latin typeface="Ebrima" pitchFamily="34" charset="0"/>
                <a:ea typeface="Ebrima" pitchFamily="34" charset="-122"/>
                <a:cs typeface="Ebrima" pitchFamily="34" charset="-120"/>
              </a:rPr>
              <a:t>ለአስተዳዳሪዎች፣ ለመምህራንና ለመዝጋቢዎች ሥልጠና መስጠት</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Ebrima"/>
                <a:ea typeface="Ebrima"/>
                <a:cs typeface="Ebrima"/>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4727448" y="685800"/>
            <a:ext cx="2743200" cy="2743200"/>
          </a:xfrm>
          <a:prstGeom prst="ellipse">
            <a:avLst/>
          </a:prstGeom>
          <a:solidFill>
            <a:schemeClr val="accent6"/>
          </a:solidFill>
          <a:ln w="25400">
            <a:solidFill>
              <a:schemeClr val="accent2"/>
            </a:solidFill>
            <a:prstDash val="solid"/>
          </a:ln>
        </p:spPr>
      </p:sp>
      <p:pic>
        <p:nvPicPr>
          <p:cNvPr id="3" name="Image 0" descr="C:\Users\HP\Documents\MH-app-1.5.3\mobile\mobile\assets\images\logo.jpg">    </p:cNvPr>
          <p:cNvPicPr>
            <a:picLocks noChangeAspect="1"/>
          </p:cNvPicPr>
          <p:nvPr/>
        </p:nvPicPr>
        <p:blipFill>
          <a:blip r:embed="rId1"/>
          <a:stretch>
            <a:fillRect/>
          </a:stretch>
        </p:blipFill>
        <p:spPr>
          <a:xfrm>
            <a:off x="4910328" y="868680"/>
            <a:ext cx="2377440" cy="2377440"/>
          </a:xfrm>
          <a:prstGeom prst="ellipse">
            <a:avLst/>
          </a:prstGeom>
        </p:spPr>
      </p:pic>
      <p:sp>
        <p:nvSpPr>
          <p:cNvPr id="4" name="Text 1"/>
          <p:cNvSpPr txBox="1"/>
          <p:nvPr/>
        </p:nvSpPr>
        <p:spPr>
          <a:xfrm>
            <a:off x="1371600" y="3657600"/>
            <a:ext cx="9445752" cy="914400"/>
          </a:xfrm>
          <a:prstGeom prst="rect">
            <a:avLst/>
          </a:prstGeom>
          <a:noFill/>
          <a:ln/>
        </p:spPr>
        <p:txBody>
          <a:bodyPr wrap="square" lIns="0" tIns="0" rIns="0" bIns="0" rtlCol="0" anchor="t"/>
          <a:lstStyle/>
          <a:p>
            <a:pPr algn="ctr" indent="0" marL="0">
              <a:buNone/>
            </a:pPr>
            <a:r>
              <a:rPr lang="en-US" sz="5400" dirty="0">
                <a:solidFill>
                  <a:schemeClr val="bg1"/>
                </a:solidFill>
                <a:latin typeface="Nyala" pitchFamily="34" charset="0"/>
                <a:ea typeface="Nyala" pitchFamily="34" charset="-122"/>
                <a:cs typeface="Nyala" pitchFamily="34" charset="-120"/>
              </a:rPr>
              <a:t>እናመሰግናለን</a:t>
            </a:r>
            <a:endParaRPr lang="en-US" sz="5400" dirty="0"/>
          </a:p>
        </p:txBody>
      </p:sp>
      <p:sp>
        <p:nvSpPr>
          <p:cNvPr id="5" name="Text 2"/>
          <p:cNvSpPr txBox="1"/>
          <p:nvPr/>
        </p:nvSpPr>
        <p:spPr>
          <a:xfrm>
            <a:off x="1371600" y="4572000"/>
            <a:ext cx="9445752" cy="457200"/>
          </a:xfrm>
          <a:prstGeom prst="rect">
            <a:avLst/>
          </a:prstGeom>
          <a:noFill/>
          <a:ln/>
        </p:spPr>
        <p:txBody>
          <a:bodyPr wrap="square" lIns="0" tIns="0" rIns="0" bIns="0" rtlCol="0" anchor="t"/>
          <a:lstStyle/>
          <a:p>
            <a:pPr algn="ctr" indent="0" marL="0">
              <a:buNone/>
            </a:pPr>
            <a:r>
              <a:rPr lang="en-US" sz="2000" dirty="0">
                <a:solidFill>
                  <a:schemeClr val="accent2"/>
                </a:solidFill>
                <a:latin typeface="Ebrima" pitchFamily="34" charset="0"/>
                <a:ea typeface="Ebrima" pitchFamily="34" charset="-122"/>
                <a:cs typeface="Ebrima" pitchFamily="34" charset="-120"/>
              </a:rPr>
              <a:t>ጥያቄና አስተያየት</a:t>
            </a:r>
            <a:endParaRPr lang="en-US" sz="2000" dirty="0"/>
          </a:p>
        </p:txBody>
      </p:sp>
      <p:sp>
        <p:nvSpPr>
          <p:cNvPr id="6" name="Text 3"/>
          <p:cNvSpPr txBox="1"/>
          <p:nvPr/>
        </p:nvSpPr>
        <p:spPr>
          <a:xfrm>
            <a:off x="1371600" y="5349240"/>
            <a:ext cx="9445752" cy="411480"/>
          </a:xfrm>
          <a:prstGeom prst="rect">
            <a:avLst/>
          </a:prstGeom>
          <a:noFill/>
          <a:ln/>
        </p:spPr>
        <p:txBody>
          <a:bodyPr wrap="square" lIns="0" tIns="0" rIns="0" bIns="0" rtlCol="0" anchor="t"/>
          <a:lstStyle/>
          <a:p>
            <a:pPr algn="ctr" indent="0" marL="0">
              <a:buNone/>
            </a:pPr>
            <a:r>
              <a:rPr lang="en-US" sz="1600" dirty="0">
                <a:solidFill>
                  <a:schemeClr val="bg1"/>
                </a:solidFill>
                <a:latin typeface="Ebrima" pitchFamily="34" charset="0"/>
                <a:ea typeface="Ebrima" pitchFamily="34" charset="-122"/>
                <a:cs typeface="Ebrima" pitchFamily="34" charset="-120"/>
              </a:rPr>
              <a:t>መተግበሪያውን ያውርዱ፦ app.hersolan.pro/download</a:t>
            </a:r>
            <a:endParaRPr lang="en-US" sz="1600" dirty="0"/>
          </a:p>
        </p:txBody>
      </p:sp>
      <p:sp>
        <p:nvSpPr>
          <p:cNvPr id="7" name="Text 4"/>
          <p:cNvSpPr txBox="1"/>
          <p:nvPr/>
        </p:nvSpPr>
        <p:spPr>
          <a:xfrm>
            <a:off x="1371600" y="5989320"/>
            <a:ext cx="9445752" cy="365760"/>
          </a:xfrm>
          <a:prstGeom prst="rect">
            <a:avLst/>
          </a:prstGeom>
          <a:noFill/>
          <a:ln/>
        </p:spPr>
        <p:txBody>
          <a:bodyPr wrap="square" lIns="0" tIns="0" rIns="0" bIns="0" rtlCol="0" anchor="t"/>
          <a:lstStyle/>
          <a:p>
            <a:pPr algn="ctr" indent="0" marL="0">
              <a:buNone/>
            </a:pPr>
            <a:r>
              <a:rPr lang="en-US" sz="1200" dirty="0">
                <a:solidFill>
                  <a:schemeClr val="bg1"/>
                </a:solidFill>
                <a:latin typeface="Ebrima" pitchFamily="34" charset="0"/>
                <a:ea typeface="Ebrima" pitchFamily="34" charset="-122"/>
                <a:cs typeface="Ebrima" pitchFamily="34" charset="-120"/>
              </a:rPr>
              <a:t>መሠረተ ሕይወት ሰንበት ትምህርት ቤት · ደብረ እንቁ ቅድስት ልደታ ለማርያም ቤተ ክርስቲያን</a:t>
            </a:r>
            <a:endParaRPr lang="en-US" sz="1200" dirty="0"/>
          </a:p>
        </p:txBody>
      </p:sp>
    </p:spTree>
  </p:cSld>
  <p:clrMapOvr>
    <a:masterClrMapping/>
  </p:clrMapOvr>
</p:sld>
</file>

<file path=ppt/theme/theme1.xml><?xml version="1.0" encoding="utf-8"?>
<a:theme xmlns:a="http://schemas.openxmlformats.org/drawingml/2006/main" name="Meserete Hiwot">
  <a:themeElements>
    <a:clrScheme name="Meserete Hiwot">
      <a:dk1>
        <a:srgbClr val="3D2E31"/>
      </a:dk1>
      <a:lt1>
        <a:srgbClr val="FFFFFF"/>
      </a:lt1>
      <a:dk2>
        <a:srgbClr val="6E1423"/>
      </a:dk2>
      <a:lt2>
        <a:srgbClr val="F7E9D8"/>
      </a:lt2>
      <a:accent1>
        <a:srgbClr val="6E1423"/>
      </a:accent1>
      <a:accent2>
        <a:srgbClr val="C8961E"/>
      </a:accent2>
      <a:accent3>
        <a:srgbClr val="2E7D4F"/>
      </a:accent3>
      <a:accent4>
        <a:srgbClr val="8A7A7D"/>
      </a:accent4>
      <a:accent5>
        <a:srgbClr val="B7791F"/>
      </a:accent5>
      <a:accent6>
        <a:srgbClr val="57101C"/>
      </a:accent6>
      <a:hlink>
        <a:srgbClr val="C8961E"/>
      </a:hlink>
      <a:folHlink>
        <a:srgbClr val="8A7A7D"/>
      </a:folHlink>
    </a:clrScheme>
    <a:fontScheme name="Meserete Hiwot">
      <a:majorFont>
        <a:latin typeface="Nyal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Ebrima"/>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Ebrim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Meserete Hiwot Sunday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መሠረተ ሕይወት — የሥርዓቱ ማብራሪያ</dc:title>
  <dc:subject>Meserete Hiwot Super-App system presentation (Amharic)</dc:subject>
  <dc:creator>Meserete Hiwot Sunday School</dc:creator>
  <cp:lastModifiedBy>Meserete Hiwot Sunday School</cp:lastModifiedBy>
  <cp:revision>1</cp:revision>
  <dcterms:created xsi:type="dcterms:W3CDTF">2026-10-16T04:07:01Z</dcterms:created>
  <dcterms:modified xsi:type="dcterms:W3CDTF">2026-10-16T04:07:01Z</dcterms:modified>
</cp:coreProperties>
</file>